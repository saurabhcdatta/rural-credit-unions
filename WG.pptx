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2202E"/>
                </a:solidFill>
                <a:latin typeface="Calibri"/>
              </a:defRPr>
            </a:pPr>
            <a:r>
              <a:rPr sz="1150" b="0" i="0" u="none" strike="noStrike">
                <a:solidFill>
                  <a:srgbClr val="12202E"/>
                </a:solidFill>
                <a:latin typeface="Calibri"/>
              </a:rPr>
              <a:t>Change over the decade to 2026, %</a:t>
            </a:r>
          </a:p>
        </c:rich>
      </c:tx>
      <c:layout/>
      <c:overlay val="0"/>
    </c:title>
    <c:autoTitleDeleted val="0"/>
    <c:plotArea>
      <c:layout/>
      <c:barChart>
        <c:barDir val="col"/>
        <c:grouping val="clustered"/>
        <c:varyColors val="0"/>
        <c:ser>
          <c:idx val="0"/>
          <c:order val="0"/>
          <c:tx>
            <c:strRef>
              <c:f>Sheet1!$B$1</c:f>
              <c:strCache>
                <c:ptCount val="1"/>
                <c:pt idx="0">
                  <c:v>Rural counties</c:v>
                </c:pt>
              </c:strCache>
            </c:strRef>
          </c:tx>
          <c:spPr>
            <a:solidFill>
              <a:srgbClr val="0E4C55"/>
            </a:solidFill>
            <a:effectLst/>
          </c:spPr>
          <c:invertIfNegative val="0"/>
          <c:dLbls>
            <c:numFmt formatCode="+0.0;-0.0" sourceLinked="0"/>
            <c:txPr>
              <a:bodyPr/>
              <a:lstStyle/>
              <a:p>
                <a:pPr>
                  <a:defRPr b="0" i="0" strike="noStrike" sz="1050" u="none">
                    <a:solidFill>
                      <a:srgbClr val="12202E"/>
                    </a:solidFill>
                    <a:latin typeface="Arial"/>
                  </a:defRPr>
                </a:pPr>
              </a:p>
            </c:txPr>
            <c:showLegendKey val="0"/>
            <c:showVal val="1"/>
            <c:showCatName val="0"/>
            <c:showSerName val="0"/>
            <c:showPercent val="0"/>
            <c:showBubbleSize val="0"/>
            <c:showLeaderLines val="0"/>
          </c:dLbls>
          <c:cat>
            <c:multiLvlStrRef>
              <c:f>Sheet1!$A$2:$A$4</c:f>
              <c:multiLvlStrCache>
                <c:ptCount val="3"/>
                <c:lvl>
                  <c:pt idx="0">
                    <c:v>Offices</c:v>
                  </c:pt>
                  <c:pt idx="1">
                    <c:v>People</c:v>
                  </c:pt>
                  <c:pt idx="2">
                    <c:v>Offices per resident</c:v>
                  </c:pt>
                </c:lvl>
              </c:multiLvlStrCache>
            </c:multiLvlStrRef>
          </c:cat>
          <c:val>
            <c:numRef>
              <c:f>Sheet1!$B$2:$B$4</c:f>
              <c:numCache>
                <c:formatCode>General</c:formatCode>
                <c:ptCount val="3"/>
                <c:pt idx="0">
                  <c:v>7.2</c:v>
                </c:pt>
                <c:pt idx="1">
                  <c:v>-0.4</c:v>
                </c:pt>
                <c:pt idx="2">
                  <c:v>7.7</c:v>
                </c:pt>
              </c:numCache>
            </c:numRef>
          </c:val>
        </c:ser>
        <c:ser>
          <c:idx val="1"/>
          <c:order val="1"/>
          <c:tx>
            <c:strRef>
              <c:f>Sheet1!$C$1</c:f>
              <c:strCache>
                <c:ptCount val="1"/>
                <c:pt idx="0">
                  <c:v>Non-rural counties</c:v>
                </c:pt>
              </c:strCache>
            </c:strRef>
          </c:tx>
          <c:spPr>
            <a:solidFill>
              <a:srgbClr val="7FB0AE"/>
            </a:solidFill>
            <a:effectLst/>
          </c:spPr>
          <c:invertIfNegative val="0"/>
          <c:dLbls>
            <c:numFmt formatCode="+0.0;-0.0" sourceLinked="0"/>
            <c:txPr>
              <a:bodyPr/>
              <a:lstStyle/>
              <a:p>
                <a:pPr>
                  <a:defRPr b="0" i="0" strike="noStrike" sz="1050" u="none">
                    <a:solidFill>
                      <a:srgbClr val="12202E"/>
                    </a:solidFill>
                    <a:latin typeface="Arial"/>
                  </a:defRPr>
                </a:pPr>
              </a:p>
            </c:txPr>
            <c:showLegendKey val="0"/>
            <c:showVal val="1"/>
            <c:showCatName val="0"/>
            <c:showSerName val="0"/>
            <c:showPercent val="0"/>
            <c:showBubbleSize val="0"/>
            <c:showLeaderLines val="0"/>
          </c:dLbls>
          <c:cat>
            <c:multiLvlStrRef>
              <c:f>Sheet1!$A$2:$A$4</c:f>
              <c:multiLvlStrCache>
                <c:ptCount val="3"/>
                <c:lvl>
                  <c:pt idx="0">
                    <c:v>Offices</c:v>
                  </c:pt>
                  <c:pt idx="1">
                    <c:v>People</c:v>
                  </c:pt>
                  <c:pt idx="2">
                    <c:v>Offices per resident</c:v>
                  </c:pt>
                </c:lvl>
              </c:multiLvlStrCache>
            </c:multiLvlStrRef>
          </c:cat>
          <c:val>
            <c:numRef>
              <c:f>Sheet1!$C$2:$C$4</c:f>
              <c:numCache>
                <c:formatCode>General</c:formatCode>
                <c:ptCount val="3"/>
                <c:pt idx="0">
                  <c:v>5.1</c:v>
                </c:pt>
                <c:pt idx="1">
                  <c:v>5.9</c:v>
                </c:pt>
                <c:pt idx="2">
                  <c:v>-0.7</c:v>
                </c:pt>
              </c:numCache>
            </c:numRef>
          </c:val>
        </c:ser>
        <c:dLbls>
          <c:numFmt formatCode="+0.0;-0.0" sourceLinked="0"/>
          <c:txPr>
            <a:bodyPr/>
            <a:lstStyle/>
            <a:p>
              <a:pPr>
                <a:defRPr b="0" i="0" strike="noStrike" sz="1050" u="none">
                  <a:solidFill>
                    <a:srgbClr val="1220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220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C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2202E"/>
                </a:solidFill>
                <a:latin typeface="Calibri"/>
              </a:defRPr>
            </a:pPr>
            <a:r>
              <a:rPr sz="1150" b="0" i="0" u="none" strike="noStrike">
                <a:solidFill>
                  <a:srgbClr val="12202E"/>
                </a:solidFill>
                <a:latin typeface="Calibri"/>
              </a:rPr>
              <a:t>Share of counties with no office, %</a:t>
            </a:r>
          </a:p>
        </c:rich>
      </c:tx>
      <c:layout/>
      <c:overlay val="0"/>
    </c:title>
    <c:autoTitleDeleted val="0"/>
    <c:plotArea>
      <c:layout/>
      <c:barChart>
        <c:barDir val="col"/>
        <c:grouping val="clustered"/>
        <c:varyColors val="0"/>
        <c:ser>
          <c:idx val="0"/>
          <c:order val="0"/>
          <c:tx>
            <c:strRef>
              <c:f>Sheet1!$B$1</c:f>
              <c:strCache>
                <c:ptCount val="1"/>
                <c:pt idx="0">
                  <c:v>Counties with no credit union office</c:v>
                </c:pt>
              </c:strCache>
            </c:strRef>
          </c:tx>
          <c:spPr>
            <a:solidFill>
              <a:srgbClr val="C8553D"/>
            </a:solidFill>
            <a:effectLst/>
          </c:spPr>
          <c:invertIfNegative val="0"/>
          <c:dLbls>
            <c:numFmt formatCode="0&quot;%&quot;" sourceLinked="0"/>
            <c:txPr>
              <a:bodyPr/>
              <a:lstStyle/>
              <a:p>
                <a:pPr>
                  <a:defRPr b="0" i="0" strike="noStrike" sz="1400" u="none">
                    <a:solidFill>
                      <a:srgbClr val="12202E"/>
                    </a:solidFill>
                    <a:latin typeface="Arial"/>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7FB0AE"/>
              </a:solidFill>
              <a:effectLst/>
            </c:spPr>
          </c:dPt>
          <c:cat>
            <c:multiLvlStrRef>
              <c:f>Sheet1!$A$2:$A$3</c:f>
              <c:multiLvlStrCache>
                <c:ptCount val="2"/>
                <c:lvl>
                  <c:pt idx="0">
                    <c:v>Rural counties</c:v>
                  </c:pt>
                  <c:pt idx="1">
                    <c:v>Non-rural counties</c:v>
                  </c:pt>
                </c:lvl>
              </c:multiLvlStrCache>
            </c:multiLvlStrRef>
          </c:cat>
          <c:val>
            <c:numRef>
              <c:f>Sheet1!$B$2:$B$3</c:f>
              <c:numCache>
                <c:formatCode>General</c:formatCode>
                <c:ptCount val="2"/>
                <c:pt idx="0">
                  <c:v>49</c:v>
                </c:pt>
                <c:pt idx="1">
                  <c:v>13</c:v>
                </c:pt>
              </c:numCache>
            </c:numRef>
          </c:val>
        </c:ser>
        <c:dLbls>
          <c:numFmt formatCode="0&quot;%&quot;" sourceLinked="0"/>
          <c:txPr>
            <a:bodyPr/>
            <a:lstStyle/>
            <a:p>
              <a:pPr>
                <a:defRPr b="0" i="0" strike="noStrike" sz="1400" u="none">
                  <a:solidFill>
                    <a:srgbClr val="1220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02E"/>
                </a:solidFill>
                <a:latin typeface="Arial"/>
              </a:defRPr>
            </a:pPr>
            <a:endParaRPr lang="en-US"/>
          </a:p>
        </c:txPr>
        <c:crossAx val="2094734552"/>
        <c:crosses val="autoZero"/>
        <c:auto val="1"/>
        <c:lblAlgn val="ctr"/>
        <c:noMultiLvlLbl val="1"/>
      </c:catAx>
      <c:valAx>
        <c:axId val="2094734552"/>
        <c:scaling>
          <c:orientation val="minMax"/>
          <c:max val="60"/>
        </c:scaling>
        <c:delete val="0"/>
        <c:axPos val="l"/>
        <c:majorGridlines>
          <c:spPr>
            <a:ln w="12700" cap="flat">
              <a:solidFill>
                <a:srgbClr val="EC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Purpose of today: make sure the working group understands the mandate and the plan, and gather what the group knows before we go further. We are not presenting findings; we want to hear from the group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Congress did not find that rural credit unions are failing. The presumption is in the verb. Testing whether there is a deficiency to improve is answering the question properly, not disputing it. Second point: the definition is imported, county-based, and produces some odd results — island counties, for example. We will report how much the choice matters, but we cannot substitute 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groups, not the eleven questions. Group one decides whether this is a report about rurality or a report about small institutions — everything downstream depends on it. Group two is where the recommendations come from. Group three is about what the data can honestly support. Invite the group to say which of these they would have asked, and which they think is missing — that is the brainstorm on slide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is one question a fortnight, which is the deep version of each — first passes exist for most. The two mortgage questions run as one block because they share a data extract. The three cards at the bottom are what we want from the working group at each stage: now, tell us what we are missing; in winter, react to early results before they harden; in spring, read the draft as the people who will be asked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ninety seconds. The point is not the numbers but the surprise: the statute assumes underperformance and the first pass does not find it. Invite the room to tell you why they think that might be. Do not go into the regressions.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is the whole story in six bars. Rural offices up 7.2%, rural people down 0.4%, so access per resident up 7.7%. Non-rural offices grew too, but 17 million more people arrived, so access per resident fell slightly. The right-hand card is the number that should trouble the room: formation has essentially stopped, and that is the one thing the evidence says is genuinely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sets up the discussion. Two routes to closing the gap: extend the credit unions that exist, or start new ones. The first is cheaper and is what actually happened over the decade. The second buys something a branch does not: local ownership and local credit decisions. Which problem is Congress asking us to solve? That is question eight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and the next slide the most time. Go round the room on question one at minimum. Capture answers verbatim - the phrases people use for the barriers are themselves data. Question five is the one that disciplines the whole report: if a barrier is demographic, no recommendation fixes it, and we should say so rather than pretend.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eight is the one we most want reactions to: the cost difference between extending an incumbent and chartering a new institution may end up shaping the recommendations, and the branch-versus-charter distinction decides which problem the report is solving. Close on question ten and write down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E"/>
        </a:solidFill>
      </p:bgPr>
    </p:bg>
    <p:spTree>
      <p:nvGrpSpPr>
        <p:cNvPr id="1" name=""/>
        <p:cNvGrpSpPr/>
        <p:nvPr/>
      </p:nvGrpSpPr>
      <p:grpSpPr>
        <a:xfrm>
          <a:off x="0" y="0"/>
          <a:ext cx="0" cy="0"/>
          <a:chOff x="0" y="0"/>
          <a:chExt cx="0" cy="0"/>
        </a:xfrm>
      </p:grpSpPr>
      <p:sp>
        <p:nvSpPr>
          <p:cNvPr id="2" name="Text 0"/>
          <p:cNvSpPr txBox="1"/>
          <p:nvPr/>
        </p:nvSpPr>
        <p:spPr>
          <a:xfrm>
            <a:off x="640080" y="640080"/>
            <a:ext cx="10881360" cy="274320"/>
          </a:xfrm>
          <a:prstGeom prst="rect">
            <a:avLst/>
          </a:prstGeom>
          <a:noFill/>
          <a:ln/>
        </p:spPr>
        <p:txBody>
          <a:bodyPr wrap="square" lIns="0" tIns="0" rIns="0" bIns="0" rtlCol="0" anchor="ctr"/>
          <a:lstStyle/>
          <a:p>
            <a:pPr indent="0" marL="0">
              <a:buNone/>
            </a:pPr>
            <a:r>
              <a:rPr lang="en-US" sz="1050" b="1" spc="200" kern="0" dirty="0">
                <a:solidFill>
                  <a:srgbClr val="7FB0AE"/>
                </a:solidFill>
                <a:latin typeface="Calibri" pitchFamily="34" charset="0"/>
                <a:ea typeface="Calibri" pitchFamily="34" charset="-122"/>
                <a:cs typeface="Calibri" pitchFamily="34" charset="-120"/>
              </a:rPr>
              <a:t>NCUA OFFICE OF THE CHIEF ECONOMIST  ·  WORKING GROUP  ·  FIRST MEETING</a:t>
            </a:r>
            <a:endParaRPr lang="en-US" sz="1050" dirty="0"/>
          </a:p>
        </p:txBody>
      </p:sp>
      <p:sp>
        <p:nvSpPr>
          <p:cNvPr id="3" name="Text 1"/>
          <p:cNvSpPr txBox="1"/>
          <p:nvPr/>
        </p:nvSpPr>
        <p:spPr>
          <a:xfrm>
            <a:off x="640080" y="1965960"/>
            <a:ext cx="108813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Rural Credit Unions Study</a:t>
            </a:r>
            <a:endParaRPr lang="en-US" sz="4400" dirty="0"/>
          </a:p>
        </p:txBody>
      </p:sp>
      <p:sp>
        <p:nvSpPr>
          <p:cNvPr id="4" name="Text 2"/>
          <p:cNvSpPr txBox="1"/>
          <p:nvPr/>
        </p:nvSpPr>
        <p:spPr>
          <a:xfrm>
            <a:off x="640080" y="2834640"/>
            <a:ext cx="10881360" cy="548640"/>
          </a:xfrm>
          <a:prstGeom prst="rect">
            <a:avLst/>
          </a:prstGeom>
          <a:noFill/>
          <a:ln/>
        </p:spPr>
        <p:txBody>
          <a:bodyPr wrap="square" lIns="0" tIns="0" rIns="0" bIns="0" rtlCol="0" anchor="ctr"/>
          <a:lstStyle/>
          <a:p>
            <a:pPr indent="0" marL="0">
              <a:buNone/>
            </a:pPr>
            <a:r>
              <a:rPr lang="en-US" sz="1800" dirty="0">
                <a:solidFill>
                  <a:srgbClr val="DCE6E4"/>
                </a:solidFill>
                <a:latin typeface="Calibri" pitchFamily="34" charset="0"/>
                <a:ea typeface="Calibri" pitchFamily="34" charset="-122"/>
                <a:cs typeface="Calibri" pitchFamily="34" charset="-120"/>
              </a:rPr>
              <a:t>What Congress asked, how we plan to answer it, and where we need your help</a:t>
            </a:r>
            <a:endParaRPr lang="en-US" sz="1800" dirty="0"/>
          </a:p>
        </p:txBody>
      </p:sp>
      <p:sp>
        <p:nvSpPr>
          <p:cNvPr id="5" name="Shape 3"/>
          <p:cNvSpPr/>
          <p:nvPr/>
        </p:nvSpPr>
        <p:spPr>
          <a:xfrm>
            <a:off x="640080" y="4160520"/>
            <a:ext cx="3291840" cy="914400"/>
          </a:xfrm>
          <a:prstGeom prst="roundRect">
            <a:avLst>
              <a:gd name="adj" fmla="val 6000"/>
            </a:avLst>
          </a:prstGeom>
          <a:solidFill>
            <a:srgbClr val="1B2C3D"/>
          </a:solidFill>
          <a:ln/>
        </p:spPr>
      </p:sp>
      <p:sp>
        <p:nvSpPr>
          <p:cNvPr id="6" name="Text 4"/>
          <p:cNvSpPr txBox="1"/>
          <p:nvPr/>
        </p:nvSpPr>
        <p:spPr>
          <a:xfrm>
            <a:off x="914400" y="4279392"/>
            <a:ext cx="2834640" cy="256032"/>
          </a:xfrm>
          <a:prstGeom prst="rect">
            <a:avLst/>
          </a:prstGeom>
          <a:noFill/>
          <a:ln/>
        </p:spPr>
        <p:txBody>
          <a:bodyPr wrap="square" lIns="0" tIns="0" rIns="0" bIns="0" rtlCol="0" anchor="ctr"/>
          <a:lstStyle/>
          <a:p>
            <a:pPr indent="0" marL="0">
              <a:buNone/>
            </a:pPr>
            <a:r>
              <a:rPr lang="en-US" sz="1050" b="1" dirty="0">
                <a:solidFill>
                  <a:srgbClr val="E8A24A"/>
                </a:solidFill>
                <a:latin typeface="Calibri" pitchFamily="34" charset="0"/>
                <a:ea typeface="Calibri" pitchFamily="34" charset="-122"/>
                <a:cs typeface="Calibri" pitchFamily="34" charset="-120"/>
              </a:rPr>
              <a:t>Mandate</a:t>
            </a:r>
            <a:endParaRPr lang="en-US" sz="1050" dirty="0"/>
          </a:p>
        </p:txBody>
      </p:sp>
      <p:sp>
        <p:nvSpPr>
          <p:cNvPr id="7" name="Text 5"/>
          <p:cNvSpPr txBox="1"/>
          <p:nvPr/>
        </p:nvSpPr>
        <p:spPr>
          <a:xfrm>
            <a:off x="914400" y="4553712"/>
            <a:ext cx="28346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ROAD to Housing Act, Sec. 909</a:t>
            </a:r>
            <a:endParaRPr lang="en-US" sz="1500" dirty="0"/>
          </a:p>
        </p:txBody>
      </p:sp>
      <p:sp>
        <p:nvSpPr>
          <p:cNvPr id="8" name="Shape 6"/>
          <p:cNvSpPr/>
          <p:nvPr/>
        </p:nvSpPr>
        <p:spPr>
          <a:xfrm>
            <a:off x="4297680" y="4160520"/>
            <a:ext cx="3291840" cy="914400"/>
          </a:xfrm>
          <a:prstGeom prst="roundRect">
            <a:avLst>
              <a:gd name="adj" fmla="val 6000"/>
            </a:avLst>
          </a:prstGeom>
          <a:solidFill>
            <a:srgbClr val="1B2C3D"/>
          </a:solidFill>
          <a:ln/>
        </p:spPr>
      </p:sp>
      <p:sp>
        <p:nvSpPr>
          <p:cNvPr id="9" name="Text 7"/>
          <p:cNvSpPr txBox="1"/>
          <p:nvPr/>
        </p:nvSpPr>
        <p:spPr>
          <a:xfrm>
            <a:off x="4572000" y="4279392"/>
            <a:ext cx="2834640" cy="256032"/>
          </a:xfrm>
          <a:prstGeom prst="rect">
            <a:avLst/>
          </a:prstGeom>
          <a:noFill/>
          <a:ln/>
        </p:spPr>
        <p:txBody>
          <a:bodyPr wrap="square" lIns="0" tIns="0" rIns="0" bIns="0" rtlCol="0" anchor="ctr"/>
          <a:lstStyle/>
          <a:p>
            <a:pPr indent="0" marL="0">
              <a:buNone/>
            </a:pPr>
            <a:r>
              <a:rPr lang="en-US" sz="1050" b="1" dirty="0">
                <a:solidFill>
                  <a:srgbClr val="E8A24A"/>
                </a:solidFill>
                <a:latin typeface="Calibri" pitchFamily="34" charset="0"/>
                <a:ea typeface="Calibri" pitchFamily="34" charset="-122"/>
                <a:cs typeface="Calibri" pitchFamily="34" charset="-120"/>
              </a:rPr>
              <a:t>Report due</a:t>
            </a:r>
            <a:endParaRPr lang="en-US" sz="1050" dirty="0"/>
          </a:p>
        </p:txBody>
      </p:sp>
      <p:sp>
        <p:nvSpPr>
          <p:cNvPr id="10" name="Text 8"/>
          <p:cNvSpPr txBox="1"/>
          <p:nvPr/>
        </p:nvSpPr>
        <p:spPr>
          <a:xfrm>
            <a:off x="4572000" y="4553712"/>
            <a:ext cx="28346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July 2027</a:t>
            </a:r>
            <a:endParaRPr lang="en-US" sz="1500" dirty="0"/>
          </a:p>
        </p:txBody>
      </p:sp>
      <p:sp>
        <p:nvSpPr>
          <p:cNvPr id="11" name="Shape 9"/>
          <p:cNvSpPr/>
          <p:nvPr/>
        </p:nvSpPr>
        <p:spPr>
          <a:xfrm>
            <a:off x="7955280" y="4160520"/>
            <a:ext cx="3291840" cy="914400"/>
          </a:xfrm>
          <a:prstGeom prst="roundRect">
            <a:avLst>
              <a:gd name="adj" fmla="val 6000"/>
            </a:avLst>
          </a:prstGeom>
          <a:solidFill>
            <a:srgbClr val="1B2C3D"/>
          </a:solidFill>
          <a:ln/>
        </p:spPr>
      </p:sp>
      <p:sp>
        <p:nvSpPr>
          <p:cNvPr id="12" name="Text 10"/>
          <p:cNvSpPr txBox="1"/>
          <p:nvPr/>
        </p:nvSpPr>
        <p:spPr>
          <a:xfrm>
            <a:off x="8229600" y="4279392"/>
            <a:ext cx="2834640" cy="256032"/>
          </a:xfrm>
          <a:prstGeom prst="rect">
            <a:avLst/>
          </a:prstGeom>
          <a:noFill/>
          <a:ln/>
        </p:spPr>
        <p:txBody>
          <a:bodyPr wrap="square" lIns="0" tIns="0" rIns="0" bIns="0" rtlCol="0" anchor="ctr"/>
          <a:lstStyle/>
          <a:p>
            <a:pPr indent="0" marL="0">
              <a:buNone/>
            </a:pPr>
            <a:r>
              <a:rPr lang="en-US" sz="1050" b="1" dirty="0">
                <a:solidFill>
                  <a:srgbClr val="E8A24A"/>
                </a:solidFill>
                <a:latin typeface="Calibri" pitchFamily="34" charset="0"/>
                <a:ea typeface="Calibri" pitchFamily="34" charset="-122"/>
                <a:cs typeface="Calibri" pitchFamily="34" charset="-120"/>
              </a:rPr>
              <a:t>Where we are</a:t>
            </a:r>
            <a:endParaRPr lang="en-US" sz="1050" dirty="0"/>
          </a:p>
        </p:txBody>
      </p:sp>
      <p:sp>
        <p:nvSpPr>
          <p:cNvPr id="13" name="Text 11"/>
          <p:cNvSpPr txBox="1"/>
          <p:nvPr/>
        </p:nvSpPr>
        <p:spPr>
          <a:xfrm>
            <a:off x="8229600" y="4553712"/>
            <a:ext cx="28346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Plan set, analysis starting</a:t>
            </a:r>
            <a:endParaRPr lang="en-US" sz="1500" dirty="0"/>
          </a:p>
        </p:txBody>
      </p:sp>
      <p:sp>
        <p:nvSpPr>
          <p:cNvPr id="14" name="Text 12"/>
          <p:cNvSpPr txBox="1"/>
          <p:nvPr/>
        </p:nvSpPr>
        <p:spPr>
          <a:xfrm>
            <a:off x="640080" y="6035040"/>
            <a:ext cx="1088136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September 2026  ·  For discussion  ·  No findings in this deck — that is deliberate, and it is what the next meeting is for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1 · THE MANDATE</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12202E"/>
                </a:solidFill>
                <a:latin typeface="Cambria" pitchFamily="34" charset="0"/>
                <a:ea typeface="Cambria" pitchFamily="34" charset="-122"/>
                <a:cs typeface="Cambria" pitchFamily="34" charset="-120"/>
              </a:rPr>
              <a:t>Congress gave the agency a question. It is harder than it looks.</a:t>
            </a:r>
            <a:endParaRPr lang="en-US" sz="2700" dirty="0"/>
          </a:p>
        </p:txBody>
      </p:sp>
      <p:sp>
        <p:nvSpPr>
          <p:cNvPr id="4" name="Text 2"/>
          <p:cNvSpPr txBox="1"/>
          <p:nvPr/>
        </p:nvSpPr>
        <p:spPr>
          <a:xfrm>
            <a:off x="640080" y="129844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5B6B72"/>
                </a:solidFill>
                <a:latin typeface="Calibri" pitchFamily="34" charset="0"/>
                <a:ea typeface="Calibri" pitchFamily="34" charset="-122"/>
                <a:cs typeface="Calibri" pitchFamily="34" charset="-120"/>
              </a:rPr>
              <a:t>Section 909 is a short passage inside a large housing law. It asks the NCUA to find out whether credit unions serving rural America are held back — and if so, by what.</a:t>
            </a:r>
            <a:endParaRPr lang="en-US" sz="1300" dirty="0"/>
          </a:p>
        </p:txBody>
      </p:sp>
      <p:sp>
        <p:nvSpPr>
          <p:cNvPr id="5" name="Shape 3"/>
          <p:cNvSpPr/>
          <p:nvPr/>
        </p:nvSpPr>
        <p:spPr>
          <a:xfrm>
            <a:off x="640080" y="1965960"/>
            <a:ext cx="5257800" cy="2286000"/>
          </a:xfrm>
          <a:prstGeom prst="roundRect">
            <a:avLst>
              <a:gd name="adj" fmla="val 2400"/>
            </a:avLst>
          </a:prstGeom>
          <a:solidFill>
            <a:srgbClr val="DCE6E4"/>
          </a:solidFill>
          <a:ln/>
        </p:spPr>
      </p:sp>
      <p:sp>
        <p:nvSpPr>
          <p:cNvPr id="6" name="Text 4"/>
          <p:cNvSpPr txBox="1"/>
          <p:nvPr/>
        </p:nvSpPr>
        <p:spPr>
          <a:xfrm>
            <a:off x="914400" y="2121408"/>
            <a:ext cx="4663440" cy="274320"/>
          </a:xfrm>
          <a:prstGeom prst="rect">
            <a:avLst/>
          </a:prstGeom>
          <a:noFill/>
          <a:ln/>
        </p:spPr>
        <p:txBody>
          <a:bodyPr wrap="square" lIns="0" tIns="0" rIns="0" bIns="0" rtlCol="0" anchor="ctr"/>
          <a:lstStyle/>
          <a:p>
            <a:pPr indent="0" marL="0">
              <a:buNone/>
            </a:pPr>
            <a:r>
              <a:rPr lang="en-US" sz="1200" b="1" dirty="0">
                <a:solidFill>
                  <a:srgbClr val="0E4C55"/>
                </a:solidFill>
                <a:latin typeface="Calibri" pitchFamily="34" charset="0"/>
                <a:ea typeface="Calibri" pitchFamily="34" charset="-122"/>
                <a:cs typeface="Calibri" pitchFamily="34" charset="-120"/>
              </a:rPr>
              <a:t>What it asks us to find out</a:t>
            </a:r>
            <a:endParaRPr lang="en-US" sz="1200" dirty="0"/>
          </a:p>
        </p:txBody>
      </p:sp>
      <p:sp>
        <p:nvSpPr>
          <p:cNvPr id="7" name="Text 5"/>
          <p:cNvSpPr txBox="1"/>
          <p:nvPr/>
        </p:nvSpPr>
        <p:spPr>
          <a:xfrm>
            <a:off x="914400" y="2450592"/>
            <a:ext cx="4754880" cy="1691640"/>
          </a:xfrm>
          <a:prstGeom prst="rect">
            <a:avLst/>
          </a:prstGeom>
          <a:noFill/>
          <a:ln/>
        </p:spPr>
        <p:txBody>
          <a:bodyPr wrap="square" lIns="0" tIns="0" rIns="0" bIns="0" rtlCol="0" anchor="ctr"/>
          <a:lstStyle/>
          <a:p>
            <a:pPr marL="342900" indent="-342900">
              <a:lnSpc>
                <a:spcPts val="155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What would help rural credit unions grow, stay well capitalised and earn enough to sustain themselves</a:t>
            </a:r>
            <a:endParaRPr lang="en-US" sz="1150" dirty="0"/>
          </a:p>
          <a:p>
            <a:pPr marL="342900" indent="-342900">
              <a:lnSpc>
                <a:spcPts val="155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What in federal law or NCUA's own rules gets in the way — including anything that stops new rural credit unions from being started</a:t>
            </a:r>
            <a:endParaRPr lang="en-US" sz="1150" dirty="0"/>
          </a:p>
        </p:txBody>
      </p:sp>
      <p:sp>
        <p:nvSpPr>
          <p:cNvPr id="8" name="Shape 6"/>
          <p:cNvSpPr/>
          <p:nvPr/>
        </p:nvSpPr>
        <p:spPr>
          <a:xfrm>
            <a:off x="6263640" y="1965960"/>
            <a:ext cx="5257800" cy="2286000"/>
          </a:xfrm>
          <a:prstGeom prst="roundRect">
            <a:avLst>
              <a:gd name="adj" fmla="val 2400"/>
            </a:avLst>
          </a:prstGeom>
          <a:solidFill>
            <a:srgbClr val="F3F5F4"/>
          </a:solidFill>
          <a:ln/>
        </p:spPr>
      </p:sp>
      <p:sp>
        <p:nvSpPr>
          <p:cNvPr id="9" name="Text 7"/>
          <p:cNvSpPr txBox="1"/>
          <p:nvPr/>
        </p:nvSpPr>
        <p:spPr>
          <a:xfrm>
            <a:off x="6537960" y="2121408"/>
            <a:ext cx="4663440" cy="27432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Three things that make it hard</a:t>
            </a:r>
            <a:endParaRPr lang="en-US" sz="1200" dirty="0"/>
          </a:p>
        </p:txBody>
      </p:sp>
      <p:sp>
        <p:nvSpPr>
          <p:cNvPr id="10" name="Text 8"/>
          <p:cNvSpPr txBox="1"/>
          <p:nvPr/>
        </p:nvSpPr>
        <p:spPr>
          <a:xfrm>
            <a:off x="6537960" y="2450592"/>
            <a:ext cx="4754880" cy="1691640"/>
          </a:xfrm>
          <a:prstGeom prst="rect">
            <a:avLst/>
          </a:prstGeom>
          <a:noFill/>
          <a:ln/>
        </p:spPr>
        <p:txBody>
          <a:bodyPr wrap="square" lIns="0" tIns="0" rIns="0" bIns="0" rtlCol="0" anchor="ctr"/>
          <a:lstStyle/>
          <a:p>
            <a:pPr marL="342900" indent="-342900">
              <a:lnSpc>
                <a:spcPts val="1450"/>
              </a:lnSpc>
              <a:spcAft>
                <a:spcPts val="500"/>
              </a:spcAft>
              <a:buSzPct val="100000"/>
              <a:buChar char="•"/>
            </a:pPr>
            <a:r>
              <a:rPr lang="en-US" sz="1100" dirty="0">
                <a:solidFill>
                  <a:srgbClr val="12202E"/>
                </a:solidFill>
                <a:latin typeface="Calibri" pitchFamily="34" charset="0"/>
                <a:ea typeface="Calibri" pitchFamily="34" charset="-122"/>
                <a:cs typeface="Calibri" pitchFamily="34" charset="-120"/>
              </a:rPr>
              <a:t>The question presumes an answer. It says “improve”, which assumes there is something to improve. We have to test that before we recommend anything.</a:t>
            </a:r>
            <a:endParaRPr lang="en-US" sz="1100" dirty="0"/>
          </a:p>
          <a:p>
            <a:pPr marL="342900" indent="-342900">
              <a:lnSpc>
                <a:spcPts val="1450"/>
              </a:lnSpc>
              <a:spcAft>
                <a:spcPts val="500"/>
              </a:spcAft>
              <a:buSzPct val="100000"/>
              <a:buChar char="•"/>
            </a:pPr>
            <a:r>
              <a:rPr lang="en-US" sz="1100" dirty="0">
                <a:solidFill>
                  <a:srgbClr val="12202E"/>
                </a:solidFill>
                <a:latin typeface="Calibri" pitchFamily="34" charset="0"/>
                <a:ea typeface="Calibri" pitchFamily="34" charset="-122"/>
                <a:cs typeface="Calibri" pitchFamily="34" charset="-120"/>
              </a:rPr>
              <a:t>We do not get to choose what “rural” means. The statute imports a county-based definition, and it is not the one most credit unions use.</a:t>
            </a:r>
            <a:endParaRPr lang="en-US" sz="1100" dirty="0"/>
          </a:p>
          <a:p>
            <a:pPr marL="342900" indent="-342900">
              <a:lnSpc>
                <a:spcPts val="1450"/>
              </a:lnSpc>
              <a:spcAft>
                <a:spcPts val="500"/>
              </a:spcAft>
              <a:buSzPct val="100000"/>
              <a:buChar char="•"/>
            </a:pPr>
            <a:r>
              <a:rPr lang="en-US" sz="1100" dirty="0">
                <a:solidFill>
                  <a:srgbClr val="12202E"/>
                </a:solidFill>
                <a:latin typeface="Calibri" pitchFamily="34" charset="0"/>
                <a:ea typeface="Calibri" pitchFamily="34" charset="-122"/>
                <a:cs typeface="Calibri" pitchFamily="34" charset="-120"/>
              </a:rPr>
              <a:t>Rural credit unions are also small. Separating “rural” from “small” is the central analytical problem.</a:t>
            </a:r>
            <a:endParaRPr lang="en-US" sz="1100" dirty="0"/>
          </a:p>
        </p:txBody>
      </p:sp>
      <p:sp>
        <p:nvSpPr>
          <p:cNvPr id="11" name="Shape 9"/>
          <p:cNvSpPr/>
          <p:nvPr/>
        </p:nvSpPr>
        <p:spPr>
          <a:xfrm>
            <a:off x="640080" y="4480560"/>
            <a:ext cx="3291840" cy="1645920"/>
          </a:xfrm>
          <a:prstGeom prst="roundRect">
            <a:avLst>
              <a:gd name="adj" fmla="val 3333"/>
            </a:avLst>
          </a:prstGeom>
          <a:solidFill>
            <a:srgbClr val="F3F5F4"/>
          </a:solidFill>
          <a:ln/>
        </p:spPr>
      </p:sp>
      <p:sp>
        <p:nvSpPr>
          <p:cNvPr id="12" name="Text 10"/>
          <p:cNvSpPr txBox="1"/>
          <p:nvPr/>
        </p:nvSpPr>
        <p:spPr>
          <a:xfrm>
            <a:off x="896112" y="4617720"/>
            <a:ext cx="2834640" cy="256032"/>
          </a:xfrm>
          <a:prstGeom prst="rect">
            <a:avLst/>
          </a:prstGeom>
          <a:noFill/>
          <a:ln/>
        </p:spPr>
        <p:txBody>
          <a:bodyPr wrap="square" lIns="0" tIns="0" rIns="0" bIns="0" rtlCol="0" anchor="ctr"/>
          <a:lstStyle/>
          <a:p>
            <a:pPr indent="0" marL="0">
              <a:buNone/>
            </a:pPr>
            <a:r>
              <a:rPr lang="en-US" sz="1100" b="1" dirty="0">
                <a:solidFill>
                  <a:srgbClr val="0E4C55"/>
                </a:solidFill>
                <a:latin typeface="Calibri" pitchFamily="34" charset="0"/>
                <a:ea typeface="Calibri" pitchFamily="34" charset="-122"/>
                <a:cs typeface="Calibri" pitchFamily="34" charset="-120"/>
              </a:rPr>
              <a:t>Who reads it</a:t>
            </a:r>
            <a:endParaRPr lang="en-US" sz="1100" dirty="0"/>
          </a:p>
        </p:txBody>
      </p:sp>
      <p:sp>
        <p:nvSpPr>
          <p:cNvPr id="13" name="Text 11"/>
          <p:cNvSpPr txBox="1"/>
          <p:nvPr/>
        </p:nvSpPr>
        <p:spPr>
          <a:xfrm>
            <a:off x="896112" y="4901184"/>
            <a:ext cx="2834640" cy="1188720"/>
          </a:xfrm>
          <a:prstGeom prst="rect">
            <a:avLst/>
          </a:prstGeom>
          <a:noFill/>
          <a:ln/>
        </p:spPr>
        <p:txBody>
          <a:bodyPr wrap="square" lIns="0" tIns="0" rIns="0" bIns="0" rtlCol="0" anchor="ctr"/>
          <a:lstStyle/>
          <a:p>
            <a:pPr indent="0" marL="0">
              <a:lnSpc>
                <a:spcPts val="1400"/>
              </a:lnSpc>
              <a:buNone/>
            </a:pPr>
            <a:r>
              <a:rPr lang="en-US" sz="1050" dirty="0">
                <a:solidFill>
                  <a:srgbClr val="5B6B72"/>
                </a:solidFill>
                <a:latin typeface="Calibri" pitchFamily="34" charset="0"/>
                <a:ea typeface="Calibri" pitchFamily="34" charset="-122"/>
                <a:cs typeface="Calibri" pitchFamily="34" charset="-120"/>
              </a:rPr>
              <a:t>House Financial Services and Senate Banking. A parallel study from the bank regulators lands the same day.</a:t>
            </a:r>
            <a:endParaRPr lang="en-US" sz="1050" dirty="0"/>
          </a:p>
        </p:txBody>
      </p:sp>
      <p:sp>
        <p:nvSpPr>
          <p:cNvPr id="14" name="Shape 12"/>
          <p:cNvSpPr/>
          <p:nvPr/>
        </p:nvSpPr>
        <p:spPr>
          <a:xfrm>
            <a:off x="4297680" y="4480560"/>
            <a:ext cx="3291840" cy="1645920"/>
          </a:xfrm>
          <a:prstGeom prst="roundRect">
            <a:avLst>
              <a:gd name="adj" fmla="val 3333"/>
            </a:avLst>
          </a:prstGeom>
          <a:solidFill>
            <a:srgbClr val="F3F5F4"/>
          </a:solidFill>
          <a:ln/>
        </p:spPr>
      </p:sp>
      <p:sp>
        <p:nvSpPr>
          <p:cNvPr id="15" name="Text 13"/>
          <p:cNvSpPr txBox="1"/>
          <p:nvPr/>
        </p:nvSpPr>
        <p:spPr>
          <a:xfrm>
            <a:off x="4553712" y="4617720"/>
            <a:ext cx="2834640" cy="256032"/>
          </a:xfrm>
          <a:prstGeom prst="rect">
            <a:avLst/>
          </a:prstGeom>
          <a:noFill/>
          <a:ln/>
        </p:spPr>
        <p:txBody>
          <a:bodyPr wrap="square" lIns="0" tIns="0" rIns="0" bIns="0" rtlCol="0" anchor="ctr"/>
          <a:lstStyle/>
          <a:p>
            <a:pPr indent="0" marL="0">
              <a:buNone/>
            </a:pPr>
            <a:r>
              <a:rPr lang="en-US" sz="1100" b="1" dirty="0">
                <a:solidFill>
                  <a:srgbClr val="0E4C55"/>
                </a:solidFill>
                <a:latin typeface="Calibri" pitchFamily="34" charset="0"/>
                <a:ea typeface="Calibri" pitchFamily="34" charset="-122"/>
                <a:cs typeface="Calibri" pitchFamily="34" charset="-120"/>
              </a:rPr>
              <a:t>What we owe</a:t>
            </a:r>
            <a:endParaRPr lang="en-US" sz="1100" dirty="0"/>
          </a:p>
        </p:txBody>
      </p:sp>
      <p:sp>
        <p:nvSpPr>
          <p:cNvPr id="16" name="Text 14"/>
          <p:cNvSpPr txBox="1"/>
          <p:nvPr/>
        </p:nvSpPr>
        <p:spPr>
          <a:xfrm>
            <a:off x="4553712" y="4901184"/>
            <a:ext cx="2834640" cy="1188720"/>
          </a:xfrm>
          <a:prstGeom prst="rect">
            <a:avLst/>
          </a:prstGeom>
          <a:noFill/>
          <a:ln/>
        </p:spPr>
        <p:txBody>
          <a:bodyPr wrap="square" lIns="0" tIns="0" rIns="0" bIns="0" rtlCol="0" anchor="ctr"/>
          <a:lstStyle/>
          <a:p>
            <a:pPr indent="0" marL="0">
              <a:lnSpc>
                <a:spcPts val="1400"/>
              </a:lnSpc>
              <a:buNone/>
            </a:pPr>
            <a:r>
              <a:rPr lang="en-US" sz="1050" dirty="0">
                <a:solidFill>
                  <a:srgbClr val="5B6B72"/>
                </a:solidFill>
                <a:latin typeface="Calibri" pitchFamily="34" charset="0"/>
                <a:ea typeface="Calibri" pitchFamily="34" charset="-122"/>
                <a:cs typeface="Calibri" pitchFamily="34" charset="-120"/>
              </a:rPr>
              <a:t>A written report in the agency's name. Whatever it says becomes NCUA's public position on rural credit unions.</a:t>
            </a:r>
            <a:endParaRPr lang="en-US" sz="1050" dirty="0"/>
          </a:p>
        </p:txBody>
      </p:sp>
      <p:sp>
        <p:nvSpPr>
          <p:cNvPr id="17" name="Shape 15"/>
          <p:cNvSpPr/>
          <p:nvPr/>
        </p:nvSpPr>
        <p:spPr>
          <a:xfrm>
            <a:off x="7955280" y="4480560"/>
            <a:ext cx="3291840" cy="1645920"/>
          </a:xfrm>
          <a:prstGeom prst="roundRect">
            <a:avLst>
              <a:gd name="adj" fmla="val 3333"/>
            </a:avLst>
          </a:prstGeom>
          <a:solidFill>
            <a:srgbClr val="F3F5F4"/>
          </a:solidFill>
          <a:ln/>
        </p:spPr>
      </p:sp>
      <p:sp>
        <p:nvSpPr>
          <p:cNvPr id="18" name="Text 16"/>
          <p:cNvSpPr txBox="1"/>
          <p:nvPr/>
        </p:nvSpPr>
        <p:spPr>
          <a:xfrm>
            <a:off x="8211312" y="4617720"/>
            <a:ext cx="2834640" cy="256032"/>
          </a:xfrm>
          <a:prstGeom prst="rect">
            <a:avLst/>
          </a:prstGeom>
          <a:noFill/>
          <a:ln/>
        </p:spPr>
        <p:txBody>
          <a:bodyPr wrap="square" lIns="0" tIns="0" rIns="0" bIns="0" rtlCol="0" anchor="ctr"/>
          <a:lstStyle/>
          <a:p>
            <a:pPr indent="0" marL="0">
              <a:buNone/>
            </a:pPr>
            <a:r>
              <a:rPr lang="en-US" sz="1100" b="1" dirty="0">
                <a:solidFill>
                  <a:srgbClr val="0E4C55"/>
                </a:solidFill>
                <a:latin typeface="Calibri" pitchFamily="34" charset="0"/>
                <a:ea typeface="Calibri" pitchFamily="34" charset="-122"/>
                <a:cs typeface="Calibri" pitchFamily="34" charset="-120"/>
              </a:rPr>
              <a:t>What it is not</a:t>
            </a:r>
            <a:endParaRPr lang="en-US" sz="1100" dirty="0"/>
          </a:p>
        </p:txBody>
      </p:sp>
      <p:sp>
        <p:nvSpPr>
          <p:cNvPr id="19" name="Text 17"/>
          <p:cNvSpPr txBox="1"/>
          <p:nvPr/>
        </p:nvSpPr>
        <p:spPr>
          <a:xfrm>
            <a:off x="8211312" y="4901184"/>
            <a:ext cx="2834640" cy="1188720"/>
          </a:xfrm>
          <a:prstGeom prst="rect">
            <a:avLst/>
          </a:prstGeom>
          <a:noFill/>
          <a:ln/>
        </p:spPr>
        <p:txBody>
          <a:bodyPr wrap="square" lIns="0" tIns="0" rIns="0" bIns="0" rtlCol="0" anchor="ctr"/>
          <a:lstStyle/>
          <a:p>
            <a:pPr indent="0" marL="0">
              <a:lnSpc>
                <a:spcPts val="1400"/>
              </a:lnSpc>
              <a:buNone/>
            </a:pPr>
            <a:r>
              <a:rPr lang="en-US" sz="1050" dirty="0">
                <a:solidFill>
                  <a:srgbClr val="5B6B72"/>
                </a:solidFill>
                <a:latin typeface="Calibri" pitchFamily="34" charset="0"/>
                <a:ea typeface="Calibri" pitchFamily="34" charset="-122"/>
                <a:cs typeface="Calibri" pitchFamily="34" charset="-120"/>
              </a:rPr>
              <a:t>A finding by Congress that rural credit unions are failing. There is none. The premise is in the wording, and we can test it.</a:t>
            </a:r>
            <a:endParaRPr lang="en-US" sz="1050" dirty="0"/>
          </a:p>
        </p:txBody>
      </p:sp>
      <p:sp>
        <p:nvSpPr>
          <p:cNvPr id="20" name="Text 18"/>
          <p:cNvSpPr txBox="1"/>
          <p:nvPr/>
        </p:nvSpPr>
        <p:spPr>
          <a:xfrm>
            <a:off x="640080" y="6382512"/>
            <a:ext cx="10881360" cy="274320"/>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P.L. 119-101, enacted 11 July 2026. Rural is defined by reference to 12 CFR 1026.35(b)(2)(iv)(A), applied through USDA-ERS Urban Influence Codes.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2 · RESEARCH QUESTIONS</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12202E"/>
                </a:solidFill>
                <a:latin typeface="Cambria" pitchFamily="34" charset="0"/>
                <a:ea typeface="Cambria" pitchFamily="34" charset="-122"/>
                <a:cs typeface="Cambria" pitchFamily="34" charset="-120"/>
              </a:rPr>
              <a:t>Eleven questions, each written so the answer changes the report</a:t>
            </a:r>
            <a:endParaRPr lang="en-US" sz="2700" dirty="0"/>
          </a:p>
        </p:txBody>
      </p:sp>
      <p:sp>
        <p:nvSpPr>
          <p:cNvPr id="4" name="Text 2"/>
          <p:cNvSpPr txBox="1"/>
          <p:nvPr/>
        </p:nvSpPr>
        <p:spPr>
          <a:xfrm>
            <a:off x="640080" y="129844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5B6B72"/>
                </a:solidFill>
                <a:latin typeface="Calibri" pitchFamily="34" charset="0"/>
                <a:ea typeface="Calibri" pitchFamily="34" charset="-122"/>
                <a:cs typeface="Calibri" pitchFamily="34" charset="-120"/>
              </a:rPr>
              <a:t>We turned two sentences of statute into eleven testable questions, in three groups. The first group decides what kind of report this is. The second shapes the recommendations. The third decides what we can responsibly show.</a:t>
            </a:r>
            <a:endParaRPr lang="en-US" sz="1300" dirty="0"/>
          </a:p>
        </p:txBody>
      </p:sp>
      <p:sp>
        <p:nvSpPr>
          <p:cNvPr id="5" name="Shape 3"/>
          <p:cNvSpPr/>
          <p:nvPr/>
        </p:nvSpPr>
        <p:spPr>
          <a:xfrm>
            <a:off x="640080" y="1965960"/>
            <a:ext cx="3520440" cy="457200"/>
          </a:xfrm>
          <a:prstGeom prst="roundRect">
            <a:avLst>
              <a:gd name="adj" fmla="val 12000"/>
            </a:avLst>
          </a:prstGeom>
          <a:solidFill>
            <a:srgbClr val="0E4C55"/>
          </a:solidFill>
          <a:ln/>
        </p:spPr>
      </p:sp>
      <p:sp>
        <p:nvSpPr>
          <p:cNvPr id="6" name="Text 4"/>
          <p:cNvSpPr txBox="1"/>
          <p:nvPr/>
        </p:nvSpPr>
        <p:spPr>
          <a:xfrm>
            <a:off x="868680" y="1965960"/>
            <a:ext cx="3063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Shapes the thesis</a:t>
            </a:r>
            <a:endParaRPr lang="en-US" sz="1200" dirty="0"/>
          </a:p>
        </p:txBody>
      </p:sp>
      <p:sp>
        <p:nvSpPr>
          <p:cNvPr id="7" name="Shape 5"/>
          <p:cNvSpPr/>
          <p:nvPr/>
        </p:nvSpPr>
        <p:spPr>
          <a:xfrm>
            <a:off x="640080" y="2514600"/>
            <a:ext cx="3520440" cy="3749040"/>
          </a:xfrm>
          <a:prstGeom prst="roundRect">
            <a:avLst>
              <a:gd name="adj" fmla="val 1558"/>
            </a:avLst>
          </a:prstGeom>
          <a:solidFill>
            <a:srgbClr val="F3F5F4"/>
          </a:solidFill>
          <a:ln/>
        </p:spPr>
      </p:sp>
      <p:sp>
        <p:nvSpPr>
          <p:cNvPr id="8" name="Shape 6"/>
          <p:cNvSpPr/>
          <p:nvPr/>
        </p:nvSpPr>
        <p:spPr>
          <a:xfrm>
            <a:off x="841248" y="2679192"/>
            <a:ext cx="329184" cy="329184"/>
          </a:xfrm>
          <a:prstGeom prst="ellipse">
            <a:avLst/>
          </a:prstGeom>
          <a:solidFill>
            <a:srgbClr val="0E4C55"/>
          </a:solidFill>
          <a:ln/>
        </p:spPr>
      </p:sp>
      <p:sp>
        <p:nvSpPr>
          <p:cNvPr id="9" name="Text 7"/>
          <p:cNvSpPr txBox="1"/>
          <p:nvPr/>
        </p:nvSpPr>
        <p:spPr>
          <a:xfrm>
            <a:off x="841248" y="26791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txBox="1"/>
          <p:nvPr/>
        </p:nvSpPr>
        <p:spPr>
          <a:xfrm>
            <a:off x="1280160" y="2651760"/>
            <a:ext cx="2697480" cy="658368"/>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Are rural credit unions different because they are rural, or just because they are small?</a:t>
            </a:r>
            <a:endParaRPr lang="en-US" sz="1050" dirty="0"/>
          </a:p>
        </p:txBody>
      </p:sp>
      <p:sp>
        <p:nvSpPr>
          <p:cNvPr id="11" name="Shape 9"/>
          <p:cNvSpPr/>
          <p:nvPr/>
        </p:nvSpPr>
        <p:spPr>
          <a:xfrm>
            <a:off x="841248" y="3392424"/>
            <a:ext cx="329184" cy="329184"/>
          </a:xfrm>
          <a:prstGeom prst="ellipse">
            <a:avLst/>
          </a:prstGeom>
          <a:solidFill>
            <a:srgbClr val="0E4C55"/>
          </a:solidFill>
          <a:ln/>
        </p:spPr>
      </p:sp>
      <p:sp>
        <p:nvSpPr>
          <p:cNvPr id="12" name="Text 10"/>
          <p:cNvSpPr txBox="1"/>
          <p:nvPr/>
        </p:nvSpPr>
        <p:spPr>
          <a:xfrm>
            <a:off x="841248" y="339242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1280160" y="3364992"/>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Are rural credit unions disappearing faster than credit unions everywhere else?</a:t>
            </a:r>
            <a:endParaRPr lang="en-US" sz="1050" dirty="0"/>
          </a:p>
        </p:txBody>
      </p:sp>
      <p:sp>
        <p:nvSpPr>
          <p:cNvPr id="14" name="Shape 12"/>
          <p:cNvSpPr/>
          <p:nvPr/>
        </p:nvSpPr>
        <p:spPr>
          <a:xfrm>
            <a:off x="841248" y="3977640"/>
            <a:ext cx="329184" cy="329184"/>
          </a:xfrm>
          <a:prstGeom prst="ellipse">
            <a:avLst/>
          </a:prstGeom>
          <a:solidFill>
            <a:srgbClr val="0E4C55"/>
          </a:solidFill>
          <a:ln/>
        </p:spPr>
      </p:sp>
      <p:sp>
        <p:nvSpPr>
          <p:cNvPr id="15" name="Text 13"/>
          <p:cNvSpPr txBox="1"/>
          <p:nvPr/>
        </p:nvSpPr>
        <p:spPr>
          <a:xfrm>
            <a:off x="841248" y="3977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txBox="1"/>
          <p:nvPr/>
        </p:nvSpPr>
        <p:spPr>
          <a:xfrm>
            <a:off x="1280160" y="3950208"/>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Does the cap on business lending actually restrict rural credit unions?</a:t>
            </a:r>
            <a:endParaRPr lang="en-US" sz="1050" dirty="0"/>
          </a:p>
        </p:txBody>
      </p:sp>
      <p:sp>
        <p:nvSpPr>
          <p:cNvPr id="17" name="Shape 15"/>
          <p:cNvSpPr/>
          <p:nvPr/>
        </p:nvSpPr>
        <p:spPr>
          <a:xfrm>
            <a:off x="4315968" y="1965960"/>
            <a:ext cx="3520440" cy="457200"/>
          </a:xfrm>
          <a:prstGeom prst="roundRect">
            <a:avLst>
              <a:gd name="adj" fmla="val 12000"/>
            </a:avLst>
          </a:prstGeom>
          <a:solidFill>
            <a:srgbClr val="1F6F78"/>
          </a:solidFill>
          <a:ln/>
        </p:spPr>
      </p:sp>
      <p:sp>
        <p:nvSpPr>
          <p:cNvPr id="18" name="Text 16"/>
          <p:cNvSpPr txBox="1"/>
          <p:nvPr/>
        </p:nvSpPr>
        <p:spPr>
          <a:xfrm>
            <a:off x="4544568" y="1965960"/>
            <a:ext cx="3063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Shapes the recommendations</a:t>
            </a:r>
            <a:endParaRPr lang="en-US" sz="1200" dirty="0"/>
          </a:p>
        </p:txBody>
      </p:sp>
      <p:sp>
        <p:nvSpPr>
          <p:cNvPr id="19" name="Shape 17"/>
          <p:cNvSpPr/>
          <p:nvPr/>
        </p:nvSpPr>
        <p:spPr>
          <a:xfrm>
            <a:off x="4315968" y="2514600"/>
            <a:ext cx="3520440" cy="3749040"/>
          </a:xfrm>
          <a:prstGeom prst="roundRect">
            <a:avLst>
              <a:gd name="adj" fmla="val 1558"/>
            </a:avLst>
          </a:prstGeom>
          <a:solidFill>
            <a:srgbClr val="F3F5F4"/>
          </a:solidFill>
          <a:ln/>
        </p:spPr>
      </p:sp>
      <p:sp>
        <p:nvSpPr>
          <p:cNvPr id="20" name="Shape 18"/>
          <p:cNvSpPr/>
          <p:nvPr/>
        </p:nvSpPr>
        <p:spPr>
          <a:xfrm>
            <a:off x="4517136" y="2679192"/>
            <a:ext cx="329184" cy="329184"/>
          </a:xfrm>
          <a:prstGeom prst="ellipse">
            <a:avLst/>
          </a:prstGeom>
          <a:solidFill>
            <a:srgbClr val="1F6F78"/>
          </a:solidFill>
          <a:ln/>
        </p:spPr>
      </p:sp>
      <p:sp>
        <p:nvSpPr>
          <p:cNvPr id="21" name="Text 19"/>
          <p:cNvSpPr txBox="1"/>
          <p:nvPr/>
        </p:nvSpPr>
        <p:spPr>
          <a:xfrm>
            <a:off x="4517136" y="26791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20"/>
          <p:cNvSpPr txBox="1"/>
          <p:nvPr/>
        </p:nvSpPr>
        <p:spPr>
          <a:xfrm>
            <a:off x="4956048" y="2651760"/>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Are rural credit unions short of capital, or short of customers?</a:t>
            </a:r>
            <a:endParaRPr lang="en-US" sz="1050" dirty="0"/>
          </a:p>
        </p:txBody>
      </p:sp>
      <p:sp>
        <p:nvSpPr>
          <p:cNvPr id="23" name="Shape 21"/>
          <p:cNvSpPr/>
          <p:nvPr/>
        </p:nvSpPr>
        <p:spPr>
          <a:xfrm>
            <a:off x="4517136" y="3264408"/>
            <a:ext cx="329184" cy="329184"/>
          </a:xfrm>
          <a:prstGeom prst="ellipse">
            <a:avLst/>
          </a:prstGeom>
          <a:solidFill>
            <a:srgbClr val="1F6F78"/>
          </a:solidFill>
          <a:ln/>
        </p:spPr>
      </p:sp>
      <p:sp>
        <p:nvSpPr>
          <p:cNvPr id="24" name="Text 22"/>
          <p:cNvSpPr txBox="1"/>
          <p:nvPr/>
        </p:nvSpPr>
        <p:spPr>
          <a:xfrm>
            <a:off x="4517136" y="326440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5" name="Text 23"/>
          <p:cNvSpPr txBox="1"/>
          <p:nvPr/>
        </p:nvSpPr>
        <p:spPr>
          <a:xfrm>
            <a:off x="4956048" y="3236976"/>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Does it matter which official definition of “rural” we use?</a:t>
            </a:r>
            <a:endParaRPr lang="en-US" sz="1050" dirty="0"/>
          </a:p>
        </p:txBody>
      </p:sp>
      <p:sp>
        <p:nvSpPr>
          <p:cNvPr id="26" name="Shape 24"/>
          <p:cNvSpPr/>
          <p:nvPr/>
        </p:nvSpPr>
        <p:spPr>
          <a:xfrm>
            <a:off x="4517136" y="3849624"/>
            <a:ext cx="329184" cy="329184"/>
          </a:xfrm>
          <a:prstGeom prst="ellipse">
            <a:avLst/>
          </a:prstGeom>
          <a:solidFill>
            <a:srgbClr val="1F6F78"/>
          </a:solidFill>
          <a:ln/>
        </p:spPr>
      </p:sp>
      <p:sp>
        <p:nvSpPr>
          <p:cNvPr id="27" name="Text 25"/>
          <p:cNvSpPr txBox="1"/>
          <p:nvPr/>
        </p:nvSpPr>
        <p:spPr>
          <a:xfrm>
            <a:off x="4517136" y="384962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8" name="Text 26"/>
          <p:cNvSpPr txBox="1"/>
          <p:nvPr/>
        </p:nvSpPr>
        <p:spPr>
          <a:xfrm>
            <a:off x="4956048" y="3822192"/>
            <a:ext cx="2697480" cy="658368"/>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Does the mix of loans on a rural credit union’s books differ meaningfully from a non-rural one’s?</a:t>
            </a:r>
            <a:endParaRPr lang="en-US" sz="1050" dirty="0"/>
          </a:p>
        </p:txBody>
      </p:sp>
      <p:sp>
        <p:nvSpPr>
          <p:cNvPr id="29" name="Shape 27"/>
          <p:cNvSpPr/>
          <p:nvPr/>
        </p:nvSpPr>
        <p:spPr>
          <a:xfrm>
            <a:off x="4517136" y="4562856"/>
            <a:ext cx="329184" cy="329184"/>
          </a:xfrm>
          <a:prstGeom prst="ellipse">
            <a:avLst/>
          </a:prstGeom>
          <a:solidFill>
            <a:srgbClr val="1F6F78"/>
          </a:solidFill>
          <a:ln/>
        </p:spPr>
      </p:sp>
      <p:sp>
        <p:nvSpPr>
          <p:cNvPr id="30" name="Text 28"/>
          <p:cNvSpPr txBox="1"/>
          <p:nvPr/>
        </p:nvSpPr>
        <p:spPr>
          <a:xfrm>
            <a:off x="4517136" y="456285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1" name="Text 29"/>
          <p:cNvSpPr txBox="1"/>
          <p:nvPr/>
        </p:nvSpPr>
        <p:spPr>
          <a:xfrm>
            <a:off x="4956048" y="4535424"/>
            <a:ext cx="2697480" cy="658368"/>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Is mortgage credit harder to get and costlier in rural areas — and does a local credit union help?</a:t>
            </a:r>
            <a:endParaRPr lang="en-US" sz="1050" dirty="0"/>
          </a:p>
        </p:txBody>
      </p:sp>
      <p:sp>
        <p:nvSpPr>
          <p:cNvPr id="32" name="Shape 30"/>
          <p:cNvSpPr/>
          <p:nvPr/>
        </p:nvSpPr>
        <p:spPr>
          <a:xfrm>
            <a:off x="4517136" y="5276088"/>
            <a:ext cx="329184" cy="329184"/>
          </a:xfrm>
          <a:prstGeom prst="ellipse">
            <a:avLst/>
          </a:prstGeom>
          <a:solidFill>
            <a:srgbClr val="1F6F78"/>
          </a:solidFill>
          <a:ln/>
        </p:spPr>
      </p:sp>
      <p:sp>
        <p:nvSpPr>
          <p:cNvPr id="33" name="Text 31"/>
          <p:cNvSpPr txBox="1"/>
          <p:nvPr/>
        </p:nvSpPr>
        <p:spPr>
          <a:xfrm>
            <a:off x="4517136" y="527608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4" name="Text 32"/>
          <p:cNvSpPr txBox="1"/>
          <p:nvPr/>
        </p:nvSpPr>
        <p:spPr>
          <a:xfrm>
            <a:off x="4956048" y="5248656"/>
            <a:ext cx="2697480" cy="658368"/>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Is getting a property valued harder and dearer in rural areas — and is the relief Congress wrote working?</a:t>
            </a:r>
            <a:endParaRPr lang="en-US" sz="1050" dirty="0"/>
          </a:p>
        </p:txBody>
      </p:sp>
      <p:sp>
        <p:nvSpPr>
          <p:cNvPr id="35" name="Shape 33"/>
          <p:cNvSpPr/>
          <p:nvPr/>
        </p:nvSpPr>
        <p:spPr>
          <a:xfrm>
            <a:off x="7991856" y="1965960"/>
            <a:ext cx="3520440" cy="457200"/>
          </a:xfrm>
          <a:prstGeom prst="roundRect">
            <a:avLst>
              <a:gd name="adj" fmla="val 12000"/>
            </a:avLst>
          </a:prstGeom>
          <a:solidFill>
            <a:srgbClr val="7FB0AE"/>
          </a:solidFill>
          <a:ln/>
        </p:spPr>
      </p:sp>
      <p:sp>
        <p:nvSpPr>
          <p:cNvPr id="36" name="Text 34"/>
          <p:cNvSpPr txBox="1"/>
          <p:nvPr/>
        </p:nvSpPr>
        <p:spPr>
          <a:xfrm>
            <a:off x="8220456" y="1965960"/>
            <a:ext cx="3063240" cy="457200"/>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Shapes what we can show</a:t>
            </a:r>
            <a:endParaRPr lang="en-US" sz="1200" dirty="0"/>
          </a:p>
        </p:txBody>
      </p:sp>
      <p:sp>
        <p:nvSpPr>
          <p:cNvPr id="37" name="Shape 35"/>
          <p:cNvSpPr/>
          <p:nvPr/>
        </p:nvSpPr>
        <p:spPr>
          <a:xfrm>
            <a:off x="7991856" y="2514600"/>
            <a:ext cx="3520440" cy="3749040"/>
          </a:xfrm>
          <a:prstGeom prst="roundRect">
            <a:avLst>
              <a:gd name="adj" fmla="val 1558"/>
            </a:avLst>
          </a:prstGeom>
          <a:solidFill>
            <a:srgbClr val="F3F5F4"/>
          </a:solidFill>
          <a:ln/>
        </p:spPr>
      </p:sp>
      <p:sp>
        <p:nvSpPr>
          <p:cNvPr id="38" name="Shape 36"/>
          <p:cNvSpPr/>
          <p:nvPr/>
        </p:nvSpPr>
        <p:spPr>
          <a:xfrm>
            <a:off x="8193024" y="2679192"/>
            <a:ext cx="329184" cy="329184"/>
          </a:xfrm>
          <a:prstGeom prst="ellipse">
            <a:avLst/>
          </a:prstGeom>
          <a:solidFill>
            <a:srgbClr val="7FB0AE"/>
          </a:solidFill>
          <a:ln/>
        </p:spPr>
      </p:sp>
      <p:sp>
        <p:nvSpPr>
          <p:cNvPr id="39" name="Text 37"/>
          <p:cNvSpPr txBox="1"/>
          <p:nvPr/>
        </p:nvSpPr>
        <p:spPr>
          <a:xfrm>
            <a:off x="8193024" y="2679192"/>
            <a:ext cx="329184" cy="329184"/>
          </a:xfrm>
          <a:prstGeom prst="rect">
            <a:avLst/>
          </a:prstGeom>
          <a:noFill/>
          <a:ln/>
        </p:spPr>
        <p:txBody>
          <a:bodyPr wrap="square" lIns="0" tIns="0" rIns="0" bIns="0" rtlCol="0" anchor="ctr"/>
          <a:lstStyle/>
          <a:p>
            <a:pPr algn="ctr" indent="0" marL="0">
              <a:buNone/>
            </a:pPr>
            <a:r>
              <a:rPr lang="en-US" sz="1000" b="1" dirty="0">
                <a:solidFill>
                  <a:srgbClr val="12202E"/>
                </a:solidFill>
                <a:latin typeface="Calibri" pitchFamily="34" charset="0"/>
                <a:ea typeface="Calibri" pitchFamily="34" charset="-122"/>
                <a:cs typeface="Calibri" pitchFamily="34" charset="-120"/>
              </a:rPr>
              <a:t>7</a:t>
            </a:r>
            <a:endParaRPr lang="en-US" sz="1000" dirty="0"/>
          </a:p>
        </p:txBody>
      </p:sp>
      <p:sp>
        <p:nvSpPr>
          <p:cNvPr id="40" name="Text 38"/>
          <p:cNvSpPr txBox="1"/>
          <p:nvPr/>
        </p:nvSpPr>
        <p:spPr>
          <a:xfrm>
            <a:off x="8631936" y="2651760"/>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Is anyone still starting new credit unions in rural areas?</a:t>
            </a:r>
            <a:endParaRPr lang="en-US" sz="1050" dirty="0"/>
          </a:p>
        </p:txBody>
      </p:sp>
      <p:sp>
        <p:nvSpPr>
          <p:cNvPr id="41" name="Shape 39"/>
          <p:cNvSpPr/>
          <p:nvPr/>
        </p:nvSpPr>
        <p:spPr>
          <a:xfrm>
            <a:off x="8193024" y="3264408"/>
            <a:ext cx="329184" cy="329184"/>
          </a:xfrm>
          <a:prstGeom prst="ellipse">
            <a:avLst/>
          </a:prstGeom>
          <a:solidFill>
            <a:srgbClr val="7FB0AE"/>
          </a:solidFill>
          <a:ln/>
        </p:spPr>
      </p:sp>
      <p:sp>
        <p:nvSpPr>
          <p:cNvPr id="42" name="Text 40"/>
          <p:cNvSpPr txBox="1"/>
          <p:nvPr/>
        </p:nvSpPr>
        <p:spPr>
          <a:xfrm>
            <a:off x="8193024" y="3264408"/>
            <a:ext cx="329184" cy="329184"/>
          </a:xfrm>
          <a:prstGeom prst="rect">
            <a:avLst/>
          </a:prstGeom>
          <a:noFill/>
          <a:ln/>
        </p:spPr>
        <p:txBody>
          <a:bodyPr wrap="square" lIns="0" tIns="0" rIns="0" bIns="0" rtlCol="0" anchor="ctr"/>
          <a:lstStyle/>
          <a:p>
            <a:pPr algn="ctr" indent="0" marL="0">
              <a:buNone/>
            </a:pPr>
            <a:r>
              <a:rPr lang="en-US" sz="1000" b="1" dirty="0">
                <a:solidFill>
                  <a:srgbClr val="12202E"/>
                </a:solidFill>
                <a:latin typeface="Calibri" pitchFamily="34" charset="0"/>
                <a:ea typeface="Calibri" pitchFamily="34" charset="-122"/>
                <a:cs typeface="Calibri" pitchFamily="34" charset="-120"/>
              </a:rPr>
              <a:t>8</a:t>
            </a:r>
            <a:endParaRPr lang="en-US" sz="1000" dirty="0"/>
          </a:p>
        </p:txBody>
      </p:sp>
      <p:sp>
        <p:nvSpPr>
          <p:cNvPr id="43" name="Text 41"/>
          <p:cNvSpPr txBox="1"/>
          <p:nvPr/>
        </p:nvSpPr>
        <p:spPr>
          <a:xfrm>
            <a:off x="8631936" y="3236976"/>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Is it getting harder to find a credit union office in rural areas?</a:t>
            </a:r>
            <a:endParaRPr lang="en-US" sz="1050" dirty="0"/>
          </a:p>
        </p:txBody>
      </p:sp>
      <p:sp>
        <p:nvSpPr>
          <p:cNvPr id="44" name="Shape 42"/>
          <p:cNvSpPr/>
          <p:nvPr/>
        </p:nvSpPr>
        <p:spPr>
          <a:xfrm>
            <a:off x="8193024" y="3849624"/>
            <a:ext cx="329184" cy="329184"/>
          </a:xfrm>
          <a:prstGeom prst="ellipse">
            <a:avLst/>
          </a:prstGeom>
          <a:solidFill>
            <a:srgbClr val="7FB0AE"/>
          </a:solidFill>
          <a:ln/>
        </p:spPr>
      </p:sp>
      <p:sp>
        <p:nvSpPr>
          <p:cNvPr id="45" name="Text 43"/>
          <p:cNvSpPr txBox="1"/>
          <p:nvPr/>
        </p:nvSpPr>
        <p:spPr>
          <a:xfrm>
            <a:off x="8193024" y="3849624"/>
            <a:ext cx="329184" cy="329184"/>
          </a:xfrm>
          <a:prstGeom prst="rect">
            <a:avLst/>
          </a:prstGeom>
          <a:noFill/>
          <a:ln/>
        </p:spPr>
        <p:txBody>
          <a:bodyPr wrap="square" lIns="0" tIns="0" rIns="0" bIns="0" rtlCol="0" anchor="ctr"/>
          <a:lstStyle/>
          <a:p>
            <a:pPr algn="ctr" indent="0" marL="0">
              <a:buNone/>
            </a:pPr>
            <a:r>
              <a:rPr lang="en-US" sz="1000" b="1" dirty="0">
                <a:solidFill>
                  <a:srgbClr val="12202E"/>
                </a:solidFill>
                <a:latin typeface="Calibri" pitchFamily="34" charset="0"/>
                <a:ea typeface="Calibri" pitchFamily="34" charset="-122"/>
                <a:cs typeface="Calibri" pitchFamily="34" charset="-120"/>
              </a:rPr>
              <a:t>9</a:t>
            </a:r>
            <a:endParaRPr lang="en-US" sz="1000" dirty="0"/>
          </a:p>
        </p:txBody>
      </p:sp>
      <p:sp>
        <p:nvSpPr>
          <p:cNvPr id="46" name="Text 44"/>
          <p:cNvSpPr txBox="1"/>
          <p:nvPr/>
        </p:nvSpPr>
        <p:spPr>
          <a:xfrm>
            <a:off x="8631936" y="3822192"/>
            <a:ext cx="2697480" cy="530352"/>
          </a:xfrm>
          <a:prstGeom prst="rect">
            <a:avLst/>
          </a:prstGeom>
          <a:noFill/>
          <a:ln/>
        </p:spPr>
        <p:txBody>
          <a:bodyPr wrap="square" lIns="0" tIns="0" rIns="0" bIns="0" rtlCol="0" anchor="ctr"/>
          <a:lstStyle/>
          <a:p>
            <a:pPr indent="0" marL="0">
              <a:lnSpc>
                <a:spcPts val="1350"/>
              </a:lnSpc>
              <a:buNone/>
            </a:pPr>
            <a:r>
              <a:rPr lang="en-US" sz="1050" dirty="0">
                <a:solidFill>
                  <a:srgbClr val="12202E"/>
                </a:solidFill>
                <a:latin typeface="Calibri" pitchFamily="34" charset="0"/>
                <a:ea typeface="Calibri" pitchFamily="34" charset="-122"/>
                <a:cs typeface="Calibri" pitchFamily="34" charset="-120"/>
              </a:rPr>
              <a:t>How far back does the record let us look?</a:t>
            </a:r>
            <a:endParaRPr lang="en-US" sz="1050" dirty="0"/>
          </a:p>
        </p:txBody>
      </p:sp>
      <p:sp>
        <p:nvSpPr>
          <p:cNvPr id="47" name="Text 45"/>
          <p:cNvSpPr txBox="1"/>
          <p:nvPr/>
        </p:nvSpPr>
        <p:spPr>
          <a:xfrm>
            <a:off x="640080" y="6382512"/>
            <a:ext cx="10881360" cy="274320"/>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Questions 10 and 11 were added after the original nine — the first on our own initiative, the second at stakeholder request. Question 6 was reworded for this meeting.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3 · THE PLAN</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12202E"/>
                </a:solidFill>
                <a:latin typeface="Cambria" pitchFamily="34" charset="0"/>
                <a:ea typeface="Cambria" pitchFamily="34" charset="-122"/>
                <a:cs typeface="Cambria" pitchFamily="34" charset="-120"/>
              </a:rPr>
              <a:t>One research question every two weeks, then five months to write</a:t>
            </a:r>
            <a:endParaRPr lang="en-US" sz="2700" dirty="0"/>
          </a:p>
        </p:txBody>
      </p:sp>
      <p:sp>
        <p:nvSpPr>
          <p:cNvPr id="4" name="Text 2"/>
          <p:cNvSpPr txBox="1"/>
          <p:nvPr/>
        </p:nvSpPr>
        <p:spPr>
          <a:xfrm>
            <a:off x="640080" y="129844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5B6B72"/>
                </a:solidFill>
                <a:latin typeface="Calibri" pitchFamily="34" charset="0"/>
                <a:ea typeface="Calibri" pitchFamily="34" charset="-122"/>
                <a:cs typeface="Calibri" pitchFamily="34" charset="-120"/>
              </a:rPr>
              <a:t>Detailed analysis began in September. Questions one to nine take a fortnight each; the two mortgage questions take longer because they need data we hold as regulator. Analysis closes in March, leaving four months for drafting, review and clearance.</a:t>
            </a:r>
            <a:endParaRPr lang="en-US" sz="1300" dirty="0"/>
          </a:p>
        </p:txBody>
      </p:sp>
      <p:sp>
        <p:nvSpPr>
          <p:cNvPr id="5" name="Shape 3"/>
          <p:cNvSpPr/>
          <p:nvPr/>
        </p:nvSpPr>
        <p:spPr>
          <a:xfrm>
            <a:off x="2788920" y="2093976"/>
            <a:ext cx="9144" cy="3310128"/>
          </a:xfrm>
          <a:prstGeom prst="rect">
            <a:avLst/>
          </a:prstGeom>
          <a:solidFill>
            <a:srgbClr val="ECEFEF"/>
          </a:solidFill>
          <a:ln/>
        </p:spPr>
      </p:sp>
      <p:sp>
        <p:nvSpPr>
          <p:cNvPr id="6" name="Text 4"/>
          <p:cNvSpPr txBox="1"/>
          <p:nvPr/>
        </p:nvSpPr>
        <p:spPr>
          <a:xfrm>
            <a:off x="2514600" y="1819656"/>
            <a:ext cx="640080" cy="219456"/>
          </a:xfrm>
          <a:prstGeom prst="rect">
            <a:avLst/>
          </a:prstGeom>
          <a:noFill/>
          <a:ln/>
        </p:spPr>
        <p:txBody>
          <a:bodyPr wrap="square" lIns="0" tIns="0" rIns="0" bIns="0" rtlCol="0" anchor="ctr"/>
          <a:lstStyle/>
          <a:p>
            <a:pPr algn="ctr" indent="0" marL="0">
              <a:buNone/>
            </a:pPr>
            <a:r>
              <a:rPr lang="en-US" sz="900" dirty="0">
                <a:solidFill>
                  <a:srgbClr val="C8553D"/>
                </a:solidFill>
                <a:latin typeface="Calibri" pitchFamily="34" charset="0"/>
                <a:ea typeface="Calibri" pitchFamily="34" charset="-122"/>
                <a:cs typeface="Calibri" pitchFamily="34" charset="-120"/>
              </a:rPr>
              <a:t>Sep</a:t>
            </a:r>
            <a:endParaRPr lang="en-US" sz="900" dirty="0"/>
          </a:p>
        </p:txBody>
      </p:sp>
      <p:sp>
        <p:nvSpPr>
          <p:cNvPr id="7" name="Shape 5"/>
          <p:cNvSpPr/>
          <p:nvPr/>
        </p:nvSpPr>
        <p:spPr>
          <a:xfrm>
            <a:off x="3417570" y="2093976"/>
            <a:ext cx="9144" cy="3310128"/>
          </a:xfrm>
          <a:prstGeom prst="rect">
            <a:avLst/>
          </a:prstGeom>
          <a:solidFill>
            <a:srgbClr val="ECEFEF"/>
          </a:solidFill>
          <a:ln/>
        </p:spPr>
      </p:sp>
      <p:sp>
        <p:nvSpPr>
          <p:cNvPr id="8" name="Text 6"/>
          <p:cNvSpPr txBox="1"/>
          <p:nvPr/>
        </p:nvSpPr>
        <p:spPr>
          <a:xfrm>
            <a:off x="3143250"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Oct</a:t>
            </a:r>
            <a:endParaRPr lang="en-US" sz="900" dirty="0"/>
          </a:p>
        </p:txBody>
      </p:sp>
      <p:sp>
        <p:nvSpPr>
          <p:cNvPr id="9" name="Shape 7"/>
          <p:cNvSpPr/>
          <p:nvPr/>
        </p:nvSpPr>
        <p:spPr>
          <a:xfrm>
            <a:off x="4303395" y="2093976"/>
            <a:ext cx="9144" cy="3310128"/>
          </a:xfrm>
          <a:prstGeom prst="rect">
            <a:avLst/>
          </a:prstGeom>
          <a:solidFill>
            <a:srgbClr val="ECEFEF"/>
          </a:solidFill>
          <a:ln/>
        </p:spPr>
      </p:sp>
      <p:sp>
        <p:nvSpPr>
          <p:cNvPr id="10" name="Text 8"/>
          <p:cNvSpPr txBox="1"/>
          <p:nvPr/>
        </p:nvSpPr>
        <p:spPr>
          <a:xfrm>
            <a:off x="4029075"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Nov</a:t>
            </a:r>
            <a:endParaRPr lang="en-US" sz="900" dirty="0"/>
          </a:p>
        </p:txBody>
      </p:sp>
      <p:sp>
        <p:nvSpPr>
          <p:cNvPr id="11" name="Shape 9"/>
          <p:cNvSpPr/>
          <p:nvPr/>
        </p:nvSpPr>
        <p:spPr>
          <a:xfrm>
            <a:off x="5160645" y="2093976"/>
            <a:ext cx="9144" cy="3310128"/>
          </a:xfrm>
          <a:prstGeom prst="rect">
            <a:avLst/>
          </a:prstGeom>
          <a:solidFill>
            <a:srgbClr val="ECEFEF"/>
          </a:solidFill>
          <a:ln/>
        </p:spPr>
      </p:sp>
      <p:sp>
        <p:nvSpPr>
          <p:cNvPr id="12" name="Text 10"/>
          <p:cNvSpPr txBox="1"/>
          <p:nvPr/>
        </p:nvSpPr>
        <p:spPr>
          <a:xfrm>
            <a:off x="4886325"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Dec</a:t>
            </a:r>
            <a:endParaRPr lang="en-US" sz="900" dirty="0"/>
          </a:p>
        </p:txBody>
      </p:sp>
      <p:sp>
        <p:nvSpPr>
          <p:cNvPr id="13" name="Shape 11"/>
          <p:cNvSpPr/>
          <p:nvPr/>
        </p:nvSpPr>
        <p:spPr>
          <a:xfrm>
            <a:off x="6046470" y="2093976"/>
            <a:ext cx="9144" cy="3310128"/>
          </a:xfrm>
          <a:prstGeom prst="rect">
            <a:avLst/>
          </a:prstGeom>
          <a:solidFill>
            <a:srgbClr val="ECEFEF"/>
          </a:solidFill>
          <a:ln/>
        </p:spPr>
      </p:sp>
      <p:sp>
        <p:nvSpPr>
          <p:cNvPr id="14" name="Text 12"/>
          <p:cNvSpPr txBox="1"/>
          <p:nvPr/>
        </p:nvSpPr>
        <p:spPr>
          <a:xfrm>
            <a:off x="5772150"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Jan</a:t>
            </a:r>
            <a:endParaRPr lang="en-US" sz="900" dirty="0"/>
          </a:p>
        </p:txBody>
      </p:sp>
      <p:sp>
        <p:nvSpPr>
          <p:cNvPr id="15" name="Shape 13"/>
          <p:cNvSpPr/>
          <p:nvPr/>
        </p:nvSpPr>
        <p:spPr>
          <a:xfrm>
            <a:off x="6932295" y="2093976"/>
            <a:ext cx="9144" cy="3310128"/>
          </a:xfrm>
          <a:prstGeom prst="rect">
            <a:avLst/>
          </a:prstGeom>
          <a:solidFill>
            <a:srgbClr val="ECEFEF"/>
          </a:solidFill>
          <a:ln/>
        </p:spPr>
      </p:sp>
      <p:sp>
        <p:nvSpPr>
          <p:cNvPr id="16" name="Text 14"/>
          <p:cNvSpPr txBox="1"/>
          <p:nvPr/>
        </p:nvSpPr>
        <p:spPr>
          <a:xfrm>
            <a:off x="6657975"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Feb</a:t>
            </a:r>
            <a:endParaRPr lang="en-US" sz="900" dirty="0"/>
          </a:p>
        </p:txBody>
      </p:sp>
      <p:sp>
        <p:nvSpPr>
          <p:cNvPr id="17" name="Shape 15"/>
          <p:cNvSpPr/>
          <p:nvPr/>
        </p:nvSpPr>
        <p:spPr>
          <a:xfrm>
            <a:off x="7732395" y="2093976"/>
            <a:ext cx="9144" cy="3310128"/>
          </a:xfrm>
          <a:prstGeom prst="rect">
            <a:avLst/>
          </a:prstGeom>
          <a:solidFill>
            <a:srgbClr val="ECEFEF"/>
          </a:solidFill>
          <a:ln/>
        </p:spPr>
      </p:sp>
      <p:sp>
        <p:nvSpPr>
          <p:cNvPr id="18" name="Text 16"/>
          <p:cNvSpPr txBox="1"/>
          <p:nvPr/>
        </p:nvSpPr>
        <p:spPr>
          <a:xfrm>
            <a:off x="7458075" y="1819656"/>
            <a:ext cx="640080" cy="219456"/>
          </a:xfrm>
          <a:prstGeom prst="rect">
            <a:avLst/>
          </a:prstGeom>
          <a:noFill/>
          <a:ln/>
        </p:spPr>
        <p:txBody>
          <a:bodyPr wrap="square" lIns="0" tIns="0" rIns="0" bIns="0" rtlCol="0" anchor="ctr"/>
          <a:lstStyle/>
          <a:p>
            <a:pPr algn="ctr" indent="0" marL="0">
              <a:buNone/>
            </a:pPr>
            <a:r>
              <a:rPr lang="en-US" sz="900" dirty="0">
                <a:solidFill>
                  <a:srgbClr val="C8553D"/>
                </a:solidFill>
                <a:latin typeface="Calibri" pitchFamily="34" charset="0"/>
                <a:ea typeface="Calibri" pitchFamily="34" charset="-122"/>
                <a:cs typeface="Calibri" pitchFamily="34" charset="-120"/>
              </a:rPr>
              <a:t>Mar</a:t>
            </a:r>
            <a:endParaRPr lang="en-US" sz="900" dirty="0"/>
          </a:p>
        </p:txBody>
      </p:sp>
      <p:sp>
        <p:nvSpPr>
          <p:cNvPr id="19" name="Shape 17"/>
          <p:cNvSpPr/>
          <p:nvPr/>
        </p:nvSpPr>
        <p:spPr>
          <a:xfrm>
            <a:off x="8618220" y="2093976"/>
            <a:ext cx="9144" cy="3310128"/>
          </a:xfrm>
          <a:prstGeom prst="rect">
            <a:avLst/>
          </a:prstGeom>
          <a:solidFill>
            <a:srgbClr val="ECEFEF"/>
          </a:solidFill>
          <a:ln/>
        </p:spPr>
      </p:sp>
      <p:sp>
        <p:nvSpPr>
          <p:cNvPr id="20" name="Text 18"/>
          <p:cNvSpPr txBox="1"/>
          <p:nvPr/>
        </p:nvSpPr>
        <p:spPr>
          <a:xfrm>
            <a:off x="8343900"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Apr</a:t>
            </a:r>
            <a:endParaRPr lang="en-US" sz="900" dirty="0"/>
          </a:p>
        </p:txBody>
      </p:sp>
      <p:sp>
        <p:nvSpPr>
          <p:cNvPr id="21" name="Shape 19"/>
          <p:cNvSpPr/>
          <p:nvPr/>
        </p:nvSpPr>
        <p:spPr>
          <a:xfrm>
            <a:off x="9475470" y="2093976"/>
            <a:ext cx="9144" cy="3310128"/>
          </a:xfrm>
          <a:prstGeom prst="rect">
            <a:avLst/>
          </a:prstGeom>
          <a:solidFill>
            <a:srgbClr val="ECEFEF"/>
          </a:solidFill>
          <a:ln/>
        </p:spPr>
      </p:sp>
      <p:sp>
        <p:nvSpPr>
          <p:cNvPr id="22" name="Text 20"/>
          <p:cNvSpPr txBox="1"/>
          <p:nvPr/>
        </p:nvSpPr>
        <p:spPr>
          <a:xfrm>
            <a:off x="9201150"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May</a:t>
            </a:r>
            <a:endParaRPr lang="en-US" sz="900" dirty="0"/>
          </a:p>
        </p:txBody>
      </p:sp>
      <p:sp>
        <p:nvSpPr>
          <p:cNvPr id="23" name="Shape 21"/>
          <p:cNvSpPr/>
          <p:nvPr/>
        </p:nvSpPr>
        <p:spPr>
          <a:xfrm>
            <a:off x="10361295" y="2093976"/>
            <a:ext cx="9144" cy="3310128"/>
          </a:xfrm>
          <a:prstGeom prst="rect">
            <a:avLst/>
          </a:prstGeom>
          <a:solidFill>
            <a:srgbClr val="ECEFEF"/>
          </a:solidFill>
          <a:ln/>
        </p:spPr>
      </p:sp>
      <p:sp>
        <p:nvSpPr>
          <p:cNvPr id="24" name="Text 22"/>
          <p:cNvSpPr txBox="1"/>
          <p:nvPr/>
        </p:nvSpPr>
        <p:spPr>
          <a:xfrm>
            <a:off x="10086975" y="1819656"/>
            <a:ext cx="640080" cy="219456"/>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Jun</a:t>
            </a:r>
            <a:endParaRPr lang="en-US" sz="900" dirty="0"/>
          </a:p>
        </p:txBody>
      </p:sp>
      <p:sp>
        <p:nvSpPr>
          <p:cNvPr id="25" name="Shape 23"/>
          <p:cNvSpPr/>
          <p:nvPr/>
        </p:nvSpPr>
        <p:spPr>
          <a:xfrm>
            <a:off x="11218545" y="2093976"/>
            <a:ext cx="9144" cy="3310128"/>
          </a:xfrm>
          <a:prstGeom prst="rect">
            <a:avLst/>
          </a:prstGeom>
          <a:solidFill>
            <a:srgbClr val="ECEFEF"/>
          </a:solidFill>
          <a:ln/>
        </p:spPr>
      </p:sp>
      <p:sp>
        <p:nvSpPr>
          <p:cNvPr id="26" name="Text 24"/>
          <p:cNvSpPr txBox="1"/>
          <p:nvPr/>
        </p:nvSpPr>
        <p:spPr>
          <a:xfrm>
            <a:off x="10944225" y="1819656"/>
            <a:ext cx="640080" cy="219456"/>
          </a:xfrm>
          <a:prstGeom prst="rect">
            <a:avLst/>
          </a:prstGeom>
          <a:noFill/>
          <a:ln/>
        </p:spPr>
        <p:txBody>
          <a:bodyPr wrap="square" lIns="0" tIns="0" rIns="0" bIns="0" rtlCol="0" anchor="ctr"/>
          <a:lstStyle/>
          <a:p>
            <a:pPr algn="ctr" indent="0" marL="0">
              <a:buNone/>
            </a:pPr>
            <a:r>
              <a:rPr lang="en-US" sz="900" dirty="0">
                <a:solidFill>
                  <a:srgbClr val="C8553D"/>
                </a:solidFill>
                <a:latin typeface="Calibri" pitchFamily="34" charset="0"/>
                <a:ea typeface="Calibri" pitchFamily="34" charset="-122"/>
                <a:cs typeface="Calibri" pitchFamily="34" charset="-120"/>
              </a:rPr>
              <a:t>Jul</a:t>
            </a:r>
            <a:endParaRPr lang="en-US" sz="900" dirty="0"/>
          </a:p>
        </p:txBody>
      </p:sp>
      <p:sp>
        <p:nvSpPr>
          <p:cNvPr id="27" name="Text 25"/>
          <p:cNvSpPr txBox="1"/>
          <p:nvPr/>
        </p:nvSpPr>
        <p:spPr>
          <a:xfrm>
            <a:off x="640080" y="2130552"/>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Q1</a:t>
            </a:r>
            <a:endParaRPr lang="en-US" sz="950" dirty="0"/>
          </a:p>
        </p:txBody>
      </p:sp>
      <p:sp>
        <p:nvSpPr>
          <p:cNvPr id="28" name="Text 26"/>
          <p:cNvSpPr txBox="1"/>
          <p:nvPr/>
        </p:nvSpPr>
        <p:spPr>
          <a:xfrm>
            <a:off x="1097280" y="2130552"/>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Rural, or just small?</a:t>
            </a:r>
            <a:endParaRPr lang="en-US" sz="950" dirty="0"/>
          </a:p>
        </p:txBody>
      </p:sp>
      <p:sp>
        <p:nvSpPr>
          <p:cNvPr id="29" name="Shape 27"/>
          <p:cNvSpPr/>
          <p:nvPr/>
        </p:nvSpPr>
        <p:spPr>
          <a:xfrm>
            <a:off x="2788920" y="2148840"/>
            <a:ext cx="400050" cy="173736"/>
          </a:xfrm>
          <a:prstGeom prst="roundRect">
            <a:avLst>
              <a:gd name="adj" fmla="val 210526"/>
            </a:avLst>
          </a:prstGeom>
          <a:solidFill>
            <a:srgbClr val="0E4C55"/>
          </a:solidFill>
          <a:ln/>
        </p:spPr>
      </p:sp>
      <p:sp>
        <p:nvSpPr>
          <p:cNvPr id="30" name="Text 28"/>
          <p:cNvSpPr txBox="1"/>
          <p:nvPr/>
        </p:nvSpPr>
        <p:spPr>
          <a:xfrm>
            <a:off x="640080" y="2395728"/>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Q2</a:t>
            </a:r>
            <a:endParaRPr lang="en-US" sz="950" dirty="0"/>
          </a:p>
        </p:txBody>
      </p:sp>
      <p:sp>
        <p:nvSpPr>
          <p:cNvPr id="31" name="Text 29"/>
          <p:cNvSpPr txBox="1"/>
          <p:nvPr/>
        </p:nvSpPr>
        <p:spPr>
          <a:xfrm>
            <a:off x="1097280" y="2395728"/>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Disappearing faster?</a:t>
            </a:r>
            <a:endParaRPr lang="en-US" sz="950" dirty="0"/>
          </a:p>
        </p:txBody>
      </p:sp>
      <p:sp>
        <p:nvSpPr>
          <p:cNvPr id="32" name="Shape 30"/>
          <p:cNvSpPr/>
          <p:nvPr/>
        </p:nvSpPr>
        <p:spPr>
          <a:xfrm>
            <a:off x="3188970" y="2414016"/>
            <a:ext cx="400050" cy="173736"/>
          </a:xfrm>
          <a:prstGeom prst="roundRect">
            <a:avLst>
              <a:gd name="adj" fmla="val 210526"/>
            </a:avLst>
          </a:prstGeom>
          <a:solidFill>
            <a:srgbClr val="1F6F78"/>
          </a:solidFill>
          <a:ln/>
        </p:spPr>
      </p:sp>
      <p:sp>
        <p:nvSpPr>
          <p:cNvPr id="33" name="Text 31"/>
          <p:cNvSpPr txBox="1"/>
          <p:nvPr/>
        </p:nvSpPr>
        <p:spPr>
          <a:xfrm>
            <a:off x="640080" y="2660904"/>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Q3</a:t>
            </a:r>
            <a:endParaRPr lang="en-US" sz="950" dirty="0"/>
          </a:p>
        </p:txBody>
      </p:sp>
      <p:sp>
        <p:nvSpPr>
          <p:cNvPr id="34" name="Text 32"/>
          <p:cNvSpPr txBox="1"/>
          <p:nvPr/>
        </p:nvSpPr>
        <p:spPr>
          <a:xfrm>
            <a:off x="1097280" y="2660904"/>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Does the lending cap bind?</a:t>
            </a:r>
            <a:endParaRPr lang="en-US" sz="950" dirty="0"/>
          </a:p>
        </p:txBody>
      </p:sp>
      <p:sp>
        <p:nvSpPr>
          <p:cNvPr id="35" name="Shape 33"/>
          <p:cNvSpPr/>
          <p:nvPr/>
        </p:nvSpPr>
        <p:spPr>
          <a:xfrm>
            <a:off x="3589020" y="2679192"/>
            <a:ext cx="400050" cy="173736"/>
          </a:xfrm>
          <a:prstGeom prst="roundRect">
            <a:avLst>
              <a:gd name="adj" fmla="val 210526"/>
            </a:avLst>
          </a:prstGeom>
          <a:solidFill>
            <a:srgbClr val="0E4C55"/>
          </a:solidFill>
          <a:ln/>
        </p:spPr>
      </p:sp>
      <p:sp>
        <p:nvSpPr>
          <p:cNvPr id="36" name="Text 34"/>
          <p:cNvSpPr txBox="1"/>
          <p:nvPr/>
        </p:nvSpPr>
        <p:spPr>
          <a:xfrm>
            <a:off x="640080" y="2926080"/>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Q4</a:t>
            </a:r>
            <a:endParaRPr lang="en-US" sz="950" dirty="0"/>
          </a:p>
        </p:txBody>
      </p:sp>
      <p:sp>
        <p:nvSpPr>
          <p:cNvPr id="37" name="Text 35"/>
          <p:cNvSpPr txBox="1"/>
          <p:nvPr/>
        </p:nvSpPr>
        <p:spPr>
          <a:xfrm>
            <a:off x="1097280" y="2926080"/>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Capital or customers?</a:t>
            </a:r>
            <a:endParaRPr lang="en-US" sz="950" dirty="0"/>
          </a:p>
        </p:txBody>
      </p:sp>
      <p:sp>
        <p:nvSpPr>
          <p:cNvPr id="38" name="Shape 36"/>
          <p:cNvSpPr/>
          <p:nvPr/>
        </p:nvSpPr>
        <p:spPr>
          <a:xfrm>
            <a:off x="3989070" y="2944368"/>
            <a:ext cx="400050" cy="173736"/>
          </a:xfrm>
          <a:prstGeom prst="roundRect">
            <a:avLst>
              <a:gd name="adj" fmla="val 210526"/>
            </a:avLst>
          </a:prstGeom>
          <a:solidFill>
            <a:srgbClr val="1F6F78"/>
          </a:solidFill>
          <a:ln/>
        </p:spPr>
      </p:sp>
      <p:sp>
        <p:nvSpPr>
          <p:cNvPr id="39" name="Text 37"/>
          <p:cNvSpPr txBox="1"/>
          <p:nvPr/>
        </p:nvSpPr>
        <p:spPr>
          <a:xfrm>
            <a:off x="640080" y="3191256"/>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Q5</a:t>
            </a:r>
            <a:endParaRPr lang="en-US" sz="950" dirty="0"/>
          </a:p>
        </p:txBody>
      </p:sp>
      <p:sp>
        <p:nvSpPr>
          <p:cNvPr id="40" name="Text 38"/>
          <p:cNvSpPr txBox="1"/>
          <p:nvPr/>
        </p:nvSpPr>
        <p:spPr>
          <a:xfrm>
            <a:off x="1097280" y="3191256"/>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Does the definition matter?</a:t>
            </a:r>
            <a:endParaRPr lang="en-US" sz="950" dirty="0"/>
          </a:p>
        </p:txBody>
      </p:sp>
      <p:sp>
        <p:nvSpPr>
          <p:cNvPr id="41" name="Shape 39"/>
          <p:cNvSpPr/>
          <p:nvPr/>
        </p:nvSpPr>
        <p:spPr>
          <a:xfrm>
            <a:off x="4389120" y="3209544"/>
            <a:ext cx="400050" cy="173736"/>
          </a:xfrm>
          <a:prstGeom prst="roundRect">
            <a:avLst>
              <a:gd name="adj" fmla="val 210526"/>
            </a:avLst>
          </a:prstGeom>
          <a:solidFill>
            <a:srgbClr val="0E4C55"/>
          </a:solidFill>
          <a:ln/>
        </p:spPr>
      </p:sp>
      <p:sp>
        <p:nvSpPr>
          <p:cNvPr id="42" name="Text 40"/>
          <p:cNvSpPr txBox="1"/>
          <p:nvPr/>
        </p:nvSpPr>
        <p:spPr>
          <a:xfrm>
            <a:off x="640080" y="3456432"/>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Q6</a:t>
            </a:r>
            <a:endParaRPr lang="en-US" sz="950" dirty="0"/>
          </a:p>
        </p:txBody>
      </p:sp>
      <p:sp>
        <p:nvSpPr>
          <p:cNvPr id="43" name="Text 41"/>
          <p:cNvSpPr txBox="1"/>
          <p:nvPr/>
        </p:nvSpPr>
        <p:spPr>
          <a:xfrm>
            <a:off x="1097280" y="3456432"/>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Loan book composition</a:t>
            </a:r>
            <a:endParaRPr lang="en-US" sz="950" dirty="0"/>
          </a:p>
        </p:txBody>
      </p:sp>
      <p:sp>
        <p:nvSpPr>
          <p:cNvPr id="44" name="Shape 42"/>
          <p:cNvSpPr/>
          <p:nvPr/>
        </p:nvSpPr>
        <p:spPr>
          <a:xfrm>
            <a:off x="4789170" y="3474720"/>
            <a:ext cx="400050" cy="173736"/>
          </a:xfrm>
          <a:prstGeom prst="roundRect">
            <a:avLst>
              <a:gd name="adj" fmla="val 210526"/>
            </a:avLst>
          </a:prstGeom>
          <a:solidFill>
            <a:srgbClr val="1F6F78"/>
          </a:solidFill>
          <a:ln/>
        </p:spPr>
      </p:sp>
      <p:sp>
        <p:nvSpPr>
          <p:cNvPr id="45" name="Text 43"/>
          <p:cNvSpPr txBox="1"/>
          <p:nvPr/>
        </p:nvSpPr>
        <p:spPr>
          <a:xfrm>
            <a:off x="640080" y="3721608"/>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Q7</a:t>
            </a:r>
            <a:endParaRPr lang="en-US" sz="950" dirty="0"/>
          </a:p>
        </p:txBody>
      </p:sp>
      <p:sp>
        <p:nvSpPr>
          <p:cNvPr id="46" name="Text 44"/>
          <p:cNvSpPr txBox="1"/>
          <p:nvPr/>
        </p:nvSpPr>
        <p:spPr>
          <a:xfrm>
            <a:off x="1097280" y="3721608"/>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Anyone starting new ones?</a:t>
            </a:r>
            <a:endParaRPr lang="en-US" sz="950" dirty="0"/>
          </a:p>
        </p:txBody>
      </p:sp>
      <p:sp>
        <p:nvSpPr>
          <p:cNvPr id="47" name="Shape 45"/>
          <p:cNvSpPr/>
          <p:nvPr/>
        </p:nvSpPr>
        <p:spPr>
          <a:xfrm>
            <a:off x="5189220" y="3739896"/>
            <a:ext cx="400050" cy="173736"/>
          </a:xfrm>
          <a:prstGeom prst="roundRect">
            <a:avLst>
              <a:gd name="adj" fmla="val 210526"/>
            </a:avLst>
          </a:prstGeom>
          <a:solidFill>
            <a:srgbClr val="0E4C55"/>
          </a:solidFill>
          <a:ln/>
        </p:spPr>
      </p:sp>
      <p:sp>
        <p:nvSpPr>
          <p:cNvPr id="48" name="Text 46"/>
          <p:cNvSpPr txBox="1"/>
          <p:nvPr/>
        </p:nvSpPr>
        <p:spPr>
          <a:xfrm>
            <a:off x="640080" y="3986784"/>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Q8</a:t>
            </a:r>
            <a:endParaRPr lang="en-US" sz="950" dirty="0"/>
          </a:p>
        </p:txBody>
      </p:sp>
      <p:sp>
        <p:nvSpPr>
          <p:cNvPr id="49" name="Text 47"/>
          <p:cNvSpPr txBox="1"/>
          <p:nvPr/>
        </p:nvSpPr>
        <p:spPr>
          <a:xfrm>
            <a:off x="1097280" y="3986784"/>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Is an office harder to find?</a:t>
            </a:r>
            <a:endParaRPr lang="en-US" sz="950" dirty="0"/>
          </a:p>
        </p:txBody>
      </p:sp>
      <p:sp>
        <p:nvSpPr>
          <p:cNvPr id="50" name="Shape 48"/>
          <p:cNvSpPr/>
          <p:nvPr/>
        </p:nvSpPr>
        <p:spPr>
          <a:xfrm>
            <a:off x="5589270" y="4005072"/>
            <a:ext cx="400050" cy="173736"/>
          </a:xfrm>
          <a:prstGeom prst="roundRect">
            <a:avLst>
              <a:gd name="adj" fmla="val 210526"/>
            </a:avLst>
          </a:prstGeom>
          <a:solidFill>
            <a:srgbClr val="1F6F78"/>
          </a:solidFill>
          <a:ln/>
        </p:spPr>
      </p:sp>
      <p:sp>
        <p:nvSpPr>
          <p:cNvPr id="51" name="Text 49"/>
          <p:cNvSpPr txBox="1"/>
          <p:nvPr/>
        </p:nvSpPr>
        <p:spPr>
          <a:xfrm>
            <a:off x="640080" y="4251960"/>
            <a:ext cx="457200" cy="219456"/>
          </a:xfrm>
          <a:prstGeom prst="rect">
            <a:avLst/>
          </a:prstGeom>
          <a:noFill/>
          <a:ln/>
        </p:spPr>
        <p:txBody>
          <a:bodyPr wrap="square" lIns="0" tIns="0" rIns="0" bIns="0" rtlCol="0" anchor="ctr"/>
          <a:lstStyle/>
          <a:p>
            <a:pPr indent="0" marL="0">
              <a:buNone/>
            </a:pPr>
            <a:r>
              <a:rPr lang="en-US" sz="950" b="1" dirty="0">
                <a:solidFill>
                  <a:srgbClr val="0E4C55"/>
                </a:solidFill>
                <a:latin typeface="Calibri" pitchFamily="34" charset="0"/>
                <a:ea typeface="Calibri" pitchFamily="34" charset="-122"/>
                <a:cs typeface="Calibri" pitchFamily="34" charset="-120"/>
              </a:rPr>
              <a:t>Q9</a:t>
            </a:r>
            <a:endParaRPr lang="en-US" sz="950" dirty="0"/>
          </a:p>
        </p:txBody>
      </p:sp>
      <p:sp>
        <p:nvSpPr>
          <p:cNvPr id="52" name="Text 50"/>
          <p:cNvSpPr txBox="1"/>
          <p:nvPr/>
        </p:nvSpPr>
        <p:spPr>
          <a:xfrm>
            <a:off x="1097280" y="4251960"/>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How far back can we look?</a:t>
            </a:r>
            <a:endParaRPr lang="en-US" sz="950" dirty="0"/>
          </a:p>
        </p:txBody>
      </p:sp>
      <p:sp>
        <p:nvSpPr>
          <p:cNvPr id="53" name="Shape 51"/>
          <p:cNvSpPr/>
          <p:nvPr/>
        </p:nvSpPr>
        <p:spPr>
          <a:xfrm>
            <a:off x="5989320" y="4270248"/>
            <a:ext cx="400050" cy="173736"/>
          </a:xfrm>
          <a:prstGeom prst="roundRect">
            <a:avLst>
              <a:gd name="adj" fmla="val 210526"/>
            </a:avLst>
          </a:prstGeom>
          <a:solidFill>
            <a:srgbClr val="0E4C55"/>
          </a:solidFill>
          <a:ln/>
        </p:spPr>
      </p:sp>
      <p:sp>
        <p:nvSpPr>
          <p:cNvPr id="54" name="Text 52"/>
          <p:cNvSpPr txBox="1"/>
          <p:nvPr/>
        </p:nvSpPr>
        <p:spPr>
          <a:xfrm>
            <a:off x="640080" y="4517136"/>
            <a:ext cx="457200" cy="219456"/>
          </a:xfrm>
          <a:prstGeom prst="rect">
            <a:avLst/>
          </a:prstGeom>
          <a:noFill/>
          <a:ln/>
        </p:spPr>
        <p:txBody>
          <a:bodyPr wrap="square" lIns="0" tIns="0" rIns="0" bIns="0" rtlCol="0" anchor="ctr"/>
          <a:lstStyle/>
          <a:p>
            <a:pPr indent="0" marL="0">
              <a:buNone/>
            </a:pPr>
            <a:r>
              <a:rPr lang="en-US" sz="950" b="1" dirty="0">
                <a:solidFill>
                  <a:srgbClr val="C8553D"/>
                </a:solidFill>
                <a:latin typeface="Calibri" pitchFamily="34" charset="0"/>
                <a:ea typeface="Calibri" pitchFamily="34" charset="-122"/>
                <a:cs typeface="Calibri" pitchFamily="34" charset="-120"/>
              </a:rPr>
              <a:t>Q10</a:t>
            </a:r>
            <a:endParaRPr lang="en-US" sz="950" dirty="0"/>
          </a:p>
        </p:txBody>
      </p:sp>
      <p:sp>
        <p:nvSpPr>
          <p:cNvPr id="55" name="Text 53"/>
          <p:cNvSpPr txBox="1"/>
          <p:nvPr/>
        </p:nvSpPr>
        <p:spPr>
          <a:xfrm>
            <a:off x="1097280" y="4517136"/>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Mortgage access and cost</a:t>
            </a:r>
            <a:endParaRPr lang="en-US" sz="950" dirty="0"/>
          </a:p>
        </p:txBody>
      </p:sp>
      <p:sp>
        <p:nvSpPr>
          <p:cNvPr id="56" name="Shape 54"/>
          <p:cNvSpPr/>
          <p:nvPr/>
        </p:nvSpPr>
        <p:spPr>
          <a:xfrm>
            <a:off x="6389370" y="4535424"/>
            <a:ext cx="800100" cy="173736"/>
          </a:xfrm>
          <a:prstGeom prst="roundRect">
            <a:avLst>
              <a:gd name="adj" fmla="val 210526"/>
            </a:avLst>
          </a:prstGeom>
          <a:solidFill>
            <a:srgbClr val="C8553D"/>
          </a:solidFill>
          <a:ln/>
        </p:spPr>
      </p:sp>
      <p:sp>
        <p:nvSpPr>
          <p:cNvPr id="57" name="Text 55"/>
          <p:cNvSpPr txBox="1"/>
          <p:nvPr/>
        </p:nvSpPr>
        <p:spPr>
          <a:xfrm>
            <a:off x="640080" y="4782312"/>
            <a:ext cx="457200" cy="219456"/>
          </a:xfrm>
          <a:prstGeom prst="rect">
            <a:avLst/>
          </a:prstGeom>
          <a:noFill/>
          <a:ln/>
        </p:spPr>
        <p:txBody>
          <a:bodyPr wrap="square" lIns="0" tIns="0" rIns="0" bIns="0" rtlCol="0" anchor="ctr"/>
          <a:lstStyle/>
          <a:p>
            <a:pPr indent="0" marL="0">
              <a:buNone/>
            </a:pPr>
            <a:r>
              <a:rPr lang="en-US" sz="950" b="1" dirty="0">
                <a:solidFill>
                  <a:srgbClr val="C8553D"/>
                </a:solidFill>
                <a:latin typeface="Calibri" pitchFamily="34" charset="0"/>
                <a:ea typeface="Calibri" pitchFamily="34" charset="-122"/>
                <a:cs typeface="Calibri" pitchFamily="34" charset="-120"/>
              </a:rPr>
              <a:t>Q11</a:t>
            </a:r>
            <a:endParaRPr lang="en-US" sz="950" dirty="0"/>
          </a:p>
        </p:txBody>
      </p:sp>
      <p:sp>
        <p:nvSpPr>
          <p:cNvPr id="58" name="Text 56"/>
          <p:cNvSpPr txBox="1"/>
          <p:nvPr/>
        </p:nvSpPr>
        <p:spPr>
          <a:xfrm>
            <a:off x="1097280" y="4782312"/>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Appraisal availability and cost</a:t>
            </a:r>
            <a:endParaRPr lang="en-US" sz="950" dirty="0"/>
          </a:p>
        </p:txBody>
      </p:sp>
      <p:sp>
        <p:nvSpPr>
          <p:cNvPr id="59" name="Shape 57"/>
          <p:cNvSpPr/>
          <p:nvPr/>
        </p:nvSpPr>
        <p:spPr>
          <a:xfrm>
            <a:off x="7189470" y="4800600"/>
            <a:ext cx="714375" cy="173736"/>
          </a:xfrm>
          <a:prstGeom prst="roundRect">
            <a:avLst>
              <a:gd name="adj" fmla="val 210526"/>
            </a:avLst>
          </a:prstGeom>
          <a:solidFill>
            <a:srgbClr val="C8553D"/>
          </a:solidFill>
          <a:ln/>
        </p:spPr>
      </p:sp>
      <p:sp>
        <p:nvSpPr>
          <p:cNvPr id="60" name="Text 58"/>
          <p:cNvSpPr txBox="1"/>
          <p:nvPr/>
        </p:nvSpPr>
        <p:spPr>
          <a:xfrm>
            <a:off x="640080" y="5047488"/>
            <a:ext cx="457200" cy="219456"/>
          </a:xfrm>
          <a:prstGeom prst="rect">
            <a:avLst/>
          </a:prstGeom>
          <a:noFill/>
          <a:ln/>
        </p:spPr>
        <p:txBody>
          <a:bodyPr wrap="square" lIns="0" tIns="0" rIns="0" bIns="0" rtlCol="0" anchor="ctr"/>
          <a:lstStyle/>
          <a:p>
            <a:pPr indent="0" marL="0">
              <a:buNone/>
            </a:pPr>
            <a:r>
              <a:rPr lang="en-US" sz="950" b="1" dirty="0">
                <a:solidFill>
                  <a:srgbClr val="5B6B72"/>
                </a:solidFill>
                <a:latin typeface="Calibri" pitchFamily="34" charset="0"/>
                <a:ea typeface="Calibri" pitchFamily="34" charset="-122"/>
                <a:cs typeface="Calibri" pitchFamily="34" charset="-120"/>
              </a:rPr>
              <a:t>Then</a:t>
            </a:r>
            <a:endParaRPr lang="en-US" sz="950" dirty="0"/>
          </a:p>
        </p:txBody>
      </p:sp>
      <p:sp>
        <p:nvSpPr>
          <p:cNvPr id="61" name="Text 59"/>
          <p:cNvSpPr txBox="1"/>
          <p:nvPr/>
        </p:nvSpPr>
        <p:spPr>
          <a:xfrm>
            <a:off x="1097280" y="5047488"/>
            <a:ext cx="1691640" cy="219456"/>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Draft, review, clearance</a:t>
            </a:r>
            <a:endParaRPr lang="en-US" sz="950" dirty="0"/>
          </a:p>
        </p:txBody>
      </p:sp>
      <p:sp>
        <p:nvSpPr>
          <p:cNvPr id="62" name="Shape 60"/>
          <p:cNvSpPr/>
          <p:nvPr/>
        </p:nvSpPr>
        <p:spPr>
          <a:xfrm>
            <a:off x="7903845" y="5065776"/>
            <a:ext cx="3571875" cy="173736"/>
          </a:xfrm>
          <a:prstGeom prst="roundRect">
            <a:avLst>
              <a:gd name="adj" fmla="val 210526"/>
            </a:avLst>
          </a:prstGeom>
          <a:solidFill>
            <a:srgbClr val="DCE6E4"/>
          </a:solidFill>
          <a:ln/>
        </p:spPr>
      </p:sp>
      <p:sp>
        <p:nvSpPr>
          <p:cNvPr id="63" name="Shape 61"/>
          <p:cNvSpPr/>
          <p:nvPr/>
        </p:nvSpPr>
        <p:spPr>
          <a:xfrm rot="5400000">
            <a:off x="11365992" y="5079492"/>
            <a:ext cx="237744" cy="201168"/>
          </a:xfrm>
          <a:prstGeom prst="triangle">
            <a:avLst/>
          </a:prstGeom>
          <a:solidFill>
            <a:srgbClr val="E8A24A"/>
          </a:solidFill>
          <a:ln/>
        </p:spPr>
      </p:sp>
      <p:sp>
        <p:nvSpPr>
          <p:cNvPr id="64" name="Text 62"/>
          <p:cNvSpPr txBox="1"/>
          <p:nvPr/>
        </p:nvSpPr>
        <p:spPr>
          <a:xfrm>
            <a:off x="2377440" y="5340096"/>
            <a:ext cx="2011680" cy="201168"/>
          </a:xfrm>
          <a:prstGeom prst="rect">
            <a:avLst/>
          </a:prstGeom>
          <a:noFill/>
          <a:ln/>
        </p:spPr>
        <p:txBody>
          <a:bodyPr wrap="square" lIns="0" tIns="0" rIns="0" bIns="0" rtlCol="0" anchor="ctr"/>
          <a:lstStyle/>
          <a:p>
            <a:pPr algn="ctr" indent="0" marL="0">
              <a:buNone/>
            </a:pPr>
            <a:r>
              <a:rPr lang="en-US" sz="900" b="1" dirty="0">
                <a:solidFill>
                  <a:srgbClr val="C8553D"/>
                </a:solidFill>
                <a:latin typeface="Calibri" pitchFamily="34" charset="0"/>
                <a:ea typeface="Calibri" pitchFamily="34" charset="-122"/>
                <a:cs typeface="Calibri" pitchFamily="34" charset="-120"/>
              </a:rPr>
              <a:t>9 Sep 2026 · analysis begins</a:t>
            </a:r>
            <a:endParaRPr lang="en-US" sz="900" dirty="0"/>
          </a:p>
        </p:txBody>
      </p:sp>
      <p:sp>
        <p:nvSpPr>
          <p:cNvPr id="65" name="Text 63"/>
          <p:cNvSpPr txBox="1"/>
          <p:nvPr/>
        </p:nvSpPr>
        <p:spPr>
          <a:xfrm>
            <a:off x="6989445" y="5340096"/>
            <a:ext cx="2011680" cy="201168"/>
          </a:xfrm>
          <a:prstGeom prst="rect">
            <a:avLst/>
          </a:prstGeom>
          <a:noFill/>
          <a:ln/>
        </p:spPr>
        <p:txBody>
          <a:bodyPr wrap="square" lIns="0" tIns="0" rIns="0" bIns="0" rtlCol="0" anchor="ctr"/>
          <a:lstStyle/>
          <a:p>
            <a:pPr algn="ctr" indent="0" marL="0">
              <a:buNone/>
            </a:pPr>
            <a:r>
              <a:rPr lang="en-US" sz="900" b="1" dirty="0">
                <a:solidFill>
                  <a:srgbClr val="C8553D"/>
                </a:solidFill>
                <a:latin typeface="Calibri" pitchFamily="34" charset="0"/>
                <a:ea typeface="Calibri" pitchFamily="34" charset="-122"/>
                <a:cs typeface="Calibri" pitchFamily="34" charset="-120"/>
              </a:rPr>
              <a:t>mid-Mar 2027 · analysis closes</a:t>
            </a:r>
            <a:endParaRPr lang="en-US" sz="900" dirty="0"/>
          </a:p>
        </p:txBody>
      </p:sp>
      <p:sp>
        <p:nvSpPr>
          <p:cNvPr id="66" name="Text 64"/>
          <p:cNvSpPr txBox="1"/>
          <p:nvPr/>
        </p:nvSpPr>
        <p:spPr>
          <a:xfrm>
            <a:off x="9921240" y="5340096"/>
            <a:ext cx="2011680" cy="201168"/>
          </a:xfrm>
          <a:prstGeom prst="rect">
            <a:avLst/>
          </a:prstGeom>
          <a:noFill/>
          <a:ln/>
        </p:spPr>
        <p:txBody>
          <a:bodyPr wrap="square" lIns="0" tIns="0" rIns="0" bIns="0" rtlCol="0" anchor="ctr"/>
          <a:lstStyle/>
          <a:p>
            <a:pPr algn="ctr" indent="0" marL="0">
              <a:buNone/>
            </a:pPr>
            <a:r>
              <a:rPr lang="en-US" sz="900" b="1" dirty="0">
                <a:solidFill>
                  <a:srgbClr val="C8553D"/>
                </a:solidFill>
                <a:latin typeface="Calibri" pitchFamily="34" charset="0"/>
                <a:ea typeface="Calibri" pitchFamily="34" charset="-122"/>
                <a:cs typeface="Calibri" pitchFamily="34" charset="-120"/>
              </a:rPr>
              <a:t>10 Jul 2027 · report due</a:t>
            </a:r>
            <a:endParaRPr lang="en-US" sz="900" dirty="0"/>
          </a:p>
        </p:txBody>
      </p:sp>
      <p:sp>
        <p:nvSpPr>
          <p:cNvPr id="67" name="Shape 65"/>
          <p:cNvSpPr/>
          <p:nvPr/>
        </p:nvSpPr>
        <p:spPr>
          <a:xfrm>
            <a:off x="640080" y="5532120"/>
            <a:ext cx="3291840" cy="713232"/>
          </a:xfrm>
          <a:prstGeom prst="roundRect">
            <a:avLst>
              <a:gd name="adj" fmla="val 7692"/>
            </a:avLst>
          </a:prstGeom>
          <a:solidFill>
            <a:srgbClr val="F3F5F4"/>
          </a:solidFill>
          <a:ln/>
        </p:spPr>
      </p:sp>
      <p:sp>
        <p:nvSpPr>
          <p:cNvPr id="68" name="Text 66"/>
          <p:cNvSpPr txBox="1"/>
          <p:nvPr/>
        </p:nvSpPr>
        <p:spPr>
          <a:xfrm>
            <a:off x="868680" y="5596128"/>
            <a:ext cx="822960" cy="237744"/>
          </a:xfrm>
          <a:prstGeom prst="rect">
            <a:avLst/>
          </a:prstGeom>
          <a:noFill/>
          <a:ln/>
        </p:spPr>
        <p:txBody>
          <a:bodyPr wrap="square" lIns="0" tIns="0" rIns="0" bIns="0" rtlCol="0" anchor="ctr"/>
          <a:lstStyle/>
          <a:p>
            <a:pPr indent="0" marL="0">
              <a:buNone/>
            </a:pPr>
            <a:r>
              <a:rPr lang="en-US" sz="1050" b="1" dirty="0">
                <a:solidFill>
                  <a:srgbClr val="0E4C55"/>
                </a:solidFill>
                <a:latin typeface="Calibri" pitchFamily="34" charset="0"/>
                <a:ea typeface="Calibri" pitchFamily="34" charset="-122"/>
                <a:cs typeface="Calibri" pitchFamily="34" charset="-120"/>
              </a:rPr>
              <a:t>Now</a:t>
            </a:r>
            <a:endParaRPr lang="en-US" sz="1050" dirty="0"/>
          </a:p>
        </p:txBody>
      </p:sp>
      <p:sp>
        <p:nvSpPr>
          <p:cNvPr id="69" name="Text 67"/>
          <p:cNvSpPr txBox="1"/>
          <p:nvPr/>
        </p:nvSpPr>
        <p:spPr>
          <a:xfrm>
            <a:off x="1645920" y="5577840"/>
            <a:ext cx="2194560" cy="621792"/>
          </a:xfrm>
          <a:prstGeom prst="rect">
            <a:avLst/>
          </a:prstGeom>
          <a:noFill/>
          <a:ln/>
        </p:spPr>
        <p:txBody>
          <a:bodyPr wrap="square" lIns="0" tIns="0" rIns="0" bIns="0" rtlCol="0" anchor="ctr"/>
          <a:lstStyle/>
          <a:p>
            <a:pPr indent="0" marL="0">
              <a:lnSpc>
                <a:spcPts val="1200"/>
              </a:lnSpc>
              <a:buNone/>
            </a:pPr>
            <a:r>
              <a:rPr lang="en-US" sz="950" dirty="0">
                <a:solidFill>
                  <a:srgbClr val="5B6B72"/>
                </a:solidFill>
                <a:latin typeface="Calibri" pitchFamily="34" charset="0"/>
                <a:ea typeface="Calibri" pitchFamily="34" charset="-122"/>
                <a:cs typeface="Calibri" pitchFamily="34" charset="-120"/>
              </a:rPr>
              <a:t>Tell us what we are missing — questions, barriers, evidence you hold</a:t>
            </a:r>
            <a:endParaRPr lang="en-US" sz="950" dirty="0"/>
          </a:p>
        </p:txBody>
      </p:sp>
      <p:sp>
        <p:nvSpPr>
          <p:cNvPr id="70" name="Shape 68"/>
          <p:cNvSpPr/>
          <p:nvPr/>
        </p:nvSpPr>
        <p:spPr>
          <a:xfrm>
            <a:off x="4297680" y="5532120"/>
            <a:ext cx="3291840" cy="713232"/>
          </a:xfrm>
          <a:prstGeom prst="roundRect">
            <a:avLst>
              <a:gd name="adj" fmla="val 7692"/>
            </a:avLst>
          </a:prstGeom>
          <a:solidFill>
            <a:srgbClr val="F3F5F4"/>
          </a:solidFill>
          <a:ln/>
        </p:spPr>
      </p:sp>
      <p:sp>
        <p:nvSpPr>
          <p:cNvPr id="71" name="Text 69"/>
          <p:cNvSpPr txBox="1"/>
          <p:nvPr/>
        </p:nvSpPr>
        <p:spPr>
          <a:xfrm>
            <a:off x="4526280" y="5596128"/>
            <a:ext cx="822960" cy="237744"/>
          </a:xfrm>
          <a:prstGeom prst="rect">
            <a:avLst/>
          </a:prstGeom>
          <a:noFill/>
          <a:ln/>
        </p:spPr>
        <p:txBody>
          <a:bodyPr wrap="square" lIns="0" tIns="0" rIns="0" bIns="0" rtlCol="0" anchor="ctr"/>
          <a:lstStyle/>
          <a:p>
            <a:pPr indent="0" marL="0">
              <a:buNone/>
            </a:pPr>
            <a:r>
              <a:rPr lang="en-US" sz="1050" b="1" dirty="0">
                <a:solidFill>
                  <a:srgbClr val="0E4C55"/>
                </a:solidFill>
                <a:latin typeface="Calibri" pitchFamily="34" charset="0"/>
                <a:ea typeface="Calibri" pitchFamily="34" charset="-122"/>
                <a:cs typeface="Calibri" pitchFamily="34" charset="-120"/>
              </a:rPr>
              <a:t>Winter</a:t>
            </a:r>
            <a:endParaRPr lang="en-US" sz="1050" dirty="0"/>
          </a:p>
        </p:txBody>
      </p:sp>
      <p:sp>
        <p:nvSpPr>
          <p:cNvPr id="72" name="Text 70"/>
          <p:cNvSpPr txBox="1"/>
          <p:nvPr/>
        </p:nvSpPr>
        <p:spPr>
          <a:xfrm>
            <a:off x="5303520" y="5577840"/>
            <a:ext cx="2194560" cy="621792"/>
          </a:xfrm>
          <a:prstGeom prst="rect">
            <a:avLst/>
          </a:prstGeom>
          <a:noFill/>
          <a:ln/>
        </p:spPr>
        <p:txBody>
          <a:bodyPr wrap="square" lIns="0" tIns="0" rIns="0" bIns="0" rtlCol="0" anchor="ctr"/>
          <a:lstStyle/>
          <a:p>
            <a:pPr indent="0" marL="0">
              <a:lnSpc>
                <a:spcPts val="1200"/>
              </a:lnSpc>
              <a:buNone/>
            </a:pPr>
            <a:r>
              <a:rPr lang="en-US" sz="950" dirty="0">
                <a:solidFill>
                  <a:srgbClr val="5B6B72"/>
                </a:solidFill>
                <a:latin typeface="Calibri" pitchFamily="34" charset="0"/>
                <a:ea typeface="Calibri" pitchFamily="34" charset="-122"/>
                <a:cs typeface="Calibri" pitchFamily="34" charset="-120"/>
              </a:rPr>
              <a:t>React to early findings before they harden into a draft</a:t>
            </a:r>
            <a:endParaRPr lang="en-US" sz="950" dirty="0"/>
          </a:p>
        </p:txBody>
      </p:sp>
      <p:sp>
        <p:nvSpPr>
          <p:cNvPr id="73" name="Shape 71"/>
          <p:cNvSpPr/>
          <p:nvPr/>
        </p:nvSpPr>
        <p:spPr>
          <a:xfrm>
            <a:off x="7955280" y="5532120"/>
            <a:ext cx="3291840" cy="713232"/>
          </a:xfrm>
          <a:prstGeom prst="roundRect">
            <a:avLst>
              <a:gd name="adj" fmla="val 7692"/>
            </a:avLst>
          </a:prstGeom>
          <a:solidFill>
            <a:srgbClr val="F3F5F4"/>
          </a:solidFill>
          <a:ln/>
        </p:spPr>
      </p:sp>
      <p:sp>
        <p:nvSpPr>
          <p:cNvPr id="74" name="Text 72"/>
          <p:cNvSpPr txBox="1"/>
          <p:nvPr/>
        </p:nvSpPr>
        <p:spPr>
          <a:xfrm>
            <a:off x="8183880" y="5596128"/>
            <a:ext cx="822960" cy="237744"/>
          </a:xfrm>
          <a:prstGeom prst="rect">
            <a:avLst/>
          </a:prstGeom>
          <a:noFill/>
          <a:ln/>
        </p:spPr>
        <p:txBody>
          <a:bodyPr wrap="square" lIns="0" tIns="0" rIns="0" bIns="0" rtlCol="0" anchor="ctr"/>
          <a:lstStyle/>
          <a:p>
            <a:pPr indent="0" marL="0">
              <a:buNone/>
            </a:pPr>
            <a:r>
              <a:rPr lang="en-US" sz="1050" b="1" dirty="0">
                <a:solidFill>
                  <a:srgbClr val="0E4C55"/>
                </a:solidFill>
                <a:latin typeface="Calibri" pitchFamily="34" charset="0"/>
                <a:ea typeface="Calibri" pitchFamily="34" charset="-122"/>
                <a:cs typeface="Calibri" pitchFamily="34" charset="-120"/>
              </a:rPr>
              <a:t>Spring</a:t>
            </a:r>
            <a:endParaRPr lang="en-US" sz="1050" dirty="0"/>
          </a:p>
        </p:txBody>
      </p:sp>
      <p:sp>
        <p:nvSpPr>
          <p:cNvPr id="75" name="Text 73"/>
          <p:cNvSpPr txBox="1"/>
          <p:nvPr/>
        </p:nvSpPr>
        <p:spPr>
          <a:xfrm>
            <a:off x="8961120" y="5577840"/>
            <a:ext cx="2194560" cy="621792"/>
          </a:xfrm>
          <a:prstGeom prst="rect">
            <a:avLst/>
          </a:prstGeom>
          <a:noFill/>
          <a:ln/>
        </p:spPr>
        <p:txBody>
          <a:bodyPr wrap="square" lIns="0" tIns="0" rIns="0" bIns="0" rtlCol="0" anchor="ctr"/>
          <a:lstStyle/>
          <a:p>
            <a:pPr indent="0" marL="0">
              <a:lnSpc>
                <a:spcPts val="1200"/>
              </a:lnSpc>
              <a:buNone/>
            </a:pPr>
            <a:r>
              <a:rPr lang="en-US" sz="950" dirty="0">
                <a:solidFill>
                  <a:srgbClr val="5B6B72"/>
                </a:solidFill>
                <a:latin typeface="Calibri" pitchFamily="34" charset="0"/>
                <a:ea typeface="Calibri" pitchFamily="34" charset="-122"/>
                <a:cs typeface="Calibri" pitchFamily="34" charset="-120"/>
              </a:rPr>
              <a:t>Read the draft with the people who will be asked about it in mind</a:t>
            </a:r>
            <a:endParaRPr lang="en-US" sz="950" dirty="0"/>
          </a:p>
        </p:txBody>
      </p:sp>
      <p:sp>
        <p:nvSpPr>
          <p:cNvPr id="76" name="Text 74"/>
          <p:cNvSpPr txBox="1"/>
          <p:nvPr/>
        </p:nvSpPr>
        <p:spPr>
          <a:xfrm>
            <a:off x="640080" y="6382512"/>
            <a:ext cx="10881360" cy="274320"/>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The slack between March and July is deliberate: the parallel bank-regulator study and the clearance process are both outside our control.</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4 · WHAT WE ARE SEEING SO FAR</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12202E"/>
                </a:solidFill>
                <a:latin typeface="Cambria" pitchFamily="34" charset="0"/>
                <a:ea typeface="Cambria" pitchFamily="34" charset="-122"/>
                <a:cs typeface="Cambria" pitchFamily="34" charset="-120"/>
              </a:rPr>
              <a:t>The rural credit unions that exist are doing well</a:t>
            </a:r>
            <a:endParaRPr lang="en-US" sz="2700" dirty="0"/>
          </a:p>
        </p:txBody>
      </p:sp>
      <p:sp>
        <p:nvSpPr>
          <p:cNvPr id="4" name="Text 2"/>
          <p:cNvSpPr txBox="1"/>
          <p:nvPr/>
        </p:nvSpPr>
        <p:spPr>
          <a:xfrm>
            <a:off x="640080" y="129844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5B6B72"/>
                </a:solidFill>
                <a:latin typeface="Calibri" pitchFamily="34" charset="0"/>
                <a:ea typeface="Calibri" pitchFamily="34" charset="-122"/>
                <a:cs typeface="Calibri" pitchFamily="34" charset="-120"/>
              </a:rPr>
              <a:t>Early evidence, offered to start the conversation rather than end it. Every figure here is preliminary and will be re-estimated before anything is written.</a:t>
            </a:r>
            <a:endParaRPr lang="en-US" sz="1300" dirty="0"/>
          </a:p>
        </p:txBody>
      </p:sp>
      <p:sp>
        <p:nvSpPr>
          <p:cNvPr id="5" name="Shape 3"/>
          <p:cNvSpPr/>
          <p:nvPr/>
        </p:nvSpPr>
        <p:spPr>
          <a:xfrm>
            <a:off x="640080" y="1965960"/>
            <a:ext cx="3291840" cy="2148840"/>
          </a:xfrm>
          <a:prstGeom prst="roundRect">
            <a:avLst>
              <a:gd name="adj" fmla="val 2553"/>
            </a:avLst>
          </a:prstGeom>
          <a:solidFill>
            <a:srgbClr val="F3F5F4"/>
          </a:solidFill>
          <a:ln/>
        </p:spPr>
      </p:sp>
      <p:sp>
        <p:nvSpPr>
          <p:cNvPr id="6" name="Text 4"/>
          <p:cNvSpPr txBox="1"/>
          <p:nvPr/>
        </p:nvSpPr>
        <p:spPr>
          <a:xfrm>
            <a:off x="914400" y="2121408"/>
            <a:ext cx="2743200" cy="274320"/>
          </a:xfrm>
          <a:prstGeom prst="rect">
            <a:avLst/>
          </a:prstGeom>
          <a:noFill/>
          <a:ln/>
        </p:spPr>
        <p:txBody>
          <a:bodyPr wrap="square" lIns="0" tIns="0" rIns="0" bIns="0" rtlCol="0" anchor="ctr"/>
          <a:lstStyle/>
          <a:p>
            <a:pPr indent="0" marL="0">
              <a:buNone/>
            </a:pPr>
            <a:r>
              <a:rPr lang="en-US" sz="1200" b="1" dirty="0">
                <a:solidFill>
                  <a:srgbClr val="0E4C55"/>
                </a:solidFill>
                <a:latin typeface="Calibri" pitchFamily="34" charset="0"/>
                <a:ea typeface="Calibri" pitchFamily="34" charset="-122"/>
                <a:cs typeface="Calibri" pitchFamily="34" charset="-120"/>
              </a:rPr>
              <a:t>Grow faster</a:t>
            </a:r>
            <a:endParaRPr lang="en-US" sz="1200" dirty="0"/>
          </a:p>
        </p:txBody>
      </p:sp>
      <p:sp>
        <p:nvSpPr>
          <p:cNvPr id="7" name="Text 5"/>
          <p:cNvSpPr txBox="1"/>
          <p:nvPr/>
        </p:nvSpPr>
        <p:spPr>
          <a:xfrm>
            <a:off x="914400" y="2468880"/>
            <a:ext cx="2834640" cy="640080"/>
          </a:xfrm>
          <a:prstGeom prst="rect">
            <a:avLst/>
          </a:prstGeom>
          <a:noFill/>
          <a:ln/>
        </p:spPr>
        <p:txBody>
          <a:bodyPr wrap="square" lIns="0" tIns="0" rIns="0" bIns="0" rtlCol="0" anchor="ctr"/>
          <a:lstStyle/>
          <a:p>
            <a:pPr indent="0" marL="0">
              <a:buNone/>
            </a:pPr>
            <a:r>
              <a:rPr lang="en-US" sz="3000" b="1" dirty="0">
                <a:solidFill>
                  <a:srgbClr val="12202E"/>
                </a:solidFill>
                <a:latin typeface="Cambria" pitchFamily="34" charset="0"/>
                <a:ea typeface="Cambria" pitchFamily="34" charset="-122"/>
                <a:cs typeface="Cambria" pitchFamily="34" charset="-120"/>
              </a:rPr>
              <a:t>4.0% vs 2.7%</a:t>
            </a:r>
            <a:endParaRPr lang="en-US" sz="3000" dirty="0"/>
          </a:p>
        </p:txBody>
      </p:sp>
      <p:sp>
        <p:nvSpPr>
          <p:cNvPr id="8" name="Text 6"/>
          <p:cNvSpPr txBox="1"/>
          <p:nvPr/>
        </p:nvSpPr>
        <p:spPr>
          <a:xfrm>
            <a:off x="914400" y="3200400"/>
            <a:ext cx="2788920" cy="777240"/>
          </a:xfrm>
          <a:prstGeom prst="rect">
            <a:avLst/>
          </a:prstGeom>
          <a:noFill/>
          <a:ln/>
        </p:spPr>
        <p:txBody>
          <a:bodyPr wrap="square" lIns="0" tIns="0" rIns="0" bIns="0" rtlCol="0" anchor="ctr"/>
          <a:lstStyle/>
          <a:p>
            <a:pPr indent="0" marL="0">
              <a:lnSpc>
                <a:spcPts val="1400"/>
              </a:lnSpc>
              <a:buNone/>
            </a:pPr>
            <a:r>
              <a:rPr lang="en-US" sz="1050" dirty="0">
                <a:solidFill>
                  <a:srgbClr val="5B6B72"/>
                </a:solidFill>
                <a:latin typeface="Calibri" pitchFamily="34" charset="0"/>
                <a:ea typeface="Calibri" pitchFamily="34" charset="-122"/>
                <a:cs typeface="Calibri" pitchFamily="34" charset="-120"/>
              </a:rPr>
              <a:t>annual asset growth, typical rural credit union against typical non-rural</a:t>
            </a:r>
            <a:endParaRPr lang="en-US" sz="1050" dirty="0"/>
          </a:p>
        </p:txBody>
      </p:sp>
      <p:sp>
        <p:nvSpPr>
          <p:cNvPr id="9" name="Shape 7"/>
          <p:cNvSpPr/>
          <p:nvPr/>
        </p:nvSpPr>
        <p:spPr>
          <a:xfrm>
            <a:off x="4297680" y="1965960"/>
            <a:ext cx="3291840" cy="2148840"/>
          </a:xfrm>
          <a:prstGeom prst="roundRect">
            <a:avLst>
              <a:gd name="adj" fmla="val 2553"/>
            </a:avLst>
          </a:prstGeom>
          <a:solidFill>
            <a:srgbClr val="F3F5F4"/>
          </a:solidFill>
          <a:ln/>
        </p:spPr>
      </p:sp>
      <p:sp>
        <p:nvSpPr>
          <p:cNvPr id="10" name="Text 8"/>
          <p:cNvSpPr txBox="1"/>
          <p:nvPr/>
        </p:nvSpPr>
        <p:spPr>
          <a:xfrm>
            <a:off x="4572000" y="2121408"/>
            <a:ext cx="2743200" cy="274320"/>
          </a:xfrm>
          <a:prstGeom prst="rect">
            <a:avLst/>
          </a:prstGeom>
          <a:noFill/>
          <a:ln/>
        </p:spPr>
        <p:txBody>
          <a:bodyPr wrap="square" lIns="0" tIns="0" rIns="0" bIns="0" rtlCol="0" anchor="ctr"/>
          <a:lstStyle/>
          <a:p>
            <a:pPr indent="0" marL="0">
              <a:buNone/>
            </a:pPr>
            <a:r>
              <a:rPr lang="en-US" sz="1200" b="1" dirty="0">
                <a:solidFill>
                  <a:srgbClr val="0E4C55"/>
                </a:solidFill>
                <a:latin typeface="Calibri" pitchFamily="34" charset="0"/>
                <a:ea typeface="Calibri" pitchFamily="34" charset="-122"/>
                <a:cs typeface="Calibri" pitchFamily="34" charset="-120"/>
              </a:rPr>
              <a:t>Earn more</a:t>
            </a:r>
            <a:endParaRPr lang="en-US" sz="1200" dirty="0"/>
          </a:p>
        </p:txBody>
      </p:sp>
      <p:sp>
        <p:nvSpPr>
          <p:cNvPr id="11" name="Text 9"/>
          <p:cNvSpPr txBox="1"/>
          <p:nvPr/>
        </p:nvSpPr>
        <p:spPr>
          <a:xfrm>
            <a:off x="4572000" y="2468880"/>
            <a:ext cx="2834640" cy="640080"/>
          </a:xfrm>
          <a:prstGeom prst="rect">
            <a:avLst/>
          </a:prstGeom>
          <a:noFill/>
          <a:ln/>
        </p:spPr>
        <p:txBody>
          <a:bodyPr wrap="square" lIns="0" tIns="0" rIns="0" bIns="0" rtlCol="0" anchor="ctr"/>
          <a:lstStyle/>
          <a:p>
            <a:pPr indent="0" marL="0">
              <a:buNone/>
            </a:pPr>
            <a:r>
              <a:rPr lang="en-US" sz="3000" b="1" dirty="0">
                <a:solidFill>
                  <a:srgbClr val="12202E"/>
                </a:solidFill>
                <a:latin typeface="Cambria" pitchFamily="34" charset="0"/>
                <a:ea typeface="Cambria" pitchFamily="34" charset="-122"/>
                <a:cs typeface="Cambria" pitchFamily="34" charset="-120"/>
              </a:rPr>
              <a:t>0.92 vs 0.69</a:t>
            </a:r>
            <a:endParaRPr lang="en-US" sz="3000" dirty="0"/>
          </a:p>
        </p:txBody>
      </p:sp>
      <p:sp>
        <p:nvSpPr>
          <p:cNvPr id="12" name="Text 10"/>
          <p:cNvSpPr txBox="1"/>
          <p:nvPr/>
        </p:nvSpPr>
        <p:spPr>
          <a:xfrm>
            <a:off x="4572000" y="3200400"/>
            <a:ext cx="2788920" cy="777240"/>
          </a:xfrm>
          <a:prstGeom prst="rect">
            <a:avLst/>
          </a:prstGeom>
          <a:noFill/>
          <a:ln/>
        </p:spPr>
        <p:txBody>
          <a:bodyPr wrap="square" lIns="0" tIns="0" rIns="0" bIns="0" rtlCol="0" anchor="ctr"/>
          <a:lstStyle/>
          <a:p>
            <a:pPr indent="0" marL="0">
              <a:lnSpc>
                <a:spcPts val="1400"/>
              </a:lnSpc>
              <a:buNone/>
            </a:pPr>
            <a:r>
              <a:rPr lang="en-US" sz="1050" dirty="0">
                <a:solidFill>
                  <a:srgbClr val="5B6B72"/>
                </a:solidFill>
                <a:latin typeface="Calibri" pitchFamily="34" charset="0"/>
                <a:ea typeface="Calibri" pitchFamily="34" charset="-122"/>
                <a:cs typeface="Calibri" pitchFamily="34" charset="-120"/>
              </a:rPr>
              <a:t>return on assets, percent</a:t>
            </a:r>
            <a:endParaRPr lang="en-US" sz="1050" dirty="0"/>
          </a:p>
        </p:txBody>
      </p:sp>
      <p:sp>
        <p:nvSpPr>
          <p:cNvPr id="13" name="Shape 11"/>
          <p:cNvSpPr/>
          <p:nvPr/>
        </p:nvSpPr>
        <p:spPr>
          <a:xfrm>
            <a:off x="7955280" y="1965960"/>
            <a:ext cx="3291840" cy="2148840"/>
          </a:xfrm>
          <a:prstGeom prst="roundRect">
            <a:avLst>
              <a:gd name="adj" fmla="val 2553"/>
            </a:avLst>
          </a:prstGeom>
          <a:solidFill>
            <a:srgbClr val="F3F5F4"/>
          </a:solidFill>
          <a:ln/>
        </p:spPr>
      </p:sp>
      <p:sp>
        <p:nvSpPr>
          <p:cNvPr id="14" name="Text 12"/>
          <p:cNvSpPr txBox="1"/>
          <p:nvPr/>
        </p:nvSpPr>
        <p:spPr>
          <a:xfrm>
            <a:off x="8229600" y="2121408"/>
            <a:ext cx="2743200" cy="274320"/>
          </a:xfrm>
          <a:prstGeom prst="rect">
            <a:avLst/>
          </a:prstGeom>
          <a:noFill/>
          <a:ln/>
        </p:spPr>
        <p:txBody>
          <a:bodyPr wrap="square" lIns="0" tIns="0" rIns="0" bIns="0" rtlCol="0" anchor="ctr"/>
          <a:lstStyle/>
          <a:p>
            <a:pPr indent="0" marL="0">
              <a:buNone/>
            </a:pPr>
            <a:r>
              <a:rPr lang="en-US" sz="1200" b="1" dirty="0">
                <a:solidFill>
                  <a:srgbClr val="1F6F78"/>
                </a:solidFill>
                <a:latin typeface="Calibri" pitchFamily="34" charset="0"/>
                <a:ea typeface="Calibri" pitchFamily="34" charset="-122"/>
                <a:cs typeface="Calibri" pitchFamily="34" charset="-120"/>
              </a:rPr>
              <a:t>Disappear less</a:t>
            </a:r>
            <a:endParaRPr lang="en-US" sz="1200" dirty="0"/>
          </a:p>
        </p:txBody>
      </p:sp>
      <p:sp>
        <p:nvSpPr>
          <p:cNvPr id="15" name="Text 13"/>
          <p:cNvSpPr txBox="1"/>
          <p:nvPr/>
        </p:nvSpPr>
        <p:spPr>
          <a:xfrm>
            <a:off x="8229600" y="2468880"/>
            <a:ext cx="2834640" cy="640080"/>
          </a:xfrm>
          <a:prstGeom prst="rect">
            <a:avLst/>
          </a:prstGeom>
          <a:noFill/>
          <a:ln/>
        </p:spPr>
        <p:txBody>
          <a:bodyPr wrap="square" lIns="0" tIns="0" rIns="0" bIns="0" rtlCol="0" anchor="ctr"/>
          <a:lstStyle/>
          <a:p>
            <a:pPr indent="0" marL="0">
              <a:buNone/>
            </a:pPr>
            <a:r>
              <a:rPr lang="en-US" sz="3000" b="1" dirty="0">
                <a:solidFill>
                  <a:srgbClr val="12202E"/>
                </a:solidFill>
                <a:latin typeface="Cambria" pitchFamily="34" charset="0"/>
                <a:ea typeface="Cambria" pitchFamily="34" charset="-122"/>
                <a:cs typeface="Cambria" pitchFamily="34" charset="-120"/>
              </a:rPr>
              <a:t>37% vs 44%</a:t>
            </a:r>
            <a:endParaRPr lang="en-US" sz="3000" dirty="0"/>
          </a:p>
        </p:txBody>
      </p:sp>
      <p:sp>
        <p:nvSpPr>
          <p:cNvPr id="16" name="Text 14"/>
          <p:cNvSpPr txBox="1"/>
          <p:nvPr/>
        </p:nvSpPr>
        <p:spPr>
          <a:xfrm>
            <a:off x="8229600" y="3200400"/>
            <a:ext cx="2788920" cy="777240"/>
          </a:xfrm>
          <a:prstGeom prst="rect">
            <a:avLst/>
          </a:prstGeom>
          <a:noFill/>
          <a:ln/>
        </p:spPr>
        <p:txBody>
          <a:bodyPr wrap="square" lIns="0" tIns="0" rIns="0" bIns="0" rtlCol="0" anchor="ctr"/>
          <a:lstStyle/>
          <a:p>
            <a:pPr indent="0" marL="0">
              <a:lnSpc>
                <a:spcPts val="1400"/>
              </a:lnSpc>
              <a:buNone/>
            </a:pPr>
            <a:r>
              <a:rPr lang="en-US" sz="1050" dirty="0">
                <a:solidFill>
                  <a:srgbClr val="5B6B72"/>
                </a:solidFill>
                <a:latin typeface="Calibri" pitchFamily="34" charset="0"/>
                <a:ea typeface="Calibri" pitchFamily="34" charset="-122"/>
                <a:cs typeface="Calibri" pitchFamily="34" charset="-120"/>
              </a:rPr>
              <a:t>share that closed or merged away since 2010</a:t>
            </a:r>
            <a:endParaRPr lang="en-US" sz="1050" dirty="0"/>
          </a:p>
        </p:txBody>
      </p:sp>
      <p:sp>
        <p:nvSpPr>
          <p:cNvPr id="17" name="Shape 15"/>
          <p:cNvSpPr/>
          <p:nvPr/>
        </p:nvSpPr>
        <p:spPr>
          <a:xfrm>
            <a:off x="640080" y="4343400"/>
            <a:ext cx="10881360" cy="1783080"/>
          </a:xfrm>
          <a:prstGeom prst="roundRect">
            <a:avLst>
              <a:gd name="adj" fmla="val 3077"/>
            </a:avLst>
          </a:prstGeom>
          <a:solidFill>
            <a:srgbClr val="DCE6E4"/>
          </a:solidFill>
          <a:ln/>
        </p:spPr>
      </p:sp>
      <p:sp>
        <p:nvSpPr>
          <p:cNvPr id="18" name="Text 16"/>
          <p:cNvSpPr txBox="1"/>
          <p:nvPr/>
        </p:nvSpPr>
        <p:spPr>
          <a:xfrm>
            <a:off x="960120" y="4498848"/>
            <a:ext cx="10058400" cy="27432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Why we trust the direction, even this early</a:t>
            </a:r>
            <a:endParaRPr lang="en-US" sz="1200" dirty="0"/>
          </a:p>
        </p:txBody>
      </p:sp>
      <p:sp>
        <p:nvSpPr>
          <p:cNvPr id="19" name="Text 17"/>
          <p:cNvSpPr txBox="1"/>
          <p:nvPr/>
        </p:nvSpPr>
        <p:spPr>
          <a:xfrm>
            <a:off x="960120" y="4800600"/>
            <a:ext cx="10241280" cy="1280160"/>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050" dirty="0">
                <a:solidFill>
                  <a:srgbClr val="12202E"/>
                </a:solidFill>
                <a:latin typeface="Calibri" pitchFamily="34" charset="0"/>
                <a:ea typeface="Calibri" pitchFamily="34" charset="-122"/>
                <a:cs typeface="Calibri" pitchFamily="34" charset="-120"/>
              </a:rPr>
              <a:t>Rural credit unions are much smaller, and small institutions of every kind struggle. So we compared each one with institutions of the same size, in the same state, in the same quarter. The advantage got larger, not smaller.</a:t>
            </a:r>
            <a:endParaRPr lang="en-US" sz="1050" dirty="0"/>
          </a:p>
          <a:p>
            <a:pPr marL="342900" indent="-342900">
              <a:lnSpc>
                <a:spcPts val="1400"/>
              </a:lnSpc>
              <a:spcAft>
                <a:spcPts val="400"/>
              </a:spcAft>
              <a:buSzPct val="100000"/>
              <a:buChar char="•"/>
            </a:pPr>
            <a:r>
              <a:rPr lang="en-US" sz="1050" dirty="0">
                <a:solidFill>
                  <a:srgbClr val="12202E"/>
                </a:solidFill>
                <a:latin typeface="Calibri" pitchFamily="34" charset="0"/>
                <a:ea typeface="Calibri" pitchFamily="34" charset="-122"/>
                <a:cs typeface="Calibri" pitchFamily="34" charset="-120"/>
              </a:rPr>
              <a:t>We wrote down in advance what result would make us change our minds. It did not happen.</a:t>
            </a:r>
            <a:endParaRPr lang="en-US" sz="1050" dirty="0"/>
          </a:p>
          <a:p>
            <a:pPr marL="342900" indent="-342900">
              <a:lnSpc>
                <a:spcPts val="1400"/>
              </a:lnSpc>
              <a:spcAft>
                <a:spcPts val="400"/>
              </a:spcAft>
              <a:buSzPct val="100000"/>
              <a:buChar char="•"/>
            </a:pPr>
            <a:r>
              <a:rPr lang="en-US" sz="1050" dirty="0">
                <a:solidFill>
                  <a:srgbClr val="12202E"/>
                </a:solidFill>
                <a:latin typeface="Calibri" pitchFamily="34" charset="0"/>
                <a:ea typeface="Calibri" pitchFamily="34" charset="-122"/>
                <a:cs typeface="Calibri" pitchFamily="34" charset="-120"/>
              </a:rPr>
              <a:t>What we still cannot say is why. “Rural” bundles less competition, a different membership, different rules about who can join, and a different local economy — and we have not separated them. That is a question for this group as much as for the data.</a:t>
            </a:r>
            <a:endParaRPr lang="en-US" sz="1050" dirty="0"/>
          </a:p>
        </p:txBody>
      </p:sp>
      <p:sp>
        <p:nvSpPr>
          <p:cNvPr id="20" name="Text 18"/>
          <p:cNvSpPr txBox="1"/>
          <p:nvPr/>
        </p:nvSpPr>
        <p:spPr>
          <a:xfrm>
            <a:off x="640080" y="6382512"/>
            <a:ext cx="10881360" cy="274320"/>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Medians, 2026Q1, trailing four quarters. Rural defined by headquarters county. Preliminary.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4 · WHAT WE ARE SEEING SO FAR</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12202E"/>
                </a:solidFill>
                <a:latin typeface="Cambria" pitchFamily="34" charset="0"/>
                <a:ea typeface="Cambria" pitchFamily="34" charset="-122"/>
                <a:cs typeface="Cambria" pitchFamily="34" charset="-120"/>
              </a:rPr>
              <a:t>Offices are being added. New credit unions are not.</a:t>
            </a:r>
            <a:endParaRPr lang="en-US" sz="2700" dirty="0"/>
          </a:p>
        </p:txBody>
      </p:sp>
      <p:sp>
        <p:nvSpPr>
          <p:cNvPr id="4" name="Text 2"/>
          <p:cNvSpPr txBox="1"/>
          <p:nvPr/>
        </p:nvSpPr>
        <p:spPr>
          <a:xfrm>
            <a:off x="640080" y="129844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5B6B72"/>
                </a:solidFill>
                <a:latin typeface="Calibri" pitchFamily="34" charset="0"/>
                <a:ea typeface="Calibri" pitchFamily="34" charset="-122"/>
                <a:cs typeface="Calibri" pitchFamily="34" charset="-120"/>
              </a:rPr>
              <a:t>Over the past decade credit unions opened offices in rural counties faster than in the rest of the country — while the rural population shrank. Almost nobody chartered a new one.</a:t>
            </a:r>
            <a:endParaRPr lang="en-US" sz="1300" dirty="0"/>
          </a:p>
        </p:txBody>
      </p:sp>
      <p:graphicFrame>
        <p:nvGraphicFramePr>
          <p:cNvPr id="5" name="Chart 0" descr=""/>
          <p:cNvGraphicFramePr/>
          <p:nvPr/>
        </p:nvGraphicFramePr>
        <p:xfrm>
          <a:off x="640080" y="1920240"/>
          <a:ext cx="640080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15200" y="1920240"/>
            <a:ext cx="4206240" cy="1691640"/>
          </a:xfrm>
          <a:prstGeom prst="roundRect">
            <a:avLst>
              <a:gd name="adj" fmla="val 3243"/>
            </a:avLst>
          </a:prstGeom>
          <a:solidFill>
            <a:srgbClr val="DCE6E4"/>
          </a:solidFill>
          <a:ln/>
        </p:spPr>
      </p:sp>
      <p:sp>
        <p:nvSpPr>
          <p:cNvPr id="7" name="Text 4"/>
          <p:cNvSpPr txBox="1"/>
          <p:nvPr/>
        </p:nvSpPr>
        <p:spPr>
          <a:xfrm>
            <a:off x="7571232" y="2075688"/>
            <a:ext cx="3749040" cy="27432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This is not a depopulation story</a:t>
            </a:r>
            <a:endParaRPr lang="en-US" sz="1200" dirty="0"/>
          </a:p>
        </p:txBody>
      </p:sp>
      <p:sp>
        <p:nvSpPr>
          <p:cNvPr id="8" name="Text 5"/>
          <p:cNvSpPr txBox="1"/>
          <p:nvPr/>
        </p:nvSpPr>
        <p:spPr>
          <a:xfrm>
            <a:off x="7571232" y="2377440"/>
            <a:ext cx="3749040" cy="1188720"/>
          </a:xfrm>
          <a:prstGeom prst="rect">
            <a:avLst/>
          </a:prstGeom>
          <a:noFill/>
          <a:ln/>
        </p:spPr>
        <p:txBody>
          <a:bodyPr wrap="square" lIns="0" tIns="0" rIns="0" bIns="0" rtlCol="0" anchor="ctr"/>
          <a:lstStyle/>
          <a:p>
            <a:pPr indent="0" marL="0">
              <a:lnSpc>
                <a:spcPts val="1400"/>
              </a:lnSpc>
              <a:buNone/>
            </a:pPr>
            <a:r>
              <a:rPr lang="en-US" sz="1050" dirty="0">
                <a:solidFill>
                  <a:srgbClr val="12202E"/>
                </a:solidFill>
                <a:latin typeface="Calibri" pitchFamily="34" charset="0"/>
                <a:ea typeface="Calibri" pitchFamily="34" charset="-122"/>
                <a:cs typeface="Calibri" pitchFamily="34" charset="-120"/>
              </a:rPr>
              <a:t>Of the rural gain in offices per resident, almost all came from opening offices and very little from losing people. Credit unions kept building in places that were getting smaller — which is not what a network run purely for profit does.</a:t>
            </a:r>
            <a:endParaRPr lang="en-US" sz="1050" dirty="0"/>
          </a:p>
        </p:txBody>
      </p:sp>
      <p:sp>
        <p:nvSpPr>
          <p:cNvPr id="9" name="Shape 6"/>
          <p:cNvSpPr/>
          <p:nvPr/>
        </p:nvSpPr>
        <p:spPr>
          <a:xfrm>
            <a:off x="7315200" y="3749040"/>
            <a:ext cx="4206240" cy="1737360"/>
          </a:xfrm>
          <a:prstGeom prst="roundRect">
            <a:avLst>
              <a:gd name="adj" fmla="val 3158"/>
            </a:avLst>
          </a:prstGeom>
          <a:solidFill>
            <a:srgbClr val="0E4C55"/>
          </a:solidFill>
          <a:ln/>
        </p:spPr>
      </p:sp>
      <p:sp>
        <p:nvSpPr>
          <p:cNvPr id="10" name="Text 7"/>
          <p:cNvSpPr txBox="1"/>
          <p:nvPr/>
        </p:nvSpPr>
        <p:spPr>
          <a:xfrm>
            <a:off x="7571232" y="3886200"/>
            <a:ext cx="3749040" cy="256032"/>
          </a:xfrm>
          <a:prstGeom prst="rect">
            <a:avLst/>
          </a:prstGeom>
          <a:noFill/>
          <a:ln/>
        </p:spPr>
        <p:txBody>
          <a:bodyPr wrap="square" lIns="0" tIns="0" rIns="0" bIns="0" rtlCol="0" anchor="ctr"/>
          <a:lstStyle/>
          <a:p>
            <a:pPr indent="0" marL="0">
              <a:buNone/>
            </a:pPr>
            <a:r>
              <a:rPr lang="en-US" sz="1100" b="1" dirty="0">
                <a:solidFill>
                  <a:srgbClr val="E8A24A"/>
                </a:solidFill>
                <a:latin typeface="Calibri" pitchFamily="34" charset="0"/>
                <a:ea typeface="Calibri" pitchFamily="34" charset="-122"/>
                <a:cs typeface="Calibri" pitchFamily="34" charset="-120"/>
              </a:rPr>
              <a:t>Meanwhile, formation</a:t>
            </a:r>
            <a:endParaRPr lang="en-US" sz="1100" dirty="0"/>
          </a:p>
        </p:txBody>
      </p:sp>
      <p:sp>
        <p:nvSpPr>
          <p:cNvPr id="11" name="Text 8"/>
          <p:cNvSpPr txBox="1"/>
          <p:nvPr/>
        </p:nvSpPr>
        <p:spPr>
          <a:xfrm>
            <a:off x="7571232" y="4160520"/>
            <a:ext cx="37490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47 : 274</a:t>
            </a:r>
            <a:endParaRPr lang="en-US" sz="2800" dirty="0"/>
          </a:p>
        </p:txBody>
      </p:sp>
      <p:sp>
        <p:nvSpPr>
          <p:cNvPr id="12" name="Text 9"/>
          <p:cNvSpPr txBox="1"/>
          <p:nvPr/>
        </p:nvSpPr>
        <p:spPr>
          <a:xfrm>
            <a:off x="7571232" y="4736592"/>
            <a:ext cx="3749040" cy="685800"/>
          </a:xfrm>
          <a:prstGeom prst="rect">
            <a:avLst/>
          </a:prstGeom>
          <a:noFill/>
          <a:ln/>
        </p:spPr>
        <p:txBody>
          <a:bodyPr wrap="square" lIns="0" tIns="0" rIns="0" bIns="0" rtlCol="0" anchor="ctr"/>
          <a:lstStyle/>
          <a:p>
            <a:pPr indent="0" marL="0">
              <a:lnSpc>
                <a:spcPts val="1400"/>
              </a:lnSpc>
              <a:buNone/>
            </a:pPr>
            <a:r>
              <a:rPr lang="en-US" sz="1050" dirty="0">
                <a:solidFill>
                  <a:srgbClr val="DCE6E4"/>
                </a:solidFill>
                <a:latin typeface="Calibri" pitchFamily="34" charset="0"/>
                <a:ea typeface="Calibri" pitchFamily="34" charset="-122"/>
                <a:cs typeface="Calibri" pitchFamily="34" charset="-120"/>
              </a:rPr>
              <a:t>new rural charters against departures since 2010 — about one a year against fifteen. In the last five years: 0, 1, 1, 2, 0.</a:t>
            </a:r>
            <a:endParaRPr lang="en-US" sz="1050" dirty="0"/>
          </a:p>
        </p:txBody>
      </p:sp>
      <p:sp>
        <p:nvSpPr>
          <p:cNvPr id="13" name="Text 10"/>
          <p:cNvSpPr txBox="1"/>
          <p:nvPr/>
        </p:nvSpPr>
        <p:spPr>
          <a:xfrm>
            <a:off x="640080" y="6382512"/>
            <a:ext cx="10881360" cy="274320"/>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Offices = headquarters and branches. Population: Census county estimates, 2016 and 2024. Connecticut, Puerto Rico and the territories excluded. Preliminary.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4 · WHAT WE ARE SEEING SO FAR</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12202E"/>
                </a:solidFill>
                <a:latin typeface="Cambria" pitchFamily="34" charset="0"/>
                <a:ea typeface="Cambria" pitchFamily="34" charset="-122"/>
                <a:cs typeface="Cambria" pitchFamily="34" charset="-120"/>
              </a:rPr>
              <a:t>Half of rural America has no credit union office at all</a:t>
            </a:r>
            <a:endParaRPr lang="en-US" sz="2700" dirty="0"/>
          </a:p>
        </p:txBody>
      </p:sp>
      <p:sp>
        <p:nvSpPr>
          <p:cNvPr id="4" name="Text 2"/>
          <p:cNvSpPr txBox="1"/>
          <p:nvPr/>
        </p:nvSpPr>
        <p:spPr>
          <a:xfrm>
            <a:off x="640080" y="129844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5B6B72"/>
                </a:solidFill>
                <a:latin typeface="Calibri" pitchFamily="34" charset="0"/>
                <a:ea typeface="Calibri" pitchFamily="34" charset="-122"/>
                <a:cs typeface="Calibri" pitchFamily="34" charset="-120"/>
              </a:rPr>
              <a:t>Access improved where credit unions already were. The gap is not that rural coverage is shrinking — it is that so much of rural America was never covered. This is what the discussion should be about.</a:t>
            </a:r>
            <a:endParaRPr lang="en-US" sz="1300" dirty="0"/>
          </a:p>
        </p:txBody>
      </p:sp>
      <p:graphicFrame>
        <p:nvGraphicFramePr>
          <p:cNvPr id="5" name="Chart 0" descr=""/>
          <p:cNvGraphicFramePr/>
          <p:nvPr/>
        </p:nvGraphicFramePr>
        <p:xfrm>
          <a:off x="640080" y="1920240"/>
          <a:ext cx="484632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920240"/>
            <a:ext cx="2743200" cy="1691640"/>
          </a:xfrm>
          <a:prstGeom prst="roundRect">
            <a:avLst>
              <a:gd name="adj" fmla="val 3243"/>
            </a:avLst>
          </a:prstGeom>
          <a:solidFill>
            <a:srgbClr val="F3F5F4"/>
          </a:solidFill>
          <a:ln/>
        </p:spPr>
      </p:sp>
      <p:sp>
        <p:nvSpPr>
          <p:cNvPr id="7" name="Text 4"/>
          <p:cNvSpPr txBox="1"/>
          <p:nvPr/>
        </p:nvSpPr>
        <p:spPr>
          <a:xfrm>
            <a:off x="5989320" y="2084832"/>
            <a:ext cx="2286000" cy="548640"/>
          </a:xfrm>
          <a:prstGeom prst="rect">
            <a:avLst/>
          </a:prstGeom>
          <a:noFill/>
          <a:ln/>
        </p:spPr>
        <p:txBody>
          <a:bodyPr wrap="square" lIns="0" tIns="0" rIns="0" bIns="0" rtlCol="0" anchor="ctr"/>
          <a:lstStyle/>
          <a:p>
            <a:pPr indent="0" marL="0">
              <a:buNone/>
            </a:pPr>
            <a:r>
              <a:rPr lang="en-US" sz="2800" b="1" dirty="0">
                <a:solidFill>
                  <a:srgbClr val="C8553D"/>
                </a:solidFill>
                <a:latin typeface="Cambria" pitchFamily="34" charset="0"/>
                <a:ea typeface="Cambria" pitchFamily="34" charset="-122"/>
                <a:cs typeface="Cambria" pitchFamily="34" charset="-120"/>
              </a:rPr>
              <a:t>758</a:t>
            </a:r>
            <a:endParaRPr lang="en-US" sz="2800" dirty="0"/>
          </a:p>
        </p:txBody>
      </p:sp>
      <p:sp>
        <p:nvSpPr>
          <p:cNvPr id="8" name="Text 5"/>
          <p:cNvSpPr txBox="1"/>
          <p:nvPr/>
        </p:nvSpPr>
        <p:spPr>
          <a:xfrm>
            <a:off x="5989320" y="2670048"/>
            <a:ext cx="2331720" cy="868680"/>
          </a:xfrm>
          <a:prstGeom prst="rect">
            <a:avLst/>
          </a:prstGeom>
          <a:noFill/>
          <a:ln/>
        </p:spPr>
        <p:txBody>
          <a:bodyPr wrap="square" lIns="0" tIns="0" rIns="0" bIns="0" rtlCol="0" anchor="ctr"/>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rural counties have no credit union office of any kind</a:t>
            </a:r>
            <a:endParaRPr lang="en-US" sz="1000" dirty="0"/>
          </a:p>
        </p:txBody>
      </p:sp>
      <p:sp>
        <p:nvSpPr>
          <p:cNvPr id="9" name="Shape 6"/>
          <p:cNvSpPr/>
          <p:nvPr/>
        </p:nvSpPr>
        <p:spPr>
          <a:xfrm>
            <a:off x="8686800" y="1920240"/>
            <a:ext cx="2743200" cy="1691640"/>
          </a:xfrm>
          <a:prstGeom prst="roundRect">
            <a:avLst>
              <a:gd name="adj" fmla="val 3243"/>
            </a:avLst>
          </a:prstGeom>
          <a:solidFill>
            <a:srgbClr val="F3F5F4"/>
          </a:solidFill>
          <a:ln/>
        </p:spPr>
      </p:sp>
      <p:sp>
        <p:nvSpPr>
          <p:cNvPr id="10" name="Text 7"/>
          <p:cNvSpPr txBox="1"/>
          <p:nvPr/>
        </p:nvSpPr>
        <p:spPr>
          <a:xfrm>
            <a:off x="8915400" y="2084832"/>
            <a:ext cx="2286000" cy="548640"/>
          </a:xfrm>
          <a:prstGeom prst="rect">
            <a:avLst/>
          </a:prstGeom>
          <a:noFill/>
          <a:ln/>
        </p:spPr>
        <p:txBody>
          <a:bodyPr wrap="square" lIns="0" tIns="0" rIns="0" bIns="0" rtlCol="0" anchor="ctr"/>
          <a:lstStyle/>
          <a:p>
            <a:pPr indent="0" marL="0">
              <a:buNone/>
            </a:pPr>
            <a:r>
              <a:rPr lang="en-US" sz="2800" b="1" dirty="0">
                <a:solidFill>
                  <a:srgbClr val="C8553D"/>
                </a:solidFill>
                <a:latin typeface="Cambria" pitchFamily="34" charset="0"/>
                <a:ea typeface="Cambria" pitchFamily="34" charset="-122"/>
                <a:cs typeface="Cambria" pitchFamily="34" charset="-120"/>
              </a:rPr>
              <a:t>7.7m</a:t>
            </a:r>
            <a:endParaRPr lang="en-US" sz="2800" dirty="0"/>
          </a:p>
        </p:txBody>
      </p:sp>
      <p:sp>
        <p:nvSpPr>
          <p:cNvPr id="11" name="Text 8"/>
          <p:cNvSpPr txBox="1"/>
          <p:nvPr/>
        </p:nvSpPr>
        <p:spPr>
          <a:xfrm>
            <a:off x="8915400" y="2670048"/>
            <a:ext cx="2331720" cy="868680"/>
          </a:xfrm>
          <a:prstGeom prst="rect">
            <a:avLst/>
          </a:prstGeom>
          <a:noFill/>
          <a:ln/>
        </p:spPr>
        <p:txBody>
          <a:bodyPr wrap="square" lIns="0" tIns="0" rIns="0" bIns="0" rtlCol="0" anchor="ctr"/>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rural residents live in one of them — 29% of rural America</a:t>
            </a:r>
            <a:endParaRPr lang="en-US" sz="1000" dirty="0"/>
          </a:p>
        </p:txBody>
      </p:sp>
      <p:sp>
        <p:nvSpPr>
          <p:cNvPr id="12" name="Shape 9"/>
          <p:cNvSpPr/>
          <p:nvPr/>
        </p:nvSpPr>
        <p:spPr>
          <a:xfrm>
            <a:off x="5760720" y="3749040"/>
            <a:ext cx="2743200" cy="1691640"/>
          </a:xfrm>
          <a:prstGeom prst="roundRect">
            <a:avLst>
              <a:gd name="adj" fmla="val 3243"/>
            </a:avLst>
          </a:prstGeom>
          <a:solidFill>
            <a:srgbClr val="DCE6E4"/>
          </a:solidFill>
          <a:ln/>
        </p:spPr>
      </p:sp>
      <p:sp>
        <p:nvSpPr>
          <p:cNvPr id="13" name="Text 10"/>
          <p:cNvSpPr txBox="1"/>
          <p:nvPr/>
        </p:nvSpPr>
        <p:spPr>
          <a:xfrm>
            <a:off x="5989320" y="3913632"/>
            <a:ext cx="2286000" cy="548640"/>
          </a:xfrm>
          <a:prstGeom prst="rect">
            <a:avLst/>
          </a:prstGeom>
          <a:noFill/>
          <a:ln/>
        </p:spPr>
        <p:txBody>
          <a:bodyPr wrap="square" lIns="0" tIns="0" rIns="0" bIns="0" rtlCol="0" anchor="ctr"/>
          <a:lstStyle/>
          <a:p>
            <a:pPr indent="0" marL="0">
              <a:buNone/>
            </a:pPr>
            <a:r>
              <a:rPr lang="en-US" sz="2800" b="1" dirty="0">
                <a:solidFill>
                  <a:srgbClr val="0E4C55"/>
                </a:solidFill>
                <a:latin typeface="Cambria" pitchFamily="34" charset="0"/>
                <a:ea typeface="Cambria" pitchFamily="34" charset="-122"/>
                <a:cs typeface="Cambria" pitchFamily="34" charset="-120"/>
              </a:rPr>
              <a:t>459</a:t>
            </a:r>
            <a:endParaRPr lang="en-US" sz="2800" dirty="0"/>
          </a:p>
        </p:txBody>
      </p:sp>
      <p:sp>
        <p:nvSpPr>
          <p:cNvPr id="14" name="Text 11"/>
          <p:cNvSpPr txBox="1"/>
          <p:nvPr/>
        </p:nvSpPr>
        <p:spPr>
          <a:xfrm>
            <a:off x="5989320" y="4498848"/>
            <a:ext cx="2331720" cy="868680"/>
          </a:xfrm>
          <a:prstGeom prst="rect">
            <a:avLst/>
          </a:prstGeom>
          <a:noFill/>
          <a:ln/>
        </p:spPr>
        <p:txBody>
          <a:bodyPr wrap="square" lIns="0" tIns="0" rIns="0" bIns="0" rtlCol="0" anchor="ctr"/>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rural counties are served by exactly one credit union — one merger away from none</a:t>
            </a:r>
            <a:endParaRPr lang="en-US" sz="1000" dirty="0"/>
          </a:p>
        </p:txBody>
      </p:sp>
      <p:sp>
        <p:nvSpPr>
          <p:cNvPr id="15" name="Shape 12"/>
          <p:cNvSpPr/>
          <p:nvPr/>
        </p:nvSpPr>
        <p:spPr>
          <a:xfrm>
            <a:off x="8686800" y="3749040"/>
            <a:ext cx="2743200" cy="1691640"/>
          </a:xfrm>
          <a:prstGeom prst="roundRect">
            <a:avLst>
              <a:gd name="adj" fmla="val 3243"/>
            </a:avLst>
          </a:prstGeom>
          <a:solidFill>
            <a:srgbClr val="DCE6E4"/>
          </a:solidFill>
          <a:ln/>
        </p:spPr>
      </p:sp>
      <p:sp>
        <p:nvSpPr>
          <p:cNvPr id="16" name="Text 13"/>
          <p:cNvSpPr txBox="1"/>
          <p:nvPr/>
        </p:nvSpPr>
        <p:spPr>
          <a:xfrm>
            <a:off x="8915400" y="3913632"/>
            <a:ext cx="2286000" cy="548640"/>
          </a:xfrm>
          <a:prstGeom prst="rect">
            <a:avLst/>
          </a:prstGeom>
          <a:noFill/>
          <a:ln/>
        </p:spPr>
        <p:txBody>
          <a:bodyPr wrap="square" lIns="0" tIns="0" rIns="0" bIns="0" rtlCol="0" anchor="ctr"/>
          <a:lstStyle/>
          <a:p>
            <a:pPr indent="0" marL="0">
              <a:buNone/>
            </a:pPr>
            <a:r>
              <a:rPr lang="en-US" sz="2800" b="1" dirty="0">
                <a:solidFill>
                  <a:srgbClr val="0E4C55"/>
                </a:solidFill>
                <a:latin typeface="Cambria" pitchFamily="34" charset="0"/>
                <a:ea typeface="Cambria" pitchFamily="34" charset="-122"/>
                <a:cs typeface="Cambria" pitchFamily="34" charset="-120"/>
              </a:rPr>
              <a:t>68</a:t>
            </a:r>
            <a:endParaRPr lang="en-US" sz="2800" dirty="0"/>
          </a:p>
        </p:txBody>
      </p:sp>
      <p:sp>
        <p:nvSpPr>
          <p:cNvPr id="17" name="Text 14"/>
          <p:cNvSpPr txBox="1"/>
          <p:nvPr/>
        </p:nvSpPr>
        <p:spPr>
          <a:xfrm>
            <a:off x="8915400" y="4498848"/>
            <a:ext cx="2331720" cy="868680"/>
          </a:xfrm>
          <a:prstGeom prst="rect">
            <a:avLst/>
          </a:prstGeom>
          <a:noFill/>
          <a:ln/>
        </p:spPr>
        <p:txBody>
          <a:bodyPr wrap="square" lIns="0" tIns="0" rIns="0" bIns="0" rtlCol="0" anchor="ctr"/>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rural counties gained their first office over the decade. Every one came from an existing credit union extending, not a new charter.</a:t>
            </a:r>
            <a:endParaRPr lang="en-US" sz="1000" dirty="0"/>
          </a:p>
        </p:txBody>
      </p:sp>
      <p:sp>
        <p:nvSpPr>
          <p:cNvPr id="18" name="Text 15"/>
          <p:cNvSpPr txBox="1"/>
          <p:nvPr/>
        </p:nvSpPr>
        <p:spPr>
          <a:xfrm>
            <a:off x="640080" y="6382512"/>
            <a:ext cx="10881360" cy="274320"/>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2026Q1 offices. A county is “covered” if any federally insured credit union operates an office in it; this is not a measure of travel distance, and we are refining it. Preliminary.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2E"/>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7FB0AE"/>
                </a:solidFill>
                <a:latin typeface="Calibri" pitchFamily="34" charset="0"/>
                <a:ea typeface="Calibri" pitchFamily="34" charset="-122"/>
                <a:cs typeface="Calibri" pitchFamily="34" charset="-120"/>
              </a:rPr>
              <a:t>5 · FOR DISCUSSION — THE PROBLEM</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What do you know that we do not?</a:t>
            </a:r>
            <a:endParaRPr lang="en-US" sz="2700" dirty="0"/>
          </a:p>
        </p:txBody>
      </p:sp>
      <p:sp>
        <p:nvSpPr>
          <p:cNvPr id="4" name="Text 2"/>
          <p:cNvSpPr txBox="1"/>
          <p:nvPr/>
        </p:nvSpPr>
        <p:spPr>
          <a:xfrm>
            <a:off x="640080" y="1298448"/>
            <a:ext cx="10881360" cy="457200"/>
          </a:xfrm>
          <a:prstGeom prst="rect">
            <a:avLst/>
          </a:prstGeom>
          <a:noFill/>
          <a:ln/>
        </p:spPr>
        <p:txBody>
          <a:bodyPr wrap="square" lIns="0" tIns="0" rIns="0" bIns="0" rtlCol="0" anchor="ctr"/>
          <a:lstStyle/>
          <a:p>
            <a:pPr indent="0" marL="0">
              <a:lnSpc>
                <a:spcPts val="1900"/>
              </a:lnSpc>
              <a:buNone/>
            </a:pPr>
            <a:r>
              <a:rPr lang="en-US" sz="1300" dirty="0">
                <a:solidFill>
                  <a:srgbClr val="DCE6E4"/>
                </a:solidFill>
                <a:latin typeface="Calibri" pitchFamily="34" charset="0"/>
                <a:ea typeface="Calibri" pitchFamily="34" charset="-122"/>
                <a:cs typeface="Calibri" pitchFamily="34" charset="-120"/>
              </a:rPr>
              <a:t>We have the data. You have the conversations. Five questions about what is actually going on — none of them has a right answer yet.</a:t>
            </a:r>
            <a:endParaRPr lang="en-US" sz="1300" dirty="0"/>
          </a:p>
        </p:txBody>
      </p:sp>
      <p:sp>
        <p:nvSpPr>
          <p:cNvPr id="5" name="Shape 3"/>
          <p:cNvSpPr/>
          <p:nvPr/>
        </p:nvSpPr>
        <p:spPr>
          <a:xfrm>
            <a:off x="640080" y="1965960"/>
            <a:ext cx="5349240" cy="1234440"/>
          </a:xfrm>
          <a:prstGeom prst="roundRect">
            <a:avLst>
              <a:gd name="adj" fmla="val 4444"/>
            </a:avLst>
          </a:prstGeom>
          <a:solidFill>
            <a:srgbClr val="1B2C3D"/>
          </a:solidFill>
          <a:ln/>
        </p:spPr>
      </p:sp>
      <p:sp>
        <p:nvSpPr>
          <p:cNvPr id="6" name="Shape 4"/>
          <p:cNvSpPr/>
          <p:nvPr/>
        </p:nvSpPr>
        <p:spPr>
          <a:xfrm>
            <a:off x="868680" y="2167128"/>
            <a:ext cx="365760" cy="365760"/>
          </a:xfrm>
          <a:prstGeom prst="ellipse">
            <a:avLst/>
          </a:prstGeom>
          <a:solidFill>
            <a:srgbClr val="E8A24A"/>
          </a:solidFill>
          <a:ln/>
        </p:spPr>
      </p:sp>
      <p:sp>
        <p:nvSpPr>
          <p:cNvPr id="7" name="Text 5"/>
          <p:cNvSpPr txBox="1"/>
          <p:nvPr/>
        </p:nvSpPr>
        <p:spPr>
          <a:xfrm>
            <a:off x="868680" y="21671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89888" y="21122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When a rural credit union says it is held back, what does it name first?</a:t>
            </a:r>
            <a:endParaRPr lang="en-US" sz="1300" dirty="0"/>
          </a:p>
        </p:txBody>
      </p:sp>
      <p:sp>
        <p:nvSpPr>
          <p:cNvPr id="9" name="Text 7"/>
          <p:cNvSpPr txBox="1"/>
          <p:nvPr/>
        </p:nvSpPr>
        <p:spPr>
          <a:xfrm>
            <a:off x="1389888" y="25694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Capital, membership rules, lending limits, staffing, appraisers, technology — we have guesses. You have heard the actual complaints.</a:t>
            </a:r>
            <a:endParaRPr lang="en-US" sz="1000" dirty="0"/>
          </a:p>
        </p:txBody>
      </p:sp>
      <p:sp>
        <p:nvSpPr>
          <p:cNvPr id="10" name="Shape 8"/>
          <p:cNvSpPr/>
          <p:nvPr/>
        </p:nvSpPr>
        <p:spPr>
          <a:xfrm>
            <a:off x="6172200" y="1965960"/>
            <a:ext cx="5349240" cy="1234440"/>
          </a:xfrm>
          <a:prstGeom prst="roundRect">
            <a:avLst>
              <a:gd name="adj" fmla="val 4444"/>
            </a:avLst>
          </a:prstGeom>
          <a:solidFill>
            <a:srgbClr val="1B2C3D"/>
          </a:solidFill>
          <a:ln/>
        </p:spPr>
      </p:sp>
      <p:sp>
        <p:nvSpPr>
          <p:cNvPr id="11" name="Shape 9"/>
          <p:cNvSpPr/>
          <p:nvPr/>
        </p:nvSpPr>
        <p:spPr>
          <a:xfrm>
            <a:off x="6400800" y="2167128"/>
            <a:ext cx="365760" cy="365760"/>
          </a:xfrm>
          <a:prstGeom prst="ellipse">
            <a:avLst/>
          </a:prstGeom>
          <a:solidFill>
            <a:srgbClr val="E8A24A"/>
          </a:solidFill>
          <a:ln/>
        </p:spPr>
      </p:sp>
      <p:sp>
        <p:nvSpPr>
          <p:cNvPr id="12" name="Text 10"/>
          <p:cNvSpPr txBox="1"/>
          <p:nvPr/>
        </p:nvSpPr>
        <p:spPr>
          <a:xfrm>
            <a:off x="6400800" y="21671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922008" y="21122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Is a county the right unit for “rural”?</a:t>
            </a:r>
            <a:endParaRPr lang="en-US" sz="1300" dirty="0"/>
          </a:p>
        </p:txBody>
      </p:sp>
      <p:sp>
        <p:nvSpPr>
          <p:cNvPr id="14" name="Text 12"/>
          <p:cNvSpPr txBox="1"/>
          <p:nvPr/>
        </p:nvSpPr>
        <p:spPr>
          <a:xfrm>
            <a:off x="6922008" y="25694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The statute uses one. Members cross county lines every day. What would you measure instead, and would it change who counts?</a:t>
            </a:r>
            <a:endParaRPr lang="en-US" sz="1000" dirty="0"/>
          </a:p>
        </p:txBody>
      </p:sp>
      <p:sp>
        <p:nvSpPr>
          <p:cNvPr id="15" name="Shape 13"/>
          <p:cNvSpPr/>
          <p:nvPr/>
        </p:nvSpPr>
        <p:spPr>
          <a:xfrm>
            <a:off x="640080" y="3337560"/>
            <a:ext cx="5349240" cy="1234440"/>
          </a:xfrm>
          <a:prstGeom prst="roundRect">
            <a:avLst>
              <a:gd name="adj" fmla="val 4444"/>
            </a:avLst>
          </a:prstGeom>
          <a:solidFill>
            <a:srgbClr val="1B2C3D"/>
          </a:solidFill>
          <a:ln/>
        </p:spPr>
      </p:sp>
      <p:sp>
        <p:nvSpPr>
          <p:cNvPr id="16" name="Shape 14"/>
          <p:cNvSpPr/>
          <p:nvPr/>
        </p:nvSpPr>
        <p:spPr>
          <a:xfrm>
            <a:off x="868680" y="3538728"/>
            <a:ext cx="365760" cy="365760"/>
          </a:xfrm>
          <a:prstGeom prst="ellipse">
            <a:avLst/>
          </a:prstGeom>
          <a:solidFill>
            <a:srgbClr val="E8A24A"/>
          </a:solidFill>
          <a:ln/>
        </p:spPr>
      </p:sp>
      <p:sp>
        <p:nvSpPr>
          <p:cNvPr id="17" name="Text 15"/>
          <p:cNvSpPr txBox="1"/>
          <p:nvPr/>
        </p:nvSpPr>
        <p:spPr>
          <a:xfrm>
            <a:off x="868680" y="35387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389888" y="34838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Is there one rural America, or several?</a:t>
            </a:r>
            <a:endParaRPr lang="en-US" sz="1300" dirty="0"/>
          </a:p>
        </p:txBody>
      </p:sp>
      <p:sp>
        <p:nvSpPr>
          <p:cNvPr id="19" name="Text 17"/>
          <p:cNvSpPr txBox="1"/>
          <p:nvPr/>
        </p:nvSpPr>
        <p:spPr>
          <a:xfrm>
            <a:off x="1389888" y="39410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Montana is two-thirds rural credit unions; Michigan holds the most rural assets on a fifth. Should the report treat them as one population?</a:t>
            </a:r>
            <a:endParaRPr lang="en-US" sz="1000" dirty="0"/>
          </a:p>
        </p:txBody>
      </p:sp>
      <p:sp>
        <p:nvSpPr>
          <p:cNvPr id="20" name="Shape 18"/>
          <p:cNvSpPr/>
          <p:nvPr/>
        </p:nvSpPr>
        <p:spPr>
          <a:xfrm>
            <a:off x="6172200" y="3337560"/>
            <a:ext cx="5349240" cy="1234440"/>
          </a:xfrm>
          <a:prstGeom prst="roundRect">
            <a:avLst>
              <a:gd name="adj" fmla="val 4444"/>
            </a:avLst>
          </a:prstGeom>
          <a:solidFill>
            <a:srgbClr val="1B2C3D"/>
          </a:solidFill>
          <a:ln/>
        </p:spPr>
      </p:sp>
      <p:sp>
        <p:nvSpPr>
          <p:cNvPr id="21" name="Shape 19"/>
          <p:cNvSpPr/>
          <p:nvPr/>
        </p:nvSpPr>
        <p:spPr>
          <a:xfrm>
            <a:off x="6400800" y="3538728"/>
            <a:ext cx="365760" cy="365760"/>
          </a:xfrm>
          <a:prstGeom prst="ellipse">
            <a:avLst/>
          </a:prstGeom>
          <a:solidFill>
            <a:srgbClr val="E8A24A"/>
          </a:solidFill>
          <a:ln/>
        </p:spPr>
      </p:sp>
      <p:sp>
        <p:nvSpPr>
          <p:cNvPr id="22" name="Text 20"/>
          <p:cNvSpPr txBox="1"/>
          <p:nvPr/>
        </p:nvSpPr>
        <p:spPr>
          <a:xfrm>
            <a:off x="6400800" y="35387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6922008" y="34838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Which rural credit unions should we be talking to?</a:t>
            </a:r>
            <a:endParaRPr lang="en-US" sz="1300" dirty="0"/>
          </a:p>
        </p:txBody>
      </p:sp>
      <p:sp>
        <p:nvSpPr>
          <p:cNvPr id="24" name="Text 22"/>
          <p:cNvSpPr txBox="1"/>
          <p:nvPr/>
        </p:nvSpPr>
        <p:spPr>
          <a:xfrm>
            <a:off x="6922008" y="39410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We can see the numbers. We cannot see who is doing something unusual and worth understanding.</a:t>
            </a:r>
            <a:endParaRPr lang="en-US" sz="1000" dirty="0"/>
          </a:p>
        </p:txBody>
      </p:sp>
      <p:sp>
        <p:nvSpPr>
          <p:cNvPr id="25" name="Shape 23"/>
          <p:cNvSpPr/>
          <p:nvPr/>
        </p:nvSpPr>
        <p:spPr>
          <a:xfrm>
            <a:off x="640080" y="4709160"/>
            <a:ext cx="10881360" cy="1234440"/>
          </a:xfrm>
          <a:prstGeom prst="roundRect">
            <a:avLst>
              <a:gd name="adj" fmla="val 4444"/>
            </a:avLst>
          </a:prstGeom>
          <a:solidFill>
            <a:srgbClr val="1B2C3D"/>
          </a:solidFill>
          <a:ln/>
        </p:spPr>
      </p:sp>
      <p:sp>
        <p:nvSpPr>
          <p:cNvPr id="26" name="Shape 24"/>
          <p:cNvSpPr/>
          <p:nvPr/>
        </p:nvSpPr>
        <p:spPr>
          <a:xfrm>
            <a:off x="868680" y="4910328"/>
            <a:ext cx="365760" cy="365760"/>
          </a:xfrm>
          <a:prstGeom prst="ellipse">
            <a:avLst/>
          </a:prstGeom>
          <a:solidFill>
            <a:srgbClr val="E8A24A"/>
          </a:solidFill>
          <a:ln/>
        </p:spPr>
      </p:sp>
      <p:sp>
        <p:nvSpPr>
          <p:cNvPr id="27" name="Text 25"/>
          <p:cNvSpPr txBox="1"/>
          <p:nvPr/>
        </p:nvSpPr>
        <p:spPr>
          <a:xfrm>
            <a:off x="868680" y="49103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389888" y="4855464"/>
            <a:ext cx="996696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Which of the barriers are regulatory, which are economic, and which are demographic?</a:t>
            </a:r>
            <a:endParaRPr lang="en-US" sz="1300" dirty="0"/>
          </a:p>
        </p:txBody>
      </p:sp>
      <p:sp>
        <p:nvSpPr>
          <p:cNvPr id="29" name="Text 27"/>
          <p:cNvSpPr txBox="1"/>
          <p:nvPr/>
        </p:nvSpPr>
        <p:spPr>
          <a:xfrm>
            <a:off x="1389888" y="5312664"/>
            <a:ext cx="996696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A federal agency can change the first, influence the second, and do nothing about the third. Sorting them honestly is half the report.</a:t>
            </a:r>
            <a:endParaRPr lang="en-US" sz="1000" dirty="0"/>
          </a:p>
        </p:txBody>
      </p:sp>
      <p:sp>
        <p:nvSpPr>
          <p:cNvPr id="30" name="Text 28"/>
          <p:cNvSpPr txBox="1"/>
          <p:nvPr/>
        </p:nvSpPr>
        <p:spPr>
          <a:xfrm>
            <a:off x="640080" y="6263640"/>
            <a:ext cx="10881360" cy="237744"/>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NCUA Office of the Chief Economist  ·  Rural Credit Unions Study  ·  ROAD Act Sec. 909  ·  September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02E"/>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7FB0AE"/>
                </a:solidFill>
                <a:latin typeface="Calibri" pitchFamily="34" charset="0"/>
                <a:ea typeface="Calibri" pitchFamily="34" charset="-122"/>
                <a:cs typeface="Calibri" pitchFamily="34" charset="-120"/>
              </a:rPr>
              <a:t>5 · FOR DISCUSSION — THE ANSWER</a:t>
            </a:r>
            <a:endParaRPr lang="en-US" sz="10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If the evidence holds, what should the report say?</a:t>
            </a:r>
            <a:endParaRPr lang="en-US" sz="2700" dirty="0"/>
          </a:p>
        </p:txBody>
      </p:sp>
      <p:sp>
        <p:nvSpPr>
          <p:cNvPr id="4" name="Text 2"/>
          <p:cNvSpPr txBox="1"/>
          <p:nvPr/>
        </p:nvSpPr>
        <p:spPr>
          <a:xfrm>
            <a:off x="640080" y="1298448"/>
            <a:ext cx="10881360" cy="457200"/>
          </a:xfrm>
          <a:prstGeom prst="rect">
            <a:avLst/>
          </a:prstGeom>
          <a:noFill/>
          <a:ln/>
        </p:spPr>
        <p:txBody>
          <a:bodyPr wrap="square" lIns="0" tIns="0" rIns="0" bIns="0" rtlCol="0" anchor="ctr"/>
          <a:lstStyle/>
          <a:p>
            <a:pPr indent="0" marL="0">
              <a:lnSpc>
                <a:spcPts val="1900"/>
              </a:lnSpc>
              <a:buNone/>
            </a:pPr>
            <a:r>
              <a:rPr lang="en-US" sz="1300" dirty="0">
                <a:solidFill>
                  <a:srgbClr val="DCE6E4"/>
                </a:solidFill>
                <a:latin typeface="Calibri" pitchFamily="34" charset="0"/>
                <a:ea typeface="Calibri" pitchFamily="34" charset="-122"/>
                <a:cs typeface="Calibri" pitchFamily="34" charset="-120"/>
              </a:rPr>
              <a:t>Five questions about the recommendations — asked now, before any are drafted, because this is when the group's answer can still change them.</a:t>
            </a:r>
            <a:endParaRPr lang="en-US" sz="1300" dirty="0"/>
          </a:p>
        </p:txBody>
      </p:sp>
      <p:sp>
        <p:nvSpPr>
          <p:cNvPr id="5" name="Shape 3"/>
          <p:cNvSpPr/>
          <p:nvPr/>
        </p:nvSpPr>
        <p:spPr>
          <a:xfrm>
            <a:off x="640080" y="1965960"/>
            <a:ext cx="5349240" cy="1234440"/>
          </a:xfrm>
          <a:prstGeom prst="roundRect">
            <a:avLst>
              <a:gd name="adj" fmla="val 4444"/>
            </a:avLst>
          </a:prstGeom>
          <a:solidFill>
            <a:srgbClr val="1B2C3D"/>
          </a:solidFill>
          <a:ln/>
        </p:spPr>
      </p:sp>
      <p:sp>
        <p:nvSpPr>
          <p:cNvPr id="6" name="Shape 4"/>
          <p:cNvSpPr/>
          <p:nvPr/>
        </p:nvSpPr>
        <p:spPr>
          <a:xfrm>
            <a:off x="868680" y="2167128"/>
            <a:ext cx="365760" cy="365760"/>
          </a:xfrm>
          <a:prstGeom prst="ellipse">
            <a:avLst/>
          </a:prstGeom>
          <a:solidFill>
            <a:srgbClr val="E8A24A"/>
          </a:solidFill>
          <a:ln/>
        </p:spPr>
      </p:sp>
      <p:sp>
        <p:nvSpPr>
          <p:cNvPr id="7" name="Text 5"/>
          <p:cNvSpPr txBox="1"/>
          <p:nvPr/>
        </p:nvSpPr>
        <p:spPr>
          <a:xfrm>
            <a:off x="868680" y="21671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6</a:t>
            </a:r>
            <a:endParaRPr lang="en-US" sz="1200" dirty="0"/>
          </a:p>
        </p:txBody>
      </p:sp>
      <p:sp>
        <p:nvSpPr>
          <p:cNvPr id="8" name="Text 6"/>
          <p:cNvSpPr txBox="1"/>
          <p:nvPr/>
        </p:nvSpPr>
        <p:spPr>
          <a:xfrm>
            <a:off x="1389888" y="21122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Where would a new rural credit union come from today?</a:t>
            </a:r>
            <a:endParaRPr lang="en-US" sz="1300" dirty="0"/>
          </a:p>
        </p:txBody>
      </p:sp>
      <p:sp>
        <p:nvSpPr>
          <p:cNvPr id="9" name="Text 7"/>
          <p:cNvSpPr txBox="1"/>
          <p:nvPr/>
        </p:nvSpPr>
        <p:spPr>
          <a:xfrm>
            <a:off x="1389888" y="25694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Almost none are being started. Who would sponsor one, what would it need, and what is the first thing that would stop it?</a:t>
            </a:r>
            <a:endParaRPr lang="en-US" sz="1000" dirty="0"/>
          </a:p>
        </p:txBody>
      </p:sp>
      <p:sp>
        <p:nvSpPr>
          <p:cNvPr id="10" name="Shape 8"/>
          <p:cNvSpPr/>
          <p:nvPr/>
        </p:nvSpPr>
        <p:spPr>
          <a:xfrm>
            <a:off x="6172200" y="1965960"/>
            <a:ext cx="5349240" cy="1234440"/>
          </a:xfrm>
          <a:prstGeom prst="roundRect">
            <a:avLst>
              <a:gd name="adj" fmla="val 4444"/>
            </a:avLst>
          </a:prstGeom>
          <a:solidFill>
            <a:srgbClr val="1B2C3D"/>
          </a:solidFill>
          <a:ln/>
        </p:spPr>
      </p:sp>
      <p:sp>
        <p:nvSpPr>
          <p:cNvPr id="11" name="Shape 9"/>
          <p:cNvSpPr/>
          <p:nvPr/>
        </p:nvSpPr>
        <p:spPr>
          <a:xfrm>
            <a:off x="6400800" y="2167128"/>
            <a:ext cx="365760" cy="365760"/>
          </a:xfrm>
          <a:prstGeom prst="ellipse">
            <a:avLst/>
          </a:prstGeom>
          <a:solidFill>
            <a:srgbClr val="E8A24A"/>
          </a:solidFill>
          <a:ln/>
        </p:spPr>
      </p:sp>
      <p:sp>
        <p:nvSpPr>
          <p:cNvPr id="12" name="Text 10"/>
          <p:cNvSpPr txBox="1"/>
          <p:nvPr/>
        </p:nvSpPr>
        <p:spPr>
          <a:xfrm>
            <a:off x="6400800" y="21671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7</a:t>
            </a:r>
            <a:endParaRPr lang="en-US" sz="1200" dirty="0"/>
          </a:p>
        </p:txBody>
      </p:sp>
      <p:sp>
        <p:nvSpPr>
          <p:cNvPr id="13" name="Text 11"/>
          <p:cNvSpPr txBox="1"/>
          <p:nvPr/>
        </p:nvSpPr>
        <p:spPr>
          <a:xfrm>
            <a:off x="6922008" y="21122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What makes an existing credit union extend into a county it does not serve?</a:t>
            </a:r>
            <a:endParaRPr lang="en-US" sz="1300" dirty="0"/>
          </a:p>
        </p:txBody>
      </p:sp>
      <p:sp>
        <p:nvSpPr>
          <p:cNvPr id="14" name="Text 12"/>
          <p:cNvSpPr txBox="1"/>
          <p:nvPr/>
        </p:nvSpPr>
        <p:spPr>
          <a:xfrm>
            <a:off x="6922008" y="25694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Extending an incumbent looks far cheaper than chartering. What tips that decision — and what stops it?</a:t>
            </a:r>
            <a:endParaRPr lang="en-US" sz="1000" dirty="0"/>
          </a:p>
        </p:txBody>
      </p:sp>
      <p:sp>
        <p:nvSpPr>
          <p:cNvPr id="15" name="Shape 13"/>
          <p:cNvSpPr/>
          <p:nvPr/>
        </p:nvSpPr>
        <p:spPr>
          <a:xfrm>
            <a:off x="640080" y="3337560"/>
            <a:ext cx="5349240" cy="1234440"/>
          </a:xfrm>
          <a:prstGeom prst="roundRect">
            <a:avLst>
              <a:gd name="adj" fmla="val 4444"/>
            </a:avLst>
          </a:prstGeom>
          <a:solidFill>
            <a:srgbClr val="1B2C3D"/>
          </a:solidFill>
          <a:ln/>
        </p:spPr>
      </p:sp>
      <p:sp>
        <p:nvSpPr>
          <p:cNvPr id="16" name="Shape 14"/>
          <p:cNvSpPr/>
          <p:nvPr/>
        </p:nvSpPr>
        <p:spPr>
          <a:xfrm>
            <a:off x="868680" y="3538728"/>
            <a:ext cx="365760" cy="365760"/>
          </a:xfrm>
          <a:prstGeom prst="ellipse">
            <a:avLst/>
          </a:prstGeom>
          <a:solidFill>
            <a:srgbClr val="E8A24A"/>
          </a:solidFill>
          <a:ln/>
        </p:spPr>
      </p:sp>
      <p:sp>
        <p:nvSpPr>
          <p:cNvPr id="17" name="Text 15"/>
          <p:cNvSpPr txBox="1"/>
          <p:nvPr/>
        </p:nvSpPr>
        <p:spPr>
          <a:xfrm>
            <a:off x="868680" y="35387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8</a:t>
            </a:r>
            <a:endParaRPr lang="en-US" sz="1200" dirty="0"/>
          </a:p>
        </p:txBody>
      </p:sp>
      <p:sp>
        <p:nvSpPr>
          <p:cNvPr id="18" name="Text 16"/>
          <p:cNvSpPr txBox="1"/>
          <p:nvPr/>
        </p:nvSpPr>
        <p:spPr>
          <a:xfrm>
            <a:off x="1389888" y="34838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Is a branch a substitute for a charter?</a:t>
            </a:r>
            <a:endParaRPr lang="en-US" sz="1300" dirty="0"/>
          </a:p>
        </p:txBody>
      </p:sp>
      <p:sp>
        <p:nvSpPr>
          <p:cNvPr id="19" name="Text 17"/>
          <p:cNvSpPr txBox="1"/>
          <p:nvPr/>
        </p:nvSpPr>
        <p:spPr>
          <a:xfrm>
            <a:off x="1389888" y="39410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A branch delivers services. A charter delivers local ownership and local credit decisions. Which one is Congress actually asking about?</a:t>
            </a:r>
            <a:endParaRPr lang="en-US" sz="1000" dirty="0"/>
          </a:p>
        </p:txBody>
      </p:sp>
      <p:sp>
        <p:nvSpPr>
          <p:cNvPr id="20" name="Shape 18"/>
          <p:cNvSpPr/>
          <p:nvPr/>
        </p:nvSpPr>
        <p:spPr>
          <a:xfrm>
            <a:off x="6172200" y="3337560"/>
            <a:ext cx="5349240" cy="1234440"/>
          </a:xfrm>
          <a:prstGeom prst="roundRect">
            <a:avLst>
              <a:gd name="adj" fmla="val 4444"/>
            </a:avLst>
          </a:prstGeom>
          <a:solidFill>
            <a:srgbClr val="1B2C3D"/>
          </a:solidFill>
          <a:ln/>
        </p:spPr>
      </p:sp>
      <p:sp>
        <p:nvSpPr>
          <p:cNvPr id="21" name="Shape 19"/>
          <p:cNvSpPr/>
          <p:nvPr/>
        </p:nvSpPr>
        <p:spPr>
          <a:xfrm>
            <a:off x="6400800" y="3538728"/>
            <a:ext cx="365760" cy="365760"/>
          </a:xfrm>
          <a:prstGeom prst="ellipse">
            <a:avLst/>
          </a:prstGeom>
          <a:solidFill>
            <a:srgbClr val="E8A24A"/>
          </a:solidFill>
          <a:ln/>
        </p:spPr>
      </p:sp>
      <p:sp>
        <p:nvSpPr>
          <p:cNvPr id="22" name="Text 20"/>
          <p:cNvSpPr txBox="1"/>
          <p:nvPr/>
        </p:nvSpPr>
        <p:spPr>
          <a:xfrm>
            <a:off x="6400800" y="35387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9</a:t>
            </a:r>
            <a:endParaRPr lang="en-US" sz="1200" dirty="0"/>
          </a:p>
        </p:txBody>
      </p:sp>
      <p:sp>
        <p:nvSpPr>
          <p:cNvPr id="23" name="Text 21"/>
          <p:cNvSpPr txBox="1"/>
          <p:nvPr/>
        </p:nvSpPr>
        <p:spPr>
          <a:xfrm>
            <a:off x="6922008" y="3483864"/>
            <a:ext cx="443484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If Congress could change one rule, which one — and what would it cost?</a:t>
            </a:r>
            <a:endParaRPr lang="en-US" sz="1300" dirty="0"/>
          </a:p>
        </p:txBody>
      </p:sp>
      <p:sp>
        <p:nvSpPr>
          <p:cNvPr id="24" name="Text 22"/>
          <p:cNvSpPr txBox="1"/>
          <p:nvPr/>
        </p:nvSpPr>
        <p:spPr>
          <a:xfrm>
            <a:off x="6922008" y="3941064"/>
            <a:ext cx="443484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Every recommendation will be asked this. We would rather hear the group's candidates before we pick ours.</a:t>
            </a:r>
            <a:endParaRPr lang="en-US" sz="1000" dirty="0"/>
          </a:p>
        </p:txBody>
      </p:sp>
      <p:sp>
        <p:nvSpPr>
          <p:cNvPr id="25" name="Shape 23"/>
          <p:cNvSpPr/>
          <p:nvPr/>
        </p:nvSpPr>
        <p:spPr>
          <a:xfrm>
            <a:off x="640080" y="4709160"/>
            <a:ext cx="10881360" cy="1234440"/>
          </a:xfrm>
          <a:prstGeom prst="roundRect">
            <a:avLst>
              <a:gd name="adj" fmla="val 4444"/>
            </a:avLst>
          </a:prstGeom>
          <a:solidFill>
            <a:srgbClr val="1B2C3D"/>
          </a:solidFill>
          <a:ln/>
        </p:spPr>
      </p:sp>
      <p:sp>
        <p:nvSpPr>
          <p:cNvPr id="26" name="Shape 24"/>
          <p:cNvSpPr/>
          <p:nvPr/>
        </p:nvSpPr>
        <p:spPr>
          <a:xfrm>
            <a:off x="868680" y="4910328"/>
            <a:ext cx="365760" cy="365760"/>
          </a:xfrm>
          <a:prstGeom prst="ellipse">
            <a:avLst/>
          </a:prstGeom>
          <a:solidFill>
            <a:srgbClr val="E8A24A"/>
          </a:solidFill>
          <a:ln/>
        </p:spPr>
      </p:sp>
      <p:sp>
        <p:nvSpPr>
          <p:cNvPr id="27" name="Text 25"/>
          <p:cNvSpPr txBox="1"/>
          <p:nvPr/>
        </p:nvSpPr>
        <p:spPr>
          <a:xfrm>
            <a:off x="868680" y="4910328"/>
            <a:ext cx="365760" cy="365760"/>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10</a:t>
            </a:r>
            <a:endParaRPr lang="en-US" sz="1200" dirty="0"/>
          </a:p>
        </p:txBody>
      </p:sp>
      <p:sp>
        <p:nvSpPr>
          <p:cNvPr id="28" name="Text 26"/>
          <p:cNvSpPr txBox="1"/>
          <p:nvPr/>
        </p:nvSpPr>
        <p:spPr>
          <a:xfrm>
            <a:off x="1389888" y="4855464"/>
            <a:ext cx="9966960" cy="45720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mbria" pitchFamily="34" charset="0"/>
                <a:ea typeface="Cambria" pitchFamily="34" charset="-122"/>
                <a:cs typeface="Cambria" pitchFamily="34" charset="-120"/>
              </a:rPr>
              <a:t>What is the one thing this report must not get wrong?</a:t>
            </a:r>
            <a:endParaRPr lang="en-US" sz="1300" dirty="0"/>
          </a:p>
        </p:txBody>
      </p:sp>
      <p:sp>
        <p:nvSpPr>
          <p:cNvPr id="29" name="Text 27"/>
          <p:cNvSpPr txBox="1"/>
          <p:nvPr/>
        </p:nvSpPr>
        <p:spPr>
          <a:xfrm>
            <a:off x="1389888" y="5312664"/>
            <a:ext cx="9966960" cy="594360"/>
          </a:xfrm>
          <a:prstGeom prst="rect">
            <a:avLst/>
          </a:prstGeom>
          <a:noFill/>
          <a:ln/>
        </p:spPr>
        <p:txBody>
          <a:bodyPr wrap="square" lIns="0" tIns="0" rIns="0" bIns="0" rtlCol="0" anchor="ctr"/>
          <a:lstStyle/>
          <a:p>
            <a:pPr indent="0" marL="0">
              <a:lnSpc>
                <a:spcPts val="1300"/>
              </a:lnSpc>
              <a:buNone/>
            </a:pPr>
            <a:r>
              <a:rPr lang="en-US" sz="1000" dirty="0">
                <a:solidFill>
                  <a:srgbClr val="DCE6E4"/>
                </a:solidFill>
                <a:latin typeface="Calibri" pitchFamily="34" charset="0"/>
                <a:ea typeface="Calibri" pitchFamily="34" charset="-122"/>
                <a:cs typeface="Calibri" pitchFamily="34" charset="-120"/>
              </a:rPr>
              <a:t>Everyone in this room has a version of this answer. We would rather hear them now than in review.</a:t>
            </a:r>
            <a:endParaRPr lang="en-US" sz="1000" dirty="0"/>
          </a:p>
        </p:txBody>
      </p:sp>
      <p:sp>
        <p:nvSpPr>
          <p:cNvPr id="30" name="Text 28"/>
          <p:cNvSpPr txBox="1"/>
          <p:nvPr/>
        </p:nvSpPr>
        <p:spPr>
          <a:xfrm>
            <a:off x="640080" y="6263640"/>
            <a:ext cx="10881360" cy="237744"/>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NCUA Office of the Chief Economist  ·  Rural Credit Unions Study  ·  ROAD Act Sec. 909  ·  September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Rural Credit Unions Study - Working Group Kickoff</dc:title>
  <dc:subject>PptxGenJS Presentation</dc:subject>
  <dc:creator>NCUA Office of the Chief Economist</dc:creator>
  <cp:lastModifiedBy>NCUA Office of the Chief Economist</cp:lastModifiedBy>
  <cp:revision>1</cp:revision>
  <dcterms:created xsi:type="dcterms:W3CDTF">2026-09-22T17:04:42Z</dcterms:created>
  <dcterms:modified xsi:type="dcterms:W3CDTF">2026-09-22T17:04:42Z</dcterms:modified>
</cp:coreProperties>
</file>