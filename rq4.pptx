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executive, three sentences. Rural credit unions are not short of capital: the typical one could grow about two and a half points a year faster from its own earnings, and fewer than one in ten is held back by capital alone. What actually predicts how fast they grow is how much they earn - and the best-capitalized grow, if anything, a little slower. Their earnings advantage comes from serving thin markets with few competitors, so capital relief would do little, while measures that protect earnings and widen reach would do more.
The bridge to the policy bar (say this as you move to the bottom of the slide): Thin markets are both the strength and the ceiling. Few competitors give rural credit unions their earnings, and earnings fund their growth. But the same thin markets limit how many members they can reach. So the policy question is not how to give them more capital; it is how to widen their reach without eroding the earnings that thin markets provide.
How this fits RQ1-3. RQ1: rural credit unions are level with peers on capital and ahead on growth and earnings; local competition absorbs 57% of the growth advantage. RQ3: the business-lending cap binds for about ten institutions. RQ4 supplies the positive claim the first three could not: growth tracks earnings, not the capital stock. One sentence for every document: 'Capital does not limit the growth of rural credit unions; growth tracks earnings, and their earnings advantage comes largely from serving markets with few competitors.' Avoid 'it is demand' - demand is not measured directly.
If pressed on method. Panel regression of four-quarter asset growth, state-by-quarter fixed effects, standard errors clustered by credit union, 314,969 credit union-quarters, estimation sample assets &gt;= $1m. Earnings and capital enter a year earlier to avoid putting the outcome on both sides. Last year's ROA: +2.01 pp of growth per point (t = 43), no rural difference. Last year's net worth ratio: -0.039 per point (t = -5.4), rural -0.079 (interaction p = 0.03). One standard deviation: ROA 0.77 pp -&gt; +1.54; net worth 5.1 pp -&gt; -0.40 for rural. Headroom (ROA / net worth minus actual growth) +2.6 rural, +2.8 non-rural; 30% grow faster than earnings allow; 9.3% capital-only constrained. Customer-side flags (penetration &gt; 0.5, shrinking county, single office in a below-median-density county) cover 68.5% of rural credit unions; the ranking between capital and member flags changes when thresholds move, so the table is reported as a range, not a ranking. Competition is not significant once lagged earnings are controlled - consistent with earnings being the channel through which competition works (a mediator, not a contradiction of RQ1).
Caveats. This is association, not a proven cause: well-run credit unions both earn more and grow faster. Population change in this run uses a 2020 baseline (legacy build); the master build restores 2010.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881360" cy="237744"/>
          </a:xfrm>
          <a:prstGeom prst="rect">
            <a:avLst/>
          </a:prstGeom>
          <a:noFill/>
          <a:ln/>
        </p:spPr>
        <p:txBody>
          <a:bodyPr wrap="square" lIns="0" tIns="0" rIns="0" bIns="0" rtlCol="0" anchor="ctr"/>
          <a:lstStyle/>
          <a:p>
            <a:pPr indent="0" marL="0">
              <a:buNone/>
            </a:pPr>
            <a:r>
              <a:rPr lang="en-US" sz="1000" b="1" spc="200" kern="0" dirty="0">
                <a:solidFill>
                  <a:srgbClr val="1F6F78"/>
                </a:solidFill>
                <a:latin typeface="Calibri" pitchFamily="34" charset="0"/>
                <a:ea typeface="Calibri" pitchFamily="34" charset="-122"/>
                <a:cs typeface="Calibri" pitchFamily="34" charset="-120"/>
              </a:rPr>
              <a:t>RQ4 · WHAT HOLDS RURAL CREDIT UNIONS BACK — THEIR CAPITAL, OR THE MARKETS THEY SERVE?</a:t>
            </a:r>
            <a:endParaRPr lang="en-US" sz="1000" dirty="0"/>
          </a:p>
        </p:txBody>
      </p:sp>
      <p:sp>
        <p:nvSpPr>
          <p:cNvPr id="3" name="Text 1"/>
          <p:cNvSpPr txBox="1"/>
          <p:nvPr/>
        </p:nvSpPr>
        <p:spPr>
          <a:xfrm>
            <a:off x="640080" y="658368"/>
            <a:ext cx="10881360" cy="868680"/>
          </a:xfrm>
          <a:prstGeom prst="rect">
            <a:avLst/>
          </a:prstGeom>
          <a:noFill/>
          <a:ln/>
        </p:spPr>
        <p:txBody>
          <a:bodyPr wrap="square" lIns="0" tIns="0" rIns="0" bIns="0" rtlCol="0" anchor="ctr"/>
          <a:lstStyle/>
          <a:p>
            <a:pPr indent="0" marL="0">
              <a:lnSpc>
                <a:spcPts val="3000"/>
              </a:lnSpc>
              <a:buNone/>
            </a:pPr>
            <a:r>
              <a:rPr lang="en-US" sz="2500" b="1" dirty="0">
                <a:solidFill>
                  <a:srgbClr val="12202E"/>
                </a:solidFill>
                <a:latin typeface="Cambria" pitchFamily="34" charset="0"/>
                <a:ea typeface="Cambria" pitchFamily="34" charset="-122"/>
                <a:cs typeface="Cambria" pitchFamily="34" charset="-120"/>
              </a:rPr>
              <a:t>Not capital. Growth follows earnings — and rural earnings come from markets with few competitors.</a:t>
            </a:r>
            <a:endParaRPr lang="en-US" sz="2500" dirty="0"/>
          </a:p>
        </p:txBody>
      </p:sp>
      <p:sp>
        <p:nvSpPr>
          <p:cNvPr id="4" name="Text 2"/>
          <p:cNvSpPr txBox="1"/>
          <p:nvPr/>
        </p:nvSpPr>
        <p:spPr>
          <a:xfrm>
            <a:off x="640080" y="1645920"/>
            <a:ext cx="5120640" cy="274320"/>
          </a:xfrm>
          <a:prstGeom prst="rect">
            <a:avLst/>
          </a:prstGeom>
          <a:noFill/>
          <a:ln/>
        </p:spPr>
        <p:txBody>
          <a:bodyPr wrap="square" lIns="0" tIns="0" rIns="0" bIns="0" rtlCol="0" anchor="ctr"/>
          <a:lstStyle/>
          <a:p>
            <a:pPr indent="0" marL="0">
              <a:buNone/>
            </a:pPr>
            <a:r>
              <a:rPr lang="en-US" sz="1200" b="1" dirty="0">
                <a:solidFill>
                  <a:srgbClr val="12202E"/>
                </a:solidFill>
                <a:latin typeface="Calibri" pitchFamily="34" charset="0"/>
                <a:ea typeface="Calibri" pitchFamily="34" charset="-122"/>
                <a:cs typeface="Calibri" pitchFamily="34" charset="-120"/>
              </a:rPr>
              <a:t>What moves a rural credit union’s growth next year?</a:t>
            </a:r>
            <a:endParaRPr lang="en-US" sz="1200" dirty="0"/>
          </a:p>
        </p:txBody>
      </p:sp>
      <p:sp>
        <p:nvSpPr>
          <p:cNvPr id="5" name="Text 3"/>
          <p:cNvSpPr txBox="1"/>
          <p:nvPr/>
        </p:nvSpPr>
        <p:spPr>
          <a:xfrm>
            <a:off x="640080" y="1911096"/>
            <a:ext cx="5120640" cy="228600"/>
          </a:xfrm>
          <a:prstGeom prst="rect">
            <a:avLst/>
          </a:prstGeom>
          <a:noFill/>
          <a:ln/>
        </p:spPr>
        <p:txBody>
          <a:bodyPr wrap="square" lIns="0" tIns="0" rIns="0" bIns="0" rtlCol="0" anchor="ctr"/>
          <a:lstStyle/>
          <a:p>
            <a:pPr indent="0" marL="0">
              <a:buNone/>
            </a:pPr>
            <a:r>
              <a:rPr lang="en-US" sz="900" dirty="0">
                <a:solidFill>
                  <a:srgbClr val="5B6B72"/>
                </a:solidFill>
                <a:latin typeface="Calibri" pitchFamily="34" charset="0"/>
                <a:ea typeface="Calibri" pitchFamily="34" charset="-122"/>
                <a:cs typeface="Calibri" pitchFamily="34" charset="-120"/>
              </a:rPr>
              <a:t>Change in asset growth, percentage points, for a typical difference in each</a:t>
            </a:r>
            <a:endParaRPr lang="en-US" sz="900" dirty="0"/>
          </a:p>
        </p:txBody>
      </p:sp>
      <p:sp>
        <p:nvSpPr>
          <p:cNvPr id="6" name="Shape 4"/>
          <p:cNvSpPr/>
          <p:nvPr/>
        </p:nvSpPr>
        <p:spPr>
          <a:xfrm>
            <a:off x="3154680" y="2240280"/>
            <a:ext cx="0" cy="1600200"/>
          </a:xfrm>
          <a:prstGeom prst="line">
            <a:avLst/>
          </a:prstGeom>
          <a:noFill/>
          <a:ln w="12700">
            <a:solidFill>
              <a:srgbClr val="5B6B72"/>
            </a:solidFill>
            <a:prstDash val="solid"/>
          </a:ln>
        </p:spPr>
      </p:sp>
      <p:sp>
        <p:nvSpPr>
          <p:cNvPr id="7" name="Text 5"/>
          <p:cNvSpPr txBox="1"/>
          <p:nvPr/>
        </p:nvSpPr>
        <p:spPr>
          <a:xfrm>
            <a:off x="3017520" y="3858768"/>
            <a:ext cx="274320" cy="182880"/>
          </a:xfrm>
          <a:prstGeom prst="rect">
            <a:avLst/>
          </a:prstGeom>
          <a:noFill/>
          <a:ln/>
        </p:spPr>
        <p:txBody>
          <a:bodyPr wrap="square" lIns="0" tIns="0" rIns="0" bIns="0" rtlCol="0" anchor="ctr"/>
          <a:lstStyle/>
          <a:p>
            <a:pPr algn="ctr" indent="0" marL="0">
              <a:buNone/>
            </a:pPr>
            <a:r>
              <a:rPr lang="en-US" sz="850" dirty="0">
                <a:solidFill>
                  <a:srgbClr val="5B6B72"/>
                </a:solidFill>
                <a:latin typeface="Calibri" pitchFamily="34" charset="0"/>
                <a:ea typeface="Calibri" pitchFamily="34" charset="-122"/>
                <a:cs typeface="Calibri" pitchFamily="34" charset="-120"/>
              </a:rPr>
              <a:t>0</a:t>
            </a:r>
            <a:endParaRPr lang="en-US" sz="850" dirty="0"/>
          </a:p>
        </p:txBody>
      </p:sp>
      <p:sp>
        <p:nvSpPr>
          <p:cNvPr id="8" name="Text 6"/>
          <p:cNvSpPr txBox="1"/>
          <p:nvPr/>
        </p:nvSpPr>
        <p:spPr>
          <a:xfrm>
            <a:off x="640080" y="2377440"/>
            <a:ext cx="1783080" cy="256032"/>
          </a:xfrm>
          <a:prstGeom prst="rect">
            <a:avLst/>
          </a:prstGeom>
          <a:noFill/>
          <a:ln/>
        </p:spPr>
        <p:txBody>
          <a:bodyPr wrap="square" lIns="0" tIns="0" rIns="0" bIns="0" rtlCol="0" anchor="ctr"/>
          <a:lstStyle/>
          <a:p>
            <a:pPr algn="r" indent="0" marL="0">
              <a:buNone/>
            </a:pPr>
            <a:r>
              <a:rPr lang="en-US" sz="1200" b="1" dirty="0">
                <a:solidFill>
                  <a:srgbClr val="12202E"/>
                </a:solidFill>
                <a:latin typeface="Calibri" pitchFamily="34" charset="0"/>
                <a:ea typeface="Calibri" pitchFamily="34" charset="-122"/>
                <a:cs typeface="Calibri" pitchFamily="34" charset="-120"/>
              </a:rPr>
              <a:t>Earnings</a:t>
            </a:r>
            <a:endParaRPr lang="en-US" sz="1200" dirty="0"/>
          </a:p>
        </p:txBody>
      </p:sp>
      <p:sp>
        <p:nvSpPr>
          <p:cNvPr id="9" name="Text 7"/>
          <p:cNvSpPr txBox="1"/>
          <p:nvPr/>
        </p:nvSpPr>
        <p:spPr>
          <a:xfrm>
            <a:off x="640080" y="2615184"/>
            <a:ext cx="1783080" cy="219456"/>
          </a:xfrm>
          <a:prstGeom prst="rect">
            <a:avLst/>
          </a:prstGeom>
          <a:noFill/>
          <a:ln/>
        </p:spPr>
        <p:txBody>
          <a:bodyPr wrap="square" lIns="0" tIns="0" rIns="0" bIns="0" rtlCol="0" anchor="ctr"/>
          <a:lstStyle/>
          <a:p>
            <a:pPr algn="r" indent="0" marL="0">
              <a:buNone/>
            </a:pPr>
            <a:r>
              <a:rPr lang="en-US" sz="850" dirty="0">
                <a:solidFill>
                  <a:srgbClr val="5B6B72"/>
                </a:solidFill>
                <a:latin typeface="Calibri" pitchFamily="34" charset="0"/>
                <a:ea typeface="Calibri" pitchFamily="34" charset="-122"/>
                <a:cs typeface="Calibri" pitchFamily="34" charset="-120"/>
              </a:rPr>
              <a:t>ROA 0.8 points higher</a:t>
            </a:r>
            <a:endParaRPr lang="en-US" sz="850" dirty="0"/>
          </a:p>
        </p:txBody>
      </p:sp>
      <p:sp>
        <p:nvSpPr>
          <p:cNvPr id="10" name="Shape 8"/>
          <p:cNvSpPr/>
          <p:nvPr/>
        </p:nvSpPr>
        <p:spPr>
          <a:xfrm>
            <a:off x="3154680" y="2359152"/>
            <a:ext cx="2182673" cy="502920"/>
          </a:xfrm>
          <a:prstGeom prst="rect">
            <a:avLst/>
          </a:prstGeom>
          <a:solidFill>
            <a:srgbClr val="0E4C55"/>
          </a:solidFill>
          <a:ln/>
        </p:spPr>
      </p:sp>
      <p:sp>
        <p:nvSpPr>
          <p:cNvPr id="11" name="Text 9"/>
          <p:cNvSpPr txBox="1"/>
          <p:nvPr/>
        </p:nvSpPr>
        <p:spPr>
          <a:xfrm>
            <a:off x="5410505" y="2359152"/>
            <a:ext cx="731520" cy="502920"/>
          </a:xfrm>
          <a:prstGeom prst="rect">
            <a:avLst/>
          </a:prstGeom>
          <a:noFill/>
          <a:ln/>
        </p:spPr>
        <p:txBody>
          <a:bodyPr wrap="square" lIns="0" tIns="0" rIns="0" bIns="0" rtlCol="0" anchor="ctr"/>
          <a:lstStyle/>
          <a:p>
            <a:pPr indent="0" marL="0">
              <a:buNone/>
            </a:pPr>
            <a:r>
              <a:rPr lang="en-US" sz="1800" b="1" dirty="0">
                <a:solidFill>
                  <a:srgbClr val="0E4C55"/>
                </a:solidFill>
                <a:latin typeface="Cambria" pitchFamily="34" charset="0"/>
                <a:ea typeface="Cambria" pitchFamily="34" charset="-122"/>
                <a:cs typeface="Cambria" pitchFamily="34" charset="-120"/>
              </a:rPr>
              <a:t>+1.5</a:t>
            </a:r>
            <a:endParaRPr lang="en-US" sz="1800" dirty="0"/>
          </a:p>
        </p:txBody>
      </p:sp>
      <p:sp>
        <p:nvSpPr>
          <p:cNvPr id="12" name="Text 10"/>
          <p:cNvSpPr txBox="1"/>
          <p:nvPr/>
        </p:nvSpPr>
        <p:spPr>
          <a:xfrm>
            <a:off x="640080" y="3218688"/>
            <a:ext cx="1783080" cy="256032"/>
          </a:xfrm>
          <a:prstGeom prst="rect">
            <a:avLst/>
          </a:prstGeom>
          <a:noFill/>
          <a:ln/>
        </p:spPr>
        <p:txBody>
          <a:bodyPr wrap="square" lIns="0" tIns="0" rIns="0" bIns="0" rtlCol="0" anchor="ctr"/>
          <a:lstStyle/>
          <a:p>
            <a:pPr algn="r" indent="0" marL="0">
              <a:buNone/>
            </a:pPr>
            <a:r>
              <a:rPr lang="en-US" sz="1200" b="1" dirty="0">
                <a:solidFill>
                  <a:srgbClr val="12202E"/>
                </a:solidFill>
                <a:latin typeface="Calibri" pitchFamily="34" charset="0"/>
                <a:ea typeface="Calibri" pitchFamily="34" charset="-122"/>
                <a:cs typeface="Calibri" pitchFamily="34" charset="-120"/>
              </a:rPr>
              <a:t>Capital</a:t>
            </a:r>
            <a:endParaRPr lang="en-US" sz="1200" dirty="0"/>
          </a:p>
        </p:txBody>
      </p:sp>
      <p:sp>
        <p:nvSpPr>
          <p:cNvPr id="13" name="Text 11"/>
          <p:cNvSpPr txBox="1"/>
          <p:nvPr/>
        </p:nvSpPr>
        <p:spPr>
          <a:xfrm>
            <a:off x="640080" y="3456432"/>
            <a:ext cx="1783080" cy="219456"/>
          </a:xfrm>
          <a:prstGeom prst="rect">
            <a:avLst/>
          </a:prstGeom>
          <a:noFill/>
          <a:ln/>
        </p:spPr>
        <p:txBody>
          <a:bodyPr wrap="square" lIns="0" tIns="0" rIns="0" bIns="0" rtlCol="0" anchor="ctr"/>
          <a:lstStyle/>
          <a:p>
            <a:pPr algn="r" indent="0" marL="0">
              <a:buNone/>
            </a:pPr>
            <a:r>
              <a:rPr lang="en-US" sz="850" dirty="0">
                <a:solidFill>
                  <a:srgbClr val="5B6B72"/>
                </a:solidFill>
                <a:latin typeface="Calibri" pitchFamily="34" charset="0"/>
                <a:ea typeface="Calibri" pitchFamily="34" charset="-122"/>
                <a:cs typeface="Calibri" pitchFamily="34" charset="-120"/>
              </a:rPr>
              <a:t>net worth 5 points higher</a:t>
            </a:r>
            <a:endParaRPr lang="en-US" sz="850" dirty="0"/>
          </a:p>
        </p:txBody>
      </p:sp>
      <p:sp>
        <p:nvSpPr>
          <p:cNvPr id="14" name="Shape 12"/>
          <p:cNvSpPr/>
          <p:nvPr/>
        </p:nvSpPr>
        <p:spPr>
          <a:xfrm>
            <a:off x="2587752" y="3200400"/>
            <a:ext cx="566928" cy="502920"/>
          </a:xfrm>
          <a:prstGeom prst="rect">
            <a:avLst/>
          </a:prstGeom>
          <a:solidFill>
            <a:srgbClr val="C8553D"/>
          </a:solidFill>
          <a:ln/>
        </p:spPr>
      </p:sp>
      <p:sp>
        <p:nvSpPr>
          <p:cNvPr id="15" name="Text 13"/>
          <p:cNvSpPr txBox="1"/>
          <p:nvPr/>
        </p:nvSpPr>
        <p:spPr>
          <a:xfrm>
            <a:off x="3227832" y="3200400"/>
            <a:ext cx="731520" cy="502920"/>
          </a:xfrm>
          <a:prstGeom prst="rect">
            <a:avLst/>
          </a:prstGeom>
          <a:noFill/>
          <a:ln/>
        </p:spPr>
        <p:txBody>
          <a:bodyPr wrap="square" lIns="0" tIns="0" rIns="0" bIns="0" rtlCol="0" anchor="ctr"/>
          <a:lstStyle/>
          <a:p>
            <a:pPr indent="0" marL="0">
              <a:buNone/>
            </a:pPr>
            <a:r>
              <a:rPr lang="en-US" sz="1800" b="1" dirty="0">
                <a:solidFill>
                  <a:srgbClr val="C8553D"/>
                </a:solidFill>
                <a:latin typeface="Cambria" pitchFamily="34" charset="0"/>
                <a:ea typeface="Cambria" pitchFamily="34" charset="-122"/>
                <a:cs typeface="Cambria" pitchFamily="34" charset="-120"/>
              </a:rPr>
              <a:t>−0.4</a:t>
            </a:r>
            <a:endParaRPr lang="en-US" sz="1800" dirty="0"/>
          </a:p>
        </p:txBody>
      </p:sp>
      <p:sp>
        <p:nvSpPr>
          <p:cNvPr id="16" name="Text 14"/>
          <p:cNvSpPr txBox="1"/>
          <p:nvPr/>
        </p:nvSpPr>
        <p:spPr>
          <a:xfrm>
            <a:off x="640080" y="4041648"/>
            <a:ext cx="5120640" cy="256032"/>
          </a:xfrm>
          <a:prstGeom prst="rect">
            <a:avLst/>
          </a:prstGeom>
          <a:noFill/>
          <a:ln/>
        </p:spPr>
        <p:txBody>
          <a:bodyPr wrap="square" lIns="0" tIns="0" rIns="0" bIns="0" rtlCol="0" anchor="ctr"/>
          <a:lstStyle/>
          <a:p>
            <a:pPr indent="0" marL="0">
              <a:buNone/>
            </a:pPr>
            <a:r>
              <a:rPr lang="en-US" sz="850" i="1" dirty="0">
                <a:solidFill>
                  <a:srgbClr val="5B6B72"/>
                </a:solidFill>
                <a:latin typeface="Calibri" pitchFamily="34" charset="0"/>
                <a:ea typeface="Calibri" pitchFamily="34" charset="-122"/>
                <a:cs typeface="Calibri" pitchFamily="34" charset="-120"/>
              </a:rPr>
              <a:t>Both measured a year earlier; compared with credit unions of the same size, state and quarter.</a:t>
            </a:r>
            <a:endParaRPr lang="en-US" sz="850" dirty="0"/>
          </a:p>
        </p:txBody>
      </p:sp>
      <p:sp>
        <p:nvSpPr>
          <p:cNvPr id="17" name="Shape 15"/>
          <p:cNvSpPr/>
          <p:nvPr/>
        </p:nvSpPr>
        <p:spPr>
          <a:xfrm>
            <a:off x="640080" y="4343400"/>
            <a:ext cx="2468880" cy="777240"/>
          </a:xfrm>
          <a:prstGeom prst="roundRect">
            <a:avLst>
              <a:gd name="adj" fmla="val 7059"/>
            </a:avLst>
          </a:prstGeom>
          <a:solidFill>
            <a:srgbClr val="DCE6E4"/>
          </a:solidFill>
          <a:ln/>
        </p:spPr>
      </p:sp>
      <p:sp>
        <p:nvSpPr>
          <p:cNvPr id="18" name="Text 16"/>
          <p:cNvSpPr txBox="1"/>
          <p:nvPr/>
        </p:nvSpPr>
        <p:spPr>
          <a:xfrm>
            <a:off x="822960" y="4398264"/>
            <a:ext cx="2194560" cy="310896"/>
          </a:xfrm>
          <a:prstGeom prst="rect">
            <a:avLst/>
          </a:prstGeom>
          <a:noFill/>
          <a:ln/>
        </p:spPr>
        <p:txBody>
          <a:bodyPr wrap="square" lIns="0" tIns="0" rIns="0" bIns="0" rtlCol="0" anchor="ctr"/>
          <a:lstStyle/>
          <a:p>
            <a:pPr indent="0" marL="0">
              <a:buNone/>
            </a:pPr>
            <a:r>
              <a:rPr lang="en-US" sz="1700" b="1" dirty="0">
                <a:solidFill>
                  <a:srgbClr val="C8553D"/>
                </a:solidFill>
                <a:latin typeface="Cambria" pitchFamily="34" charset="0"/>
                <a:ea typeface="Cambria" pitchFamily="34" charset="-122"/>
                <a:cs typeface="Cambria" pitchFamily="34" charset="-120"/>
              </a:rPr>
              <a:t>9 in 100</a:t>
            </a:r>
            <a:endParaRPr lang="en-US" sz="1700" dirty="0"/>
          </a:p>
        </p:txBody>
      </p:sp>
      <p:sp>
        <p:nvSpPr>
          <p:cNvPr id="19" name="Text 17"/>
          <p:cNvSpPr txBox="1"/>
          <p:nvPr/>
        </p:nvSpPr>
        <p:spPr>
          <a:xfrm>
            <a:off x="822960" y="4718304"/>
            <a:ext cx="2194560" cy="384048"/>
          </a:xfrm>
          <a:prstGeom prst="rect">
            <a:avLst/>
          </a:prstGeom>
          <a:noFill/>
          <a:ln/>
        </p:spPr>
        <p:txBody>
          <a:bodyPr wrap="square" lIns="0" tIns="0" rIns="0" bIns="0" rtlCol="0" anchor="ctr"/>
          <a:lstStyle/>
          <a:p>
            <a:pPr indent="0" marL="0">
              <a:lnSpc>
                <a:spcPts val="1150"/>
              </a:lnSpc>
              <a:buNone/>
            </a:pPr>
            <a:r>
              <a:rPr lang="en-US" sz="900" dirty="0">
                <a:solidFill>
                  <a:srgbClr val="5B6B72"/>
                </a:solidFill>
                <a:latin typeface="Calibri" pitchFamily="34" charset="0"/>
                <a:ea typeface="Calibri" pitchFamily="34" charset="-122"/>
                <a:cs typeface="Calibri" pitchFamily="34" charset="-120"/>
              </a:rPr>
              <a:t>rural credit unions are held back by capital alone</a:t>
            </a:r>
            <a:endParaRPr lang="en-US" sz="900" dirty="0"/>
          </a:p>
        </p:txBody>
      </p:sp>
      <p:sp>
        <p:nvSpPr>
          <p:cNvPr id="20" name="Shape 18"/>
          <p:cNvSpPr/>
          <p:nvPr/>
        </p:nvSpPr>
        <p:spPr>
          <a:xfrm>
            <a:off x="3291840" y="4343400"/>
            <a:ext cx="2468880" cy="777240"/>
          </a:xfrm>
          <a:prstGeom prst="roundRect">
            <a:avLst>
              <a:gd name="adj" fmla="val 7059"/>
            </a:avLst>
          </a:prstGeom>
          <a:solidFill>
            <a:srgbClr val="DCE6E4"/>
          </a:solidFill>
          <a:ln/>
        </p:spPr>
      </p:sp>
      <p:sp>
        <p:nvSpPr>
          <p:cNvPr id="21" name="Text 19"/>
          <p:cNvSpPr txBox="1"/>
          <p:nvPr/>
        </p:nvSpPr>
        <p:spPr>
          <a:xfrm>
            <a:off x="3474720" y="4398264"/>
            <a:ext cx="2194560" cy="310896"/>
          </a:xfrm>
          <a:prstGeom prst="rect">
            <a:avLst/>
          </a:prstGeom>
          <a:noFill/>
          <a:ln/>
        </p:spPr>
        <p:txBody>
          <a:bodyPr wrap="square" lIns="0" tIns="0" rIns="0" bIns="0" rtlCol="0" anchor="ctr"/>
          <a:lstStyle/>
          <a:p>
            <a:pPr indent="0" marL="0">
              <a:buNone/>
            </a:pPr>
            <a:r>
              <a:rPr lang="en-US" sz="1700" b="1" dirty="0">
                <a:solidFill>
                  <a:srgbClr val="C8553D"/>
                </a:solidFill>
                <a:latin typeface="Cambria" pitchFamily="34" charset="0"/>
                <a:ea typeface="Cambria" pitchFamily="34" charset="-122"/>
                <a:cs typeface="Cambria" pitchFamily="34" charset="-120"/>
              </a:rPr>
              <a:t>+2.6 points</a:t>
            </a:r>
            <a:endParaRPr lang="en-US" sz="1700" dirty="0"/>
          </a:p>
        </p:txBody>
      </p:sp>
      <p:sp>
        <p:nvSpPr>
          <p:cNvPr id="22" name="Text 20"/>
          <p:cNvSpPr txBox="1"/>
          <p:nvPr/>
        </p:nvSpPr>
        <p:spPr>
          <a:xfrm>
            <a:off x="3474720" y="4718304"/>
            <a:ext cx="2194560" cy="384048"/>
          </a:xfrm>
          <a:prstGeom prst="rect">
            <a:avLst/>
          </a:prstGeom>
          <a:noFill/>
          <a:ln/>
        </p:spPr>
        <p:txBody>
          <a:bodyPr wrap="square" lIns="0" tIns="0" rIns="0" bIns="0" rtlCol="0" anchor="ctr"/>
          <a:lstStyle/>
          <a:p>
            <a:pPr indent="0" marL="0">
              <a:lnSpc>
                <a:spcPts val="1150"/>
              </a:lnSpc>
              <a:buNone/>
            </a:pPr>
            <a:r>
              <a:rPr lang="en-US" sz="900" dirty="0">
                <a:solidFill>
                  <a:srgbClr val="5B6B72"/>
                </a:solidFill>
                <a:latin typeface="Calibri" pitchFamily="34" charset="0"/>
                <a:ea typeface="Calibri" pitchFamily="34" charset="-122"/>
                <a:cs typeface="Calibri" pitchFamily="34" charset="-120"/>
              </a:rPr>
              <a:t>a year of growth they could fund from their own earnings (others +2.8)</a:t>
            </a:r>
            <a:endParaRPr lang="en-US" sz="900" dirty="0"/>
          </a:p>
        </p:txBody>
      </p:sp>
      <p:sp>
        <p:nvSpPr>
          <p:cNvPr id="23" name="Shape 21"/>
          <p:cNvSpPr/>
          <p:nvPr/>
        </p:nvSpPr>
        <p:spPr>
          <a:xfrm>
            <a:off x="5989320" y="1645920"/>
            <a:ext cx="5532120" cy="3474720"/>
          </a:xfrm>
          <a:prstGeom prst="roundRect">
            <a:avLst>
              <a:gd name="adj" fmla="val 1579"/>
            </a:avLst>
          </a:prstGeom>
          <a:solidFill>
            <a:srgbClr val="F3F5F4"/>
          </a:solidFill>
          <a:ln/>
        </p:spPr>
      </p:sp>
      <p:sp>
        <p:nvSpPr>
          <p:cNvPr id="24" name="Text 22"/>
          <p:cNvSpPr txBox="1"/>
          <p:nvPr/>
        </p:nvSpPr>
        <p:spPr>
          <a:xfrm>
            <a:off x="6263640" y="1764792"/>
            <a:ext cx="5029200" cy="256032"/>
          </a:xfrm>
          <a:prstGeom prst="rect">
            <a:avLst/>
          </a:prstGeom>
          <a:noFill/>
          <a:ln/>
        </p:spPr>
        <p:txBody>
          <a:bodyPr wrap="square" lIns="0" tIns="0" rIns="0" bIns="0" rtlCol="0" anchor="ctr"/>
          <a:lstStyle/>
          <a:p>
            <a:pPr indent="0" marL="0">
              <a:buNone/>
            </a:pPr>
            <a:r>
              <a:rPr lang="en-US" sz="1200" b="1" dirty="0">
                <a:solidFill>
                  <a:srgbClr val="C8553D"/>
                </a:solidFill>
                <a:latin typeface="Calibri" pitchFamily="34" charset="0"/>
                <a:ea typeface="Calibri" pitchFamily="34" charset="-122"/>
                <a:cs typeface="Calibri" pitchFamily="34" charset="-120"/>
              </a:rPr>
              <a:t>What we found</a:t>
            </a:r>
            <a:endParaRPr lang="en-US" sz="1200" dirty="0"/>
          </a:p>
        </p:txBody>
      </p:sp>
      <p:sp>
        <p:nvSpPr>
          <p:cNvPr id="25" name="Shape 23"/>
          <p:cNvSpPr/>
          <p:nvPr/>
        </p:nvSpPr>
        <p:spPr>
          <a:xfrm>
            <a:off x="6263640" y="2121408"/>
            <a:ext cx="292608" cy="292608"/>
          </a:xfrm>
          <a:prstGeom prst="ellipse">
            <a:avLst/>
          </a:prstGeom>
          <a:solidFill>
            <a:srgbClr val="0E4C55"/>
          </a:solidFill>
          <a:ln/>
        </p:spPr>
      </p:sp>
      <p:sp>
        <p:nvSpPr>
          <p:cNvPr id="26" name="Text 24"/>
          <p:cNvSpPr txBox="1"/>
          <p:nvPr/>
        </p:nvSpPr>
        <p:spPr>
          <a:xfrm>
            <a:off x="6263640" y="2121408"/>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7" name="Text 25"/>
          <p:cNvSpPr txBox="1"/>
          <p:nvPr/>
        </p:nvSpPr>
        <p:spPr>
          <a:xfrm>
            <a:off x="6693408" y="2103120"/>
            <a:ext cx="4663440" cy="731520"/>
          </a:xfrm>
          <a:prstGeom prst="rect">
            <a:avLst/>
          </a:prstGeom>
          <a:noFill/>
          <a:ln/>
        </p:spPr>
        <p:txBody>
          <a:bodyPr wrap="square" lIns="0" tIns="0" rIns="0" bIns="0" rtlCol="0" anchor="t"/>
          <a:lstStyle/>
          <a:p>
            <a:pPr indent="0" marL="0">
              <a:lnSpc>
                <a:spcPts val="1300"/>
              </a:lnSpc>
              <a:buNone/>
            </a:pPr>
            <a:r>
              <a:rPr lang="en-US" sz="1000" dirty="0">
                <a:solidFill>
                  <a:srgbClr val="12202E"/>
                </a:solidFill>
                <a:latin typeface="Calibri" pitchFamily="34" charset="0"/>
                <a:ea typeface="Calibri" pitchFamily="34" charset="-122"/>
                <a:cs typeface="Calibri" pitchFamily="34" charset="-120"/>
              </a:rPr>
              <a:t>Rural credit unions are not short of capital. The typical one could grow 2.6 points a year faster from its own earnings, and fewer than one in ten is held back by capital alone.</a:t>
            </a:r>
            <a:endParaRPr lang="en-US" sz="1000" dirty="0"/>
          </a:p>
        </p:txBody>
      </p:sp>
      <p:sp>
        <p:nvSpPr>
          <p:cNvPr id="28" name="Shape 26"/>
          <p:cNvSpPr/>
          <p:nvPr/>
        </p:nvSpPr>
        <p:spPr>
          <a:xfrm>
            <a:off x="6263640" y="2871216"/>
            <a:ext cx="292608" cy="292608"/>
          </a:xfrm>
          <a:prstGeom prst="ellipse">
            <a:avLst/>
          </a:prstGeom>
          <a:solidFill>
            <a:srgbClr val="0E4C55"/>
          </a:solidFill>
          <a:ln/>
        </p:spPr>
      </p:sp>
      <p:sp>
        <p:nvSpPr>
          <p:cNvPr id="29" name="Text 27"/>
          <p:cNvSpPr txBox="1"/>
          <p:nvPr/>
        </p:nvSpPr>
        <p:spPr>
          <a:xfrm>
            <a:off x="6263640" y="287121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30" name="Text 28"/>
          <p:cNvSpPr txBox="1"/>
          <p:nvPr/>
        </p:nvSpPr>
        <p:spPr>
          <a:xfrm>
            <a:off x="6693408" y="2852928"/>
            <a:ext cx="4663440" cy="731520"/>
          </a:xfrm>
          <a:prstGeom prst="rect">
            <a:avLst/>
          </a:prstGeom>
          <a:noFill/>
          <a:ln/>
        </p:spPr>
        <p:txBody>
          <a:bodyPr wrap="square" lIns="0" tIns="0" rIns="0" bIns="0" rtlCol="0" anchor="t"/>
          <a:lstStyle/>
          <a:p>
            <a:pPr indent="0" marL="0">
              <a:lnSpc>
                <a:spcPts val="1300"/>
              </a:lnSpc>
              <a:buNone/>
            </a:pPr>
            <a:r>
              <a:rPr lang="en-US" sz="1000" dirty="0">
                <a:solidFill>
                  <a:srgbClr val="12202E"/>
                </a:solidFill>
                <a:latin typeface="Calibri" pitchFamily="34" charset="0"/>
                <a:ea typeface="Calibri" pitchFamily="34" charset="-122"/>
                <a:cs typeface="Calibri" pitchFamily="34" charset="-120"/>
              </a:rPr>
              <a:t>More capital does not bring more growth. Comparing like with like, the best-capitalized grow slightly slower. What predicts growth is earnings: a typical earnings advantage adds 1.5 points a year.</a:t>
            </a:r>
            <a:endParaRPr lang="en-US" sz="1000" dirty="0"/>
          </a:p>
        </p:txBody>
      </p:sp>
      <p:sp>
        <p:nvSpPr>
          <p:cNvPr id="31" name="Shape 29"/>
          <p:cNvSpPr/>
          <p:nvPr/>
        </p:nvSpPr>
        <p:spPr>
          <a:xfrm>
            <a:off x="6263640" y="3621024"/>
            <a:ext cx="292608" cy="292608"/>
          </a:xfrm>
          <a:prstGeom prst="ellipse">
            <a:avLst/>
          </a:prstGeom>
          <a:solidFill>
            <a:srgbClr val="0E4C55"/>
          </a:solidFill>
          <a:ln/>
        </p:spPr>
      </p:sp>
      <p:sp>
        <p:nvSpPr>
          <p:cNvPr id="32" name="Text 30"/>
          <p:cNvSpPr txBox="1"/>
          <p:nvPr/>
        </p:nvSpPr>
        <p:spPr>
          <a:xfrm>
            <a:off x="6263640" y="362102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3" name="Text 31"/>
          <p:cNvSpPr txBox="1"/>
          <p:nvPr/>
        </p:nvSpPr>
        <p:spPr>
          <a:xfrm>
            <a:off x="6693408" y="3602736"/>
            <a:ext cx="4663440" cy="731520"/>
          </a:xfrm>
          <a:prstGeom prst="rect">
            <a:avLst/>
          </a:prstGeom>
          <a:noFill/>
          <a:ln/>
        </p:spPr>
        <p:txBody>
          <a:bodyPr wrap="square" lIns="0" tIns="0" rIns="0" bIns="0" rtlCol="0" anchor="t"/>
          <a:lstStyle/>
          <a:p>
            <a:pPr indent="0" marL="0">
              <a:lnSpc>
                <a:spcPts val="1300"/>
              </a:lnSpc>
              <a:buNone/>
            </a:pPr>
            <a:r>
              <a:rPr lang="en-US" sz="1000" dirty="0">
                <a:solidFill>
                  <a:srgbClr val="12202E"/>
                </a:solidFill>
                <a:latin typeface="Calibri" pitchFamily="34" charset="0"/>
                <a:ea typeface="Calibri" pitchFamily="34" charset="-122"/>
                <a:cs typeface="Calibri" pitchFamily="34" charset="-120"/>
              </a:rPr>
              <a:t>Their earnings come from the markets they serve. The typical rural credit union serves a county of 29,000 people; half are the only credit union based in their county. Few nearby competitors is where the earnings edge comes from.</a:t>
            </a:r>
            <a:endParaRPr lang="en-US" sz="1000" dirty="0"/>
          </a:p>
        </p:txBody>
      </p:sp>
      <p:sp>
        <p:nvSpPr>
          <p:cNvPr id="34" name="Shape 32"/>
          <p:cNvSpPr/>
          <p:nvPr/>
        </p:nvSpPr>
        <p:spPr>
          <a:xfrm>
            <a:off x="6263640" y="4370832"/>
            <a:ext cx="292608" cy="292608"/>
          </a:xfrm>
          <a:prstGeom prst="ellipse">
            <a:avLst/>
          </a:prstGeom>
          <a:solidFill>
            <a:srgbClr val="0E4C55"/>
          </a:solidFill>
          <a:ln/>
        </p:spPr>
      </p:sp>
      <p:sp>
        <p:nvSpPr>
          <p:cNvPr id="35" name="Text 33"/>
          <p:cNvSpPr txBox="1"/>
          <p:nvPr/>
        </p:nvSpPr>
        <p:spPr>
          <a:xfrm>
            <a:off x="6263640" y="437083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6" name="Text 34"/>
          <p:cNvSpPr txBox="1"/>
          <p:nvPr/>
        </p:nvSpPr>
        <p:spPr>
          <a:xfrm>
            <a:off x="6693408" y="4352544"/>
            <a:ext cx="4663440" cy="731520"/>
          </a:xfrm>
          <a:prstGeom prst="rect">
            <a:avLst/>
          </a:prstGeom>
          <a:noFill/>
          <a:ln/>
        </p:spPr>
        <p:txBody>
          <a:bodyPr wrap="square" lIns="0" tIns="0" rIns="0" bIns="0" rtlCol="0" anchor="t"/>
          <a:lstStyle/>
          <a:p>
            <a:pPr indent="0" marL="0">
              <a:lnSpc>
                <a:spcPts val="1300"/>
              </a:lnSpc>
              <a:buNone/>
            </a:pPr>
            <a:r>
              <a:rPr lang="en-US" sz="1000" dirty="0">
                <a:solidFill>
                  <a:srgbClr val="12202E"/>
                </a:solidFill>
                <a:latin typeface="Calibri" pitchFamily="34" charset="0"/>
                <a:ea typeface="Calibri" pitchFamily="34" charset="-122"/>
                <a:cs typeface="Calibri" pitchFamily="34" charset="-120"/>
              </a:rPr>
              <a:t>Limits on the customer side are common but none dominates. About two in three face one — a field largely signed up, a single office in a thinly settled county — and each on its own moves growth only a little.</a:t>
            </a:r>
            <a:endParaRPr lang="en-US" sz="1000" dirty="0"/>
          </a:p>
        </p:txBody>
      </p:sp>
      <p:sp>
        <p:nvSpPr>
          <p:cNvPr id="37" name="Shape 35"/>
          <p:cNvSpPr/>
          <p:nvPr/>
        </p:nvSpPr>
        <p:spPr>
          <a:xfrm>
            <a:off x="640080" y="5230368"/>
            <a:ext cx="10881360" cy="1371600"/>
          </a:xfrm>
          <a:prstGeom prst="roundRect">
            <a:avLst>
              <a:gd name="adj" fmla="val 4000"/>
            </a:avLst>
          </a:prstGeom>
          <a:solidFill>
            <a:srgbClr val="0E4C55"/>
          </a:solidFill>
          <a:ln/>
        </p:spPr>
      </p:sp>
      <p:sp>
        <p:nvSpPr>
          <p:cNvPr id="38" name="Text 36"/>
          <p:cNvSpPr txBox="1"/>
          <p:nvPr/>
        </p:nvSpPr>
        <p:spPr>
          <a:xfrm>
            <a:off x="960120" y="5349240"/>
            <a:ext cx="10241280" cy="29260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Thin markets are both the strength and the ceiling.</a:t>
            </a:r>
            <a:endParaRPr lang="en-US" sz="1600" dirty="0"/>
          </a:p>
        </p:txBody>
      </p:sp>
      <p:sp>
        <p:nvSpPr>
          <p:cNvPr id="39" name="Text 37"/>
          <p:cNvSpPr txBox="1"/>
          <p:nvPr/>
        </p:nvSpPr>
        <p:spPr>
          <a:xfrm>
            <a:off x="960120" y="5641848"/>
            <a:ext cx="10241280" cy="237744"/>
          </a:xfrm>
          <a:prstGeom prst="rect">
            <a:avLst/>
          </a:prstGeom>
          <a:noFill/>
          <a:ln/>
        </p:spPr>
        <p:txBody>
          <a:bodyPr wrap="square" lIns="0" tIns="0" rIns="0" bIns="0" rtlCol="0" anchor="ctr"/>
          <a:lstStyle/>
          <a:p>
            <a:pPr indent="0" marL="0">
              <a:buNone/>
            </a:pPr>
            <a:r>
              <a:rPr lang="en-US" sz="1100" dirty="0">
                <a:solidFill>
                  <a:srgbClr val="DCE6E4"/>
                </a:solidFill>
                <a:latin typeface="Calibri" pitchFamily="34" charset="0"/>
                <a:ea typeface="Calibri" pitchFamily="34" charset="-122"/>
                <a:cs typeface="Calibri" pitchFamily="34" charset="-120"/>
              </a:rPr>
              <a:t>Few competitors give rural credit unions their earnings, and earnings fund their growth. But the same thin markets limit how many members they can reach.</a:t>
            </a:r>
            <a:endParaRPr lang="en-US" sz="1100" dirty="0"/>
          </a:p>
        </p:txBody>
      </p:sp>
      <p:sp>
        <p:nvSpPr>
          <p:cNvPr id="40" name="Shape 38"/>
          <p:cNvSpPr/>
          <p:nvPr/>
        </p:nvSpPr>
        <p:spPr>
          <a:xfrm>
            <a:off x="960120" y="5943600"/>
            <a:ext cx="10241280" cy="0"/>
          </a:xfrm>
          <a:prstGeom prst="line">
            <a:avLst/>
          </a:prstGeom>
          <a:noFill/>
          <a:ln w="9525">
            <a:solidFill>
              <a:srgbClr val="7FB0AE"/>
            </a:solidFill>
            <a:prstDash val="solid"/>
          </a:ln>
        </p:spPr>
      </p:sp>
      <p:sp>
        <p:nvSpPr>
          <p:cNvPr id="41" name="Text 39"/>
          <p:cNvSpPr txBox="1"/>
          <p:nvPr/>
        </p:nvSpPr>
        <p:spPr>
          <a:xfrm>
            <a:off x="960120" y="6016752"/>
            <a:ext cx="3840480" cy="201168"/>
          </a:xfrm>
          <a:prstGeom prst="rect">
            <a:avLst/>
          </a:prstGeom>
          <a:noFill/>
          <a:ln/>
        </p:spPr>
        <p:txBody>
          <a:bodyPr wrap="square" lIns="0" tIns="0" rIns="0" bIns="0" rtlCol="0" anchor="ctr"/>
          <a:lstStyle/>
          <a:p>
            <a:pPr indent="0" marL="0">
              <a:buNone/>
            </a:pPr>
            <a:r>
              <a:rPr lang="en-US" sz="1050" b="1" dirty="0">
                <a:solidFill>
                  <a:srgbClr val="E8A24A"/>
                </a:solidFill>
                <a:latin typeface="Calibri" pitchFamily="34" charset="0"/>
                <a:ea typeface="Calibri" pitchFamily="34" charset="-122"/>
                <a:cs typeface="Calibri" pitchFamily="34" charset="-120"/>
              </a:rPr>
              <a:t>Not the answer: more capital relief</a:t>
            </a:r>
            <a:endParaRPr lang="en-US" sz="1050" dirty="0"/>
          </a:p>
        </p:txBody>
      </p:sp>
      <p:sp>
        <p:nvSpPr>
          <p:cNvPr id="42" name="Text 40"/>
          <p:cNvSpPr txBox="1"/>
          <p:nvPr/>
        </p:nvSpPr>
        <p:spPr>
          <a:xfrm>
            <a:off x="960120" y="6217920"/>
            <a:ext cx="3840480" cy="292608"/>
          </a:xfrm>
          <a:prstGeom prst="rect">
            <a:avLst/>
          </a:prstGeom>
          <a:noFill/>
          <a:ln/>
        </p:spPr>
        <p:txBody>
          <a:bodyPr wrap="square" lIns="0" tIns="0" rIns="0" bIns="0" rtlCol="0" anchor="t"/>
          <a:lstStyle/>
          <a:p>
            <a:pPr indent="0" marL="0">
              <a:lnSpc>
                <a:spcPts val="1300"/>
              </a:lnSpc>
              <a:buNone/>
            </a:pPr>
            <a:r>
              <a:rPr lang="en-US" sz="1000" dirty="0">
                <a:solidFill>
                  <a:srgbClr val="FFFFFF"/>
                </a:solidFill>
                <a:latin typeface="Calibri" pitchFamily="34" charset="0"/>
                <a:ea typeface="Calibri" pitchFamily="34" charset="-122"/>
                <a:cs typeface="Calibri" pitchFamily="34" charset="-120"/>
              </a:rPr>
              <a:t>They already have room to grow on their own earnings.</a:t>
            </a:r>
            <a:endParaRPr lang="en-US" sz="1000" dirty="0"/>
          </a:p>
        </p:txBody>
      </p:sp>
      <p:sp>
        <p:nvSpPr>
          <p:cNvPr id="43" name="Shape 41"/>
          <p:cNvSpPr/>
          <p:nvPr/>
        </p:nvSpPr>
        <p:spPr>
          <a:xfrm>
            <a:off x="5074920" y="6035040"/>
            <a:ext cx="0" cy="457200"/>
          </a:xfrm>
          <a:prstGeom prst="line">
            <a:avLst/>
          </a:prstGeom>
          <a:noFill/>
          <a:ln w="12700">
            <a:solidFill>
              <a:srgbClr val="7FB0AE"/>
            </a:solidFill>
            <a:prstDash val="solid"/>
          </a:ln>
        </p:spPr>
      </p:sp>
      <p:sp>
        <p:nvSpPr>
          <p:cNvPr id="44" name="Text 42"/>
          <p:cNvSpPr txBox="1"/>
          <p:nvPr/>
        </p:nvSpPr>
        <p:spPr>
          <a:xfrm>
            <a:off x="5349240" y="6016752"/>
            <a:ext cx="5943600" cy="201168"/>
          </a:xfrm>
          <a:prstGeom prst="rect">
            <a:avLst/>
          </a:prstGeom>
          <a:noFill/>
          <a:ln/>
        </p:spPr>
        <p:txBody>
          <a:bodyPr wrap="square" lIns="0" tIns="0" rIns="0" bIns="0" rtlCol="0" anchor="ctr"/>
          <a:lstStyle/>
          <a:p>
            <a:pPr indent="0" marL="0">
              <a:buNone/>
            </a:pPr>
            <a:r>
              <a:rPr lang="en-US" sz="1050" b="1" dirty="0">
                <a:solidFill>
                  <a:srgbClr val="E8A24A"/>
                </a:solidFill>
                <a:latin typeface="Calibri" pitchFamily="34" charset="0"/>
                <a:ea typeface="Calibri" pitchFamily="34" charset="-122"/>
                <a:cs typeface="Calibri" pitchFamily="34" charset="-120"/>
              </a:rPr>
              <a:t>The question: how to widen reach without eroding earnings</a:t>
            </a:r>
            <a:endParaRPr lang="en-US" sz="1050" dirty="0"/>
          </a:p>
        </p:txBody>
      </p:sp>
      <p:sp>
        <p:nvSpPr>
          <p:cNvPr id="45" name="Text 43"/>
          <p:cNvSpPr txBox="1"/>
          <p:nvPr/>
        </p:nvSpPr>
        <p:spPr>
          <a:xfrm>
            <a:off x="5349240" y="6217920"/>
            <a:ext cx="5943600" cy="310896"/>
          </a:xfrm>
          <a:prstGeom prst="rect">
            <a:avLst/>
          </a:prstGeom>
          <a:noFill/>
          <a:ln/>
        </p:spPr>
        <p:txBody>
          <a:bodyPr wrap="square" lIns="0" tIns="0" rIns="0" bIns="0" rtlCol="0" anchor="t"/>
          <a:lstStyle/>
          <a:p>
            <a:pPr indent="0" marL="0">
              <a:lnSpc>
                <a:spcPts val="1300"/>
              </a:lnSpc>
              <a:buNone/>
            </a:pPr>
            <a:r>
              <a:rPr lang="en-US" sz="1000" dirty="0">
                <a:solidFill>
                  <a:srgbClr val="FFFFFF"/>
                </a:solidFill>
                <a:latin typeface="Calibri" pitchFamily="34" charset="0"/>
                <a:ea typeface="Calibri" pitchFamily="34" charset="-122"/>
                <a:cs typeface="Calibri" pitchFamily="34" charset="-120"/>
              </a:rPr>
              <a:t>Wider fields of membership, shared branching and back-office services, broader products. Adding competitors to thin markets could erode the earnings that fund growth.</a:t>
            </a:r>
            <a:endParaRPr lang="en-US" sz="1000" dirty="0"/>
          </a:p>
        </p:txBody>
      </p:sp>
      <p:sp>
        <p:nvSpPr>
          <p:cNvPr id="46" name="Text 44"/>
          <p:cNvSpPr txBox="1"/>
          <p:nvPr/>
        </p:nvSpPr>
        <p:spPr>
          <a:xfrm>
            <a:off x="640080" y="6638544"/>
            <a:ext cx="10881360" cy="182880"/>
          </a:xfrm>
          <a:prstGeom prst="rect">
            <a:avLst/>
          </a:prstGeom>
          <a:noFill/>
          <a:ln/>
        </p:spPr>
        <p:txBody>
          <a:bodyPr wrap="square" lIns="0" tIns="0" rIns="0" bIns="0" rtlCol="0" anchor="ctr"/>
          <a:lstStyle/>
          <a:p>
            <a:pPr indent="0" marL="0">
              <a:buNone/>
            </a:pPr>
            <a:r>
              <a:rPr lang="en-US" sz="800" i="1" dirty="0">
                <a:solidFill>
                  <a:srgbClr val="5B6B72"/>
                </a:solidFill>
                <a:latin typeface="Calibri" pitchFamily="34" charset="0"/>
                <a:ea typeface="Calibri" pitchFamily="34" charset="-122"/>
                <a:cs typeface="Calibri" pitchFamily="34" charset="-120"/>
              </a:rPr>
              <a:t>Federally insured credit unions (charter types 1–2) with assets of $1 million or more, 2010–2026; 463 rural credit unions at 2026Q1. Typical difference = one standard deviation. Preliminary.</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Rural Credit Unions Study - RQ4 executive summary</dc:title>
  <dc:subject>PptxGenJS Presentation</dc:subject>
  <dc:creator>PptxGenJS</dc:creator>
  <cp:lastModifiedBy>PptxGenJS</cp:lastModifiedBy>
  <cp:revision>1</cp:revision>
  <dcterms:created xsi:type="dcterms:W3CDTF">2026-10-23T14:49:44Z</dcterms:created>
  <dcterms:modified xsi:type="dcterms:W3CDTF">2026-10-23T14:49:44Z</dcterms:modified>
</cp:coreProperties>
</file>