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5" d="100"/>
          <a:sy n="125" d="100"/>
        </p:scale>
        <p:origin x="16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202E"/>
                </a:solidFill>
                <a:latin typeface="Calibri"/>
              </a:defRPr>
            </a:pPr>
            <a:r>
              <a:rPr sz="1200" b="0" i="0" u="none" strike="noStrike">
                <a:solidFill>
                  <a:srgbClr val="12202E"/>
                </a:solidFill>
                <a:latin typeface="Calibri"/>
              </a:rPr>
              <a:t>Change over the decade, %</a:t>
            </a:r>
          </a:p>
        </c:rich>
      </c:tx>
      <c:overlay val="0"/>
    </c:title>
    <c:autoTitleDeleted val="0"/>
    <c:plotArea>
      <c:layout/>
      <c:barChart>
        <c:barDir val="col"/>
        <c:grouping val="clustered"/>
        <c:varyColors val="0"/>
        <c:ser>
          <c:idx val="0"/>
          <c:order val="0"/>
          <c:tx>
            <c:strRef>
              <c:f>Sheet1!$B$1</c:f>
              <c:strCache>
                <c:ptCount val="1"/>
                <c:pt idx="0">
                  <c:v>Rural counties</c:v>
                </c:pt>
              </c:strCache>
            </c:strRef>
          </c:tx>
          <c:spPr>
            <a:solidFill>
              <a:srgbClr val="0E4C55"/>
            </a:solidFill>
            <a:effectLst/>
          </c:spPr>
          <c:invertIfNegative val="0"/>
          <c:dLbls>
            <c:numFmt formatCode="\+0.0;\-0.0" sourceLinked="0"/>
            <c:spPr>
              <a:noFill/>
              <a:ln>
                <a:noFill/>
              </a:ln>
              <a:effectLst/>
            </c:spPr>
            <c:txPr>
              <a:bodyPr/>
              <a:lstStyle/>
              <a:p>
                <a:pPr>
                  <a:defRPr sz="11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Offices</c:v>
                </c:pt>
                <c:pt idx="1">
                  <c:v>People</c:v>
                </c:pt>
                <c:pt idx="2">
                  <c:v>Offices per resident</c:v>
                </c:pt>
              </c:strCache>
            </c:strRef>
          </c:cat>
          <c:val>
            <c:numRef>
              <c:f>Sheet1!$B$2:$B$4</c:f>
              <c:numCache>
                <c:formatCode>General</c:formatCode>
                <c:ptCount val="3"/>
                <c:pt idx="0">
                  <c:v>7.2</c:v>
                </c:pt>
                <c:pt idx="1">
                  <c:v>-0.4</c:v>
                </c:pt>
                <c:pt idx="2">
                  <c:v>7.7</c:v>
                </c:pt>
              </c:numCache>
            </c:numRef>
          </c:val>
          <c:extLst>
            <c:ext xmlns:c16="http://schemas.microsoft.com/office/drawing/2014/chart" uri="{C3380CC4-5D6E-409C-BE32-E72D297353CC}">
              <c16:uniqueId val="{00000000-FD25-2546-A088-F6621042381B}"/>
            </c:ext>
          </c:extLst>
        </c:ser>
        <c:ser>
          <c:idx val="1"/>
          <c:order val="1"/>
          <c:tx>
            <c:strRef>
              <c:f>Sheet1!$C$1</c:f>
              <c:strCache>
                <c:ptCount val="1"/>
                <c:pt idx="0">
                  <c:v>Non-rural counties</c:v>
                </c:pt>
              </c:strCache>
            </c:strRef>
          </c:tx>
          <c:spPr>
            <a:solidFill>
              <a:srgbClr val="7FB0AE"/>
            </a:solidFill>
            <a:effectLst/>
          </c:spPr>
          <c:invertIfNegative val="0"/>
          <c:dLbls>
            <c:numFmt formatCode="\+0.0;\-0.0" sourceLinked="0"/>
            <c:spPr>
              <a:noFill/>
              <a:ln>
                <a:noFill/>
              </a:ln>
              <a:effectLst/>
            </c:spPr>
            <c:txPr>
              <a:bodyPr/>
              <a:lstStyle/>
              <a:p>
                <a:pPr>
                  <a:defRPr sz="11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Offices</c:v>
                </c:pt>
                <c:pt idx="1">
                  <c:v>People</c:v>
                </c:pt>
                <c:pt idx="2">
                  <c:v>Offices per resident</c:v>
                </c:pt>
              </c:strCache>
            </c:strRef>
          </c:cat>
          <c:val>
            <c:numRef>
              <c:f>Sheet1!$C$2:$C$4</c:f>
              <c:numCache>
                <c:formatCode>General</c:formatCode>
                <c:ptCount val="3"/>
                <c:pt idx="0">
                  <c:v>5.0999999999999996</c:v>
                </c:pt>
                <c:pt idx="1">
                  <c:v>5.9</c:v>
                </c:pt>
                <c:pt idx="2">
                  <c:v>-0.7</c:v>
                </c:pt>
              </c:numCache>
            </c:numRef>
          </c:val>
          <c:extLst>
            <c:ext xmlns:c16="http://schemas.microsoft.com/office/drawing/2014/chart" uri="{C3380CC4-5D6E-409C-BE32-E72D297353CC}">
              <c16:uniqueId val="{00000001-FD25-2546-A088-F6621042381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02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6EA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B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B6B72"/>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202E"/>
                </a:solidFill>
                <a:latin typeface="Calibri"/>
              </a:defRPr>
            </a:pPr>
            <a:r>
              <a:rPr sz="1200" b="0" i="0" u="none" strike="noStrike">
                <a:solidFill>
                  <a:srgbClr val="12202E"/>
                </a:solidFill>
                <a:latin typeface="Calibri"/>
              </a:rPr>
              <a:t>Rural counties by what happened, 2016 to 2026</a:t>
            </a:r>
          </a:p>
        </c:rich>
      </c:tx>
      <c:overlay val="0"/>
    </c:title>
    <c:autoTitleDeleted val="0"/>
    <c:plotArea>
      <c:layout/>
      <c:barChart>
        <c:barDir val="bar"/>
        <c:grouping val="clustered"/>
        <c:varyColors val="0"/>
        <c:ser>
          <c:idx val="0"/>
          <c:order val="0"/>
          <c:tx>
            <c:strRef>
              <c:f>Sheet1!$B$1</c:f>
              <c:strCache>
                <c:ptCount val="1"/>
                <c:pt idx="0">
                  <c:v>Rural counties</c:v>
                </c:pt>
              </c:strCache>
            </c:strRef>
          </c:tx>
          <c:spPr>
            <a:solidFill>
              <a:srgbClr val="1F6F78"/>
            </a:solidFill>
            <a:effectLst/>
          </c:spPr>
          <c:invertIfNegative val="0"/>
          <c:dLbls>
            <c:numFmt formatCode="0" sourceLinked="0"/>
            <c:spPr>
              <a:noFill/>
              <a:ln>
                <a:noFill/>
              </a:ln>
              <a:effectLst/>
            </c:spPr>
            <c:txPr>
              <a:bodyPr/>
              <a:lstStyle/>
              <a:p>
                <a:pPr>
                  <a:defRPr sz="11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Lost offices, gained people</c:v>
                </c:pt>
                <c:pt idx="1">
                  <c:v>Lost offices, lost people</c:v>
                </c:pt>
                <c:pt idx="2">
                  <c:v>Added offices, gained people</c:v>
                </c:pt>
                <c:pt idx="3">
                  <c:v>Added offices, lost people</c:v>
                </c:pt>
                <c:pt idx="4">
                  <c:v>No change in offices</c:v>
                </c:pt>
                <c:pt idx="5">
                  <c:v>No office in either year</c:v>
                </c:pt>
              </c:strCache>
            </c:strRef>
          </c:cat>
          <c:val>
            <c:numRef>
              <c:f>Sheet1!$B$2:$B$7</c:f>
              <c:numCache>
                <c:formatCode>General</c:formatCode>
                <c:ptCount val="6"/>
                <c:pt idx="0">
                  <c:v>71</c:v>
                </c:pt>
                <c:pt idx="1">
                  <c:v>86</c:v>
                </c:pt>
                <c:pt idx="2">
                  <c:v>125</c:v>
                </c:pt>
                <c:pt idx="3">
                  <c:v>109</c:v>
                </c:pt>
                <c:pt idx="4">
                  <c:v>447</c:v>
                </c:pt>
                <c:pt idx="5">
                  <c:v>717</c:v>
                </c:pt>
              </c:numCache>
            </c:numRef>
          </c:val>
          <c:extLst>
            <c:ext xmlns:c16="http://schemas.microsoft.com/office/drawing/2014/chart" uri="{C3380CC4-5D6E-409C-BE32-E72D297353CC}">
              <c16:uniqueId val="{00000000-9CDF-7E45-9E27-18CEF9A1EB9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2202E"/>
                </a:solidFill>
                <a:latin typeface="Arial"/>
              </a:defRPr>
            </a:pPr>
            <a:endParaRPr lang="en-US"/>
          </a:p>
        </c:txPr>
        <c:crossAx val="2094734552"/>
        <c:crosses val="autoZero"/>
        <c:auto val="1"/>
        <c:lblAlgn val="ctr"/>
        <c:lblOffset val="100"/>
        <c:noMultiLvlLbl val="1"/>
      </c:catAx>
      <c:valAx>
        <c:axId val="2094734552"/>
        <c:scaling>
          <c:orientation val="minMax"/>
          <c:max val="800"/>
        </c:scaling>
        <c:delete val="0"/>
        <c:axPos val="b"/>
        <c:majorGridlines>
          <c:spPr>
            <a:ln w="12700" cap="flat">
              <a:solidFill>
                <a:srgbClr val="E6EA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B6B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2202E"/>
                </a:solidFill>
                <a:latin typeface="Calibri"/>
              </a:defRPr>
            </a:pPr>
            <a:r>
              <a:rPr sz="1150" b="0" i="0" u="none" strike="noStrike">
                <a:solidFill>
                  <a:srgbClr val="12202E"/>
                </a:solidFill>
                <a:latin typeface="Calibri"/>
              </a:rPr>
              <a:t>Residents who live in a county with an office, %</a:t>
            </a:r>
          </a:p>
        </c:rich>
      </c:tx>
      <c:overlay val="0"/>
    </c:title>
    <c:autoTitleDeleted val="0"/>
    <c:plotArea>
      <c:layout/>
      <c:barChart>
        <c:barDir val="bar"/>
        <c:grouping val="clustered"/>
        <c:varyColors val="0"/>
        <c:ser>
          <c:idx val="0"/>
          <c:order val="0"/>
          <c:tx>
            <c:strRef>
              <c:f>Sheet1!$B$1</c:f>
              <c:strCache>
                <c:ptCount val="1"/>
                <c:pt idx="0">
                  <c:v>Share of residents in a county with at least one office</c:v>
                </c:pt>
              </c:strCache>
            </c:strRef>
          </c:tx>
          <c:spPr>
            <a:solidFill>
              <a:srgbClr val="0E4C55"/>
            </a:solidFill>
            <a:effectLst/>
          </c:spPr>
          <c:invertIfNegative val="0"/>
          <c:dPt>
            <c:idx val="0"/>
            <c:invertIfNegative val="0"/>
            <c:bubble3D val="0"/>
            <c:extLst>
              <c:ext xmlns:c16="http://schemas.microsoft.com/office/drawing/2014/chart" uri="{C3380CC4-5D6E-409C-BE32-E72D297353CC}">
                <c16:uniqueId val="{00000001-9A3B-E24C-93CE-A0DBBA3B50C3}"/>
              </c:ext>
            </c:extLst>
          </c:dPt>
          <c:dPt>
            <c:idx val="1"/>
            <c:invertIfNegative val="0"/>
            <c:bubble3D val="0"/>
            <c:spPr>
              <a:solidFill>
                <a:srgbClr val="7FB0AE"/>
              </a:solidFill>
              <a:effectLst/>
            </c:spPr>
            <c:extLst>
              <c:ext xmlns:c16="http://schemas.microsoft.com/office/drawing/2014/chart" uri="{C3380CC4-5D6E-409C-BE32-E72D297353CC}">
                <c16:uniqueId val="{00000003-9A3B-E24C-93CE-A0DBBA3B50C3}"/>
              </c:ext>
            </c:extLst>
          </c:dPt>
          <c:dLbls>
            <c:numFmt formatCode="0.0" sourceLinked="0"/>
            <c:spPr>
              <a:noFill/>
              <a:ln>
                <a:noFill/>
              </a:ln>
              <a:effectLst/>
            </c:spPr>
            <c:txPr>
              <a:bodyPr/>
              <a:lstStyle/>
              <a:p>
                <a:pPr>
                  <a:defRPr sz="13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Rural</c:v>
                </c:pt>
                <c:pt idx="1">
                  <c:v>Non-rural</c:v>
                </c:pt>
              </c:strCache>
            </c:strRef>
          </c:cat>
          <c:val>
            <c:numRef>
              <c:f>Sheet1!$B$2:$B$3</c:f>
              <c:numCache>
                <c:formatCode>General</c:formatCode>
                <c:ptCount val="2"/>
                <c:pt idx="0">
                  <c:v>70.8</c:v>
                </c:pt>
                <c:pt idx="1">
                  <c:v>98.4</c:v>
                </c:pt>
              </c:numCache>
            </c:numRef>
          </c:val>
          <c:extLst>
            <c:ext xmlns:c16="http://schemas.microsoft.com/office/drawing/2014/chart" uri="{C3380CC4-5D6E-409C-BE32-E72D297353CC}">
              <c16:uniqueId val="{00000004-9A3B-E24C-93CE-A0DBBA3B50C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2202E"/>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b"/>
        <c:majorGridlines>
          <c:spPr>
            <a:ln w="12700" cap="flat">
              <a:solidFill>
                <a:srgbClr val="E6EA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B6B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202E"/>
                </a:solidFill>
                <a:latin typeface="Calibri"/>
              </a:defRPr>
            </a:pPr>
            <a:r>
              <a:rPr sz="1200" b="0" i="0" u="none" strike="noStrike">
                <a:solidFill>
                  <a:srgbClr val="12202E"/>
                </a:solidFill>
                <a:latin typeface="Calibri"/>
              </a:rPr>
              <a:t>Rural advantage, percentage points</a:t>
            </a:r>
          </a:p>
        </c:rich>
      </c:tx>
      <c:overlay val="0"/>
    </c:title>
    <c:autoTitleDeleted val="0"/>
    <c:plotArea>
      <c:layout/>
      <c:barChart>
        <c:barDir val="col"/>
        <c:grouping val="clustered"/>
        <c:varyColors val="0"/>
        <c:ser>
          <c:idx val="0"/>
          <c:order val="0"/>
          <c:tx>
            <c:strRef>
              <c:f>Sheet1!$B$1</c:f>
              <c:strCache>
                <c:ptCount val="1"/>
                <c:pt idx="0">
                  <c:v>Raw difference</c:v>
                </c:pt>
              </c:strCache>
            </c:strRef>
          </c:tx>
          <c:spPr>
            <a:solidFill>
              <a:srgbClr val="7FB0AE"/>
            </a:solidFill>
            <a:effectLst/>
          </c:spPr>
          <c:invertIfNegative val="0"/>
          <c:dLbls>
            <c:numFmt formatCode="0.00" sourceLinked="0"/>
            <c:spPr>
              <a:noFill/>
              <a:ln>
                <a:noFill/>
              </a:ln>
              <a:effectLst/>
            </c:spPr>
            <c:txPr>
              <a:bodyPr/>
              <a:lstStyle/>
              <a:p>
                <a:pPr>
                  <a:defRPr sz="9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Asset growth</c:v>
                </c:pt>
                <c:pt idx="1">
                  <c:v>Loan growth</c:v>
                </c:pt>
                <c:pt idx="2">
                  <c:v>Membership growth</c:v>
                </c:pt>
                <c:pt idx="3">
                  <c:v>ROA</c:v>
                </c:pt>
                <c:pt idx="4">
                  <c:v>Net worth</c:v>
                </c:pt>
              </c:strCache>
            </c:strRef>
          </c:cat>
          <c:val>
            <c:numRef>
              <c:f>Sheet1!$B$2:$B$6</c:f>
              <c:numCache>
                <c:formatCode>General</c:formatCode>
                <c:ptCount val="5"/>
                <c:pt idx="0">
                  <c:v>0.86</c:v>
                </c:pt>
                <c:pt idx="1">
                  <c:v>0.83</c:v>
                </c:pt>
                <c:pt idx="2">
                  <c:v>0.6</c:v>
                </c:pt>
                <c:pt idx="3">
                  <c:v>0.14000000000000001</c:v>
                </c:pt>
                <c:pt idx="4">
                  <c:v>0.78</c:v>
                </c:pt>
              </c:numCache>
            </c:numRef>
          </c:val>
          <c:extLst>
            <c:ext xmlns:c16="http://schemas.microsoft.com/office/drawing/2014/chart" uri="{C3380CC4-5D6E-409C-BE32-E72D297353CC}">
              <c16:uniqueId val="{00000000-A4C5-0A4E-8870-D248CBC408F6}"/>
            </c:ext>
          </c:extLst>
        </c:ser>
        <c:ser>
          <c:idx val="1"/>
          <c:order val="1"/>
          <c:tx>
            <c:strRef>
              <c:f>Sheet1!$C$1</c:f>
              <c:strCache>
                <c:ptCount val="1"/>
                <c:pt idx="0">
                  <c:v>Conditional (state × quarter FE, size controls)</c:v>
                </c:pt>
              </c:strCache>
            </c:strRef>
          </c:tx>
          <c:spPr>
            <a:solidFill>
              <a:srgbClr val="0E4C55"/>
            </a:solidFill>
            <a:effectLst/>
          </c:spPr>
          <c:invertIfNegative val="0"/>
          <c:dLbls>
            <c:numFmt formatCode="0.00" sourceLinked="0"/>
            <c:spPr>
              <a:noFill/>
              <a:ln>
                <a:noFill/>
              </a:ln>
              <a:effectLst/>
            </c:spPr>
            <c:txPr>
              <a:bodyPr/>
              <a:lstStyle/>
              <a:p>
                <a:pPr>
                  <a:defRPr sz="9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Asset growth</c:v>
                </c:pt>
                <c:pt idx="1">
                  <c:v>Loan growth</c:v>
                </c:pt>
                <c:pt idx="2">
                  <c:v>Membership growth</c:v>
                </c:pt>
                <c:pt idx="3">
                  <c:v>ROA</c:v>
                </c:pt>
                <c:pt idx="4">
                  <c:v>Net worth</c:v>
                </c:pt>
              </c:strCache>
            </c:strRef>
          </c:cat>
          <c:val>
            <c:numRef>
              <c:f>Sheet1!$C$2:$C$6</c:f>
              <c:numCache>
                <c:formatCode>General</c:formatCode>
                <c:ptCount val="5"/>
                <c:pt idx="0">
                  <c:v>1.0289999999999999</c:v>
                </c:pt>
                <c:pt idx="1">
                  <c:v>1.069</c:v>
                </c:pt>
                <c:pt idx="2">
                  <c:v>0.88800000000000001</c:v>
                </c:pt>
                <c:pt idx="3">
                  <c:v>0.17299999999999999</c:v>
                </c:pt>
                <c:pt idx="4">
                  <c:v>0.41499999999999998</c:v>
                </c:pt>
              </c:numCache>
            </c:numRef>
          </c:val>
          <c:extLst>
            <c:ext xmlns:c16="http://schemas.microsoft.com/office/drawing/2014/chart" uri="{C3380CC4-5D6E-409C-BE32-E72D297353CC}">
              <c16:uniqueId val="{00000001-A4C5-0A4E-8870-D248CBC408F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6B72"/>
                </a:solidFill>
                <a:latin typeface="Arial"/>
              </a:defRPr>
            </a:pPr>
            <a:endParaRPr lang="en-US"/>
          </a:p>
        </c:txPr>
        <c:crossAx val="2094734552"/>
        <c:crosses val="autoZero"/>
        <c:auto val="1"/>
        <c:lblAlgn val="ctr"/>
        <c:lblOffset val="100"/>
        <c:noMultiLvlLbl val="1"/>
      </c:catAx>
      <c:valAx>
        <c:axId val="2094734552"/>
        <c:scaling>
          <c:orientation val="minMax"/>
          <c:max val="1.4"/>
          <c:min val="0"/>
        </c:scaling>
        <c:delete val="0"/>
        <c:axPos val="l"/>
        <c:majorGridlines>
          <c:spPr>
            <a:ln w="12700" cap="flat">
              <a:solidFill>
                <a:srgbClr val="E6EA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B6B72"/>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202E"/>
                </a:solidFill>
                <a:latin typeface="Calibri"/>
              </a:defRPr>
            </a:pPr>
            <a:r>
              <a:rPr sz="1200" b="0" i="0" u="none" strike="noStrike">
                <a:solidFill>
                  <a:srgbClr val="12202E"/>
                </a:solidFill>
                <a:latin typeface="Calibri"/>
              </a:rPr>
              <a:t>Rural charters, 2010Q1 to 2026Q1</a:t>
            </a:r>
          </a:p>
        </c:rich>
      </c:tx>
      <c:overlay val="0"/>
    </c:title>
    <c:autoTitleDeleted val="0"/>
    <c:plotArea>
      <c:layout/>
      <c:barChart>
        <c:barDir val="col"/>
        <c:grouping val="clustered"/>
        <c:varyColors val="0"/>
        <c:ser>
          <c:idx val="0"/>
          <c:order val="0"/>
          <c:tx>
            <c:strRef>
              <c:f>Sheet1!$B$1</c:f>
              <c:strCache>
                <c:ptCount val="1"/>
                <c:pt idx="0">
                  <c:v>Rural charters</c:v>
                </c:pt>
              </c:strCache>
            </c:strRef>
          </c:tx>
          <c:spPr>
            <a:solidFill>
              <a:srgbClr val="C8553D"/>
            </a:solidFill>
            <a:effectLst/>
          </c:spPr>
          <c:invertIfNegative val="0"/>
          <c:dPt>
            <c:idx val="0"/>
            <c:invertIfNegative val="0"/>
            <c:bubble3D val="0"/>
            <c:extLst>
              <c:ext xmlns:c16="http://schemas.microsoft.com/office/drawing/2014/chart" uri="{C3380CC4-5D6E-409C-BE32-E72D297353CC}">
                <c16:uniqueId val="{00000001-307B-DA42-9BEA-4BFFF61930CD}"/>
              </c:ext>
            </c:extLst>
          </c:dPt>
          <c:dPt>
            <c:idx val="1"/>
            <c:invertIfNegative val="0"/>
            <c:bubble3D val="0"/>
            <c:spPr>
              <a:solidFill>
                <a:srgbClr val="5B6B72"/>
              </a:solidFill>
              <a:effectLst/>
            </c:spPr>
            <c:extLst>
              <c:ext xmlns:c16="http://schemas.microsoft.com/office/drawing/2014/chart" uri="{C3380CC4-5D6E-409C-BE32-E72D297353CC}">
                <c16:uniqueId val="{00000003-307B-DA42-9BEA-4BFFF61930CD}"/>
              </c:ext>
            </c:extLst>
          </c:dPt>
          <c:dLbls>
            <c:numFmt formatCode="0" sourceLinked="0"/>
            <c:spPr>
              <a:noFill/>
              <a:ln>
                <a:noFill/>
              </a:ln>
              <a:effectLst/>
            </c:spPr>
            <c:txPr>
              <a:bodyPr/>
              <a:lstStyle/>
              <a:p>
                <a:pPr>
                  <a:defRPr sz="13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New entries</c:v>
                </c:pt>
                <c:pt idx="1">
                  <c:v>Exits</c:v>
                </c:pt>
              </c:strCache>
            </c:strRef>
          </c:cat>
          <c:val>
            <c:numRef>
              <c:f>Sheet1!$B$2:$B$3</c:f>
              <c:numCache>
                <c:formatCode>General</c:formatCode>
                <c:ptCount val="2"/>
                <c:pt idx="0">
                  <c:v>47</c:v>
                </c:pt>
                <c:pt idx="1">
                  <c:v>274</c:v>
                </c:pt>
              </c:numCache>
            </c:numRef>
          </c:val>
          <c:extLst>
            <c:ext xmlns:c16="http://schemas.microsoft.com/office/drawing/2014/chart" uri="{C3380CC4-5D6E-409C-BE32-E72D297353CC}">
              <c16:uniqueId val="{00000004-307B-DA42-9BEA-4BFFF61930C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6EA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2847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briefing on a statutory deliverable. Analysis complete through the first research question and the branch network. All figures exploratory pending re-estimation on the final analytic sample.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take one slide, take this one. Everything after is evidence for these four numbers.
On survival, if asked how it is measured: we compare institutions that are alike on size, capital, profitability and state, and ask which is more likely to vanish in a given quarter. Rural ones are about a quarter less likely. The raw figures are 37% of rural credit unions gone over the period against 44% elsewhere. This matters because it kills the obvious objection - that rural credit unions look strong only because the weak ones already disappeared. They disappear LESS, and they still outperform.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version: in rural America, credit unions added offices into shrinking markets. In urban America they added offices but did not keep up with growth. A branch network run purely for profit does the opposite of the first thing. That is the puzzle this study exists to explain.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pushed on the county-level detail: among rural counties that lost people and saw access improve, most improved because the population shrank rather than because an office opened. That is why the national totals, not the county counts, carry the growth claim — a handful of counties adding several offices each moves the national number more than hundreds holding steady.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motivates the study. The system is not retreating from rural America; it never reached half of it. That reframes the statutory question from rescuing weak institutions to why new ones are not being created where none exist.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thirty seconds in the room. It reframes the study from a compliance exercise into a question the agency has institutional standing to answer.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a non-technical audience: every other question in this study is about the health of institutions. This one asks whether the people in these counties are actually getting a worse deal. If they are, the case for new rural charters gets much stronger. If they are not, we should say so and narrow the report accordingly. Technical notes: HMDA LAR 2019-2025; outcomes are action-taken denial, rate spread over APOR, and withdrawn/incomplete/file-closed; residual-gap design consistent with the existing fair-lending pipeline; no credit score in HMDA; closed-end reporting threshold moved from 100 to 25 loans in 2020, which changes the small-lender panel in exactly the segment of interest.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flag: this render predates the charter-type filter and the Connecticut geography fix. Swap in the reissued PNG before circulation.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A study that shows its own retraction is far harder to attack than one that only shows what worked.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E"/>
        </a:solidFill>
        <a:effectLst/>
      </p:bgPr>
    </p:bg>
    <p:spTree>
      <p:nvGrpSpPr>
        <p:cNvPr id="1" name=""/>
        <p:cNvGrpSpPr/>
        <p:nvPr/>
      </p:nvGrpSpPr>
      <p:grpSpPr>
        <a:xfrm>
          <a:off x="0" y="0"/>
          <a:ext cx="0" cy="0"/>
          <a:chOff x="0" y="0"/>
          <a:chExt cx="0" cy="0"/>
        </a:xfrm>
      </p:grpSpPr>
      <p:sp>
        <p:nvSpPr>
          <p:cNvPr id="2" name="Shape 0"/>
          <p:cNvSpPr/>
          <p:nvPr/>
        </p:nvSpPr>
        <p:spPr>
          <a:xfrm>
            <a:off x="0" y="0"/>
            <a:ext cx="4846320" cy="6858000"/>
          </a:xfrm>
          <a:prstGeom prst="rect">
            <a:avLst/>
          </a:prstGeom>
          <a:solidFill>
            <a:srgbClr val="0E4C55"/>
          </a:solidFill>
          <a:ln/>
        </p:spPr>
        <p:txBody>
          <a:bodyPr/>
          <a:lstStyle/>
          <a:p>
            <a:endParaRPr lang="en-US"/>
          </a:p>
        </p:txBody>
      </p:sp>
      <p:sp>
        <p:nvSpPr>
          <p:cNvPr id="3" name="Text 1"/>
          <p:cNvSpPr/>
          <p:nvPr/>
        </p:nvSpPr>
        <p:spPr>
          <a:xfrm>
            <a:off x="685800" y="1691640"/>
            <a:ext cx="3931920" cy="2286000"/>
          </a:xfrm>
          <a:prstGeom prst="rect">
            <a:avLst/>
          </a:prstGeom>
          <a:noFill/>
          <a:ln/>
        </p:spPr>
        <p:txBody>
          <a:bodyPr wrap="square" lIns="0" tIns="0" rIns="0" bIns="0" rtlCol="0" anchor="ctr"/>
          <a:lstStyle/>
          <a:p>
            <a:pPr marL="0" indent="0">
              <a:lnSpc>
                <a:spcPts val="4200"/>
              </a:lnSpc>
              <a:buNone/>
            </a:pPr>
            <a:r>
              <a:rPr lang="en-US" sz="3800" b="1" dirty="0">
                <a:solidFill>
                  <a:srgbClr val="FFFFFF"/>
                </a:solidFill>
                <a:latin typeface="Cambria" pitchFamily="34" charset="0"/>
                <a:ea typeface="Cambria" pitchFamily="34" charset="-122"/>
                <a:cs typeface="Cambria" pitchFamily="34" charset="-120"/>
              </a:rPr>
              <a:t>Rural</a:t>
            </a:r>
            <a:endParaRPr lang="en-US" sz="3800" dirty="0"/>
          </a:p>
          <a:p>
            <a:pPr marL="0" indent="0">
              <a:lnSpc>
                <a:spcPts val="4200"/>
              </a:lnSpc>
              <a:buNone/>
            </a:pPr>
            <a:r>
              <a:rPr lang="en-US" sz="3800" b="1" dirty="0">
                <a:solidFill>
                  <a:srgbClr val="FFFFFF"/>
                </a:solidFill>
                <a:latin typeface="Cambria" pitchFamily="34" charset="0"/>
                <a:ea typeface="Cambria" pitchFamily="34" charset="-122"/>
                <a:cs typeface="Cambria" pitchFamily="34" charset="-120"/>
              </a:rPr>
              <a:t>Credit Unions</a:t>
            </a:r>
            <a:endParaRPr lang="en-US" sz="3800" dirty="0"/>
          </a:p>
          <a:p>
            <a:pPr marL="0" indent="0">
              <a:lnSpc>
                <a:spcPts val="4200"/>
              </a:lnSpc>
              <a:buNone/>
            </a:pPr>
            <a:r>
              <a:rPr lang="en-US" sz="3800" b="1" dirty="0">
                <a:solidFill>
                  <a:srgbClr val="FFFFFF"/>
                </a:solidFill>
                <a:latin typeface="Cambria" pitchFamily="34" charset="0"/>
                <a:ea typeface="Cambria" pitchFamily="34" charset="-122"/>
                <a:cs typeface="Cambria" pitchFamily="34" charset="-120"/>
              </a:rPr>
              <a:t>Study</a:t>
            </a:r>
            <a:endParaRPr lang="en-US" sz="3800" dirty="0"/>
          </a:p>
        </p:txBody>
      </p:sp>
      <p:sp>
        <p:nvSpPr>
          <p:cNvPr id="4" name="Text 2"/>
          <p:cNvSpPr/>
          <p:nvPr/>
        </p:nvSpPr>
        <p:spPr>
          <a:xfrm>
            <a:off x="685800" y="4114800"/>
            <a:ext cx="3931920" cy="640080"/>
          </a:xfrm>
          <a:prstGeom prst="rect">
            <a:avLst/>
          </a:prstGeom>
          <a:noFill/>
          <a:ln/>
        </p:spPr>
        <p:txBody>
          <a:bodyPr wrap="square" lIns="0" tIns="0" rIns="0" bIns="0" rtlCol="0" anchor="ctr"/>
          <a:lstStyle/>
          <a:p>
            <a:pPr marL="0" indent="0">
              <a:lnSpc>
                <a:spcPts val="1800"/>
              </a:lnSpc>
              <a:buNone/>
            </a:pPr>
            <a:r>
              <a:rPr lang="en-US" sz="1350" dirty="0">
                <a:solidFill>
                  <a:srgbClr val="7FB0AE"/>
                </a:solidFill>
                <a:latin typeface="Calibri" pitchFamily="34" charset="0"/>
                <a:ea typeface="Calibri" pitchFamily="34" charset="-122"/>
                <a:cs typeface="Calibri" pitchFamily="34" charset="-120"/>
              </a:rPr>
              <a:t>Executive briefing on a statutory deliverable</a:t>
            </a:r>
            <a:endParaRPr lang="en-US" sz="1350" dirty="0"/>
          </a:p>
        </p:txBody>
      </p:sp>
      <p:sp>
        <p:nvSpPr>
          <p:cNvPr id="5" name="Text 3"/>
          <p:cNvSpPr/>
          <p:nvPr/>
        </p:nvSpPr>
        <p:spPr>
          <a:xfrm>
            <a:off x="5577840" y="1874520"/>
            <a:ext cx="5943600" cy="320040"/>
          </a:xfrm>
          <a:prstGeom prst="rect">
            <a:avLst/>
          </a:prstGeom>
          <a:noFill/>
          <a:ln/>
        </p:spPr>
        <p:txBody>
          <a:bodyPr wrap="square" lIns="0" tIns="0" rIns="0" bIns="0" rtlCol="0" anchor="ctr"/>
          <a:lstStyle/>
          <a:p>
            <a:pPr marL="0" indent="0">
              <a:buNone/>
            </a:pPr>
            <a:r>
              <a:rPr lang="en-US" sz="1400" dirty="0">
                <a:solidFill>
                  <a:srgbClr val="7FB0AE"/>
                </a:solidFill>
                <a:latin typeface="Calibri" pitchFamily="34" charset="0"/>
                <a:ea typeface="Calibri" pitchFamily="34" charset="-122"/>
                <a:cs typeface="Calibri" pitchFamily="34" charset="-120"/>
              </a:rPr>
              <a:t>21st Century ROAD to Housing Act</a:t>
            </a:r>
            <a:endParaRPr lang="en-US" sz="1400" dirty="0"/>
          </a:p>
        </p:txBody>
      </p:sp>
      <p:sp>
        <p:nvSpPr>
          <p:cNvPr id="6" name="Text 4"/>
          <p:cNvSpPr/>
          <p:nvPr/>
        </p:nvSpPr>
        <p:spPr>
          <a:xfrm>
            <a:off x="5577840" y="2267712"/>
            <a:ext cx="5943600" cy="1691640"/>
          </a:xfrm>
          <a:prstGeom prst="rect">
            <a:avLst/>
          </a:prstGeom>
          <a:noFill/>
          <a:ln/>
        </p:spPr>
        <p:txBody>
          <a:bodyPr wrap="square" lIns="0" tIns="0" rIns="0" bIns="0" rtlCol="0" anchor="ctr"/>
          <a:lstStyle/>
          <a:p>
            <a:pPr marL="0" indent="0">
              <a:lnSpc>
                <a:spcPts val="3300"/>
              </a:lnSpc>
              <a:buNone/>
            </a:pPr>
            <a:r>
              <a:rPr lang="en-US" sz="2600" b="1" dirty="0">
                <a:solidFill>
                  <a:srgbClr val="FFFFFF"/>
                </a:solidFill>
                <a:latin typeface="Cambria" pitchFamily="34" charset="0"/>
                <a:ea typeface="Cambria" pitchFamily="34" charset="-122"/>
                <a:cs typeface="Cambria" pitchFamily="34" charset="-120"/>
              </a:rPr>
              <a:t>Section 909</a:t>
            </a:r>
            <a:endParaRPr lang="en-US" sz="2600" dirty="0"/>
          </a:p>
          <a:p>
            <a:pPr marL="0" indent="0">
              <a:lnSpc>
                <a:spcPts val="3300"/>
              </a:lnSpc>
              <a:buNone/>
            </a:pPr>
            <a:r>
              <a:rPr lang="en-US" sz="2600" b="1" dirty="0">
                <a:solidFill>
                  <a:srgbClr val="FFFFFF"/>
                </a:solidFill>
                <a:latin typeface="Cambria" pitchFamily="34" charset="0"/>
                <a:ea typeface="Cambria" pitchFamily="34" charset="-122"/>
                <a:cs typeface="Cambria" pitchFamily="34" charset="-120"/>
              </a:rPr>
              <a:t>Rural Depositories</a:t>
            </a:r>
            <a:endParaRPr lang="en-US" sz="2600" dirty="0"/>
          </a:p>
          <a:p>
            <a:pPr marL="0" indent="0">
              <a:lnSpc>
                <a:spcPts val="3300"/>
              </a:lnSpc>
              <a:buNone/>
            </a:pPr>
            <a:r>
              <a:rPr lang="en-US" sz="2600" b="1" dirty="0">
                <a:solidFill>
                  <a:srgbClr val="FFFFFF"/>
                </a:solidFill>
                <a:latin typeface="Cambria" pitchFamily="34" charset="0"/>
                <a:ea typeface="Cambria" pitchFamily="34" charset="-122"/>
                <a:cs typeface="Cambria" pitchFamily="34" charset="-120"/>
              </a:rPr>
              <a:t>Revitalization Study</a:t>
            </a:r>
            <a:endParaRPr lang="en-US" sz="2600" dirty="0"/>
          </a:p>
        </p:txBody>
      </p:sp>
      <p:sp>
        <p:nvSpPr>
          <p:cNvPr id="7" name="Text 5"/>
          <p:cNvSpPr/>
          <p:nvPr/>
        </p:nvSpPr>
        <p:spPr>
          <a:xfrm>
            <a:off x="5577840" y="4206240"/>
            <a:ext cx="5943600" cy="1280160"/>
          </a:xfrm>
          <a:prstGeom prst="rect">
            <a:avLst/>
          </a:prstGeom>
          <a:noFill/>
          <a:ln/>
        </p:spPr>
        <p:txBody>
          <a:bodyPr wrap="square" lIns="0" tIns="0" rIns="0" bIns="0" rtlCol="0" anchor="ctr"/>
          <a:lstStyle/>
          <a:p>
            <a:pPr marL="0" indent="0">
              <a:lnSpc>
                <a:spcPts val="1700"/>
              </a:lnSpc>
              <a:buNone/>
            </a:pPr>
            <a:r>
              <a:rPr lang="en-US" sz="1150" dirty="0">
                <a:solidFill>
                  <a:srgbClr val="DCE6E4"/>
                </a:solidFill>
                <a:latin typeface="Calibri" pitchFamily="34" charset="0"/>
                <a:ea typeface="Calibri" pitchFamily="34" charset="-122"/>
                <a:cs typeface="Calibri" pitchFamily="34" charset="-120"/>
              </a:rPr>
              <a:t>P.L. 119-101  ·  enacted 11 July 2026</a:t>
            </a:r>
            <a:endParaRPr lang="en-US" sz="1150" dirty="0"/>
          </a:p>
          <a:p>
            <a:pPr marL="0" indent="0">
              <a:lnSpc>
                <a:spcPts val="1700"/>
              </a:lnSpc>
              <a:buNone/>
            </a:pPr>
            <a:r>
              <a:rPr lang="en-US" sz="1150" dirty="0">
                <a:solidFill>
                  <a:srgbClr val="DCE6E4"/>
                </a:solidFill>
                <a:latin typeface="Calibri" pitchFamily="34" charset="0"/>
                <a:ea typeface="Calibri" pitchFamily="34" charset="-122"/>
                <a:cs typeface="Calibri" pitchFamily="34" charset="-120"/>
              </a:rPr>
              <a:t>Report to Congress due ~10 July 2027</a:t>
            </a:r>
            <a:endParaRPr lang="en-US" sz="1150" dirty="0"/>
          </a:p>
          <a:p>
            <a:pPr marL="0" indent="0">
              <a:lnSpc>
                <a:spcPts val="1700"/>
              </a:lnSpc>
              <a:buNone/>
            </a:pPr>
            <a:r>
              <a:rPr lang="en-US" sz="1150" dirty="0">
                <a:solidFill>
                  <a:srgbClr val="DCE6E4"/>
                </a:solidFill>
                <a:latin typeface="Calibri" pitchFamily="34" charset="0"/>
                <a:ea typeface="Calibri" pitchFamily="34" charset="-122"/>
                <a:cs typeface="Calibri" pitchFamily="34" charset="-120"/>
              </a:rPr>
              <a:t>Status: pipeline complete through Q1 and the branch network</a:t>
            </a:r>
            <a:endParaRPr lang="en-US" sz="1150" dirty="0"/>
          </a:p>
          <a:p>
            <a:pPr marL="0" indent="0">
              <a:lnSpc>
                <a:spcPts val="1700"/>
              </a:lnSpc>
              <a:buNone/>
            </a:pPr>
            <a:r>
              <a:rPr lang="en-US" sz="1150" dirty="0">
                <a:solidFill>
                  <a:srgbClr val="DCE6E4"/>
                </a:solidFill>
                <a:latin typeface="Calibri" pitchFamily="34" charset="0"/>
                <a:ea typeface="Calibri" pitchFamily="34" charset="-122"/>
                <a:cs typeface="Calibri" pitchFamily="34" charset="-120"/>
              </a:rPr>
              <a:t>Office of the Chief Economist  ·  August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02E"/>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buNone/>
            </a:pPr>
            <a:r>
              <a:rPr lang="en-US" sz="1100" b="1" kern="0" spc="200" dirty="0">
                <a:solidFill>
                  <a:srgbClr val="7FB0AE"/>
                </a:solidFill>
                <a:latin typeface="Calibri" pitchFamily="34" charset="0"/>
                <a:ea typeface="Calibri" pitchFamily="34" charset="-122"/>
                <a:cs typeface="Calibri" pitchFamily="34" charset="-120"/>
              </a:rPr>
              <a:t>Bottom line</a:t>
            </a:r>
            <a:endParaRPr lang="en-US" sz="1100" dirty="0"/>
          </a:p>
        </p:txBody>
      </p:sp>
      <p:sp>
        <p:nvSpPr>
          <p:cNvPr id="3" name="Text 1"/>
          <p:cNvSpPr/>
          <p:nvPr/>
        </p:nvSpPr>
        <p:spPr>
          <a:xfrm>
            <a:off x="640080" y="841248"/>
            <a:ext cx="10607040" cy="1280160"/>
          </a:xfrm>
          <a:prstGeom prst="rect">
            <a:avLst/>
          </a:prstGeom>
          <a:noFill/>
          <a:ln/>
        </p:spPr>
        <p:txBody>
          <a:bodyPr wrap="square" lIns="0" tIns="0" rIns="0" bIns="0" rtlCol="0" anchor="ctr"/>
          <a:lstStyle/>
          <a:p>
            <a:pPr marL="0" indent="0">
              <a:lnSpc>
                <a:spcPts val="3900"/>
              </a:lnSpc>
              <a:buNone/>
            </a:pPr>
            <a:r>
              <a:rPr lang="en-US" sz="2700" b="1" dirty="0">
                <a:solidFill>
                  <a:srgbClr val="FFFFFF"/>
                </a:solidFill>
                <a:latin typeface="Cambria" pitchFamily="34" charset="0"/>
                <a:ea typeface="Cambria" pitchFamily="34" charset="-122"/>
                <a:cs typeface="Cambria" pitchFamily="34" charset="-120"/>
              </a:rPr>
              <a:t>The rural credit unions that exist are doing well.</a:t>
            </a:r>
            <a:endParaRPr lang="en-US" sz="2700" dirty="0"/>
          </a:p>
          <a:p>
            <a:pPr marL="0" indent="0">
              <a:lnSpc>
                <a:spcPts val="3900"/>
              </a:lnSpc>
              <a:buNone/>
            </a:pPr>
            <a:r>
              <a:rPr lang="en-US" sz="2700" b="1" dirty="0">
                <a:solidFill>
                  <a:srgbClr val="FFFFFF"/>
                </a:solidFill>
                <a:latin typeface="Cambria" pitchFamily="34" charset="0"/>
                <a:ea typeface="Cambria" pitchFamily="34" charset="-122"/>
                <a:cs typeface="Cambria" pitchFamily="34" charset="-120"/>
              </a:rPr>
              <a:t>The problem is that no new ones are being created.</a:t>
            </a:r>
            <a:endParaRPr lang="en-US" sz="2700" dirty="0"/>
          </a:p>
        </p:txBody>
      </p:sp>
      <p:sp>
        <p:nvSpPr>
          <p:cNvPr id="4" name="Shape 2"/>
          <p:cNvSpPr/>
          <p:nvPr/>
        </p:nvSpPr>
        <p:spPr>
          <a:xfrm>
            <a:off x="640080" y="2395728"/>
            <a:ext cx="2514600" cy="2487168"/>
          </a:xfrm>
          <a:prstGeom prst="roundRect">
            <a:avLst>
              <a:gd name="adj" fmla="val 1838"/>
            </a:avLst>
          </a:prstGeom>
          <a:solidFill>
            <a:srgbClr val="0E4C55"/>
          </a:solidFill>
          <a:ln/>
        </p:spPr>
        <p:txBody>
          <a:bodyPr/>
          <a:lstStyle/>
          <a:p>
            <a:endParaRPr lang="en-US"/>
          </a:p>
        </p:txBody>
      </p:sp>
      <p:sp>
        <p:nvSpPr>
          <p:cNvPr id="5" name="Text 3"/>
          <p:cNvSpPr/>
          <p:nvPr/>
        </p:nvSpPr>
        <p:spPr>
          <a:xfrm>
            <a:off x="868680" y="2560320"/>
            <a:ext cx="2103120" cy="274320"/>
          </a:xfrm>
          <a:prstGeom prst="rect">
            <a:avLst/>
          </a:prstGeom>
          <a:noFill/>
          <a:ln/>
        </p:spPr>
        <p:txBody>
          <a:bodyPr wrap="square" lIns="0" tIns="0" rIns="0" bIns="0" rtlCol="0" anchor="ctr"/>
          <a:lstStyle/>
          <a:p>
            <a:pPr marL="0" indent="0">
              <a:buNone/>
            </a:pPr>
            <a:r>
              <a:rPr lang="en-US" sz="1100" b="1" dirty="0">
                <a:solidFill>
                  <a:srgbClr val="DCE6E4"/>
                </a:solidFill>
                <a:latin typeface="Calibri" pitchFamily="34" charset="0"/>
                <a:ea typeface="Calibri" pitchFamily="34" charset="-122"/>
                <a:cs typeface="Calibri" pitchFamily="34" charset="-120"/>
              </a:rPr>
              <a:t>Growth</a:t>
            </a:r>
            <a:endParaRPr lang="en-US" sz="1100" dirty="0"/>
          </a:p>
        </p:txBody>
      </p:sp>
      <p:sp>
        <p:nvSpPr>
          <p:cNvPr id="6" name="Text 4"/>
          <p:cNvSpPr/>
          <p:nvPr/>
        </p:nvSpPr>
        <p:spPr>
          <a:xfrm>
            <a:off x="868680" y="2834640"/>
            <a:ext cx="219456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+1.03 pp</a:t>
            </a:r>
            <a:endParaRPr lang="en-US" sz="2600" dirty="0"/>
          </a:p>
        </p:txBody>
      </p:sp>
      <p:sp>
        <p:nvSpPr>
          <p:cNvPr id="7" name="Text 5"/>
          <p:cNvSpPr/>
          <p:nvPr/>
        </p:nvSpPr>
        <p:spPr>
          <a:xfrm>
            <a:off x="868680" y="3493008"/>
            <a:ext cx="2148840" cy="1325880"/>
          </a:xfrm>
          <a:prstGeom prst="rect">
            <a:avLst/>
          </a:prstGeom>
          <a:noFill/>
          <a:ln/>
        </p:spPr>
        <p:txBody>
          <a:bodyPr wrap="square" lIns="0" tIns="0" rIns="0" bIns="0" rtlCol="0" anchor="ctr"/>
          <a:lstStyle/>
          <a:p>
            <a:pPr marL="0" indent="0">
              <a:lnSpc>
                <a:spcPts val="1350"/>
              </a:lnSpc>
              <a:buNone/>
            </a:pPr>
            <a:r>
              <a:rPr lang="en-US" sz="1000" dirty="0">
                <a:solidFill>
                  <a:srgbClr val="DCE6E4"/>
                </a:solidFill>
                <a:latin typeface="Calibri" pitchFamily="34" charset="0"/>
                <a:ea typeface="Calibri" pitchFamily="34" charset="-122"/>
                <a:cs typeface="Calibri" pitchFamily="34" charset="-120"/>
              </a:rPr>
              <a:t>faster asset growth than a non-rural credit union of the same size, in the same state and quarter</a:t>
            </a:r>
            <a:endParaRPr lang="en-US" sz="1000" dirty="0"/>
          </a:p>
        </p:txBody>
      </p:sp>
      <p:sp>
        <p:nvSpPr>
          <p:cNvPr id="8" name="Shape 6"/>
          <p:cNvSpPr/>
          <p:nvPr/>
        </p:nvSpPr>
        <p:spPr>
          <a:xfrm>
            <a:off x="3401568" y="2395728"/>
            <a:ext cx="2514600" cy="2487168"/>
          </a:xfrm>
          <a:prstGeom prst="roundRect">
            <a:avLst>
              <a:gd name="adj" fmla="val 1838"/>
            </a:avLst>
          </a:prstGeom>
          <a:solidFill>
            <a:srgbClr val="0E4C55"/>
          </a:solidFill>
          <a:ln/>
        </p:spPr>
        <p:txBody>
          <a:bodyPr/>
          <a:lstStyle/>
          <a:p>
            <a:endParaRPr lang="en-US"/>
          </a:p>
        </p:txBody>
      </p:sp>
      <p:sp>
        <p:nvSpPr>
          <p:cNvPr id="9" name="Text 7"/>
          <p:cNvSpPr/>
          <p:nvPr/>
        </p:nvSpPr>
        <p:spPr>
          <a:xfrm>
            <a:off x="3630168" y="2560320"/>
            <a:ext cx="2103120" cy="274320"/>
          </a:xfrm>
          <a:prstGeom prst="rect">
            <a:avLst/>
          </a:prstGeom>
          <a:noFill/>
          <a:ln/>
        </p:spPr>
        <p:txBody>
          <a:bodyPr wrap="square" lIns="0" tIns="0" rIns="0" bIns="0" rtlCol="0" anchor="ctr"/>
          <a:lstStyle/>
          <a:p>
            <a:pPr marL="0" indent="0">
              <a:buNone/>
            </a:pPr>
            <a:r>
              <a:rPr lang="en-US" sz="1100" b="1" dirty="0">
                <a:solidFill>
                  <a:srgbClr val="DCE6E4"/>
                </a:solidFill>
                <a:latin typeface="Calibri" pitchFamily="34" charset="0"/>
                <a:ea typeface="Calibri" pitchFamily="34" charset="-122"/>
                <a:cs typeface="Calibri" pitchFamily="34" charset="-120"/>
              </a:rPr>
              <a:t>Profitability</a:t>
            </a:r>
            <a:endParaRPr lang="en-US" sz="1100" dirty="0"/>
          </a:p>
        </p:txBody>
      </p:sp>
      <p:sp>
        <p:nvSpPr>
          <p:cNvPr id="10" name="Text 8"/>
          <p:cNvSpPr/>
          <p:nvPr/>
        </p:nvSpPr>
        <p:spPr>
          <a:xfrm>
            <a:off x="3630168" y="2834640"/>
            <a:ext cx="219456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+0.17 pp</a:t>
            </a:r>
            <a:endParaRPr lang="en-US" sz="2600" dirty="0"/>
          </a:p>
        </p:txBody>
      </p:sp>
      <p:sp>
        <p:nvSpPr>
          <p:cNvPr id="11" name="Text 9"/>
          <p:cNvSpPr/>
          <p:nvPr/>
        </p:nvSpPr>
        <p:spPr>
          <a:xfrm>
            <a:off x="3630168" y="3493008"/>
            <a:ext cx="2148840" cy="1325880"/>
          </a:xfrm>
          <a:prstGeom prst="rect">
            <a:avLst/>
          </a:prstGeom>
          <a:noFill/>
          <a:ln/>
        </p:spPr>
        <p:txBody>
          <a:bodyPr wrap="square" lIns="0" tIns="0" rIns="0" bIns="0" rtlCol="0" anchor="ctr"/>
          <a:lstStyle/>
          <a:p>
            <a:pPr marL="0" indent="0">
              <a:lnSpc>
                <a:spcPts val="1350"/>
              </a:lnSpc>
              <a:buNone/>
            </a:pPr>
            <a:r>
              <a:rPr lang="en-US" sz="1000" dirty="0">
                <a:solidFill>
                  <a:srgbClr val="DCE6E4"/>
                </a:solidFill>
                <a:latin typeface="Calibri" pitchFamily="34" charset="0"/>
                <a:ea typeface="Calibri" pitchFamily="34" charset="-122"/>
                <a:cs typeface="Calibri" pitchFamily="34" charset="-120"/>
              </a:rPr>
              <a:t>higher return on assets on that same like-for-like comparison, and +0.23 pp when matched one-to-one on size</a:t>
            </a:r>
            <a:endParaRPr lang="en-US" sz="1000" dirty="0"/>
          </a:p>
        </p:txBody>
      </p:sp>
      <p:sp>
        <p:nvSpPr>
          <p:cNvPr id="12" name="Shape 10"/>
          <p:cNvSpPr/>
          <p:nvPr/>
        </p:nvSpPr>
        <p:spPr>
          <a:xfrm>
            <a:off x="6163056" y="2395728"/>
            <a:ext cx="2514600" cy="2487168"/>
          </a:xfrm>
          <a:prstGeom prst="roundRect">
            <a:avLst>
              <a:gd name="adj" fmla="val 1838"/>
            </a:avLst>
          </a:prstGeom>
          <a:solidFill>
            <a:srgbClr val="1F6F78"/>
          </a:solidFill>
          <a:ln/>
        </p:spPr>
        <p:txBody>
          <a:bodyPr/>
          <a:lstStyle/>
          <a:p>
            <a:endParaRPr lang="en-US"/>
          </a:p>
        </p:txBody>
      </p:sp>
      <p:sp>
        <p:nvSpPr>
          <p:cNvPr id="13" name="Text 11"/>
          <p:cNvSpPr/>
          <p:nvPr/>
        </p:nvSpPr>
        <p:spPr>
          <a:xfrm>
            <a:off x="6391656" y="2560320"/>
            <a:ext cx="2103120" cy="274320"/>
          </a:xfrm>
          <a:prstGeom prst="rect">
            <a:avLst/>
          </a:prstGeom>
          <a:noFill/>
          <a:ln/>
        </p:spPr>
        <p:txBody>
          <a:bodyPr wrap="square" lIns="0" tIns="0" rIns="0" bIns="0" rtlCol="0" anchor="ctr"/>
          <a:lstStyle/>
          <a:p>
            <a:pPr marL="0" indent="0">
              <a:buNone/>
            </a:pPr>
            <a:r>
              <a:rPr lang="en-US" sz="1100" b="1" dirty="0">
                <a:solidFill>
                  <a:srgbClr val="DCE6E4"/>
                </a:solidFill>
                <a:latin typeface="Calibri" pitchFamily="34" charset="0"/>
                <a:ea typeface="Calibri" pitchFamily="34" charset="-122"/>
                <a:cs typeface="Calibri" pitchFamily="34" charset="-120"/>
              </a:rPr>
              <a:t>Survival</a:t>
            </a:r>
            <a:endParaRPr lang="en-US" sz="1100" dirty="0"/>
          </a:p>
        </p:txBody>
      </p:sp>
      <p:sp>
        <p:nvSpPr>
          <p:cNvPr id="14" name="Text 12"/>
          <p:cNvSpPr/>
          <p:nvPr/>
        </p:nvSpPr>
        <p:spPr>
          <a:xfrm>
            <a:off x="6391656" y="2834640"/>
            <a:ext cx="2194560" cy="6400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25% less likely</a:t>
            </a:r>
            <a:endParaRPr lang="en-US" sz="1900" dirty="0"/>
          </a:p>
        </p:txBody>
      </p:sp>
      <p:sp>
        <p:nvSpPr>
          <p:cNvPr id="15" name="Text 13"/>
          <p:cNvSpPr/>
          <p:nvPr/>
        </p:nvSpPr>
        <p:spPr>
          <a:xfrm>
            <a:off x="6391656" y="3493008"/>
            <a:ext cx="2148840" cy="1325880"/>
          </a:xfrm>
          <a:prstGeom prst="rect">
            <a:avLst/>
          </a:prstGeom>
          <a:noFill/>
          <a:ln/>
        </p:spPr>
        <p:txBody>
          <a:bodyPr wrap="square" lIns="0" tIns="0" rIns="0" bIns="0" rtlCol="0" anchor="ctr"/>
          <a:lstStyle/>
          <a:p>
            <a:pPr marL="0" indent="0">
              <a:lnSpc>
                <a:spcPts val="1350"/>
              </a:lnSpc>
              <a:buNone/>
            </a:pPr>
            <a:r>
              <a:rPr lang="en-US" sz="1000" dirty="0">
                <a:solidFill>
                  <a:srgbClr val="DCE6E4"/>
                </a:solidFill>
                <a:latin typeface="Calibri" pitchFamily="34" charset="0"/>
                <a:ea typeface="Calibri" pitchFamily="34" charset="-122"/>
                <a:cs typeface="Calibri" pitchFamily="34" charset="-120"/>
              </a:rPr>
              <a:t>to disappear. Over the period 37% of rural credit unions merged away or closed, against 44% elsewhere — and the gap holds after allowing for size and financial condition</a:t>
            </a:r>
            <a:endParaRPr lang="en-US" sz="1000" dirty="0"/>
          </a:p>
        </p:txBody>
      </p:sp>
      <p:sp>
        <p:nvSpPr>
          <p:cNvPr id="16" name="Shape 14"/>
          <p:cNvSpPr/>
          <p:nvPr/>
        </p:nvSpPr>
        <p:spPr>
          <a:xfrm>
            <a:off x="8924544" y="2395728"/>
            <a:ext cx="2514600" cy="2487168"/>
          </a:xfrm>
          <a:prstGeom prst="roundRect">
            <a:avLst>
              <a:gd name="adj" fmla="val 1838"/>
            </a:avLst>
          </a:prstGeom>
          <a:solidFill>
            <a:srgbClr val="C8553D"/>
          </a:solidFill>
          <a:ln/>
        </p:spPr>
        <p:txBody>
          <a:bodyPr/>
          <a:lstStyle/>
          <a:p>
            <a:endParaRPr lang="en-US"/>
          </a:p>
        </p:txBody>
      </p:sp>
      <p:sp>
        <p:nvSpPr>
          <p:cNvPr id="17" name="Text 15"/>
          <p:cNvSpPr/>
          <p:nvPr/>
        </p:nvSpPr>
        <p:spPr>
          <a:xfrm>
            <a:off x="9153144" y="2560320"/>
            <a:ext cx="2103120" cy="274320"/>
          </a:xfrm>
          <a:prstGeom prst="rect">
            <a:avLst/>
          </a:prstGeom>
          <a:noFill/>
          <a:ln/>
        </p:spPr>
        <p:txBody>
          <a:bodyPr wrap="square" lIns="0" tIns="0" rIns="0" bIns="0" rtlCol="0" anchor="ctr"/>
          <a:lstStyle/>
          <a:p>
            <a:pPr marL="0" indent="0">
              <a:buNone/>
            </a:pPr>
            <a:r>
              <a:rPr lang="en-US" sz="1100" b="1" dirty="0">
                <a:solidFill>
                  <a:srgbClr val="FFE8E2"/>
                </a:solidFill>
                <a:latin typeface="Calibri" pitchFamily="34" charset="0"/>
                <a:ea typeface="Calibri" pitchFamily="34" charset="-122"/>
                <a:cs typeface="Calibri" pitchFamily="34" charset="-120"/>
              </a:rPr>
              <a:t>Formation</a:t>
            </a:r>
            <a:endParaRPr lang="en-US" sz="1100" dirty="0"/>
          </a:p>
        </p:txBody>
      </p:sp>
      <p:sp>
        <p:nvSpPr>
          <p:cNvPr id="18" name="Text 16"/>
          <p:cNvSpPr/>
          <p:nvPr/>
        </p:nvSpPr>
        <p:spPr>
          <a:xfrm>
            <a:off x="9153144" y="2834640"/>
            <a:ext cx="219456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47 : 274</a:t>
            </a:r>
            <a:endParaRPr lang="en-US" sz="2600" dirty="0"/>
          </a:p>
        </p:txBody>
      </p:sp>
      <p:sp>
        <p:nvSpPr>
          <p:cNvPr id="19" name="Text 17"/>
          <p:cNvSpPr/>
          <p:nvPr/>
        </p:nvSpPr>
        <p:spPr>
          <a:xfrm>
            <a:off x="9153144" y="3493008"/>
            <a:ext cx="2148840" cy="1325880"/>
          </a:xfrm>
          <a:prstGeom prst="rect">
            <a:avLst/>
          </a:prstGeom>
          <a:noFill/>
          <a:ln/>
        </p:spPr>
        <p:txBody>
          <a:bodyPr wrap="square" lIns="0" tIns="0" rIns="0" bIns="0" rtlCol="0" anchor="ctr"/>
          <a:lstStyle/>
          <a:p>
            <a:pPr marL="0" indent="0">
              <a:lnSpc>
                <a:spcPts val="1350"/>
              </a:lnSpc>
              <a:buNone/>
            </a:pPr>
            <a:r>
              <a:rPr lang="en-US" sz="1000" dirty="0">
                <a:solidFill>
                  <a:srgbClr val="FFEDE7"/>
                </a:solidFill>
                <a:latin typeface="Calibri" pitchFamily="34" charset="0"/>
                <a:ea typeface="Calibri" pitchFamily="34" charset="-122"/>
                <a:cs typeface="Calibri" pitchFamily="34" charset="-120"/>
              </a:rPr>
              <a:t>new rural charters against departures since 2010 — about one a year against fifteen</a:t>
            </a:r>
            <a:endParaRPr lang="en-US" sz="1000" dirty="0"/>
          </a:p>
        </p:txBody>
      </p:sp>
      <p:sp>
        <p:nvSpPr>
          <p:cNvPr id="20" name="Shape 18"/>
          <p:cNvSpPr/>
          <p:nvPr/>
        </p:nvSpPr>
        <p:spPr>
          <a:xfrm>
            <a:off x="640080" y="5029200"/>
            <a:ext cx="10881360" cy="1051560"/>
          </a:xfrm>
          <a:prstGeom prst="roundRect">
            <a:avLst>
              <a:gd name="adj" fmla="val 4348"/>
            </a:avLst>
          </a:prstGeom>
          <a:solidFill>
            <a:srgbClr val="1B2C3D"/>
          </a:solidFill>
          <a:ln/>
        </p:spPr>
        <p:txBody>
          <a:bodyPr/>
          <a:lstStyle/>
          <a:p>
            <a:endParaRPr lang="en-US"/>
          </a:p>
        </p:txBody>
      </p:sp>
      <p:sp>
        <p:nvSpPr>
          <p:cNvPr id="21" name="Text 19"/>
          <p:cNvSpPr/>
          <p:nvPr/>
        </p:nvSpPr>
        <p:spPr>
          <a:xfrm>
            <a:off x="960120" y="5166360"/>
            <a:ext cx="10241280" cy="822960"/>
          </a:xfrm>
          <a:prstGeom prst="rect">
            <a:avLst/>
          </a:prstGeom>
          <a:noFill/>
          <a:ln/>
        </p:spPr>
        <p:txBody>
          <a:bodyPr wrap="square" lIns="0" tIns="0" rIns="0" bIns="0" rtlCol="0" anchor="ctr"/>
          <a:lstStyle/>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Sec. 909 presumes rural credit unions underperform on growth, capital adequacy and profitability. On growth and profitability they outperform; on capital they are neither ahead nor behind and are not constrained; they survive better, and their office networks have grown faster. The recommendations therefore belong under the de novo clause — barriers to establishing new rural credit unions.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1 · WHAT HAPPENED</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Rural credit unions opened offices. Urban ones fell behind.</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Over the ten years to 2026, the number of credit union offices in rural counties grew faster than in the rest of the country — while the rural population was shrinking and the urban population was growing.</a:t>
            </a:r>
            <a:endParaRPr lang="en-US" sz="1350" dirty="0"/>
          </a:p>
        </p:txBody>
      </p:sp>
      <p:graphicFrame>
        <p:nvGraphicFramePr>
          <p:cNvPr id="5" name="Chart 0"/>
          <p:cNvGraphicFramePr/>
          <p:nvPr/>
        </p:nvGraphicFramePr>
        <p:xfrm>
          <a:off x="640080" y="1828800"/>
          <a:ext cx="667512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589520" y="1874520"/>
            <a:ext cx="3931920" cy="1170432"/>
          </a:xfrm>
          <a:prstGeom prst="roundRect">
            <a:avLst>
              <a:gd name="adj" fmla="val 3906"/>
            </a:avLst>
          </a:prstGeom>
          <a:solidFill>
            <a:srgbClr val="F3F5F4"/>
          </a:solidFill>
          <a:ln/>
        </p:spPr>
        <p:txBody>
          <a:bodyPr/>
          <a:lstStyle/>
          <a:p>
            <a:endParaRPr lang="en-US"/>
          </a:p>
        </p:txBody>
      </p:sp>
      <p:sp>
        <p:nvSpPr>
          <p:cNvPr id="7" name="Text 4"/>
          <p:cNvSpPr/>
          <p:nvPr/>
        </p:nvSpPr>
        <p:spPr>
          <a:xfrm>
            <a:off x="7845552" y="2020824"/>
            <a:ext cx="3474720" cy="274320"/>
          </a:xfrm>
          <a:prstGeom prst="rect">
            <a:avLst/>
          </a:prstGeom>
          <a:noFill/>
          <a:ln/>
        </p:spPr>
        <p:txBody>
          <a:bodyPr wrap="square" lIns="0" tIns="0" rIns="0" bIns="0" rtlCol="0" anchor="ctr"/>
          <a:lstStyle/>
          <a:p>
            <a:pPr marL="0" indent="0">
              <a:buNone/>
            </a:pPr>
            <a:r>
              <a:rPr lang="en-US" sz="1200" b="1" dirty="0">
                <a:solidFill>
                  <a:srgbClr val="0E4C55"/>
                </a:solidFill>
                <a:latin typeface="Calibri" pitchFamily="34" charset="0"/>
                <a:ea typeface="Calibri" pitchFamily="34" charset="-122"/>
                <a:cs typeface="Calibri" pitchFamily="34" charset="-120"/>
              </a:rPr>
              <a:t>Rural offices grew</a:t>
            </a:r>
            <a:endParaRPr lang="en-US" sz="1200" dirty="0"/>
          </a:p>
        </p:txBody>
      </p:sp>
      <p:sp>
        <p:nvSpPr>
          <p:cNvPr id="8" name="Text 5"/>
          <p:cNvSpPr/>
          <p:nvPr/>
        </p:nvSpPr>
        <p:spPr>
          <a:xfrm>
            <a:off x="7845552" y="2313432"/>
            <a:ext cx="3520440" cy="658368"/>
          </a:xfrm>
          <a:prstGeom prst="rect">
            <a:avLst/>
          </a:prstGeom>
          <a:noFill/>
          <a:ln/>
        </p:spPr>
        <p:txBody>
          <a:bodyPr wrap="square" lIns="0" tIns="0" rIns="0" bIns="0" rtlCol="0" anchor="ctr"/>
          <a:lstStyle/>
          <a:p>
            <a:pPr marL="0" indent="0">
              <a:lnSpc>
                <a:spcPts val="1450"/>
              </a:lnSpc>
              <a:buNone/>
            </a:pPr>
            <a:r>
              <a:rPr lang="en-US" sz="1100" dirty="0">
                <a:solidFill>
                  <a:srgbClr val="5B6B72"/>
                </a:solidFill>
                <a:latin typeface="Calibri" pitchFamily="34" charset="0"/>
                <a:ea typeface="Calibri" pitchFamily="34" charset="-122"/>
                <a:cs typeface="Calibri" pitchFamily="34" charset="-120"/>
              </a:rPr>
              <a:t>1,812 → 1,942. Credit unions kept building in places that were getting smaller.</a:t>
            </a:r>
            <a:endParaRPr lang="en-US" sz="1100" dirty="0"/>
          </a:p>
        </p:txBody>
      </p:sp>
      <p:sp>
        <p:nvSpPr>
          <p:cNvPr id="9" name="Shape 6"/>
          <p:cNvSpPr/>
          <p:nvPr/>
        </p:nvSpPr>
        <p:spPr>
          <a:xfrm>
            <a:off x="7589520" y="3200400"/>
            <a:ext cx="3931920" cy="1170432"/>
          </a:xfrm>
          <a:prstGeom prst="roundRect">
            <a:avLst>
              <a:gd name="adj" fmla="val 3906"/>
            </a:avLst>
          </a:prstGeom>
          <a:solidFill>
            <a:srgbClr val="F3F5F4"/>
          </a:solidFill>
          <a:ln/>
        </p:spPr>
        <p:txBody>
          <a:bodyPr/>
          <a:lstStyle/>
          <a:p>
            <a:endParaRPr lang="en-US"/>
          </a:p>
        </p:txBody>
      </p:sp>
      <p:sp>
        <p:nvSpPr>
          <p:cNvPr id="10" name="Text 7"/>
          <p:cNvSpPr/>
          <p:nvPr/>
        </p:nvSpPr>
        <p:spPr>
          <a:xfrm>
            <a:off x="7845552" y="3346704"/>
            <a:ext cx="3474720" cy="274320"/>
          </a:xfrm>
          <a:prstGeom prst="rect">
            <a:avLst/>
          </a:prstGeom>
          <a:noFill/>
          <a:ln/>
        </p:spPr>
        <p:txBody>
          <a:bodyPr wrap="square" lIns="0" tIns="0" rIns="0" bIns="0" rtlCol="0" anchor="ctr"/>
          <a:lstStyle/>
          <a:p>
            <a:pPr marL="0" indent="0">
              <a:buNone/>
            </a:pPr>
            <a:r>
              <a:rPr lang="en-US" sz="1200" b="1" dirty="0">
                <a:solidFill>
                  <a:srgbClr val="1F6F78"/>
                </a:solidFill>
                <a:latin typeface="Calibri" pitchFamily="34" charset="0"/>
                <a:ea typeface="Calibri" pitchFamily="34" charset="-122"/>
                <a:cs typeface="Calibri" pitchFamily="34" charset="-120"/>
              </a:rPr>
              <a:t>Urban offices grew too</a:t>
            </a:r>
            <a:endParaRPr lang="en-US" sz="1200" dirty="0"/>
          </a:p>
        </p:txBody>
      </p:sp>
      <p:sp>
        <p:nvSpPr>
          <p:cNvPr id="11" name="Text 8"/>
          <p:cNvSpPr/>
          <p:nvPr/>
        </p:nvSpPr>
        <p:spPr>
          <a:xfrm>
            <a:off x="7845552" y="3639312"/>
            <a:ext cx="3520440" cy="658368"/>
          </a:xfrm>
          <a:prstGeom prst="rect">
            <a:avLst/>
          </a:prstGeom>
          <a:noFill/>
          <a:ln/>
        </p:spPr>
        <p:txBody>
          <a:bodyPr wrap="square" lIns="0" tIns="0" rIns="0" bIns="0" rtlCol="0" anchor="ctr"/>
          <a:lstStyle/>
          <a:p>
            <a:pPr marL="0" indent="0">
              <a:lnSpc>
                <a:spcPts val="1450"/>
              </a:lnSpc>
              <a:buNone/>
            </a:pPr>
            <a:r>
              <a:rPr lang="en-US" sz="1100" dirty="0">
                <a:solidFill>
                  <a:srgbClr val="5B6B72"/>
                </a:solidFill>
                <a:latin typeface="Calibri" pitchFamily="34" charset="0"/>
                <a:ea typeface="Calibri" pitchFamily="34" charset="-122"/>
                <a:cs typeface="Calibri" pitchFamily="34" charset="-120"/>
              </a:rPr>
              <a:t>19,127 → 20,101 — but 17 million more people arrived, so access per resident fell.</a:t>
            </a:r>
            <a:endParaRPr lang="en-US" sz="1100" dirty="0"/>
          </a:p>
        </p:txBody>
      </p:sp>
      <p:sp>
        <p:nvSpPr>
          <p:cNvPr id="12" name="Shape 9"/>
          <p:cNvSpPr/>
          <p:nvPr/>
        </p:nvSpPr>
        <p:spPr>
          <a:xfrm>
            <a:off x="7589520" y="4526280"/>
            <a:ext cx="3931920" cy="1170432"/>
          </a:xfrm>
          <a:prstGeom prst="roundRect">
            <a:avLst>
              <a:gd name="adj" fmla="val 3906"/>
            </a:avLst>
          </a:prstGeom>
          <a:solidFill>
            <a:srgbClr val="DCE6E4"/>
          </a:solidFill>
          <a:ln/>
        </p:spPr>
        <p:txBody>
          <a:bodyPr/>
          <a:lstStyle/>
          <a:p>
            <a:endParaRPr lang="en-US"/>
          </a:p>
        </p:txBody>
      </p:sp>
      <p:sp>
        <p:nvSpPr>
          <p:cNvPr id="13" name="Text 10"/>
          <p:cNvSpPr/>
          <p:nvPr/>
        </p:nvSpPr>
        <p:spPr>
          <a:xfrm>
            <a:off x="7845552" y="4672584"/>
            <a:ext cx="3474720" cy="274320"/>
          </a:xfrm>
          <a:prstGeom prst="rect">
            <a:avLst/>
          </a:prstGeom>
          <a:noFill/>
          <a:ln/>
        </p:spPr>
        <p:txBody>
          <a:bodyPr wrap="square" lIns="0" tIns="0" rIns="0" bIns="0" rtlCol="0" anchor="ctr"/>
          <a:lstStyle/>
          <a:p>
            <a:pPr marL="0" indent="0">
              <a:buNone/>
            </a:pPr>
            <a:r>
              <a:rPr lang="en-US" sz="1200" b="1" dirty="0">
                <a:solidFill>
                  <a:srgbClr val="C8553D"/>
                </a:solidFill>
                <a:latin typeface="Calibri" pitchFamily="34" charset="0"/>
                <a:ea typeface="Calibri" pitchFamily="34" charset="-122"/>
                <a:cs typeface="Calibri" pitchFamily="34" charset="-120"/>
              </a:rPr>
              <a:t>This is not a depopulation story</a:t>
            </a:r>
            <a:endParaRPr lang="en-US" sz="1200" dirty="0"/>
          </a:p>
        </p:txBody>
      </p:sp>
      <p:sp>
        <p:nvSpPr>
          <p:cNvPr id="14" name="Text 11"/>
          <p:cNvSpPr/>
          <p:nvPr/>
        </p:nvSpPr>
        <p:spPr>
          <a:xfrm>
            <a:off x="7845552" y="4965192"/>
            <a:ext cx="3520440" cy="658368"/>
          </a:xfrm>
          <a:prstGeom prst="rect">
            <a:avLst/>
          </a:prstGeom>
          <a:noFill/>
          <a:ln/>
        </p:spPr>
        <p:txBody>
          <a:bodyPr wrap="square" lIns="0" tIns="0" rIns="0" bIns="0" rtlCol="0" anchor="ctr"/>
          <a:lstStyle/>
          <a:p>
            <a:pPr marL="0" indent="0">
              <a:lnSpc>
                <a:spcPts val="1450"/>
              </a:lnSpc>
              <a:buNone/>
            </a:pPr>
            <a:r>
              <a:rPr lang="en-US" sz="1100" dirty="0">
                <a:solidFill>
                  <a:srgbClr val="5B6B72"/>
                </a:solidFill>
                <a:latin typeface="Calibri" pitchFamily="34" charset="0"/>
                <a:ea typeface="Calibri" pitchFamily="34" charset="-122"/>
                <a:cs typeface="Calibri" pitchFamily="34" charset="-120"/>
              </a:rPr>
              <a:t>Almost the whole rural gain came from opening offices, not from losing people.</a:t>
            </a:r>
            <a:endParaRPr lang="en-US" sz="1100" dirty="0"/>
          </a:p>
        </p:txBody>
      </p:sp>
      <p:sp>
        <p:nvSpPr>
          <p:cNvPr id="15" name="Text 12"/>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Offices = headquarters and branches, charter types 1 and 2, 2016Q1 and 2026Q1. Population: Census county estimates, 2016 and 2024. Connecticut, Puerto Rico and the outlying territories excluded.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1 · WHAT HAPPENED</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But most rural counties saw nothing change at all</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The national totals are driven by a minority of counties. For the typical rural county, the past decade was stasis — and for nearly half, there was no credit union office to begin with.</a:t>
            </a:r>
            <a:endParaRPr lang="en-US" sz="1350" dirty="0"/>
          </a:p>
        </p:txBody>
      </p:sp>
      <p:graphicFrame>
        <p:nvGraphicFramePr>
          <p:cNvPr id="5" name="Chart 0"/>
          <p:cNvGraphicFramePr/>
          <p:nvPr/>
        </p:nvGraphicFramePr>
        <p:xfrm>
          <a:off x="640080" y="1828800"/>
          <a:ext cx="685800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828800"/>
            <a:ext cx="3749040" cy="1783080"/>
          </a:xfrm>
          <a:prstGeom prst="roundRect">
            <a:avLst>
              <a:gd name="adj" fmla="val 2564"/>
            </a:avLst>
          </a:prstGeom>
          <a:solidFill>
            <a:srgbClr val="0E4C55"/>
          </a:solidFill>
          <a:ln/>
        </p:spPr>
        <p:txBody>
          <a:bodyPr/>
          <a:lstStyle/>
          <a:p>
            <a:endParaRPr lang="en-US"/>
          </a:p>
        </p:txBody>
      </p:sp>
      <p:sp>
        <p:nvSpPr>
          <p:cNvPr id="7" name="Text 4"/>
          <p:cNvSpPr/>
          <p:nvPr/>
        </p:nvSpPr>
        <p:spPr>
          <a:xfrm>
            <a:off x="8028432" y="1993392"/>
            <a:ext cx="3291840" cy="274320"/>
          </a:xfrm>
          <a:prstGeom prst="rect">
            <a:avLst/>
          </a:prstGeom>
          <a:noFill/>
          <a:ln/>
        </p:spPr>
        <p:txBody>
          <a:bodyPr wrap="square" lIns="0" tIns="0" rIns="0" bIns="0" rtlCol="0" anchor="ctr"/>
          <a:lstStyle/>
          <a:p>
            <a:pPr marL="0" indent="0">
              <a:buNone/>
            </a:pPr>
            <a:r>
              <a:rPr lang="en-US" sz="1200" b="1" dirty="0">
                <a:solidFill>
                  <a:srgbClr val="E8A24A"/>
                </a:solidFill>
                <a:latin typeface="Calibri" pitchFamily="34" charset="0"/>
                <a:ea typeface="Calibri" pitchFamily="34" charset="-122"/>
                <a:cs typeface="Calibri" pitchFamily="34" charset="-120"/>
              </a:rPr>
              <a:t>The honest headline</a:t>
            </a:r>
            <a:endParaRPr lang="en-US" sz="1200" dirty="0"/>
          </a:p>
        </p:txBody>
      </p:sp>
      <p:sp>
        <p:nvSpPr>
          <p:cNvPr id="8" name="Text 5"/>
          <p:cNvSpPr/>
          <p:nvPr/>
        </p:nvSpPr>
        <p:spPr>
          <a:xfrm>
            <a:off x="8028432" y="2286000"/>
            <a:ext cx="3337560" cy="1188720"/>
          </a:xfrm>
          <a:prstGeom prst="rect">
            <a:avLst/>
          </a:prstGeom>
          <a:noFill/>
          <a:ln/>
        </p:spPr>
        <p:txBody>
          <a:bodyPr wrap="square" lIns="0" tIns="0" rIns="0" bIns="0"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Stasis, not decline. 447 rural counties ended the decade with exactly the number of offices they started with.</a:t>
            </a:r>
            <a:endParaRPr lang="en-US" sz="1200" dirty="0"/>
          </a:p>
        </p:txBody>
      </p:sp>
      <p:sp>
        <p:nvSpPr>
          <p:cNvPr id="9" name="Shape 6"/>
          <p:cNvSpPr/>
          <p:nvPr/>
        </p:nvSpPr>
        <p:spPr>
          <a:xfrm>
            <a:off x="7772400" y="3749040"/>
            <a:ext cx="3749040" cy="960120"/>
          </a:xfrm>
          <a:prstGeom prst="roundRect">
            <a:avLst>
              <a:gd name="adj" fmla="val 4762"/>
            </a:avLst>
          </a:prstGeom>
          <a:solidFill>
            <a:srgbClr val="DCE6E4"/>
          </a:solidFill>
          <a:ln/>
        </p:spPr>
        <p:txBody>
          <a:bodyPr/>
          <a:lstStyle/>
          <a:p>
            <a:endParaRPr lang="en-US"/>
          </a:p>
        </p:txBody>
      </p:sp>
      <p:sp>
        <p:nvSpPr>
          <p:cNvPr id="10" name="Text 7"/>
          <p:cNvSpPr/>
          <p:nvPr/>
        </p:nvSpPr>
        <p:spPr>
          <a:xfrm>
            <a:off x="8028432" y="3877056"/>
            <a:ext cx="3337560" cy="731520"/>
          </a:xfrm>
          <a:prstGeom prst="rect">
            <a:avLst/>
          </a:prstGeom>
          <a:noFill/>
          <a:ln/>
        </p:spPr>
        <p:txBody>
          <a:bodyPr wrap="square" lIns="0" tIns="0" rIns="0" bIns="0" rtlCol="0" anchor="ctr"/>
          <a:lstStyle/>
          <a:p>
            <a:pPr marL="0" indent="0">
              <a:lnSpc>
                <a:spcPts val="1450"/>
              </a:lnSpc>
              <a:buNone/>
            </a:pPr>
            <a:r>
              <a:rPr lang="en-US" sz="1100" dirty="0">
                <a:solidFill>
                  <a:srgbClr val="12202E"/>
                </a:solidFill>
                <a:latin typeface="Calibri" pitchFamily="34" charset="0"/>
                <a:ea typeface="Calibri" pitchFamily="34" charset="-122"/>
                <a:cs typeface="Calibri" pitchFamily="34" charset="-120"/>
              </a:rPr>
              <a:t>109 rural counties added offices while losing residents — 153 offices, in places that lost 115,000 people between them.</a:t>
            </a:r>
            <a:endParaRPr lang="en-US" sz="1100" dirty="0"/>
          </a:p>
        </p:txBody>
      </p:sp>
      <p:sp>
        <p:nvSpPr>
          <p:cNvPr id="11" name="Shape 8"/>
          <p:cNvSpPr/>
          <p:nvPr/>
        </p:nvSpPr>
        <p:spPr>
          <a:xfrm>
            <a:off x="7772400" y="4846320"/>
            <a:ext cx="3749040" cy="868680"/>
          </a:xfrm>
          <a:prstGeom prst="roundRect">
            <a:avLst>
              <a:gd name="adj" fmla="val 5263"/>
            </a:avLst>
          </a:prstGeom>
          <a:solidFill>
            <a:srgbClr val="F3F5F4"/>
          </a:solidFill>
          <a:ln/>
        </p:spPr>
        <p:txBody>
          <a:bodyPr/>
          <a:lstStyle/>
          <a:p>
            <a:endParaRPr lang="en-US"/>
          </a:p>
        </p:txBody>
      </p:sp>
      <p:sp>
        <p:nvSpPr>
          <p:cNvPr id="12" name="Text 9"/>
          <p:cNvSpPr/>
          <p:nvPr/>
        </p:nvSpPr>
        <p:spPr>
          <a:xfrm>
            <a:off x="8028432" y="4974336"/>
            <a:ext cx="3337560" cy="640080"/>
          </a:xfrm>
          <a:prstGeom prst="rect">
            <a:avLst/>
          </a:prstGeom>
          <a:noFill/>
          <a:ln/>
        </p:spPr>
        <p:txBody>
          <a:bodyPr wrap="square" lIns="0" tIns="0" rIns="0" bIns="0" rtlCol="0" anchor="ctr"/>
          <a:lstStyle/>
          <a:p>
            <a:pPr marL="0" indent="0">
              <a:lnSpc>
                <a:spcPts val="1450"/>
              </a:lnSpc>
              <a:buNone/>
            </a:pPr>
            <a:r>
              <a:rPr lang="en-US" sz="1100" dirty="0">
                <a:solidFill>
                  <a:srgbClr val="5B6B72"/>
                </a:solidFill>
                <a:latin typeface="Calibri" pitchFamily="34" charset="0"/>
                <a:ea typeface="Calibri" pitchFamily="34" charset="-122"/>
                <a:cs typeface="Calibri" pitchFamily="34" charset="-120"/>
              </a:rPr>
              <a:t>And 71 lost offices while GAINING residents — so this is not simply demography at work.</a:t>
            </a:r>
            <a:endParaRPr lang="en-US" sz="1100" dirty="0"/>
          </a:p>
        </p:txBody>
      </p:sp>
      <p:sp>
        <p:nvSpPr>
          <p:cNvPr id="13" name="Text 10"/>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1,555 rural counties, 2024 Urban Influence Codes held fixed across both years.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1 · WHAT HAPPENED</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And half of rural America still has no office at all</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Access improved where credit unions already were. The gap is not that rural coverage is shrinking — it is that so much of rural America was never covered.</a:t>
            </a:r>
            <a:endParaRPr lang="en-US" sz="1350" dirty="0"/>
          </a:p>
        </p:txBody>
      </p:sp>
      <p:sp>
        <p:nvSpPr>
          <p:cNvPr id="5" name="Shape 3"/>
          <p:cNvSpPr/>
          <p:nvPr/>
        </p:nvSpPr>
        <p:spPr>
          <a:xfrm>
            <a:off x="640080" y="1920240"/>
            <a:ext cx="2697480" cy="1737360"/>
          </a:xfrm>
          <a:prstGeom prst="roundRect">
            <a:avLst>
              <a:gd name="adj" fmla="val 2632"/>
            </a:avLst>
          </a:prstGeom>
          <a:solidFill>
            <a:srgbClr val="F3F5F4"/>
          </a:solidFill>
          <a:ln/>
        </p:spPr>
        <p:txBody>
          <a:bodyPr/>
          <a:lstStyle/>
          <a:p>
            <a:endParaRPr lang="en-US"/>
          </a:p>
        </p:txBody>
      </p:sp>
      <p:sp>
        <p:nvSpPr>
          <p:cNvPr id="6" name="Text 4"/>
          <p:cNvSpPr/>
          <p:nvPr/>
        </p:nvSpPr>
        <p:spPr>
          <a:xfrm>
            <a:off x="868680" y="2103120"/>
            <a:ext cx="2286000" cy="566928"/>
          </a:xfrm>
          <a:prstGeom prst="rect">
            <a:avLst/>
          </a:prstGeom>
          <a:noFill/>
          <a:ln/>
        </p:spPr>
        <p:txBody>
          <a:bodyPr wrap="square" lIns="0" tIns="0" rIns="0" bIns="0" rtlCol="0" anchor="ctr"/>
          <a:lstStyle/>
          <a:p>
            <a:pPr marL="0" indent="0">
              <a:buNone/>
            </a:pPr>
            <a:r>
              <a:rPr lang="en-US" sz="3000" b="1" dirty="0">
                <a:solidFill>
                  <a:srgbClr val="C8553D"/>
                </a:solidFill>
                <a:latin typeface="Cambria" pitchFamily="34" charset="0"/>
                <a:ea typeface="Cambria" pitchFamily="34" charset="-122"/>
                <a:cs typeface="Cambria" pitchFamily="34" charset="-120"/>
              </a:rPr>
              <a:t>758</a:t>
            </a:r>
            <a:endParaRPr lang="en-US" sz="3000" dirty="0"/>
          </a:p>
        </p:txBody>
      </p:sp>
      <p:sp>
        <p:nvSpPr>
          <p:cNvPr id="7" name="Text 5"/>
          <p:cNvSpPr/>
          <p:nvPr/>
        </p:nvSpPr>
        <p:spPr>
          <a:xfrm>
            <a:off x="868680" y="2670048"/>
            <a:ext cx="2286000" cy="256032"/>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rural counties</a:t>
            </a:r>
            <a:endParaRPr lang="en-US" sz="1200" dirty="0"/>
          </a:p>
        </p:txBody>
      </p:sp>
      <p:sp>
        <p:nvSpPr>
          <p:cNvPr id="8" name="Text 6"/>
          <p:cNvSpPr/>
          <p:nvPr/>
        </p:nvSpPr>
        <p:spPr>
          <a:xfrm>
            <a:off x="868680" y="2926080"/>
            <a:ext cx="2331720" cy="640080"/>
          </a:xfrm>
          <a:prstGeom prst="rect">
            <a:avLst/>
          </a:prstGeom>
          <a:noFill/>
          <a:ln/>
        </p:spPr>
        <p:txBody>
          <a:bodyPr wrap="square" lIns="0" tIns="0" rIns="0" bIns="0" rtlCol="0" anchor="ctr"/>
          <a:lstStyle/>
          <a:p>
            <a:pPr marL="0" indent="0">
              <a:lnSpc>
                <a:spcPts val="1350"/>
              </a:lnSpc>
              <a:buNone/>
            </a:pPr>
            <a:r>
              <a:rPr lang="en-US" sz="1050" dirty="0">
                <a:solidFill>
                  <a:srgbClr val="5B6B72"/>
                </a:solidFill>
                <a:latin typeface="Calibri" pitchFamily="34" charset="0"/>
                <a:ea typeface="Calibri" pitchFamily="34" charset="-122"/>
                <a:cs typeface="Calibri" pitchFamily="34" charset="-120"/>
              </a:rPr>
              <a:t>have no credit union office of any kind</a:t>
            </a:r>
            <a:endParaRPr lang="en-US" sz="1050" dirty="0"/>
          </a:p>
        </p:txBody>
      </p:sp>
      <p:sp>
        <p:nvSpPr>
          <p:cNvPr id="9" name="Shape 7"/>
          <p:cNvSpPr/>
          <p:nvPr/>
        </p:nvSpPr>
        <p:spPr>
          <a:xfrm>
            <a:off x="3566160" y="1920240"/>
            <a:ext cx="2697480" cy="1737360"/>
          </a:xfrm>
          <a:prstGeom prst="roundRect">
            <a:avLst>
              <a:gd name="adj" fmla="val 2632"/>
            </a:avLst>
          </a:prstGeom>
          <a:solidFill>
            <a:srgbClr val="F3F5F4"/>
          </a:solidFill>
          <a:ln/>
        </p:spPr>
        <p:txBody>
          <a:bodyPr/>
          <a:lstStyle/>
          <a:p>
            <a:endParaRPr lang="en-US"/>
          </a:p>
        </p:txBody>
      </p:sp>
      <p:sp>
        <p:nvSpPr>
          <p:cNvPr id="10" name="Text 8"/>
          <p:cNvSpPr/>
          <p:nvPr/>
        </p:nvSpPr>
        <p:spPr>
          <a:xfrm>
            <a:off x="3794760" y="2103120"/>
            <a:ext cx="2286000" cy="566928"/>
          </a:xfrm>
          <a:prstGeom prst="rect">
            <a:avLst/>
          </a:prstGeom>
          <a:noFill/>
          <a:ln/>
        </p:spPr>
        <p:txBody>
          <a:bodyPr wrap="square" lIns="0" tIns="0" rIns="0" bIns="0" rtlCol="0" anchor="ctr"/>
          <a:lstStyle/>
          <a:p>
            <a:pPr marL="0" indent="0">
              <a:buNone/>
            </a:pPr>
            <a:r>
              <a:rPr lang="en-US" sz="3000" b="1" dirty="0">
                <a:solidFill>
                  <a:srgbClr val="C8553D"/>
                </a:solidFill>
                <a:latin typeface="Cambria" pitchFamily="34" charset="0"/>
                <a:ea typeface="Cambria" pitchFamily="34" charset="-122"/>
                <a:cs typeface="Cambria" pitchFamily="34" charset="-120"/>
              </a:rPr>
              <a:t>7.7m</a:t>
            </a:r>
            <a:endParaRPr lang="en-US" sz="3000" dirty="0"/>
          </a:p>
        </p:txBody>
      </p:sp>
      <p:sp>
        <p:nvSpPr>
          <p:cNvPr id="11" name="Text 9"/>
          <p:cNvSpPr/>
          <p:nvPr/>
        </p:nvSpPr>
        <p:spPr>
          <a:xfrm>
            <a:off x="3794760" y="2670048"/>
            <a:ext cx="2286000" cy="256032"/>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rural residents</a:t>
            </a:r>
            <a:endParaRPr lang="en-US" sz="1200" dirty="0"/>
          </a:p>
        </p:txBody>
      </p:sp>
      <p:sp>
        <p:nvSpPr>
          <p:cNvPr id="12" name="Text 10"/>
          <p:cNvSpPr/>
          <p:nvPr/>
        </p:nvSpPr>
        <p:spPr>
          <a:xfrm>
            <a:off x="3794760" y="2926080"/>
            <a:ext cx="2331720" cy="640080"/>
          </a:xfrm>
          <a:prstGeom prst="rect">
            <a:avLst/>
          </a:prstGeom>
          <a:noFill/>
          <a:ln/>
        </p:spPr>
        <p:txBody>
          <a:bodyPr wrap="square" lIns="0" tIns="0" rIns="0" bIns="0" rtlCol="0" anchor="ctr"/>
          <a:lstStyle/>
          <a:p>
            <a:pPr marL="0" indent="0">
              <a:lnSpc>
                <a:spcPts val="1350"/>
              </a:lnSpc>
              <a:buNone/>
            </a:pPr>
            <a:r>
              <a:rPr lang="en-US" sz="1050" dirty="0">
                <a:solidFill>
                  <a:srgbClr val="5B6B72"/>
                </a:solidFill>
                <a:latin typeface="Calibri" pitchFamily="34" charset="0"/>
                <a:ea typeface="Calibri" pitchFamily="34" charset="-122"/>
                <a:cs typeface="Calibri" pitchFamily="34" charset="-120"/>
              </a:rPr>
              <a:t>live in a county with no office — 29% of rural America</a:t>
            </a:r>
            <a:endParaRPr lang="en-US" sz="1050" dirty="0"/>
          </a:p>
        </p:txBody>
      </p:sp>
      <p:sp>
        <p:nvSpPr>
          <p:cNvPr id="13" name="Shape 11"/>
          <p:cNvSpPr/>
          <p:nvPr/>
        </p:nvSpPr>
        <p:spPr>
          <a:xfrm>
            <a:off x="640080" y="3886200"/>
            <a:ext cx="2697480" cy="1737360"/>
          </a:xfrm>
          <a:prstGeom prst="roundRect">
            <a:avLst>
              <a:gd name="adj" fmla="val 2632"/>
            </a:avLst>
          </a:prstGeom>
          <a:solidFill>
            <a:srgbClr val="DCE6E4"/>
          </a:solidFill>
          <a:ln/>
        </p:spPr>
        <p:txBody>
          <a:bodyPr/>
          <a:lstStyle/>
          <a:p>
            <a:endParaRPr lang="en-US"/>
          </a:p>
        </p:txBody>
      </p:sp>
      <p:sp>
        <p:nvSpPr>
          <p:cNvPr id="14" name="Text 12"/>
          <p:cNvSpPr/>
          <p:nvPr/>
        </p:nvSpPr>
        <p:spPr>
          <a:xfrm>
            <a:off x="868680" y="4069080"/>
            <a:ext cx="2286000" cy="566928"/>
          </a:xfrm>
          <a:prstGeom prst="rect">
            <a:avLst/>
          </a:prstGeom>
          <a:noFill/>
          <a:ln/>
        </p:spPr>
        <p:txBody>
          <a:bodyPr wrap="square" lIns="0" tIns="0" rIns="0" bIns="0" rtlCol="0" anchor="ctr"/>
          <a:lstStyle/>
          <a:p>
            <a:pPr marL="0" indent="0">
              <a:buNone/>
            </a:pPr>
            <a:r>
              <a:rPr lang="en-US" sz="3000" b="1" dirty="0">
                <a:solidFill>
                  <a:srgbClr val="0E4C55"/>
                </a:solidFill>
                <a:latin typeface="Cambria" pitchFamily="34" charset="0"/>
                <a:ea typeface="Cambria" pitchFamily="34" charset="-122"/>
                <a:cs typeface="Cambria" pitchFamily="34" charset="-120"/>
              </a:rPr>
              <a:t>459</a:t>
            </a:r>
            <a:endParaRPr lang="en-US" sz="3000" dirty="0"/>
          </a:p>
        </p:txBody>
      </p:sp>
      <p:sp>
        <p:nvSpPr>
          <p:cNvPr id="15" name="Text 13"/>
          <p:cNvSpPr/>
          <p:nvPr/>
        </p:nvSpPr>
        <p:spPr>
          <a:xfrm>
            <a:off x="868680" y="4636008"/>
            <a:ext cx="2286000" cy="256032"/>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rural counties</a:t>
            </a:r>
            <a:endParaRPr lang="en-US" sz="1200" dirty="0"/>
          </a:p>
        </p:txBody>
      </p:sp>
      <p:sp>
        <p:nvSpPr>
          <p:cNvPr id="16" name="Text 14"/>
          <p:cNvSpPr/>
          <p:nvPr/>
        </p:nvSpPr>
        <p:spPr>
          <a:xfrm>
            <a:off x="868680" y="4892040"/>
            <a:ext cx="2331720" cy="640080"/>
          </a:xfrm>
          <a:prstGeom prst="rect">
            <a:avLst/>
          </a:prstGeom>
          <a:noFill/>
          <a:ln/>
        </p:spPr>
        <p:txBody>
          <a:bodyPr wrap="square" lIns="0" tIns="0" rIns="0" bIns="0" rtlCol="0" anchor="ctr"/>
          <a:lstStyle/>
          <a:p>
            <a:pPr marL="0" indent="0">
              <a:lnSpc>
                <a:spcPts val="1350"/>
              </a:lnSpc>
              <a:buNone/>
            </a:pPr>
            <a:r>
              <a:rPr lang="en-US" sz="1050" dirty="0">
                <a:solidFill>
                  <a:srgbClr val="5B6B72"/>
                </a:solidFill>
                <a:latin typeface="Calibri" pitchFamily="34" charset="0"/>
                <a:ea typeface="Calibri" pitchFamily="34" charset="-122"/>
                <a:cs typeface="Calibri" pitchFamily="34" charset="-120"/>
              </a:rPr>
              <a:t>are served by exactly one credit union</a:t>
            </a:r>
            <a:endParaRPr lang="en-US" sz="1050" dirty="0"/>
          </a:p>
        </p:txBody>
      </p:sp>
      <p:sp>
        <p:nvSpPr>
          <p:cNvPr id="17" name="Shape 15"/>
          <p:cNvSpPr/>
          <p:nvPr/>
        </p:nvSpPr>
        <p:spPr>
          <a:xfrm>
            <a:off x="3566160" y="3886200"/>
            <a:ext cx="2697480" cy="1737360"/>
          </a:xfrm>
          <a:prstGeom prst="roundRect">
            <a:avLst>
              <a:gd name="adj" fmla="val 2632"/>
            </a:avLst>
          </a:prstGeom>
          <a:solidFill>
            <a:srgbClr val="DCE6E4"/>
          </a:solidFill>
          <a:ln/>
        </p:spPr>
        <p:txBody>
          <a:bodyPr/>
          <a:lstStyle/>
          <a:p>
            <a:endParaRPr lang="en-US"/>
          </a:p>
        </p:txBody>
      </p:sp>
      <p:sp>
        <p:nvSpPr>
          <p:cNvPr id="18" name="Text 16"/>
          <p:cNvSpPr/>
          <p:nvPr/>
        </p:nvSpPr>
        <p:spPr>
          <a:xfrm>
            <a:off x="3794760" y="4069080"/>
            <a:ext cx="2286000" cy="566928"/>
          </a:xfrm>
          <a:prstGeom prst="rect">
            <a:avLst/>
          </a:prstGeom>
          <a:noFill/>
          <a:ln/>
        </p:spPr>
        <p:txBody>
          <a:bodyPr wrap="square" lIns="0" tIns="0" rIns="0" bIns="0" rtlCol="0" anchor="ctr"/>
          <a:lstStyle/>
          <a:p>
            <a:pPr marL="0" indent="0">
              <a:buNone/>
            </a:pPr>
            <a:r>
              <a:rPr lang="en-US" sz="3000" b="1" dirty="0">
                <a:solidFill>
                  <a:srgbClr val="0E4C55"/>
                </a:solidFill>
                <a:latin typeface="Cambria" pitchFamily="34" charset="0"/>
                <a:ea typeface="Cambria" pitchFamily="34" charset="-122"/>
                <a:cs typeface="Cambria" pitchFamily="34" charset="-120"/>
              </a:rPr>
              <a:t>7.9m</a:t>
            </a:r>
            <a:endParaRPr lang="en-US" sz="3000" dirty="0"/>
          </a:p>
        </p:txBody>
      </p:sp>
      <p:sp>
        <p:nvSpPr>
          <p:cNvPr id="19" name="Text 17"/>
          <p:cNvSpPr/>
          <p:nvPr/>
        </p:nvSpPr>
        <p:spPr>
          <a:xfrm>
            <a:off x="3794760" y="4636008"/>
            <a:ext cx="2286000" cy="256032"/>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rural residents</a:t>
            </a:r>
            <a:endParaRPr lang="en-US" sz="1200" dirty="0"/>
          </a:p>
        </p:txBody>
      </p:sp>
      <p:sp>
        <p:nvSpPr>
          <p:cNvPr id="20" name="Text 18"/>
          <p:cNvSpPr/>
          <p:nvPr/>
        </p:nvSpPr>
        <p:spPr>
          <a:xfrm>
            <a:off x="3794760" y="4892040"/>
            <a:ext cx="2331720" cy="640080"/>
          </a:xfrm>
          <a:prstGeom prst="rect">
            <a:avLst/>
          </a:prstGeom>
          <a:noFill/>
          <a:ln/>
        </p:spPr>
        <p:txBody>
          <a:bodyPr wrap="square" lIns="0" tIns="0" rIns="0" bIns="0" rtlCol="0" anchor="ctr"/>
          <a:lstStyle/>
          <a:p>
            <a:pPr marL="0" indent="0">
              <a:lnSpc>
                <a:spcPts val="1350"/>
              </a:lnSpc>
              <a:buNone/>
            </a:pPr>
            <a:r>
              <a:rPr lang="en-US" sz="1050" dirty="0">
                <a:solidFill>
                  <a:srgbClr val="5B6B72"/>
                </a:solidFill>
                <a:latin typeface="Calibri" pitchFamily="34" charset="0"/>
                <a:ea typeface="Calibri" pitchFamily="34" charset="-122"/>
                <a:cs typeface="Calibri" pitchFamily="34" charset="-120"/>
              </a:rPr>
              <a:t>depend on that single institution</a:t>
            </a:r>
            <a:endParaRPr lang="en-US" sz="1050" dirty="0"/>
          </a:p>
        </p:txBody>
      </p:sp>
      <p:graphicFrame>
        <p:nvGraphicFramePr>
          <p:cNvPr id="21" name="Chart 0"/>
          <p:cNvGraphicFramePr/>
          <p:nvPr/>
        </p:nvGraphicFramePr>
        <p:xfrm>
          <a:off x="6446520" y="1920240"/>
          <a:ext cx="507492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2" name="Shape 19"/>
          <p:cNvSpPr/>
          <p:nvPr/>
        </p:nvSpPr>
        <p:spPr>
          <a:xfrm>
            <a:off x="6446520" y="4434840"/>
            <a:ext cx="5074920" cy="1280160"/>
          </a:xfrm>
          <a:prstGeom prst="roundRect">
            <a:avLst>
              <a:gd name="adj" fmla="val 3571"/>
            </a:avLst>
          </a:prstGeom>
          <a:solidFill>
            <a:srgbClr val="0E4C55"/>
          </a:solidFill>
          <a:ln/>
        </p:spPr>
        <p:txBody>
          <a:bodyPr/>
          <a:lstStyle/>
          <a:p>
            <a:endParaRPr lang="en-US"/>
          </a:p>
        </p:txBody>
      </p:sp>
      <p:sp>
        <p:nvSpPr>
          <p:cNvPr id="23" name="Text 20"/>
          <p:cNvSpPr/>
          <p:nvPr/>
        </p:nvSpPr>
        <p:spPr>
          <a:xfrm>
            <a:off x="6702552" y="4572000"/>
            <a:ext cx="4480560" cy="274320"/>
          </a:xfrm>
          <a:prstGeom prst="rect">
            <a:avLst/>
          </a:prstGeom>
          <a:noFill/>
          <a:ln/>
        </p:spPr>
        <p:txBody>
          <a:bodyPr wrap="square" lIns="0" tIns="0" rIns="0" bIns="0" rtlCol="0" anchor="ctr"/>
          <a:lstStyle/>
          <a:p>
            <a:pPr marL="0" indent="0">
              <a:buNone/>
            </a:pPr>
            <a:r>
              <a:rPr lang="en-US" sz="1200" b="1" dirty="0">
                <a:solidFill>
                  <a:srgbClr val="E8A24A"/>
                </a:solidFill>
                <a:latin typeface="Calibri" pitchFamily="34" charset="0"/>
                <a:ea typeface="Calibri" pitchFamily="34" charset="-122"/>
                <a:cs typeface="Calibri" pitchFamily="34" charset="-120"/>
              </a:rPr>
              <a:t>Coverage widened, slightly</a:t>
            </a:r>
            <a:endParaRPr lang="en-US" sz="1200" dirty="0"/>
          </a:p>
        </p:txBody>
      </p:sp>
      <p:sp>
        <p:nvSpPr>
          <p:cNvPr id="24" name="Text 21"/>
          <p:cNvSpPr/>
          <p:nvPr/>
        </p:nvSpPr>
        <p:spPr>
          <a:xfrm>
            <a:off x="6702552" y="4864608"/>
            <a:ext cx="4572000" cy="777240"/>
          </a:xfrm>
          <a:prstGeom prst="rect">
            <a:avLst/>
          </a:prstGeom>
          <a:noFill/>
          <a:ln/>
        </p:spPr>
        <p:txBody>
          <a:bodyPr wrap="square" lIns="0" tIns="0" rIns="0" bIns="0"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68 rural counties gained their first credit union office over the decade; 41 lost their last. A net 27 more rural counties have access today than in 2016.</a:t>
            </a:r>
            <a:endParaRPr lang="en-US" sz="1150" dirty="0"/>
          </a:p>
        </p:txBody>
      </p:sp>
      <p:sp>
        <p:nvSpPr>
          <p:cNvPr id="25" name="Text 22"/>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2026Q1 offices against 2024 population. A county is “covered” if any federally insured credit union operates an office in it — not a measure of travel distance.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2 · WHY IT MATTERS</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Congress asked us to fix something it assumed was broken</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Section 909 is written on a premise. Our first obligation was to test it rather than illustrate it.</a:t>
            </a:r>
            <a:endParaRPr lang="en-US" sz="1350" dirty="0"/>
          </a:p>
        </p:txBody>
      </p:sp>
      <p:sp>
        <p:nvSpPr>
          <p:cNvPr id="5" name="Shape 3"/>
          <p:cNvSpPr/>
          <p:nvPr/>
        </p:nvSpPr>
        <p:spPr>
          <a:xfrm>
            <a:off x="640080" y="1965960"/>
            <a:ext cx="5257800" cy="1371600"/>
          </a:xfrm>
          <a:prstGeom prst="roundRect">
            <a:avLst>
              <a:gd name="adj" fmla="val 3333"/>
            </a:avLst>
          </a:prstGeom>
          <a:solidFill>
            <a:srgbClr val="DCE6E4"/>
          </a:solidFill>
          <a:ln/>
        </p:spPr>
        <p:txBody>
          <a:bodyPr/>
          <a:lstStyle/>
          <a:p>
            <a:endParaRPr lang="en-US"/>
          </a:p>
        </p:txBody>
      </p:sp>
      <p:sp>
        <p:nvSpPr>
          <p:cNvPr id="6" name="Text 4"/>
          <p:cNvSpPr/>
          <p:nvPr/>
        </p:nvSpPr>
        <p:spPr>
          <a:xfrm>
            <a:off x="914400" y="2121408"/>
            <a:ext cx="4663440" cy="256032"/>
          </a:xfrm>
          <a:prstGeom prst="rect">
            <a:avLst/>
          </a:prstGeom>
          <a:noFill/>
          <a:ln/>
        </p:spPr>
        <p:txBody>
          <a:bodyPr wrap="square" lIns="0" tIns="0" rIns="0" bIns="0" rtlCol="0" anchor="ctr"/>
          <a:lstStyle/>
          <a:p>
            <a:pPr marL="0" indent="0">
              <a:buNone/>
            </a:pPr>
            <a:r>
              <a:rPr lang="en-US" sz="1150" b="1" dirty="0">
                <a:solidFill>
                  <a:srgbClr val="0E4C55"/>
                </a:solidFill>
                <a:latin typeface="Calibri" pitchFamily="34" charset="0"/>
                <a:ea typeface="Calibri" pitchFamily="34" charset="-122"/>
                <a:cs typeface="Calibri" pitchFamily="34" charset="-120"/>
              </a:rPr>
              <a:t>What the statute assumes</a:t>
            </a:r>
            <a:endParaRPr lang="en-US" sz="1150" dirty="0"/>
          </a:p>
        </p:txBody>
      </p:sp>
      <p:sp>
        <p:nvSpPr>
          <p:cNvPr id="7" name="Text 5"/>
          <p:cNvSpPr/>
          <p:nvPr/>
        </p:nvSpPr>
        <p:spPr>
          <a:xfrm>
            <a:off x="914400" y="2395728"/>
            <a:ext cx="4709160" cy="868680"/>
          </a:xfrm>
          <a:prstGeom prst="rect">
            <a:avLst/>
          </a:prstGeom>
          <a:noFill/>
          <a:ln/>
        </p:spPr>
        <p:txBody>
          <a:bodyPr wrap="square" lIns="0" tIns="0" rIns="0" bIns="0" rtlCol="0" anchor="ctr"/>
          <a:lstStyle/>
          <a:p>
            <a:pPr marL="0" indent="0">
              <a:lnSpc>
                <a:spcPts val="1600"/>
              </a:lnSpc>
              <a:buNone/>
            </a:pPr>
            <a:r>
              <a:rPr lang="en-US" sz="1200" dirty="0">
                <a:solidFill>
                  <a:srgbClr val="12202E"/>
                </a:solidFill>
                <a:latin typeface="Calibri" pitchFamily="34" charset="0"/>
                <a:ea typeface="Calibri" pitchFamily="34" charset="-122"/>
                <a:cs typeface="Calibri" pitchFamily="34" charset="-120"/>
              </a:rPr>
              <a:t>That credit unions primarily serving rural areas are underperforming on growth, capital adequacy and profitability, and that federal statute or NCUA regulation is limiting the remedies.</a:t>
            </a:r>
            <a:endParaRPr lang="en-US" sz="1200" dirty="0"/>
          </a:p>
        </p:txBody>
      </p:sp>
      <p:sp>
        <p:nvSpPr>
          <p:cNvPr id="8" name="Shape 6"/>
          <p:cNvSpPr/>
          <p:nvPr/>
        </p:nvSpPr>
        <p:spPr>
          <a:xfrm>
            <a:off x="6263640" y="1965960"/>
            <a:ext cx="5257800" cy="1371600"/>
          </a:xfrm>
          <a:prstGeom prst="roundRect">
            <a:avLst>
              <a:gd name="adj" fmla="val 3333"/>
            </a:avLst>
          </a:prstGeom>
          <a:solidFill>
            <a:srgbClr val="F3F5F4"/>
          </a:solidFill>
          <a:ln/>
        </p:spPr>
        <p:txBody>
          <a:bodyPr/>
          <a:lstStyle/>
          <a:p>
            <a:endParaRPr lang="en-US"/>
          </a:p>
        </p:txBody>
      </p:sp>
      <p:sp>
        <p:nvSpPr>
          <p:cNvPr id="9" name="Text 7"/>
          <p:cNvSpPr/>
          <p:nvPr/>
        </p:nvSpPr>
        <p:spPr>
          <a:xfrm>
            <a:off x="6537960" y="2121408"/>
            <a:ext cx="4663440" cy="256032"/>
          </a:xfrm>
          <a:prstGeom prst="rect">
            <a:avLst/>
          </a:prstGeom>
          <a:noFill/>
          <a:ln/>
        </p:spPr>
        <p:txBody>
          <a:bodyPr wrap="square" lIns="0" tIns="0" rIns="0" bIns="0" rtlCol="0" anchor="ctr"/>
          <a:lstStyle/>
          <a:p>
            <a:pPr marL="0" indent="0">
              <a:buNone/>
            </a:pPr>
            <a:r>
              <a:rPr lang="en-US" sz="1150" b="1" dirty="0">
                <a:solidFill>
                  <a:srgbClr val="C8553D"/>
                </a:solidFill>
                <a:latin typeface="Calibri" pitchFamily="34" charset="0"/>
                <a:ea typeface="Calibri" pitchFamily="34" charset="-122"/>
                <a:cs typeface="Calibri" pitchFamily="34" charset="-120"/>
              </a:rPr>
              <a:t>Why it looked true</a:t>
            </a:r>
            <a:endParaRPr lang="en-US" sz="1150" dirty="0"/>
          </a:p>
        </p:txBody>
      </p:sp>
      <p:sp>
        <p:nvSpPr>
          <p:cNvPr id="10" name="Text 8"/>
          <p:cNvSpPr/>
          <p:nvPr/>
        </p:nvSpPr>
        <p:spPr>
          <a:xfrm>
            <a:off x="6537960" y="2395728"/>
            <a:ext cx="4709160" cy="868680"/>
          </a:xfrm>
          <a:prstGeom prst="rect">
            <a:avLst/>
          </a:prstGeom>
          <a:noFill/>
          <a:ln/>
        </p:spPr>
        <p:txBody>
          <a:bodyPr wrap="square" lIns="0" tIns="0" rIns="0" bIns="0" rtlCol="0" anchor="ctr"/>
          <a:lstStyle/>
          <a:p>
            <a:pPr marL="0" indent="0">
              <a:lnSpc>
                <a:spcPts val="1600"/>
              </a:lnSpc>
              <a:buNone/>
            </a:pPr>
            <a:r>
              <a:rPr lang="en-US" sz="1200" dirty="0">
                <a:solidFill>
                  <a:srgbClr val="12202E"/>
                </a:solidFill>
                <a:latin typeface="Calibri" pitchFamily="34" charset="0"/>
                <a:ea typeface="Calibri" pitchFamily="34" charset="-122"/>
                <a:cs typeface="Calibri" pitchFamily="34" charset="-120"/>
              </a:rPr>
              <a:t>Rural credit unions are small, and small institutions of every kind spread compliance, technology and staffing costs over a smaller base. Aggregate rural figures do look weak.</a:t>
            </a:r>
            <a:endParaRPr lang="en-US" sz="1200" dirty="0"/>
          </a:p>
        </p:txBody>
      </p:sp>
      <p:sp>
        <p:nvSpPr>
          <p:cNvPr id="11" name="Text 9"/>
          <p:cNvSpPr/>
          <p:nvPr/>
        </p:nvSpPr>
        <p:spPr>
          <a:xfrm>
            <a:off x="640080" y="3520440"/>
            <a:ext cx="10881360" cy="274320"/>
          </a:xfrm>
          <a:prstGeom prst="rect">
            <a:avLst/>
          </a:prstGeom>
          <a:noFill/>
          <a:ln/>
        </p:spPr>
        <p:txBody>
          <a:bodyPr wrap="square" lIns="0" tIns="0" rIns="0" bIns="0" rtlCol="0" anchor="ctr"/>
          <a:lstStyle/>
          <a:p>
            <a:pPr marL="0" indent="0">
              <a:buNone/>
            </a:pPr>
            <a:r>
              <a:rPr lang="en-US" sz="1300" b="1" dirty="0">
                <a:solidFill>
                  <a:srgbClr val="0E4C55"/>
                </a:solidFill>
                <a:latin typeface="Calibri" pitchFamily="34" charset="0"/>
                <a:ea typeface="Calibri" pitchFamily="34" charset="-122"/>
                <a:cs typeface="Calibri" pitchFamily="34" charset="-120"/>
              </a:rPr>
              <a:t>Three reasons the question is worth real analytical effort</a:t>
            </a:r>
            <a:endParaRPr lang="en-US" sz="1300" dirty="0"/>
          </a:p>
        </p:txBody>
      </p:sp>
      <p:sp>
        <p:nvSpPr>
          <p:cNvPr id="12" name="Shape 10"/>
          <p:cNvSpPr/>
          <p:nvPr/>
        </p:nvSpPr>
        <p:spPr>
          <a:xfrm>
            <a:off x="640080" y="3931920"/>
            <a:ext cx="329184" cy="329184"/>
          </a:xfrm>
          <a:prstGeom prst="ellipse">
            <a:avLst/>
          </a:prstGeom>
          <a:solidFill>
            <a:srgbClr val="0E4C55"/>
          </a:solidFill>
          <a:ln/>
        </p:spPr>
        <p:txBody>
          <a:bodyPr/>
          <a:lstStyle/>
          <a:p>
            <a:endParaRPr lang="en-US"/>
          </a:p>
        </p:txBody>
      </p:sp>
      <p:sp>
        <p:nvSpPr>
          <p:cNvPr id="13" name="Text 11"/>
          <p:cNvSpPr/>
          <p:nvPr/>
        </p:nvSpPr>
        <p:spPr>
          <a:xfrm>
            <a:off x="640080" y="393192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2"/>
          <p:cNvSpPr/>
          <p:nvPr/>
        </p:nvSpPr>
        <p:spPr>
          <a:xfrm>
            <a:off x="1170432" y="3886200"/>
            <a:ext cx="10241280" cy="256032"/>
          </a:xfrm>
          <a:prstGeom prst="rect">
            <a:avLst/>
          </a:prstGeom>
          <a:noFill/>
          <a:ln/>
        </p:spPr>
        <p:txBody>
          <a:bodyPr wrap="square" lIns="0" tIns="0" rIns="0" bIns="0" rtlCol="0" anchor="ctr"/>
          <a:lstStyle/>
          <a:p>
            <a:pPr marL="0" indent="0">
              <a:buNone/>
            </a:pPr>
            <a:r>
              <a:rPr lang="en-US" sz="1300" b="1" dirty="0">
                <a:solidFill>
                  <a:srgbClr val="0E4C55"/>
                </a:solidFill>
                <a:latin typeface="Calibri" pitchFamily="34" charset="0"/>
                <a:ea typeface="Calibri" pitchFamily="34" charset="-122"/>
                <a:cs typeface="Calibri" pitchFamily="34" charset="-120"/>
              </a:rPr>
              <a:t>Rural America is losing depositories</a:t>
            </a:r>
            <a:endParaRPr lang="en-US" sz="1300" dirty="0"/>
          </a:p>
        </p:txBody>
      </p:sp>
      <p:sp>
        <p:nvSpPr>
          <p:cNvPr id="15" name="Text 13"/>
          <p:cNvSpPr/>
          <p:nvPr/>
        </p:nvSpPr>
        <p:spPr>
          <a:xfrm>
            <a:off x="1170432" y="4142232"/>
            <a:ext cx="10149840" cy="457200"/>
          </a:xfrm>
          <a:prstGeom prst="rect">
            <a:avLst/>
          </a:prstGeom>
          <a:noFill/>
          <a:ln/>
        </p:spPr>
        <p:txBody>
          <a:bodyPr wrap="square" lIns="0" tIns="0" rIns="0" bIns="0" rtlCol="0" anchor="ctr"/>
          <a:lstStyle/>
          <a:p>
            <a:pPr marL="0" indent="0">
              <a:lnSpc>
                <a:spcPts val="1450"/>
              </a:lnSpc>
              <a:buNone/>
            </a:pPr>
            <a:r>
              <a:rPr lang="en-US" sz="1100" dirty="0">
                <a:solidFill>
                  <a:srgbClr val="5B6B72"/>
                </a:solidFill>
                <a:latin typeface="Calibri" pitchFamily="34" charset="0"/>
                <a:ea typeface="Calibri" pitchFamily="34" charset="-122"/>
                <a:cs typeface="Calibri" pitchFamily="34" charset="-120"/>
              </a:rPr>
              <a:t>Charter counts have fallen for decades across the whole system. Where a rural county loses its last locally controlled institution, credit decisions move to a distant underwriting desk. That is a different outcome from losing one competitor among many.</a:t>
            </a:r>
            <a:endParaRPr lang="en-US" sz="1100" dirty="0"/>
          </a:p>
        </p:txBody>
      </p:sp>
      <p:sp>
        <p:nvSpPr>
          <p:cNvPr id="16" name="Shape 14"/>
          <p:cNvSpPr/>
          <p:nvPr/>
        </p:nvSpPr>
        <p:spPr>
          <a:xfrm>
            <a:off x="640080" y="4709160"/>
            <a:ext cx="329184" cy="329184"/>
          </a:xfrm>
          <a:prstGeom prst="ellipse">
            <a:avLst/>
          </a:prstGeom>
          <a:solidFill>
            <a:srgbClr val="0E4C55"/>
          </a:solidFill>
          <a:ln/>
        </p:spPr>
        <p:txBody>
          <a:bodyPr/>
          <a:lstStyle/>
          <a:p>
            <a:endParaRPr lang="en-US"/>
          </a:p>
        </p:txBody>
      </p:sp>
      <p:sp>
        <p:nvSpPr>
          <p:cNvPr id="17" name="Text 15"/>
          <p:cNvSpPr/>
          <p:nvPr/>
        </p:nvSpPr>
        <p:spPr>
          <a:xfrm>
            <a:off x="640080" y="47091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1170432" y="4663440"/>
            <a:ext cx="10241280" cy="256032"/>
          </a:xfrm>
          <a:prstGeom prst="rect">
            <a:avLst/>
          </a:prstGeom>
          <a:noFill/>
          <a:ln/>
        </p:spPr>
        <p:txBody>
          <a:bodyPr wrap="square" lIns="0" tIns="0" rIns="0" bIns="0" rtlCol="0" anchor="ctr"/>
          <a:lstStyle/>
          <a:p>
            <a:pPr marL="0" indent="0">
              <a:buNone/>
            </a:pPr>
            <a:r>
              <a:rPr lang="en-US" sz="1300" b="1" dirty="0">
                <a:solidFill>
                  <a:srgbClr val="0E4C55"/>
                </a:solidFill>
                <a:latin typeface="Calibri" pitchFamily="34" charset="0"/>
                <a:ea typeface="Calibri" pitchFamily="34" charset="-122"/>
                <a:cs typeface="Calibri" pitchFamily="34" charset="-120"/>
              </a:rPr>
              <a:t>Credit unions are often the residual provider</a:t>
            </a:r>
            <a:endParaRPr lang="en-US" sz="1300" dirty="0"/>
          </a:p>
        </p:txBody>
      </p:sp>
      <p:sp>
        <p:nvSpPr>
          <p:cNvPr id="19" name="Text 17"/>
          <p:cNvSpPr/>
          <p:nvPr/>
        </p:nvSpPr>
        <p:spPr>
          <a:xfrm>
            <a:off x="1170432" y="4919472"/>
            <a:ext cx="10149840" cy="457200"/>
          </a:xfrm>
          <a:prstGeom prst="rect">
            <a:avLst/>
          </a:prstGeom>
          <a:noFill/>
          <a:ln/>
        </p:spPr>
        <p:txBody>
          <a:bodyPr wrap="square" lIns="0" tIns="0" rIns="0" bIns="0" rtlCol="0" anchor="ctr"/>
          <a:lstStyle/>
          <a:p>
            <a:pPr marL="0" indent="0">
              <a:lnSpc>
                <a:spcPts val="1450"/>
              </a:lnSpc>
              <a:buNone/>
            </a:pPr>
            <a:r>
              <a:rPr lang="en-US" sz="1100" dirty="0">
                <a:solidFill>
                  <a:srgbClr val="5B6B72"/>
                </a:solidFill>
                <a:latin typeface="Calibri" pitchFamily="34" charset="0"/>
                <a:ea typeface="Calibri" pitchFamily="34" charset="-122"/>
                <a:cs typeface="Calibri" pitchFamily="34" charset="-120"/>
              </a:rPr>
              <a:t>Rural counties are 49.5% of all US counties but hold only 7.9% of the population. In much of that geography the credit union is the only member-owned depository left, and the alternative to it is not another credit union.</a:t>
            </a:r>
            <a:endParaRPr lang="en-US" sz="1100" dirty="0"/>
          </a:p>
        </p:txBody>
      </p:sp>
      <p:sp>
        <p:nvSpPr>
          <p:cNvPr id="20" name="Shape 18"/>
          <p:cNvSpPr/>
          <p:nvPr/>
        </p:nvSpPr>
        <p:spPr>
          <a:xfrm>
            <a:off x="640080" y="5486400"/>
            <a:ext cx="329184" cy="329184"/>
          </a:xfrm>
          <a:prstGeom prst="ellipse">
            <a:avLst/>
          </a:prstGeom>
          <a:solidFill>
            <a:srgbClr val="0E4C55"/>
          </a:solidFill>
          <a:ln/>
        </p:spPr>
        <p:txBody>
          <a:bodyPr/>
          <a:lstStyle/>
          <a:p>
            <a:endParaRPr lang="en-US"/>
          </a:p>
        </p:txBody>
      </p:sp>
      <p:sp>
        <p:nvSpPr>
          <p:cNvPr id="21" name="Text 19"/>
          <p:cNvSpPr/>
          <p:nvPr/>
        </p:nvSpPr>
        <p:spPr>
          <a:xfrm>
            <a:off x="640080" y="548640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p:nvPr/>
        </p:nvSpPr>
        <p:spPr>
          <a:xfrm>
            <a:off x="1170432" y="5440680"/>
            <a:ext cx="10241280" cy="256032"/>
          </a:xfrm>
          <a:prstGeom prst="rect">
            <a:avLst/>
          </a:prstGeom>
          <a:noFill/>
          <a:ln/>
        </p:spPr>
        <p:txBody>
          <a:bodyPr wrap="square" lIns="0" tIns="0" rIns="0" bIns="0" rtlCol="0" anchor="ctr"/>
          <a:lstStyle/>
          <a:p>
            <a:pPr marL="0" indent="0">
              <a:buNone/>
            </a:pPr>
            <a:r>
              <a:rPr lang="en-US" sz="1300" b="1" dirty="0">
                <a:solidFill>
                  <a:srgbClr val="0E4C55"/>
                </a:solidFill>
                <a:latin typeface="Calibri" pitchFamily="34" charset="0"/>
                <a:ea typeface="Calibri" pitchFamily="34" charset="-122"/>
                <a:cs typeface="Calibri" pitchFamily="34" charset="-120"/>
              </a:rPr>
              <a:t>The premise had never been separated from scale</a:t>
            </a:r>
            <a:endParaRPr lang="en-US" sz="1300" dirty="0"/>
          </a:p>
        </p:txBody>
      </p:sp>
      <p:sp>
        <p:nvSpPr>
          <p:cNvPr id="23" name="Text 21"/>
          <p:cNvSpPr/>
          <p:nvPr/>
        </p:nvSpPr>
        <p:spPr>
          <a:xfrm>
            <a:off x="1170432" y="5696712"/>
            <a:ext cx="10149840" cy="457200"/>
          </a:xfrm>
          <a:prstGeom prst="rect">
            <a:avLst/>
          </a:prstGeom>
          <a:noFill/>
          <a:ln/>
        </p:spPr>
        <p:txBody>
          <a:bodyPr wrap="square" lIns="0" tIns="0" rIns="0" bIns="0" rtlCol="0" anchor="ctr"/>
          <a:lstStyle/>
          <a:p>
            <a:pPr marL="0" indent="0">
              <a:lnSpc>
                <a:spcPts val="1450"/>
              </a:lnSpc>
              <a:buNone/>
            </a:pPr>
            <a:r>
              <a:rPr lang="en-US" sz="1100" dirty="0">
                <a:solidFill>
                  <a:srgbClr val="5B6B72"/>
                </a:solidFill>
                <a:latin typeface="Calibri" pitchFamily="34" charset="0"/>
                <a:ea typeface="Calibri" pitchFamily="34" charset="-122"/>
                <a:cs typeface="Calibri" pitchFamily="34" charset="-120"/>
              </a:rPr>
              <a:t>Rural and small are entangled: median rural assets are $38m against $78m non-rural. Rurality and size imply opposite policy responses, and no prior work had told them apart.</a:t>
            </a:r>
            <a:endParaRPr lang="en-US" sz="1100" dirty="0"/>
          </a:p>
        </p:txBody>
      </p:sp>
      <p:sp>
        <p:nvSpPr>
          <p:cNvPr id="24" name="Text 22"/>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An agency that tests the premise it was handed produces a more useful report than one that assumes it.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2 · WHY IT MATTERS</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The sector the statute is about is small, and geographically vast</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468 rural credit unions serve a ninth of the institutions, a fortieth of the assets, and half the counties in the country.</a:t>
            </a:r>
            <a:endParaRPr lang="en-US" sz="1350" dirty="0"/>
          </a:p>
        </p:txBody>
      </p:sp>
      <p:sp>
        <p:nvSpPr>
          <p:cNvPr id="5" name="Shape 3"/>
          <p:cNvSpPr/>
          <p:nvPr/>
        </p:nvSpPr>
        <p:spPr>
          <a:xfrm>
            <a:off x="640080" y="1965960"/>
            <a:ext cx="2514600" cy="1371600"/>
          </a:xfrm>
          <a:prstGeom prst="roundRect">
            <a:avLst>
              <a:gd name="adj" fmla="val 3333"/>
            </a:avLst>
          </a:prstGeom>
          <a:solidFill>
            <a:srgbClr val="F3F5F4"/>
          </a:solidFill>
          <a:ln/>
        </p:spPr>
        <p:txBody>
          <a:bodyPr/>
          <a:lstStyle/>
          <a:p>
            <a:endParaRPr lang="en-US"/>
          </a:p>
        </p:txBody>
      </p:sp>
      <p:sp>
        <p:nvSpPr>
          <p:cNvPr id="6" name="Text 4"/>
          <p:cNvSpPr/>
          <p:nvPr/>
        </p:nvSpPr>
        <p:spPr>
          <a:xfrm>
            <a:off x="868680" y="2103120"/>
            <a:ext cx="2148840" cy="548640"/>
          </a:xfrm>
          <a:prstGeom prst="rect">
            <a:avLst/>
          </a:prstGeom>
          <a:noFill/>
          <a:ln/>
        </p:spPr>
        <p:txBody>
          <a:bodyPr wrap="square" lIns="0" tIns="0" rIns="0" bIns="0" rtlCol="0" anchor="ctr"/>
          <a:lstStyle/>
          <a:p>
            <a:pPr marL="0" indent="0">
              <a:buNone/>
            </a:pPr>
            <a:r>
              <a:rPr lang="en-US" sz="2500" b="1" dirty="0">
                <a:solidFill>
                  <a:srgbClr val="0E4C55"/>
                </a:solidFill>
                <a:latin typeface="Cambria" pitchFamily="34" charset="0"/>
                <a:ea typeface="Cambria" pitchFamily="34" charset="-122"/>
                <a:cs typeface="Cambria" pitchFamily="34" charset="-120"/>
              </a:rPr>
              <a:t>468</a:t>
            </a:r>
            <a:endParaRPr lang="en-US" sz="2500" dirty="0"/>
          </a:p>
        </p:txBody>
      </p:sp>
      <p:sp>
        <p:nvSpPr>
          <p:cNvPr id="7" name="Text 5"/>
          <p:cNvSpPr/>
          <p:nvPr/>
        </p:nvSpPr>
        <p:spPr>
          <a:xfrm>
            <a:off x="868680" y="2651760"/>
            <a:ext cx="2103120" cy="256032"/>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rural credit unions</a:t>
            </a:r>
            <a:endParaRPr lang="en-US" sz="1200" dirty="0"/>
          </a:p>
        </p:txBody>
      </p:sp>
      <p:sp>
        <p:nvSpPr>
          <p:cNvPr id="8" name="Text 6"/>
          <p:cNvSpPr/>
          <p:nvPr/>
        </p:nvSpPr>
        <p:spPr>
          <a:xfrm>
            <a:off x="868680" y="2907792"/>
            <a:ext cx="2148840" cy="365760"/>
          </a:xfrm>
          <a:prstGeom prst="rect">
            <a:avLst/>
          </a:prstGeom>
          <a:noFill/>
          <a:ln/>
        </p:spPr>
        <p:txBody>
          <a:bodyPr wrap="square" lIns="0" tIns="0" rIns="0" bIns="0" rtlCol="0" anchor="ctr"/>
          <a:lstStyle/>
          <a:p>
            <a:pPr marL="0" indent="0">
              <a:lnSpc>
                <a:spcPts val="1300"/>
              </a:lnSpc>
              <a:buNone/>
            </a:pPr>
            <a:r>
              <a:rPr lang="en-US" sz="1050" dirty="0">
                <a:solidFill>
                  <a:srgbClr val="5B6B72"/>
                </a:solidFill>
                <a:latin typeface="Calibri" pitchFamily="34" charset="0"/>
                <a:ea typeface="Calibri" pitchFamily="34" charset="-122"/>
                <a:cs typeface="Calibri" pitchFamily="34" charset="-120"/>
              </a:rPr>
              <a:t>11.1% of all institutions</a:t>
            </a:r>
            <a:endParaRPr lang="en-US" sz="1050" dirty="0"/>
          </a:p>
        </p:txBody>
      </p:sp>
      <p:sp>
        <p:nvSpPr>
          <p:cNvPr id="9" name="Shape 7"/>
          <p:cNvSpPr/>
          <p:nvPr/>
        </p:nvSpPr>
        <p:spPr>
          <a:xfrm>
            <a:off x="3401568" y="1965960"/>
            <a:ext cx="2514600" cy="1371600"/>
          </a:xfrm>
          <a:prstGeom prst="roundRect">
            <a:avLst>
              <a:gd name="adj" fmla="val 3333"/>
            </a:avLst>
          </a:prstGeom>
          <a:solidFill>
            <a:srgbClr val="F3F5F4"/>
          </a:solidFill>
          <a:ln/>
        </p:spPr>
        <p:txBody>
          <a:bodyPr/>
          <a:lstStyle/>
          <a:p>
            <a:endParaRPr lang="en-US"/>
          </a:p>
        </p:txBody>
      </p:sp>
      <p:sp>
        <p:nvSpPr>
          <p:cNvPr id="10" name="Text 8"/>
          <p:cNvSpPr/>
          <p:nvPr/>
        </p:nvSpPr>
        <p:spPr>
          <a:xfrm>
            <a:off x="3630168" y="2103120"/>
            <a:ext cx="2148840" cy="548640"/>
          </a:xfrm>
          <a:prstGeom prst="rect">
            <a:avLst/>
          </a:prstGeom>
          <a:noFill/>
          <a:ln/>
        </p:spPr>
        <p:txBody>
          <a:bodyPr wrap="square" lIns="0" tIns="0" rIns="0" bIns="0" rtlCol="0" anchor="ctr"/>
          <a:lstStyle/>
          <a:p>
            <a:pPr marL="0" indent="0">
              <a:buNone/>
            </a:pPr>
            <a:r>
              <a:rPr lang="en-US" sz="2500" b="1" dirty="0">
                <a:solidFill>
                  <a:srgbClr val="0E4C55"/>
                </a:solidFill>
                <a:latin typeface="Cambria" pitchFamily="34" charset="0"/>
                <a:ea typeface="Cambria" pitchFamily="34" charset="-122"/>
                <a:cs typeface="Cambria" pitchFamily="34" charset="-120"/>
              </a:rPr>
              <a:t>3.83m</a:t>
            </a:r>
            <a:endParaRPr lang="en-US" sz="2500" dirty="0"/>
          </a:p>
        </p:txBody>
      </p:sp>
      <p:sp>
        <p:nvSpPr>
          <p:cNvPr id="11" name="Text 9"/>
          <p:cNvSpPr/>
          <p:nvPr/>
        </p:nvSpPr>
        <p:spPr>
          <a:xfrm>
            <a:off x="3630168" y="2651760"/>
            <a:ext cx="2103120" cy="256032"/>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members</a:t>
            </a:r>
            <a:endParaRPr lang="en-US" sz="1200" dirty="0"/>
          </a:p>
        </p:txBody>
      </p:sp>
      <p:sp>
        <p:nvSpPr>
          <p:cNvPr id="12" name="Text 10"/>
          <p:cNvSpPr/>
          <p:nvPr/>
        </p:nvSpPr>
        <p:spPr>
          <a:xfrm>
            <a:off x="3630168" y="2907792"/>
            <a:ext cx="2148840" cy="365760"/>
          </a:xfrm>
          <a:prstGeom prst="rect">
            <a:avLst/>
          </a:prstGeom>
          <a:noFill/>
          <a:ln/>
        </p:spPr>
        <p:txBody>
          <a:bodyPr wrap="square" lIns="0" tIns="0" rIns="0" bIns="0" rtlCol="0" anchor="ctr"/>
          <a:lstStyle/>
          <a:p>
            <a:pPr marL="0" indent="0">
              <a:lnSpc>
                <a:spcPts val="1300"/>
              </a:lnSpc>
              <a:buNone/>
            </a:pPr>
            <a:r>
              <a:rPr lang="en-US" sz="1050" dirty="0">
                <a:solidFill>
                  <a:srgbClr val="5B6B72"/>
                </a:solidFill>
                <a:latin typeface="Calibri" pitchFamily="34" charset="0"/>
                <a:ea typeface="Calibri" pitchFamily="34" charset="-122"/>
                <a:cs typeface="Calibri" pitchFamily="34" charset="-120"/>
              </a:rPr>
              <a:t>2.6% of the system</a:t>
            </a:r>
            <a:endParaRPr lang="en-US" sz="1050" dirty="0"/>
          </a:p>
        </p:txBody>
      </p:sp>
      <p:sp>
        <p:nvSpPr>
          <p:cNvPr id="13" name="Shape 11"/>
          <p:cNvSpPr/>
          <p:nvPr/>
        </p:nvSpPr>
        <p:spPr>
          <a:xfrm>
            <a:off x="6163056" y="1965960"/>
            <a:ext cx="2514600" cy="1371600"/>
          </a:xfrm>
          <a:prstGeom prst="roundRect">
            <a:avLst>
              <a:gd name="adj" fmla="val 3333"/>
            </a:avLst>
          </a:prstGeom>
          <a:solidFill>
            <a:srgbClr val="F3F5F4"/>
          </a:solidFill>
          <a:ln/>
        </p:spPr>
        <p:txBody>
          <a:bodyPr/>
          <a:lstStyle/>
          <a:p>
            <a:endParaRPr lang="en-US"/>
          </a:p>
        </p:txBody>
      </p:sp>
      <p:sp>
        <p:nvSpPr>
          <p:cNvPr id="14" name="Text 12"/>
          <p:cNvSpPr/>
          <p:nvPr/>
        </p:nvSpPr>
        <p:spPr>
          <a:xfrm>
            <a:off x="6391656" y="2103120"/>
            <a:ext cx="2148840" cy="548640"/>
          </a:xfrm>
          <a:prstGeom prst="rect">
            <a:avLst/>
          </a:prstGeom>
          <a:noFill/>
          <a:ln/>
        </p:spPr>
        <p:txBody>
          <a:bodyPr wrap="square" lIns="0" tIns="0" rIns="0" bIns="0" rtlCol="0" anchor="ctr"/>
          <a:lstStyle/>
          <a:p>
            <a:pPr marL="0" indent="0">
              <a:buNone/>
            </a:pPr>
            <a:r>
              <a:rPr lang="en-US" sz="2500" b="1" dirty="0">
                <a:solidFill>
                  <a:srgbClr val="0E4C55"/>
                </a:solidFill>
                <a:latin typeface="Cambria" pitchFamily="34" charset="0"/>
                <a:ea typeface="Cambria" pitchFamily="34" charset="-122"/>
                <a:cs typeface="Cambria" pitchFamily="34" charset="-120"/>
              </a:rPr>
              <a:t>$63.1bn</a:t>
            </a:r>
            <a:endParaRPr lang="en-US" sz="2500" dirty="0"/>
          </a:p>
        </p:txBody>
      </p:sp>
      <p:sp>
        <p:nvSpPr>
          <p:cNvPr id="15" name="Text 13"/>
          <p:cNvSpPr/>
          <p:nvPr/>
        </p:nvSpPr>
        <p:spPr>
          <a:xfrm>
            <a:off x="6391656" y="2651760"/>
            <a:ext cx="2103120" cy="256032"/>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assets</a:t>
            </a:r>
            <a:endParaRPr lang="en-US" sz="1200" dirty="0"/>
          </a:p>
        </p:txBody>
      </p:sp>
      <p:sp>
        <p:nvSpPr>
          <p:cNvPr id="16" name="Text 14"/>
          <p:cNvSpPr/>
          <p:nvPr/>
        </p:nvSpPr>
        <p:spPr>
          <a:xfrm>
            <a:off x="6391656" y="2907792"/>
            <a:ext cx="2148840" cy="365760"/>
          </a:xfrm>
          <a:prstGeom prst="rect">
            <a:avLst/>
          </a:prstGeom>
          <a:noFill/>
          <a:ln/>
        </p:spPr>
        <p:txBody>
          <a:bodyPr wrap="square" lIns="0" tIns="0" rIns="0" bIns="0" rtlCol="0" anchor="ctr"/>
          <a:lstStyle/>
          <a:p>
            <a:pPr marL="0" indent="0">
              <a:lnSpc>
                <a:spcPts val="1300"/>
              </a:lnSpc>
              <a:buNone/>
            </a:pPr>
            <a:r>
              <a:rPr lang="en-US" sz="1050" dirty="0">
                <a:solidFill>
                  <a:srgbClr val="5B6B72"/>
                </a:solidFill>
                <a:latin typeface="Calibri" pitchFamily="34" charset="0"/>
                <a:ea typeface="Calibri" pitchFamily="34" charset="-122"/>
                <a:cs typeface="Calibri" pitchFamily="34" charset="-120"/>
              </a:rPr>
              <a:t>2.5% of the system</a:t>
            </a:r>
            <a:endParaRPr lang="en-US" sz="1050" dirty="0"/>
          </a:p>
        </p:txBody>
      </p:sp>
      <p:sp>
        <p:nvSpPr>
          <p:cNvPr id="17" name="Shape 15"/>
          <p:cNvSpPr/>
          <p:nvPr/>
        </p:nvSpPr>
        <p:spPr>
          <a:xfrm>
            <a:off x="8924544" y="1965960"/>
            <a:ext cx="2514600" cy="1371600"/>
          </a:xfrm>
          <a:prstGeom prst="roundRect">
            <a:avLst>
              <a:gd name="adj" fmla="val 3333"/>
            </a:avLst>
          </a:prstGeom>
          <a:solidFill>
            <a:srgbClr val="F3F5F4"/>
          </a:solidFill>
          <a:ln/>
        </p:spPr>
        <p:txBody>
          <a:bodyPr/>
          <a:lstStyle/>
          <a:p>
            <a:endParaRPr lang="en-US"/>
          </a:p>
        </p:txBody>
      </p:sp>
      <p:sp>
        <p:nvSpPr>
          <p:cNvPr id="18" name="Text 16"/>
          <p:cNvSpPr/>
          <p:nvPr/>
        </p:nvSpPr>
        <p:spPr>
          <a:xfrm>
            <a:off x="9153144" y="2103120"/>
            <a:ext cx="2148840" cy="548640"/>
          </a:xfrm>
          <a:prstGeom prst="rect">
            <a:avLst/>
          </a:prstGeom>
          <a:noFill/>
          <a:ln/>
        </p:spPr>
        <p:txBody>
          <a:bodyPr wrap="square" lIns="0" tIns="0" rIns="0" bIns="0" rtlCol="0" anchor="ctr"/>
          <a:lstStyle/>
          <a:p>
            <a:pPr marL="0" indent="0">
              <a:buNone/>
            </a:pPr>
            <a:r>
              <a:rPr lang="en-US" sz="2500" b="1" dirty="0">
                <a:solidFill>
                  <a:srgbClr val="0E4C55"/>
                </a:solidFill>
                <a:latin typeface="Cambria" pitchFamily="34" charset="0"/>
                <a:ea typeface="Cambria" pitchFamily="34" charset="-122"/>
                <a:cs typeface="Cambria" pitchFamily="34" charset="-120"/>
              </a:rPr>
              <a:t>1,556</a:t>
            </a:r>
            <a:endParaRPr lang="en-US" sz="2500" dirty="0"/>
          </a:p>
        </p:txBody>
      </p:sp>
      <p:sp>
        <p:nvSpPr>
          <p:cNvPr id="19" name="Text 17"/>
          <p:cNvSpPr/>
          <p:nvPr/>
        </p:nvSpPr>
        <p:spPr>
          <a:xfrm>
            <a:off x="9153144" y="2651760"/>
            <a:ext cx="2103120" cy="256032"/>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rural counties</a:t>
            </a:r>
            <a:endParaRPr lang="en-US" sz="1200" dirty="0"/>
          </a:p>
        </p:txBody>
      </p:sp>
      <p:sp>
        <p:nvSpPr>
          <p:cNvPr id="20" name="Text 18"/>
          <p:cNvSpPr/>
          <p:nvPr/>
        </p:nvSpPr>
        <p:spPr>
          <a:xfrm>
            <a:off x="9153144" y="2907792"/>
            <a:ext cx="2148840" cy="365760"/>
          </a:xfrm>
          <a:prstGeom prst="rect">
            <a:avLst/>
          </a:prstGeom>
          <a:noFill/>
          <a:ln/>
        </p:spPr>
        <p:txBody>
          <a:bodyPr wrap="square" lIns="0" tIns="0" rIns="0" bIns="0" rtlCol="0" anchor="ctr"/>
          <a:lstStyle/>
          <a:p>
            <a:pPr marL="0" indent="0">
              <a:lnSpc>
                <a:spcPts val="1300"/>
              </a:lnSpc>
              <a:buNone/>
            </a:pPr>
            <a:r>
              <a:rPr lang="en-US" sz="1050" dirty="0">
                <a:solidFill>
                  <a:srgbClr val="5B6B72"/>
                </a:solidFill>
                <a:latin typeface="Calibri" pitchFamily="34" charset="0"/>
                <a:ea typeface="Calibri" pitchFamily="34" charset="-122"/>
                <a:cs typeface="Calibri" pitchFamily="34" charset="-120"/>
              </a:rPr>
              <a:t>49.5% of counties, 7.9% of people</a:t>
            </a:r>
            <a:endParaRPr lang="en-US" sz="1050" dirty="0"/>
          </a:p>
        </p:txBody>
      </p:sp>
      <p:sp>
        <p:nvSpPr>
          <p:cNvPr id="21" name="Text 19"/>
          <p:cNvSpPr/>
          <p:nvPr/>
        </p:nvSpPr>
        <p:spPr>
          <a:xfrm>
            <a:off x="640080" y="3520440"/>
            <a:ext cx="5120640" cy="274320"/>
          </a:xfrm>
          <a:prstGeom prst="rect">
            <a:avLst/>
          </a:prstGeom>
          <a:noFill/>
          <a:ln/>
        </p:spPr>
        <p:txBody>
          <a:bodyPr wrap="square" lIns="0" tIns="0" rIns="0" bIns="0" rtlCol="0" anchor="ctr"/>
          <a:lstStyle/>
          <a:p>
            <a:pPr marL="0" indent="0">
              <a:buNone/>
            </a:pPr>
            <a:r>
              <a:rPr lang="en-US" sz="1300" b="1" dirty="0">
                <a:solidFill>
                  <a:srgbClr val="0E4C55"/>
                </a:solidFill>
                <a:latin typeface="Calibri" pitchFamily="34" charset="0"/>
                <a:ea typeface="Calibri" pitchFamily="34" charset="-122"/>
                <a:cs typeface="Calibri" pitchFamily="34" charset="-120"/>
              </a:rPr>
              <a:t>Rural credit unions are not one population</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3886200"/>
          <a:ext cx="512064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01752">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State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Rural share of CUs</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Rural CU assets</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extLst>
                  <a:ext uri="{0D108BD9-81ED-4DB2-BD59-A6C34878D82A}">
                    <a16:rowId xmlns:a16="http://schemas.microsoft.com/office/drawing/2014/main" val="10000"/>
                  </a:ext>
                </a:extLst>
              </a:tr>
              <a:tr h="301752">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Montana</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$3.9bn</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1"/>
                  </a:ext>
                </a:extLst>
              </a:tr>
              <a:tr h="301752">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South Dakota</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Hawaii</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$4.3bn</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3"/>
                  </a:ext>
                </a:extLst>
              </a:tr>
              <a:tr h="301752">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Michigan</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$6.4bn</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301752">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Wisconsin</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$5.9bn</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5"/>
                  </a:ext>
                </a:extLst>
              </a:tr>
              <a:tr h="301752">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Texas</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most rural CUs anywhere (44)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6"/>
                  </a:ext>
                </a:extLst>
              </a:tr>
            </a:tbl>
          </a:graphicData>
        </a:graphic>
      </p:graphicFrame>
      <p:sp>
        <p:nvSpPr>
          <p:cNvPr id="23" name="Shape 20"/>
          <p:cNvSpPr/>
          <p:nvPr/>
        </p:nvSpPr>
        <p:spPr>
          <a:xfrm>
            <a:off x="6035040" y="3520440"/>
            <a:ext cx="5486400" cy="2514600"/>
          </a:xfrm>
          <a:prstGeom prst="roundRect">
            <a:avLst>
              <a:gd name="adj" fmla="val 1818"/>
            </a:avLst>
          </a:prstGeom>
          <a:solidFill>
            <a:srgbClr val="F3F5F4"/>
          </a:solidFill>
          <a:ln/>
        </p:spPr>
        <p:txBody>
          <a:bodyPr/>
          <a:lstStyle/>
          <a:p>
            <a:endParaRPr lang="en-US"/>
          </a:p>
        </p:txBody>
      </p:sp>
      <p:sp>
        <p:nvSpPr>
          <p:cNvPr id="24" name="Text 21"/>
          <p:cNvSpPr/>
          <p:nvPr/>
        </p:nvSpPr>
        <p:spPr>
          <a:xfrm>
            <a:off x="6309360" y="3703320"/>
            <a:ext cx="4937760" cy="256032"/>
          </a:xfrm>
          <a:prstGeom prst="rect">
            <a:avLst/>
          </a:prstGeom>
          <a:noFill/>
          <a:ln/>
        </p:spPr>
        <p:txBody>
          <a:bodyPr wrap="square" lIns="0" tIns="0" rIns="0" bIns="0" rtlCol="0" anchor="ctr"/>
          <a:lstStyle/>
          <a:p>
            <a:pPr marL="0" indent="0">
              <a:buNone/>
            </a:pPr>
            <a:r>
              <a:rPr lang="en-US" sz="1200" b="1" dirty="0">
                <a:solidFill>
                  <a:srgbClr val="C8553D"/>
                </a:solidFill>
                <a:latin typeface="Calibri" pitchFamily="34" charset="0"/>
                <a:ea typeface="Calibri" pitchFamily="34" charset="-122"/>
                <a:cs typeface="Calibri" pitchFamily="34" charset="-120"/>
              </a:rPr>
              <a:t>Why the asymmetry matters</a:t>
            </a:r>
            <a:endParaRPr lang="en-US" sz="1200" dirty="0"/>
          </a:p>
        </p:txBody>
      </p:sp>
      <p:sp>
        <p:nvSpPr>
          <p:cNvPr id="25" name="Text 22"/>
          <p:cNvSpPr/>
          <p:nvPr/>
        </p:nvSpPr>
        <p:spPr>
          <a:xfrm>
            <a:off x="6309360" y="4023360"/>
            <a:ext cx="4937760" cy="1874520"/>
          </a:xfrm>
          <a:prstGeom prst="rect">
            <a:avLst/>
          </a:prstGeom>
          <a:noFill/>
          <a:ln/>
        </p:spPr>
        <p:txBody>
          <a:bodyPr wrap="square" lIns="0" tIns="0" rIns="0" bIns="0" rtlCol="0" anchor="ctr"/>
          <a:lstStyle/>
          <a:p>
            <a:pPr marL="0" indent="0">
              <a:lnSpc>
                <a:spcPts val="1550"/>
              </a:lnSpc>
              <a:buNone/>
            </a:pPr>
            <a:r>
              <a:rPr lang="en-US" sz="1150" dirty="0">
                <a:solidFill>
                  <a:srgbClr val="12202E"/>
                </a:solidFill>
                <a:latin typeface="Calibri" pitchFamily="34" charset="0"/>
                <a:ea typeface="Calibri" pitchFamily="34" charset="-122"/>
                <a:cs typeface="Calibri" pitchFamily="34" charset="-120"/>
              </a:rPr>
              <a:t>Half the country's counties hold a fourteenth of its people. Rural institutions are small because their markets are small — not, on this evidence, because they are badly run.</a:t>
            </a:r>
            <a:endParaRPr lang="en-US" sz="1150" dirty="0"/>
          </a:p>
          <a:p>
            <a:pPr marL="0" indent="0">
              <a:lnSpc>
                <a:spcPts val="1550"/>
              </a:lnSpc>
              <a:buNone/>
            </a:pPr>
            <a:endParaRPr lang="en-US" sz="1150" dirty="0"/>
          </a:p>
          <a:p>
            <a:pPr marL="0" indent="0">
              <a:lnSpc>
                <a:spcPts val="1550"/>
              </a:lnSpc>
              <a:buNone/>
            </a:pPr>
            <a:r>
              <a:rPr lang="en-US" sz="1150" dirty="0">
                <a:solidFill>
                  <a:srgbClr val="12202E"/>
                </a:solidFill>
                <a:latin typeface="Calibri" pitchFamily="34" charset="0"/>
                <a:ea typeface="Calibri" pitchFamily="34" charset="-122"/>
                <a:cs typeface="Calibri" pitchFamily="34" charset="-120"/>
              </a:rPr>
              <a:t>56% of rural credit unions hold under $50m in assets, against 41% of non-rural. The band above $1bn contains only ten rural institutions in the entire country.</a:t>
            </a:r>
            <a:endParaRPr lang="en-US" sz="1150" dirty="0"/>
          </a:p>
          <a:p>
            <a:pPr marL="0" indent="0">
              <a:lnSpc>
                <a:spcPts val="1550"/>
              </a:lnSpc>
              <a:buNone/>
            </a:pPr>
            <a:endParaRPr lang="en-US" sz="1150" dirty="0"/>
          </a:p>
          <a:p>
            <a:pPr marL="0" indent="0">
              <a:lnSpc>
                <a:spcPts val="1550"/>
              </a:lnSpc>
              <a:buNone/>
            </a:pPr>
            <a:r>
              <a:rPr lang="en-US" sz="1150" b="1" dirty="0">
                <a:solidFill>
                  <a:srgbClr val="12202E"/>
                </a:solidFill>
                <a:latin typeface="Calibri" pitchFamily="34" charset="0"/>
                <a:ea typeface="Calibri" pitchFamily="34" charset="-122"/>
                <a:cs typeface="Calibri" pitchFamily="34" charset="-120"/>
              </a:rPr>
              <a:t>Any recommendation that requires scale to implement will reach almost none of this sector.</a:t>
            </a:r>
            <a:endParaRPr lang="en-US" sz="1150" dirty="0"/>
          </a:p>
        </p:txBody>
      </p:sp>
      <p:sp>
        <p:nvSpPr>
          <p:cNvPr id="26" name="Text 23"/>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2026Q1. Median assets $38m rural against $78m non-rural.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2 · THE MANDATE</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What Section 909 actually requires</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Two duties, one deadline, and a definition we do not get to choose.</a:t>
            </a:r>
            <a:endParaRPr lang="en-US" sz="1350" dirty="0"/>
          </a:p>
        </p:txBody>
      </p:sp>
      <p:sp>
        <p:nvSpPr>
          <p:cNvPr id="5" name="Shape 3"/>
          <p:cNvSpPr/>
          <p:nvPr/>
        </p:nvSpPr>
        <p:spPr>
          <a:xfrm>
            <a:off x="640080" y="1874520"/>
            <a:ext cx="5257800" cy="1874520"/>
          </a:xfrm>
          <a:prstGeom prst="roundRect">
            <a:avLst>
              <a:gd name="adj" fmla="val 2439"/>
            </a:avLst>
          </a:prstGeom>
          <a:solidFill>
            <a:srgbClr val="F3F5F4"/>
          </a:solidFill>
          <a:ln/>
        </p:spPr>
        <p:txBody>
          <a:bodyPr/>
          <a:lstStyle/>
          <a:p>
            <a:endParaRPr lang="en-US"/>
          </a:p>
        </p:txBody>
      </p:sp>
      <p:sp>
        <p:nvSpPr>
          <p:cNvPr id="6" name="Text 4"/>
          <p:cNvSpPr/>
          <p:nvPr/>
        </p:nvSpPr>
        <p:spPr>
          <a:xfrm>
            <a:off x="932688" y="2057400"/>
            <a:ext cx="4572000" cy="256032"/>
          </a:xfrm>
          <a:prstGeom prst="rect">
            <a:avLst/>
          </a:prstGeom>
          <a:noFill/>
          <a:ln/>
        </p:spPr>
        <p:txBody>
          <a:bodyPr wrap="square" lIns="0" tIns="0" rIns="0" bIns="0" rtlCol="0" anchor="ctr"/>
          <a:lstStyle/>
          <a:p>
            <a:pPr marL="0" indent="0">
              <a:buNone/>
            </a:pPr>
            <a:r>
              <a:rPr lang="en-US" sz="1150" b="1" kern="0" spc="100" dirty="0">
                <a:solidFill>
                  <a:srgbClr val="C8553D"/>
                </a:solidFill>
                <a:latin typeface="Calibri" pitchFamily="34" charset="0"/>
                <a:ea typeface="Calibri" pitchFamily="34" charset="-122"/>
                <a:cs typeface="Calibri" pitchFamily="34" charset="-120"/>
              </a:rPr>
              <a:t>METHODS</a:t>
            </a:r>
            <a:endParaRPr lang="en-US" sz="1150" dirty="0"/>
          </a:p>
        </p:txBody>
      </p:sp>
      <p:sp>
        <p:nvSpPr>
          <p:cNvPr id="7" name="Text 5"/>
          <p:cNvSpPr/>
          <p:nvPr/>
        </p:nvSpPr>
        <p:spPr>
          <a:xfrm>
            <a:off x="932688" y="2359152"/>
            <a:ext cx="4709160" cy="731520"/>
          </a:xfrm>
          <a:prstGeom prst="rect">
            <a:avLst/>
          </a:prstGeom>
          <a:noFill/>
          <a:ln/>
        </p:spPr>
        <p:txBody>
          <a:bodyPr wrap="square" lIns="0" tIns="0" rIns="0" bIns="0" rtlCol="0" anchor="ctr"/>
          <a:lstStyle/>
          <a:p>
            <a:pPr marL="0" indent="0">
              <a:lnSpc>
                <a:spcPts val="1800"/>
              </a:lnSpc>
              <a:buNone/>
            </a:pPr>
            <a:r>
              <a:rPr lang="en-US" sz="1300" dirty="0">
                <a:solidFill>
                  <a:srgbClr val="12202E"/>
                </a:solidFill>
                <a:latin typeface="Calibri" pitchFamily="34" charset="0"/>
                <a:ea typeface="Calibri" pitchFamily="34" charset="-122"/>
                <a:cs typeface="Calibri" pitchFamily="34" charset="-120"/>
              </a:rPr>
              <a:t>Identify methods to improve the growth, capital adequacy and profitability of credit unions that primarily serve rural areas.</a:t>
            </a:r>
            <a:endParaRPr lang="en-US" sz="1300" dirty="0"/>
          </a:p>
        </p:txBody>
      </p:sp>
      <p:sp>
        <p:nvSpPr>
          <p:cNvPr id="8" name="Text 6"/>
          <p:cNvSpPr/>
          <p:nvPr/>
        </p:nvSpPr>
        <p:spPr>
          <a:xfrm>
            <a:off x="932688" y="3200400"/>
            <a:ext cx="4709160" cy="411480"/>
          </a:xfrm>
          <a:prstGeom prst="rect">
            <a:avLst/>
          </a:prstGeom>
          <a:noFill/>
          <a:ln/>
        </p:spPr>
        <p:txBody>
          <a:bodyPr wrap="square" lIns="0" tIns="0" rIns="0" bIns="0" rtlCol="0" anchor="ctr"/>
          <a:lstStyle/>
          <a:p>
            <a:pPr marL="0" indent="0">
              <a:lnSpc>
                <a:spcPts val="1400"/>
              </a:lnSpc>
              <a:buNone/>
            </a:pPr>
            <a:r>
              <a:rPr lang="en-US" sz="1050" i="1" dirty="0">
                <a:solidFill>
                  <a:srgbClr val="5B6B72"/>
                </a:solidFill>
                <a:latin typeface="Calibri" pitchFamily="34" charset="0"/>
                <a:ea typeface="Calibri" pitchFamily="34" charset="-122"/>
                <a:cs typeface="Calibri" pitchFamily="34" charset="-120"/>
              </a:rPr>
              <a:t>Our findings weaken this branch: the institutions are not underperforming.</a:t>
            </a:r>
            <a:endParaRPr lang="en-US" sz="1050" dirty="0"/>
          </a:p>
        </p:txBody>
      </p:sp>
      <p:sp>
        <p:nvSpPr>
          <p:cNvPr id="9" name="Shape 7"/>
          <p:cNvSpPr/>
          <p:nvPr/>
        </p:nvSpPr>
        <p:spPr>
          <a:xfrm>
            <a:off x="6263640" y="1874520"/>
            <a:ext cx="5257800" cy="1874520"/>
          </a:xfrm>
          <a:prstGeom prst="roundRect">
            <a:avLst>
              <a:gd name="adj" fmla="val 2439"/>
            </a:avLst>
          </a:prstGeom>
          <a:solidFill>
            <a:srgbClr val="DCE6E4"/>
          </a:solidFill>
          <a:ln/>
        </p:spPr>
        <p:txBody>
          <a:bodyPr/>
          <a:lstStyle/>
          <a:p>
            <a:endParaRPr lang="en-US"/>
          </a:p>
        </p:txBody>
      </p:sp>
      <p:sp>
        <p:nvSpPr>
          <p:cNvPr id="10" name="Text 8"/>
          <p:cNvSpPr/>
          <p:nvPr/>
        </p:nvSpPr>
        <p:spPr>
          <a:xfrm>
            <a:off x="6556248" y="2057400"/>
            <a:ext cx="4572000" cy="256032"/>
          </a:xfrm>
          <a:prstGeom prst="rect">
            <a:avLst/>
          </a:prstGeom>
          <a:noFill/>
          <a:ln/>
        </p:spPr>
        <p:txBody>
          <a:bodyPr wrap="square" lIns="0" tIns="0" rIns="0" bIns="0" rtlCol="0" anchor="ctr"/>
          <a:lstStyle/>
          <a:p>
            <a:pPr marL="0" indent="0">
              <a:buNone/>
            </a:pPr>
            <a:r>
              <a:rPr lang="en-US" sz="1150" b="1" kern="0" spc="100" dirty="0">
                <a:solidFill>
                  <a:srgbClr val="C8553D"/>
                </a:solidFill>
                <a:latin typeface="Calibri" pitchFamily="34" charset="0"/>
                <a:ea typeface="Calibri" pitchFamily="34" charset="-122"/>
                <a:cs typeface="Calibri" pitchFamily="34" charset="-120"/>
              </a:rPr>
              <a:t>BARRIERS</a:t>
            </a:r>
            <a:endParaRPr lang="en-US" sz="1150" dirty="0"/>
          </a:p>
        </p:txBody>
      </p:sp>
      <p:sp>
        <p:nvSpPr>
          <p:cNvPr id="11" name="Text 9"/>
          <p:cNvSpPr/>
          <p:nvPr/>
        </p:nvSpPr>
        <p:spPr>
          <a:xfrm>
            <a:off x="6556248" y="2359152"/>
            <a:ext cx="4709160" cy="731520"/>
          </a:xfrm>
          <a:prstGeom prst="rect">
            <a:avLst/>
          </a:prstGeom>
          <a:noFill/>
          <a:ln/>
        </p:spPr>
        <p:txBody>
          <a:bodyPr wrap="square" lIns="0" tIns="0" rIns="0" bIns="0" rtlCol="0" anchor="ctr"/>
          <a:lstStyle/>
          <a:p>
            <a:pPr marL="0" indent="0">
              <a:lnSpc>
                <a:spcPts val="1800"/>
              </a:lnSpc>
              <a:buNone/>
            </a:pPr>
            <a:r>
              <a:rPr lang="en-US" sz="1300" dirty="0">
                <a:solidFill>
                  <a:srgbClr val="12202E"/>
                </a:solidFill>
                <a:latin typeface="Calibri" pitchFamily="34" charset="0"/>
                <a:ea typeface="Calibri" pitchFamily="34" charset="-122"/>
                <a:cs typeface="Calibri" pitchFamily="34" charset="-120"/>
              </a:rPr>
              <a:t>Identify federal statutes or NCUA regulations that limit those methods — or that limit the establishment of de novo credit unions in rural areas.</a:t>
            </a:r>
            <a:endParaRPr lang="en-US" sz="1300" dirty="0"/>
          </a:p>
        </p:txBody>
      </p:sp>
      <p:sp>
        <p:nvSpPr>
          <p:cNvPr id="12" name="Text 10"/>
          <p:cNvSpPr/>
          <p:nvPr/>
        </p:nvSpPr>
        <p:spPr>
          <a:xfrm>
            <a:off x="6556248" y="3200400"/>
            <a:ext cx="4709160" cy="411480"/>
          </a:xfrm>
          <a:prstGeom prst="rect">
            <a:avLst/>
          </a:prstGeom>
          <a:noFill/>
          <a:ln/>
        </p:spPr>
        <p:txBody>
          <a:bodyPr wrap="square" lIns="0" tIns="0" rIns="0" bIns="0" rtlCol="0" anchor="ctr"/>
          <a:lstStyle/>
          <a:p>
            <a:pPr marL="0" indent="0">
              <a:lnSpc>
                <a:spcPts val="1400"/>
              </a:lnSpc>
              <a:buNone/>
            </a:pPr>
            <a:r>
              <a:rPr lang="en-US" sz="1050" b="1" i="1" dirty="0">
                <a:solidFill>
                  <a:srgbClr val="0E4C55"/>
                </a:solidFill>
                <a:latin typeface="Calibri" pitchFamily="34" charset="0"/>
                <a:ea typeface="Calibri" pitchFamily="34" charset="-122"/>
                <a:cs typeface="Calibri" pitchFamily="34" charset="-120"/>
              </a:rPr>
              <a:t>Our findings put nearly all the weight here, on the de novo clause.</a:t>
            </a:r>
            <a:endParaRPr lang="en-US" sz="1050" dirty="0"/>
          </a:p>
        </p:txBody>
      </p:sp>
      <p:sp>
        <p:nvSpPr>
          <p:cNvPr id="13" name="Shape 11"/>
          <p:cNvSpPr/>
          <p:nvPr/>
        </p:nvSpPr>
        <p:spPr>
          <a:xfrm>
            <a:off x="640080" y="3977640"/>
            <a:ext cx="3291840" cy="2057400"/>
          </a:xfrm>
          <a:prstGeom prst="roundRect">
            <a:avLst>
              <a:gd name="adj" fmla="val 2222"/>
            </a:avLst>
          </a:prstGeom>
          <a:solidFill>
            <a:srgbClr val="F3F5F4"/>
          </a:solidFill>
          <a:ln/>
        </p:spPr>
        <p:txBody>
          <a:bodyPr/>
          <a:lstStyle/>
          <a:p>
            <a:endParaRPr lang="en-US"/>
          </a:p>
        </p:txBody>
      </p:sp>
      <p:sp>
        <p:nvSpPr>
          <p:cNvPr id="14" name="Text 12"/>
          <p:cNvSpPr/>
          <p:nvPr/>
        </p:nvSpPr>
        <p:spPr>
          <a:xfrm>
            <a:off x="896112" y="4133088"/>
            <a:ext cx="2743200" cy="228600"/>
          </a:xfrm>
          <a:prstGeom prst="rect">
            <a:avLst/>
          </a:prstGeom>
          <a:noFill/>
          <a:ln/>
        </p:spPr>
        <p:txBody>
          <a:bodyPr wrap="square" lIns="0" tIns="0" rIns="0" bIns="0" rtlCol="0" anchor="ctr"/>
          <a:lstStyle/>
          <a:p>
            <a:pPr marL="0" indent="0">
              <a:buNone/>
            </a:pPr>
            <a:r>
              <a:rPr lang="en-US" sz="1000" b="1" kern="0" spc="100" dirty="0">
                <a:solidFill>
                  <a:srgbClr val="7FB0AE"/>
                </a:solidFill>
                <a:latin typeface="Calibri" pitchFamily="34" charset="0"/>
                <a:ea typeface="Calibri" pitchFamily="34" charset="-122"/>
                <a:cs typeface="Calibri" pitchFamily="34" charset="-120"/>
              </a:rPr>
              <a:t>DEFINITION</a:t>
            </a:r>
            <a:endParaRPr lang="en-US" sz="1000" dirty="0"/>
          </a:p>
        </p:txBody>
      </p:sp>
      <p:sp>
        <p:nvSpPr>
          <p:cNvPr id="15" name="Text 13"/>
          <p:cNvSpPr/>
          <p:nvPr/>
        </p:nvSpPr>
        <p:spPr>
          <a:xfrm>
            <a:off x="896112" y="4370832"/>
            <a:ext cx="2880360" cy="274320"/>
          </a:xfrm>
          <a:prstGeom prst="rect">
            <a:avLst/>
          </a:prstGeom>
          <a:noFill/>
          <a:ln/>
        </p:spPr>
        <p:txBody>
          <a:bodyPr wrap="square" lIns="0" tIns="0" rIns="0" bIns="0" rtlCol="0" anchor="ctr"/>
          <a:lstStyle/>
          <a:p>
            <a:pPr marL="0" indent="0">
              <a:buNone/>
            </a:pPr>
            <a:r>
              <a:rPr lang="en-US" sz="1250" b="1" dirty="0">
                <a:solidFill>
                  <a:srgbClr val="0E4C55"/>
                </a:solidFill>
                <a:latin typeface="Calibri" pitchFamily="34" charset="0"/>
                <a:ea typeface="Calibri" pitchFamily="34" charset="-122"/>
                <a:cs typeface="Calibri" pitchFamily="34" charset="-120"/>
              </a:rPr>
              <a:t>Imported, not chosen</a:t>
            </a:r>
            <a:endParaRPr lang="en-US" sz="1250" dirty="0"/>
          </a:p>
        </p:txBody>
      </p:sp>
      <p:sp>
        <p:nvSpPr>
          <p:cNvPr id="16" name="Text 14"/>
          <p:cNvSpPr/>
          <p:nvPr/>
        </p:nvSpPr>
        <p:spPr>
          <a:xfrm>
            <a:off x="896112" y="4681728"/>
            <a:ext cx="2788920" cy="123444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The statute adopts 12 CFR 1026.35(b)(2)(iv)(A) — a county neither in a metropolitan statistical area nor in a micropolitan area adjacent to one. We operationalise it through USDA-ERS Urban Influence Codes.</a:t>
            </a:r>
            <a:endParaRPr lang="en-US" sz="1050" dirty="0"/>
          </a:p>
        </p:txBody>
      </p:sp>
      <p:sp>
        <p:nvSpPr>
          <p:cNvPr id="17" name="Shape 15"/>
          <p:cNvSpPr/>
          <p:nvPr/>
        </p:nvSpPr>
        <p:spPr>
          <a:xfrm>
            <a:off x="4297680" y="3977640"/>
            <a:ext cx="3291840" cy="2057400"/>
          </a:xfrm>
          <a:prstGeom prst="roundRect">
            <a:avLst>
              <a:gd name="adj" fmla="val 2222"/>
            </a:avLst>
          </a:prstGeom>
          <a:solidFill>
            <a:srgbClr val="F3F5F4"/>
          </a:solidFill>
          <a:ln/>
        </p:spPr>
        <p:txBody>
          <a:bodyPr/>
          <a:lstStyle/>
          <a:p>
            <a:endParaRPr lang="en-US"/>
          </a:p>
        </p:txBody>
      </p:sp>
      <p:sp>
        <p:nvSpPr>
          <p:cNvPr id="18" name="Text 16"/>
          <p:cNvSpPr/>
          <p:nvPr/>
        </p:nvSpPr>
        <p:spPr>
          <a:xfrm>
            <a:off x="4553712" y="4133088"/>
            <a:ext cx="2743200" cy="228600"/>
          </a:xfrm>
          <a:prstGeom prst="rect">
            <a:avLst/>
          </a:prstGeom>
          <a:noFill/>
          <a:ln/>
        </p:spPr>
        <p:txBody>
          <a:bodyPr wrap="square" lIns="0" tIns="0" rIns="0" bIns="0" rtlCol="0" anchor="ctr"/>
          <a:lstStyle/>
          <a:p>
            <a:pPr marL="0" indent="0">
              <a:buNone/>
            </a:pPr>
            <a:r>
              <a:rPr lang="en-US" sz="1000" b="1" kern="0" spc="100" dirty="0">
                <a:solidFill>
                  <a:srgbClr val="7FB0AE"/>
                </a:solidFill>
                <a:latin typeface="Calibri" pitchFamily="34" charset="0"/>
                <a:ea typeface="Calibri" pitchFamily="34" charset="-122"/>
                <a:cs typeface="Calibri" pitchFamily="34" charset="-120"/>
              </a:rPr>
              <a:t>DEADLINE</a:t>
            </a:r>
            <a:endParaRPr lang="en-US" sz="1000" dirty="0"/>
          </a:p>
        </p:txBody>
      </p:sp>
      <p:sp>
        <p:nvSpPr>
          <p:cNvPr id="19" name="Text 17"/>
          <p:cNvSpPr/>
          <p:nvPr/>
        </p:nvSpPr>
        <p:spPr>
          <a:xfrm>
            <a:off x="4553712" y="4370832"/>
            <a:ext cx="2880360" cy="274320"/>
          </a:xfrm>
          <a:prstGeom prst="rect">
            <a:avLst/>
          </a:prstGeom>
          <a:noFill/>
          <a:ln/>
        </p:spPr>
        <p:txBody>
          <a:bodyPr wrap="square" lIns="0" tIns="0" rIns="0" bIns="0" rtlCol="0" anchor="ctr"/>
          <a:lstStyle/>
          <a:p>
            <a:pPr marL="0" indent="0">
              <a:buNone/>
            </a:pPr>
            <a:r>
              <a:rPr lang="en-US" sz="1250" b="1" dirty="0">
                <a:solidFill>
                  <a:srgbClr val="0E4C55"/>
                </a:solidFill>
                <a:latin typeface="Calibri" pitchFamily="34" charset="0"/>
                <a:ea typeface="Calibri" pitchFamily="34" charset="-122"/>
                <a:cs typeface="Calibri" pitchFamily="34" charset="-120"/>
              </a:rPr>
              <a:t>One year from enactment</a:t>
            </a:r>
            <a:endParaRPr lang="en-US" sz="1250" dirty="0"/>
          </a:p>
        </p:txBody>
      </p:sp>
      <p:sp>
        <p:nvSpPr>
          <p:cNvPr id="20" name="Text 18"/>
          <p:cNvSpPr/>
          <p:nvPr/>
        </p:nvSpPr>
        <p:spPr>
          <a:xfrm>
            <a:off x="4553712" y="4681728"/>
            <a:ext cx="2788920" cy="123444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The Act took effect 11 July 2026. The report is due to House Financial Services and Senate Banking in July 2027, leaving roughly eleven months of production time.</a:t>
            </a:r>
            <a:endParaRPr lang="en-US" sz="1050" dirty="0"/>
          </a:p>
        </p:txBody>
      </p:sp>
      <p:sp>
        <p:nvSpPr>
          <p:cNvPr id="21" name="Shape 19"/>
          <p:cNvSpPr/>
          <p:nvPr/>
        </p:nvSpPr>
        <p:spPr>
          <a:xfrm>
            <a:off x="7955280" y="3977640"/>
            <a:ext cx="3291840" cy="2057400"/>
          </a:xfrm>
          <a:prstGeom prst="roundRect">
            <a:avLst>
              <a:gd name="adj" fmla="val 2222"/>
            </a:avLst>
          </a:prstGeom>
          <a:solidFill>
            <a:srgbClr val="F3F5F4"/>
          </a:solidFill>
          <a:ln/>
        </p:spPr>
        <p:txBody>
          <a:bodyPr/>
          <a:lstStyle/>
          <a:p>
            <a:endParaRPr lang="en-US"/>
          </a:p>
        </p:txBody>
      </p:sp>
      <p:sp>
        <p:nvSpPr>
          <p:cNvPr id="22" name="Text 20"/>
          <p:cNvSpPr/>
          <p:nvPr/>
        </p:nvSpPr>
        <p:spPr>
          <a:xfrm>
            <a:off x="8211312" y="4133088"/>
            <a:ext cx="2743200" cy="228600"/>
          </a:xfrm>
          <a:prstGeom prst="rect">
            <a:avLst/>
          </a:prstGeom>
          <a:noFill/>
          <a:ln/>
        </p:spPr>
        <p:txBody>
          <a:bodyPr wrap="square" lIns="0" tIns="0" rIns="0" bIns="0" rtlCol="0" anchor="ctr"/>
          <a:lstStyle/>
          <a:p>
            <a:pPr marL="0" indent="0">
              <a:buNone/>
            </a:pPr>
            <a:r>
              <a:rPr lang="en-US" sz="1000" b="1" kern="0" spc="100" dirty="0">
                <a:solidFill>
                  <a:srgbClr val="7FB0AE"/>
                </a:solidFill>
                <a:latin typeface="Calibri" pitchFamily="34" charset="0"/>
                <a:ea typeface="Calibri" pitchFamily="34" charset="-122"/>
                <a:cs typeface="Calibri" pitchFamily="34" charset="-120"/>
              </a:rPr>
              <a:t>STANDARD OF PROOF</a:t>
            </a:r>
            <a:endParaRPr lang="en-US" sz="1000" dirty="0"/>
          </a:p>
        </p:txBody>
      </p:sp>
      <p:sp>
        <p:nvSpPr>
          <p:cNvPr id="23" name="Text 21"/>
          <p:cNvSpPr/>
          <p:nvPr/>
        </p:nvSpPr>
        <p:spPr>
          <a:xfrm>
            <a:off x="8211312" y="4370832"/>
            <a:ext cx="2880360" cy="274320"/>
          </a:xfrm>
          <a:prstGeom prst="rect">
            <a:avLst/>
          </a:prstGeom>
          <a:noFill/>
          <a:ln/>
        </p:spPr>
        <p:txBody>
          <a:bodyPr wrap="square" lIns="0" tIns="0" rIns="0" bIns="0" rtlCol="0" anchor="ctr"/>
          <a:lstStyle/>
          <a:p>
            <a:pPr marL="0" indent="0">
              <a:buNone/>
            </a:pPr>
            <a:r>
              <a:rPr lang="en-US" sz="1250" b="1" dirty="0">
                <a:solidFill>
                  <a:srgbClr val="0E4C55"/>
                </a:solidFill>
                <a:latin typeface="Calibri" pitchFamily="34" charset="0"/>
                <a:ea typeface="Calibri" pitchFamily="34" charset="-122"/>
                <a:cs typeface="Calibri" pitchFamily="34" charset="-120"/>
              </a:rPr>
              <a:t>A committee report</a:t>
            </a:r>
            <a:endParaRPr lang="en-US" sz="1250" dirty="0"/>
          </a:p>
        </p:txBody>
      </p:sp>
      <p:sp>
        <p:nvSpPr>
          <p:cNvPr id="24" name="Text 22"/>
          <p:cNvSpPr/>
          <p:nvPr/>
        </p:nvSpPr>
        <p:spPr>
          <a:xfrm>
            <a:off x="8211312" y="4681728"/>
            <a:ext cx="2788920" cy="123444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Not a working paper. Every claim must survive a hostile reading by a trade association, a member's staff, or a peer regulator in the interagency joint study.</a:t>
            </a:r>
            <a:endParaRPr lang="en-US" sz="1050" dirty="0"/>
          </a:p>
        </p:txBody>
      </p:sp>
      <p:sp>
        <p:nvSpPr>
          <p:cNvPr id="25" name="Text 23"/>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Sec. 909 sits among the nine community banking provisions carried in the ROAD to Housing Act. Subsection lettering to be confirmed against the enrolled text.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3 · HISTORICAL SIGNIFICANCE</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The rural mandate is the original mandate</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Federal credit union supervision began inside the farm credit agency. Section 909 is not a new question being asked of the NCUA — it is the founding question, asked again.</a:t>
            </a:r>
            <a:endParaRPr lang="en-US" sz="1350" dirty="0"/>
          </a:p>
        </p:txBody>
      </p:sp>
      <p:sp>
        <p:nvSpPr>
          <p:cNvPr id="5" name="Shape 3"/>
          <p:cNvSpPr/>
          <p:nvPr/>
        </p:nvSpPr>
        <p:spPr>
          <a:xfrm>
            <a:off x="640080" y="2011680"/>
            <a:ext cx="2011680" cy="2788920"/>
          </a:xfrm>
          <a:prstGeom prst="roundRect">
            <a:avLst>
              <a:gd name="adj" fmla="val 2273"/>
            </a:avLst>
          </a:prstGeom>
          <a:solidFill>
            <a:srgbClr val="F3F5F4"/>
          </a:solidFill>
          <a:ln/>
        </p:spPr>
        <p:txBody>
          <a:bodyPr/>
          <a:lstStyle/>
          <a:p>
            <a:endParaRPr lang="en-US"/>
          </a:p>
        </p:txBody>
      </p:sp>
      <p:sp>
        <p:nvSpPr>
          <p:cNvPr id="6" name="Text 4"/>
          <p:cNvSpPr/>
          <p:nvPr/>
        </p:nvSpPr>
        <p:spPr>
          <a:xfrm>
            <a:off x="841248" y="2176272"/>
            <a:ext cx="1737360" cy="384048"/>
          </a:xfrm>
          <a:prstGeom prst="rect">
            <a:avLst/>
          </a:prstGeom>
          <a:noFill/>
          <a:ln/>
        </p:spPr>
        <p:txBody>
          <a:bodyPr wrap="square" lIns="0" tIns="0" rIns="0" bIns="0" rtlCol="0" anchor="ctr"/>
          <a:lstStyle/>
          <a:p>
            <a:pPr marL="0" indent="0">
              <a:buNone/>
            </a:pPr>
            <a:r>
              <a:rPr lang="en-US" sz="1800" b="1" dirty="0">
                <a:solidFill>
                  <a:srgbClr val="C8553D"/>
                </a:solidFill>
                <a:latin typeface="Cambria" pitchFamily="34" charset="0"/>
                <a:ea typeface="Cambria" pitchFamily="34" charset="-122"/>
                <a:cs typeface="Cambria" pitchFamily="34" charset="-120"/>
              </a:rPr>
              <a:t>1934</a:t>
            </a:r>
            <a:endParaRPr lang="en-US" sz="1800" dirty="0"/>
          </a:p>
        </p:txBody>
      </p:sp>
      <p:sp>
        <p:nvSpPr>
          <p:cNvPr id="7" name="Text 5"/>
          <p:cNvSpPr/>
          <p:nvPr/>
        </p:nvSpPr>
        <p:spPr>
          <a:xfrm>
            <a:off x="841248" y="2578608"/>
            <a:ext cx="1645920" cy="658368"/>
          </a:xfrm>
          <a:prstGeom prst="rect">
            <a:avLst/>
          </a:prstGeom>
          <a:noFill/>
          <a:ln/>
        </p:spPr>
        <p:txBody>
          <a:bodyPr wrap="square" lIns="0" tIns="0" rIns="0" bIns="0" rtlCol="0" anchor="ctr"/>
          <a:lstStyle/>
          <a:p>
            <a:pPr marL="0" indent="0">
              <a:lnSpc>
                <a:spcPts val="1450"/>
              </a:lnSpc>
              <a:buNone/>
            </a:pPr>
            <a:r>
              <a:rPr lang="en-US" sz="1150" b="1" dirty="0">
                <a:solidFill>
                  <a:srgbClr val="12202E"/>
                </a:solidFill>
                <a:latin typeface="Calibri" pitchFamily="34" charset="0"/>
                <a:ea typeface="Calibri" pitchFamily="34" charset="-122"/>
                <a:cs typeface="Calibri" pitchFamily="34" charset="-120"/>
              </a:rPr>
              <a:t>Federal Credit Union Act</a:t>
            </a:r>
            <a:endParaRPr lang="en-US" sz="1150" dirty="0"/>
          </a:p>
        </p:txBody>
      </p:sp>
      <p:sp>
        <p:nvSpPr>
          <p:cNvPr id="8" name="Text 6"/>
          <p:cNvSpPr/>
          <p:nvPr/>
        </p:nvSpPr>
        <p:spPr>
          <a:xfrm>
            <a:off x="841248" y="3273552"/>
            <a:ext cx="1645920" cy="1417320"/>
          </a:xfrm>
          <a:prstGeom prst="rect">
            <a:avLst/>
          </a:prstGeom>
          <a:noFill/>
          <a:ln/>
        </p:spPr>
        <p:txBody>
          <a:bodyPr wrap="square" lIns="0" tIns="0" rIns="0" bIns="0" rtlCol="0" anchor="ctr"/>
          <a:lstStyle/>
          <a:p>
            <a:pPr marL="0" indent="0">
              <a:lnSpc>
                <a:spcPts val="1300"/>
              </a:lnSpc>
              <a:buNone/>
            </a:pPr>
            <a:r>
              <a:rPr lang="en-US" sz="1000" dirty="0">
                <a:solidFill>
                  <a:srgbClr val="5B6B72"/>
                </a:solidFill>
                <a:latin typeface="Calibri" pitchFamily="34" charset="0"/>
                <a:ea typeface="Calibri" pitchFamily="34" charset="-122"/>
                <a:cs typeface="Calibri" pitchFamily="34" charset="-120"/>
              </a:rPr>
              <a:t>Signed 26 June, at the depth of the Depression, to make credit available to people of small means through a national system of cooperative credit.</a:t>
            </a:r>
            <a:endParaRPr lang="en-US" sz="1000" dirty="0"/>
          </a:p>
        </p:txBody>
      </p:sp>
      <p:sp>
        <p:nvSpPr>
          <p:cNvPr id="9" name="Shape 7"/>
          <p:cNvSpPr/>
          <p:nvPr/>
        </p:nvSpPr>
        <p:spPr>
          <a:xfrm>
            <a:off x="2862072" y="2011680"/>
            <a:ext cx="2011680" cy="2788920"/>
          </a:xfrm>
          <a:prstGeom prst="roundRect">
            <a:avLst>
              <a:gd name="adj" fmla="val 2273"/>
            </a:avLst>
          </a:prstGeom>
          <a:solidFill>
            <a:srgbClr val="F3F5F4"/>
          </a:solidFill>
          <a:ln/>
        </p:spPr>
        <p:txBody>
          <a:bodyPr/>
          <a:lstStyle/>
          <a:p>
            <a:endParaRPr lang="en-US"/>
          </a:p>
        </p:txBody>
      </p:sp>
      <p:sp>
        <p:nvSpPr>
          <p:cNvPr id="10" name="Text 8"/>
          <p:cNvSpPr/>
          <p:nvPr/>
        </p:nvSpPr>
        <p:spPr>
          <a:xfrm>
            <a:off x="3063240" y="2176272"/>
            <a:ext cx="1737360" cy="384048"/>
          </a:xfrm>
          <a:prstGeom prst="rect">
            <a:avLst/>
          </a:prstGeom>
          <a:noFill/>
          <a:ln/>
        </p:spPr>
        <p:txBody>
          <a:bodyPr wrap="square" lIns="0" tIns="0" rIns="0" bIns="0" rtlCol="0" anchor="ctr"/>
          <a:lstStyle/>
          <a:p>
            <a:pPr marL="0" indent="0">
              <a:buNone/>
            </a:pPr>
            <a:r>
              <a:rPr lang="en-US" sz="1800" b="1" dirty="0">
                <a:solidFill>
                  <a:srgbClr val="C8553D"/>
                </a:solidFill>
                <a:latin typeface="Cambria" pitchFamily="34" charset="0"/>
                <a:ea typeface="Cambria" pitchFamily="34" charset="-122"/>
                <a:cs typeface="Cambria" pitchFamily="34" charset="-120"/>
              </a:rPr>
              <a:t>1934</a:t>
            </a:r>
            <a:endParaRPr lang="en-US" sz="1800" dirty="0"/>
          </a:p>
        </p:txBody>
      </p:sp>
      <p:sp>
        <p:nvSpPr>
          <p:cNvPr id="11" name="Text 9"/>
          <p:cNvSpPr/>
          <p:nvPr/>
        </p:nvSpPr>
        <p:spPr>
          <a:xfrm>
            <a:off x="3063240" y="2578608"/>
            <a:ext cx="1645920" cy="658368"/>
          </a:xfrm>
          <a:prstGeom prst="rect">
            <a:avLst/>
          </a:prstGeom>
          <a:noFill/>
          <a:ln/>
        </p:spPr>
        <p:txBody>
          <a:bodyPr wrap="square" lIns="0" tIns="0" rIns="0" bIns="0" rtlCol="0" anchor="ctr"/>
          <a:lstStyle/>
          <a:p>
            <a:pPr marL="0" indent="0">
              <a:lnSpc>
                <a:spcPts val="1450"/>
              </a:lnSpc>
              <a:buNone/>
            </a:pPr>
            <a:r>
              <a:rPr lang="en-US" sz="1150" b="1" dirty="0">
                <a:solidFill>
                  <a:srgbClr val="12202E"/>
                </a:solidFill>
                <a:latin typeface="Calibri" pitchFamily="34" charset="0"/>
                <a:ea typeface="Calibri" pitchFamily="34" charset="-122"/>
                <a:cs typeface="Calibri" pitchFamily="34" charset="-120"/>
              </a:rPr>
              <a:t>Housed in the Farm Credit Administration</a:t>
            </a:r>
            <a:endParaRPr lang="en-US" sz="1150" dirty="0"/>
          </a:p>
        </p:txBody>
      </p:sp>
      <p:sp>
        <p:nvSpPr>
          <p:cNvPr id="12" name="Text 10"/>
          <p:cNvSpPr/>
          <p:nvPr/>
        </p:nvSpPr>
        <p:spPr>
          <a:xfrm>
            <a:off x="3063240" y="3273552"/>
            <a:ext cx="1645920" cy="1417320"/>
          </a:xfrm>
          <a:prstGeom prst="rect">
            <a:avLst/>
          </a:prstGeom>
          <a:noFill/>
          <a:ln/>
        </p:spPr>
        <p:txBody>
          <a:bodyPr wrap="square" lIns="0" tIns="0" rIns="0" bIns="0" rtlCol="0" anchor="ctr"/>
          <a:lstStyle/>
          <a:p>
            <a:pPr marL="0" indent="0">
              <a:lnSpc>
                <a:spcPts val="1300"/>
              </a:lnSpc>
              <a:buNone/>
            </a:pPr>
            <a:r>
              <a:rPr lang="en-US" sz="1000" dirty="0">
                <a:solidFill>
                  <a:srgbClr val="5B6B72"/>
                </a:solidFill>
                <a:latin typeface="Calibri" pitchFamily="34" charset="0"/>
                <a:ea typeface="Calibri" pitchFamily="34" charset="-122"/>
                <a:cs typeface="Calibri" pitchFamily="34" charset="-120"/>
              </a:rPr>
              <a:t>The Federal Reserve and Treasury both declined the assignment. The FCA took it — the agency responsible for the financial problems of rural America.</a:t>
            </a:r>
            <a:endParaRPr lang="en-US" sz="1000" dirty="0"/>
          </a:p>
        </p:txBody>
      </p:sp>
      <p:sp>
        <p:nvSpPr>
          <p:cNvPr id="13" name="Shape 11"/>
          <p:cNvSpPr/>
          <p:nvPr/>
        </p:nvSpPr>
        <p:spPr>
          <a:xfrm>
            <a:off x="5084064" y="2011680"/>
            <a:ext cx="2011680" cy="2788920"/>
          </a:xfrm>
          <a:prstGeom prst="roundRect">
            <a:avLst>
              <a:gd name="adj" fmla="val 2273"/>
            </a:avLst>
          </a:prstGeom>
          <a:solidFill>
            <a:srgbClr val="0E4C55"/>
          </a:solidFill>
          <a:ln/>
        </p:spPr>
        <p:txBody>
          <a:bodyPr/>
          <a:lstStyle/>
          <a:p>
            <a:endParaRPr lang="en-US"/>
          </a:p>
        </p:txBody>
      </p:sp>
      <p:sp>
        <p:nvSpPr>
          <p:cNvPr id="14" name="Text 12"/>
          <p:cNvSpPr/>
          <p:nvPr/>
        </p:nvSpPr>
        <p:spPr>
          <a:xfrm>
            <a:off x="5285232" y="2176272"/>
            <a:ext cx="1737360" cy="384048"/>
          </a:xfrm>
          <a:prstGeom prst="rect">
            <a:avLst/>
          </a:prstGeom>
          <a:noFill/>
          <a:ln/>
        </p:spPr>
        <p:txBody>
          <a:bodyPr wrap="square" lIns="0" tIns="0" rIns="0" bIns="0" rtlCol="0" anchor="ctr"/>
          <a:lstStyle/>
          <a:p>
            <a:pPr marL="0" indent="0">
              <a:buNone/>
            </a:pPr>
            <a:r>
              <a:rPr lang="en-US" sz="1800" b="1" dirty="0">
                <a:solidFill>
                  <a:srgbClr val="E8A24A"/>
                </a:solidFill>
                <a:latin typeface="Cambria" pitchFamily="34" charset="0"/>
                <a:ea typeface="Cambria" pitchFamily="34" charset="-122"/>
                <a:cs typeface="Cambria" pitchFamily="34" charset="-120"/>
              </a:rPr>
              <a:t>1934</a:t>
            </a:r>
            <a:endParaRPr lang="en-US" sz="1800" dirty="0"/>
          </a:p>
        </p:txBody>
      </p:sp>
      <p:sp>
        <p:nvSpPr>
          <p:cNvPr id="15" name="Text 13"/>
          <p:cNvSpPr/>
          <p:nvPr/>
        </p:nvSpPr>
        <p:spPr>
          <a:xfrm>
            <a:off x="5285232" y="2578608"/>
            <a:ext cx="1645920" cy="658368"/>
          </a:xfrm>
          <a:prstGeom prst="rect">
            <a:avLst/>
          </a:prstGeom>
          <a:noFill/>
          <a:ln/>
        </p:spPr>
        <p:txBody>
          <a:bodyPr wrap="square" lIns="0" tIns="0" rIns="0" bIns="0" rtlCol="0" anchor="ctr"/>
          <a:lstStyle/>
          <a:p>
            <a:pPr marL="0" indent="0">
              <a:lnSpc>
                <a:spcPts val="1450"/>
              </a:lnSpc>
              <a:buNone/>
            </a:pPr>
            <a:r>
              <a:rPr lang="en-US" sz="1150" b="1" dirty="0">
                <a:solidFill>
                  <a:srgbClr val="FFFFFF"/>
                </a:solidFill>
                <a:latin typeface="Calibri" pitchFamily="34" charset="0"/>
                <a:ea typeface="Calibri" pitchFamily="34" charset="-122"/>
                <a:cs typeface="Calibri" pitchFamily="34" charset="-120"/>
              </a:rPr>
              <a:t>Charter No. 1 is rural</a:t>
            </a:r>
            <a:endParaRPr lang="en-US" sz="1150" dirty="0"/>
          </a:p>
        </p:txBody>
      </p:sp>
      <p:sp>
        <p:nvSpPr>
          <p:cNvPr id="16" name="Text 14"/>
          <p:cNvSpPr/>
          <p:nvPr/>
        </p:nvSpPr>
        <p:spPr>
          <a:xfrm>
            <a:off x="5285232" y="3273552"/>
            <a:ext cx="1645920" cy="1417320"/>
          </a:xfrm>
          <a:prstGeom prst="rect">
            <a:avLst/>
          </a:prstGeom>
          <a:noFill/>
          <a:ln/>
        </p:spPr>
        <p:txBody>
          <a:bodyPr wrap="square" lIns="0" tIns="0" rIns="0" bIns="0" rtlCol="0" anchor="ctr"/>
          <a:lstStyle/>
          <a:p>
            <a:pPr marL="0" indent="0">
              <a:lnSpc>
                <a:spcPts val="1300"/>
              </a:lnSpc>
              <a:buNone/>
            </a:pPr>
            <a:r>
              <a:rPr lang="en-US" sz="1000" dirty="0">
                <a:solidFill>
                  <a:srgbClr val="DCE6E4"/>
                </a:solidFill>
                <a:latin typeface="Calibri" pitchFamily="34" charset="0"/>
                <a:ea typeface="Calibri" pitchFamily="34" charset="-122"/>
                <a:cs typeface="Calibri" pitchFamily="34" charset="-120"/>
              </a:rPr>
              <a:t>Morris Sheppard FCU, Texarkana, Texas, chartered 1 October and named for the Act's Senate sponsor. It is still charter 1 in our 2026Q1 file.</a:t>
            </a:r>
            <a:endParaRPr lang="en-US" sz="1000" dirty="0"/>
          </a:p>
        </p:txBody>
      </p:sp>
      <p:sp>
        <p:nvSpPr>
          <p:cNvPr id="17" name="Shape 15"/>
          <p:cNvSpPr/>
          <p:nvPr/>
        </p:nvSpPr>
        <p:spPr>
          <a:xfrm>
            <a:off x="7306056" y="2011680"/>
            <a:ext cx="2011680" cy="2788920"/>
          </a:xfrm>
          <a:prstGeom prst="roundRect">
            <a:avLst>
              <a:gd name="adj" fmla="val 2273"/>
            </a:avLst>
          </a:prstGeom>
          <a:solidFill>
            <a:srgbClr val="F3F5F4"/>
          </a:solidFill>
          <a:ln/>
        </p:spPr>
        <p:txBody>
          <a:bodyPr/>
          <a:lstStyle/>
          <a:p>
            <a:endParaRPr lang="en-US"/>
          </a:p>
        </p:txBody>
      </p:sp>
      <p:sp>
        <p:nvSpPr>
          <p:cNvPr id="18" name="Text 16"/>
          <p:cNvSpPr/>
          <p:nvPr/>
        </p:nvSpPr>
        <p:spPr>
          <a:xfrm>
            <a:off x="7507224" y="2176272"/>
            <a:ext cx="1737360" cy="384048"/>
          </a:xfrm>
          <a:prstGeom prst="rect">
            <a:avLst/>
          </a:prstGeom>
          <a:noFill/>
          <a:ln/>
        </p:spPr>
        <p:txBody>
          <a:bodyPr wrap="square" lIns="0" tIns="0" rIns="0" bIns="0" rtlCol="0" anchor="ctr"/>
          <a:lstStyle/>
          <a:p>
            <a:pPr marL="0" indent="0">
              <a:buNone/>
            </a:pPr>
            <a:r>
              <a:rPr lang="en-US" sz="1800" b="1" dirty="0">
                <a:solidFill>
                  <a:srgbClr val="C8553D"/>
                </a:solidFill>
                <a:latin typeface="Cambria" pitchFamily="34" charset="0"/>
                <a:ea typeface="Cambria" pitchFamily="34" charset="-122"/>
                <a:cs typeface="Cambria" pitchFamily="34" charset="-120"/>
              </a:rPr>
              <a:t>1942-53</a:t>
            </a:r>
            <a:endParaRPr lang="en-US" sz="1800" dirty="0"/>
          </a:p>
        </p:txBody>
      </p:sp>
      <p:sp>
        <p:nvSpPr>
          <p:cNvPr id="19" name="Text 17"/>
          <p:cNvSpPr/>
          <p:nvPr/>
        </p:nvSpPr>
        <p:spPr>
          <a:xfrm>
            <a:off x="7507224" y="2578608"/>
            <a:ext cx="1645920" cy="658368"/>
          </a:xfrm>
          <a:prstGeom prst="rect">
            <a:avLst/>
          </a:prstGeom>
          <a:noFill/>
          <a:ln/>
        </p:spPr>
        <p:txBody>
          <a:bodyPr wrap="square" lIns="0" tIns="0" rIns="0" bIns="0" rtlCol="0" anchor="ctr"/>
          <a:lstStyle/>
          <a:p>
            <a:pPr marL="0" indent="0">
              <a:lnSpc>
                <a:spcPts val="1450"/>
              </a:lnSpc>
              <a:buNone/>
            </a:pPr>
            <a:r>
              <a:rPr lang="en-US" sz="1150" b="1" dirty="0">
                <a:solidFill>
                  <a:srgbClr val="12202E"/>
                </a:solidFill>
                <a:latin typeface="Calibri" pitchFamily="34" charset="0"/>
                <a:ea typeface="Calibri" pitchFamily="34" charset="-122"/>
                <a:cs typeface="Calibri" pitchFamily="34" charset="-120"/>
              </a:rPr>
              <a:t>Passed between agencies</a:t>
            </a:r>
            <a:endParaRPr lang="en-US" sz="1150" dirty="0"/>
          </a:p>
        </p:txBody>
      </p:sp>
      <p:sp>
        <p:nvSpPr>
          <p:cNvPr id="20" name="Text 18"/>
          <p:cNvSpPr/>
          <p:nvPr/>
        </p:nvSpPr>
        <p:spPr>
          <a:xfrm>
            <a:off x="7507224" y="3273552"/>
            <a:ext cx="1645920" cy="1417320"/>
          </a:xfrm>
          <a:prstGeom prst="rect">
            <a:avLst/>
          </a:prstGeom>
          <a:noFill/>
          <a:ln/>
        </p:spPr>
        <p:txBody>
          <a:bodyPr wrap="square" lIns="0" tIns="0" rIns="0" bIns="0" rtlCol="0" anchor="ctr"/>
          <a:lstStyle/>
          <a:p>
            <a:pPr marL="0" indent="0">
              <a:lnSpc>
                <a:spcPts val="1300"/>
              </a:lnSpc>
              <a:buNone/>
            </a:pPr>
            <a:r>
              <a:rPr lang="en-US" sz="1000" dirty="0">
                <a:solidFill>
                  <a:srgbClr val="5B6B72"/>
                </a:solidFill>
                <a:latin typeface="Calibri" pitchFamily="34" charset="0"/>
                <a:ea typeface="Calibri" pitchFamily="34" charset="-122"/>
                <a:cs typeface="Calibri" pitchFamily="34" charset="-120"/>
              </a:rPr>
              <a:t>To the FDIC in 1942, then the Federal Security Agency, then Health, Education and Welfare — none of them a financial regulator.</a:t>
            </a:r>
            <a:endParaRPr lang="en-US" sz="1000" dirty="0"/>
          </a:p>
        </p:txBody>
      </p:sp>
      <p:sp>
        <p:nvSpPr>
          <p:cNvPr id="21" name="Shape 19"/>
          <p:cNvSpPr/>
          <p:nvPr/>
        </p:nvSpPr>
        <p:spPr>
          <a:xfrm>
            <a:off x="9528048" y="2011680"/>
            <a:ext cx="2011680" cy="2788920"/>
          </a:xfrm>
          <a:prstGeom prst="roundRect">
            <a:avLst>
              <a:gd name="adj" fmla="val 2273"/>
            </a:avLst>
          </a:prstGeom>
          <a:solidFill>
            <a:srgbClr val="F3F5F4"/>
          </a:solidFill>
          <a:ln/>
        </p:spPr>
        <p:txBody>
          <a:bodyPr/>
          <a:lstStyle/>
          <a:p>
            <a:endParaRPr lang="en-US"/>
          </a:p>
        </p:txBody>
      </p:sp>
      <p:sp>
        <p:nvSpPr>
          <p:cNvPr id="22" name="Text 20"/>
          <p:cNvSpPr/>
          <p:nvPr/>
        </p:nvSpPr>
        <p:spPr>
          <a:xfrm>
            <a:off x="9729216" y="2176272"/>
            <a:ext cx="1737360" cy="384048"/>
          </a:xfrm>
          <a:prstGeom prst="rect">
            <a:avLst/>
          </a:prstGeom>
          <a:noFill/>
          <a:ln/>
        </p:spPr>
        <p:txBody>
          <a:bodyPr wrap="square" lIns="0" tIns="0" rIns="0" bIns="0" rtlCol="0" anchor="ctr"/>
          <a:lstStyle/>
          <a:p>
            <a:pPr marL="0" indent="0">
              <a:buNone/>
            </a:pPr>
            <a:r>
              <a:rPr lang="en-US" sz="1800" b="1" dirty="0">
                <a:solidFill>
                  <a:srgbClr val="C8553D"/>
                </a:solidFill>
                <a:latin typeface="Cambria" pitchFamily="34" charset="0"/>
                <a:ea typeface="Cambria" pitchFamily="34" charset="-122"/>
                <a:cs typeface="Cambria" pitchFamily="34" charset="-120"/>
              </a:rPr>
              <a:t>1970</a:t>
            </a:r>
            <a:endParaRPr lang="en-US" sz="1800" dirty="0"/>
          </a:p>
        </p:txBody>
      </p:sp>
      <p:sp>
        <p:nvSpPr>
          <p:cNvPr id="23" name="Text 21"/>
          <p:cNvSpPr/>
          <p:nvPr/>
        </p:nvSpPr>
        <p:spPr>
          <a:xfrm>
            <a:off x="9729216" y="2578608"/>
            <a:ext cx="1645920" cy="658368"/>
          </a:xfrm>
          <a:prstGeom prst="rect">
            <a:avLst/>
          </a:prstGeom>
          <a:noFill/>
          <a:ln/>
        </p:spPr>
        <p:txBody>
          <a:bodyPr wrap="square" lIns="0" tIns="0" rIns="0" bIns="0" rtlCol="0" anchor="ctr"/>
          <a:lstStyle/>
          <a:p>
            <a:pPr marL="0" indent="0">
              <a:lnSpc>
                <a:spcPts val="1450"/>
              </a:lnSpc>
              <a:buNone/>
            </a:pPr>
            <a:r>
              <a:rPr lang="en-US" sz="1150" b="1" dirty="0">
                <a:solidFill>
                  <a:srgbClr val="12202E"/>
                </a:solidFill>
                <a:latin typeface="Calibri" pitchFamily="34" charset="0"/>
                <a:ea typeface="Calibri" pitchFamily="34" charset="-122"/>
                <a:cs typeface="Calibri" pitchFamily="34" charset="-120"/>
              </a:rPr>
              <a:t>NCUA becomes independent</a:t>
            </a:r>
            <a:endParaRPr lang="en-US" sz="1150" dirty="0"/>
          </a:p>
        </p:txBody>
      </p:sp>
      <p:sp>
        <p:nvSpPr>
          <p:cNvPr id="24" name="Text 22"/>
          <p:cNvSpPr/>
          <p:nvPr/>
        </p:nvSpPr>
        <p:spPr>
          <a:xfrm>
            <a:off x="9729216" y="3273552"/>
            <a:ext cx="1645920" cy="1417320"/>
          </a:xfrm>
          <a:prstGeom prst="rect">
            <a:avLst/>
          </a:prstGeom>
          <a:noFill/>
          <a:ln/>
        </p:spPr>
        <p:txBody>
          <a:bodyPr wrap="square" lIns="0" tIns="0" rIns="0" bIns="0" rtlCol="0" anchor="ctr"/>
          <a:lstStyle/>
          <a:p>
            <a:pPr marL="0" indent="0">
              <a:lnSpc>
                <a:spcPts val="1300"/>
              </a:lnSpc>
              <a:buNone/>
            </a:pPr>
            <a:r>
              <a:rPr lang="en-US" sz="1000" dirty="0">
                <a:solidFill>
                  <a:srgbClr val="5B6B72"/>
                </a:solidFill>
                <a:latin typeface="Calibri" pitchFamily="34" charset="0"/>
                <a:ea typeface="Calibri" pitchFamily="34" charset="-122"/>
                <a:cs typeface="Calibri" pitchFamily="34" charset="-120"/>
              </a:rPr>
              <a:t>A standalone regulator, with share insurance created the same year. 1970 closed with 12,977 federal credit unions.</a:t>
            </a:r>
            <a:endParaRPr lang="en-US" sz="1000" dirty="0"/>
          </a:p>
        </p:txBody>
      </p:sp>
      <p:sp>
        <p:nvSpPr>
          <p:cNvPr id="25" name="Shape 23"/>
          <p:cNvSpPr/>
          <p:nvPr/>
        </p:nvSpPr>
        <p:spPr>
          <a:xfrm>
            <a:off x="640080" y="5029200"/>
            <a:ext cx="10881360" cy="1051560"/>
          </a:xfrm>
          <a:prstGeom prst="roundRect">
            <a:avLst>
              <a:gd name="adj" fmla="val 4348"/>
            </a:avLst>
          </a:prstGeom>
          <a:solidFill>
            <a:srgbClr val="0E4C55"/>
          </a:solidFill>
          <a:ln/>
        </p:spPr>
        <p:txBody>
          <a:bodyPr/>
          <a:lstStyle/>
          <a:p>
            <a:endParaRPr lang="en-US"/>
          </a:p>
        </p:txBody>
      </p:sp>
      <p:sp>
        <p:nvSpPr>
          <p:cNvPr id="26" name="Text 24"/>
          <p:cNvSpPr/>
          <p:nvPr/>
        </p:nvSpPr>
        <p:spPr>
          <a:xfrm>
            <a:off x="960120" y="5138928"/>
            <a:ext cx="4114800" cy="292608"/>
          </a:xfrm>
          <a:prstGeom prst="rect">
            <a:avLst/>
          </a:prstGeom>
          <a:noFill/>
          <a:ln/>
        </p:spPr>
        <p:txBody>
          <a:bodyPr wrap="square" lIns="0" tIns="0" rIns="0" bIns="0" rtlCol="0" anchor="ctr"/>
          <a:lstStyle/>
          <a:p>
            <a:pPr marL="0" indent="0">
              <a:buNone/>
            </a:pPr>
            <a:r>
              <a:rPr lang="en-US" sz="1300" b="1" dirty="0">
                <a:solidFill>
                  <a:srgbClr val="E8A24A"/>
                </a:solidFill>
                <a:latin typeface="Calibri" pitchFamily="34" charset="0"/>
                <a:ea typeface="Calibri" pitchFamily="34" charset="-122"/>
                <a:cs typeface="Calibri" pitchFamily="34" charset="-120"/>
              </a:rPr>
              <a:t>Formation used to be the easy part.</a:t>
            </a:r>
            <a:endParaRPr lang="en-US" sz="1300" dirty="0"/>
          </a:p>
        </p:txBody>
      </p:sp>
      <p:sp>
        <p:nvSpPr>
          <p:cNvPr id="27" name="Text 25"/>
          <p:cNvSpPr/>
          <p:nvPr/>
        </p:nvSpPr>
        <p:spPr>
          <a:xfrm>
            <a:off x="960120" y="5431536"/>
            <a:ext cx="10241280" cy="566928"/>
          </a:xfrm>
          <a:prstGeom prst="rect">
            <a:avLst/>
          </a:prstGeom>
          <a:noFill/>
          <a:ln/>
        </p:spPr>
        <p:txBody>
          <a:bodyPr wrap="square" lIns="0" tIns="0" rIns="0" bIns="0" rtlCol="0" anchor="ctr"/>
          <a:lstStyle/>
          <a:p>
            <a:pPr marL="0" indent="0">
              <a:lnSpc>
                <a:spcPts val="1550"/>
              </a:lnSpc>
              <a:buNone/>
            </a:pPr>
            <a:r>
              <a:rPr lang="en-US" sz="1150" dirty="0">
                <a:solidFill>
                  <a:srgbClr val="FFFFFF"/>
                </a:solidFill>
                <a:latin typeface="Calibri" pitchFamily="34" charset="0"/>
                <a:ea typeface="Calibri" pitchFamily="34" charset="-122"/>
                <a:cs typeface="Calibri" pitchFamily="34" charset="-120"/>
              </a:rPr>
              <a:t>39 credit unions existed in 1934. By 1970 there were 12,977 federal charters alone. Today the federally insured system holds 4,243 charters of types 1 and 2, and rural formation has effectively stopped. The founding-era problem was how to charter fast enough; the current problem is that almost nobody charters at all.</a:t>
            </a:r>
            <a:endParaRPr lang="en-US" sz="1150" dirty="0"/>
          </a:p>
        </p:txBody>
      </p:sp>
      <p:sp>
        <p:nvSpPr>
          <p:cNvPr id="28" name="Text 26"/>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Source: NCUA historical timeline; 2026Q1 FOICU file.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4 · RESEARCH DESIGN</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The ten questions, in plain language</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914400"/>
        </p:xfrm>
        <a:graphic>
          <a:graphicData uri="http://schemas.openxmlformats.org/drawingml/2006/table">
            <a:tbl>
              <a:tblPr/>
              <a:tblGrid>
                <a:gridCol w="45720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tblGrid>
              <a:tr h="388620">
                <a:tc>
                  <a:txBody>
                    <a:bodyPr/>
                    <a:lstStyle/>
                    <a:p>
                      <a:pPr marL="0" indent="0" algn="l">
                        <a:buNone/>
                      </a:pP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WHAT TURNS ON THE ANSWER</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ANSWER SO FAR</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0E4C55"/>
                    </a:solidFill>
                  </a:tcPr>
                </a:tc>
                <a:extLst>
                  <a:ext uri="{0D108BD9-81ED-4DB2-BD59-A6C34878D82A}">
                    <a16:rowId xmlns:a16="http://schemas.microsoft.com/office/drawing/2014/main" val="10000"/>
                  </a:ext>
                </a:extLst>
              </a:tr>
              <a:tr h="388620">
                <a:tc>
                  <a:txBody>
                    <a:bodyPr/>
                    <a:lstStyle/>
                    <a:p>
                      <a:pPr marL="0" indent="0" algn="ctr">
                        <a:buNone/>
                      </a:pPr>
                      <a:r>
                        <a:rPr lang="en-US" sz="1050" b="1" dirty="0">
                          <a:solidFill>
                            <a:srgbClr val="C8553D"/>
                          </a:solidFill>
                          <a:latin typeface="Calibri" pitchFamily="34" charset="0"/>
                          <a:ea typeface="Calibri" pitchFamily="34" charset="-122"/>
                          <a:cs typeface="Calibri" pitchFamily="34" charset="-120"/>
                        </a:rPr>
                        <a:t>Q1</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buNone/>
                      </a:pPr>
                      <a:r>
                        <a:rPr lang="en-US" sz="1050" b="1" dirty="0">
                          <a:solidFill>
                            <a:srgbClr val="12202E"/>
                          </a:solidFill>
                          <a:latin typeface="Calibri" pitchFamily="34" charset="0"/>
                          <a:ea typeface="Calibri" pitchFamily="34" charset="-122"/>
                          <a:cs typeface="Calibri" pitchFamily="34" charset="-120"/>
                        </a:rPr>
                        <a:t>Is “rural” different from “small”?</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buNone/>
                      </a:pPr>
                      <a:r>
                        <a:rPr lang="en-US" sz="1000" dirty="0">
                          <a:solidFill>
                            <a:srgbClr val="5B6B72"/>
                          </a:solidFill>
                          <a:latin typeface="Calibri" pitchFamily="34" charset="0"/>
                          <a:ea typeface="Calibri" pitchFamily="34" charset="-122"/>
                          <a:cs typeface="Calibri" pitchFamily="34" charset="-120"/>
                        </a:rPr>
                        <a:t>Whether the report is about rural barriers or about scale</a:t>
                      </a:r>
                      <a:endParaRPr lang="en-US" sz="10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950" b="1" dirty="0">
                          <a:solidFill>
                            <a:srgbClr val="0E4C55"/>
                          </a:solidFill>
                          <a:latin typeface="Calibri" pitchFamily="34" charset="0"/>
                          <a:ea typeface="Calibri" pitchFamily="34" charset="-122"/>
                          <a:cs typeface="Calibri" pitchFamily="34" charset="-120"/>
                        </a:rPr>
                        <a:t>Answered</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950" i="1" dirty="0">
                          <a:solidFill>
                            <a:srgbClr val="1F6F78"/>
                          </a:solidFill>
                          <a:latin typeface="Calibri" pitchFamily="34" charset="0"/>
                          <a:ea typeface="Calibri" pitchFamily="34" charset="-122"/>
                          <a:cs typeface="Calibri" pitchFamily="34" charset="-120"/>
                        </a:rPr>
                        <a:t>Rural, not scale</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1"/>
                  </a:ext>
                </a:extLst>
              </a:tr>
              <a:tr h="388620">
                <a:tc>
                  <a:txBody>
                    <a:bodyPr/>
                    <a:lstStyle/>
                    <a:p>
                      <a:pPr marL="0" indent="0" algn="ctr">
                        <a:buNone/>
                      </a:pPr>
                      <a:r>
                        <a:rPr lang="en-US" sz="1050" b="1" dirty="0">
                          <a:solidFill>
                            <a:srgbClr val="C8553D"/>
                          </a:solidFill>
                          <a:latin typeface="Calibri" pitchFamily="34" charset="0"/>
                          <a:ea typeface="Calibri" pitchFamily="34" charset="-122"/>
                          <a:cs typeface="Calibri" pitchFamily="34" charset="-120"/>
                        </a:rPr>
                        <a:t>Q2</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50" b="1" dirty="0">
                          <a:solidFill>
                            <a:srgbClr val="12202E"/>
                          </a:solidFill>
                          <a:latin typeface="Calibri" pitchFamily="34" charset="0"/>
                          <a:ea typeface="Calibri" pitchFamily="34" charset="-122"/>
                          <a:cs typeface="Calibri" pitchFamily="34" charset="-120"/>
                        </a:rPr>
                        <a:t>Are we losing rural credit unions, or just losing credit unions?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5B6B72"/>
                          </a:solidFill>
                          <a:latin typeface="Calibri" pitchFamily="34" charset="0"/>
                          <a:ea typeface="Calibri" pitchFamily="34" charset="-122"/>
                          <a:cs typeface="Calibri" pitchFamily="34" charset="-120"/>
                        </a:rPr>
                        <a:t>Whether “rural decline” is the honest headline</a:t>
                      </a:r>
                      <a:endParaRPr lang="en-US" sz="10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50" b="1" dirty="0">
                          <a:solidFill>
                            <a:srgbClr val="1F6F78"/>
                          </a:solidFill>
                          <a:latin typeface="Calibri" pitchFamily="34" charset="0"/>
                          <a:ea typeface="Calibri" pitchFamily="34" charset="-122"/>
                          <a:cs typeface="Calibri" pitchFamily="34" charset="-120"/>
                        </a:rPr>
                        <a:t>Largely</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50" i="1" dirty="0">
                          <a:solidFill>
                            <a:srgbClr val="1F6F78"/>
                          </a:solidFill>
                          <a:latin typeface="Calibri" pitchFamily="34" charset="0"/>
                          <a:ea typeface="Calibri" pitchFamily="34" charset="-122"/>
                          <a:cs typeface="Calibri" pitchFamily="34" charset="-120"/>
                        </a:rPr>
                        <a:t>Falling more slowly</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88620">
                <a:tc>
                  <a:txBody>
                    <a:bodyPr/>
                    <a:lstStyle/>
                    <a:p>
                      <a:pPr marL="0" indent="0" algn="ctr">
                        <a:buNone/>
                      </a:pPr>
                      <a:r>
                        <a:rPr lang="en-US" sz="1050" b="1" dirty="0">
                          <a:solidFill>
                            <a:srgbClr val="C8553D"/>
                          </a:solidFill>
                          <a:latin typeface="Calibri" pitchFamily="34" charset="0"/>
                          <a:ea typeface="Calibri" pitchFamily="34" charset="-122"/>
                          <a:cs typeface="Calibri" pitchFamily="34" charset="-120"/>
                        </a:rPr>
                        <a:t>Q3</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buNone/>
                      </a:pPr>
                      <a:r>
                        <a:rPr lang="en-US" sz="1050" b="1" dirty="0">
                          <a:solidFill>
                            <a:srgbClr val="12202E"/>
                          </a:solidFill>
                          <a:latin typeface="Calibri" pitchFamily="34" charset="0"/>
                          <a:ea typeface="Calibri" pitchFamily="34" charset="-122"/>
                          <a:cs typeface="Calibri" pitchFamily="34" charset="-120"/>
                        </a:rPr>
                        <a:t>Does the business lending cap actually restrict anyone?</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buNone/>
                      </a:pPr>
                      <a:r>
                        <a:rPr lang="en-US" sz="1000" dirty="0">
                          <a:solidFill>
                            <a:srgbClr val="5B6B72"/>
                          </a:solidFill>
                          <a:latin typeface="Calibri" pitchFamily="34" charset="0"/>
                          <a:ea typeface="Calibri" pitchFamily="34" charset="-122"/>
                          <a:cs typeface="Calibri" pitchFamily="34" charset="-120"/>
                        </a:rPr>
                        <a:t>Whether our most-cited barrier is real</a:t>
                      </a:r>
                      <a:endParaRPr lang="en-US" sz="10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950" b="1" dirty="0">
                          <a:solidFill>
                            <a:srgbClr val="1F6F78"/>
                          </a:solidFill>
                          <a:latin typeface="Calibri" pitchFamily="34" charset="0"/>
                          <a:ea typeface="Calibri" pitchFamily="34" charset="-122"/>
                          <a:cs typeface="Calibri" pitchFamily="34" charset="-120"/>
                        </a:rPr>
                        <a:t>Partly</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950" i="1" dirty="0">
                          <a:solidFill>
                            <a:srgbClr val="1F6F78"/>
                          </a:solidFill>
                          <a:latin typeface="Calibri" pitchFamily="34" charset="0"/>
                          <a:ea typeface="Calibri" pitchFamily="34" charset="-122"/>
                          <a:cs typeface="Calibri" pitchFamily="34" charset="-120"/>
                        </a:rPr>
                        <a:t>Binds ~10 institutions</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3"/>
                  </a:ext>
                </a:extLst>
              </a:tr>
              <a:tr h="388620">
                <a:tc>
                  <a:txBody>
                    <a:bodyPr/>
                    <a:lstStyle/>
                    <a:p>
                      <a:pPr marL="0" indent="0" algn="ctr">
                        <a:buNone/>
                      </a:pPr>
                      <a:r>
                        <a:rPr lang="en-US" sz="1050" b="1" dirty="0">
                          <a:solidFill>
                            <a:srgbClr val="C8553D"/>
                          </a:solidFill>
                          <a:latin typeface="Calibri" pitchFamily="34" charset="0"/>
                          <a:ea typeface="Calibri" pitchFamily="34" charset="-122"/>
                          <a:cs typeface="Calibri" pitchFamily="34" charset="-120"/>
                        </a:rPr>
                        <a:t>Q4</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50" b="1" dirty="0">
                          <a:solidFill>
                            <a:srgbClr val="12202E"/>
                          </a:solidFill>
                          <a:latin typeface="Calibri" pitchFamily="34" charset="0"/>
                          <a:ea typeface="Calibri" pitchFamily="34" charset="-122"/>
                          <a:cs typeface="Calibri" pitchFamily="34" charset="-120"/>
                        </a:rPr>
                        <a:t>Are rural CUs short of capital, or short of customers?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5B6B72"/>
                          </a:solidFill>
                          <a:latin typeface="Calibri" pitchFamily="34" charset="0"/>
                          <a:ea typeface="Calibri" pitchFamily="34" charset="-122"/>
                          <a:cs typeface="Calibri" pitchFamily="34" charset="-120"/>
                        </a:rPr>
                        <a:t>Whether regulatory relief can plausibly help</a:t>
                      </a:r>
                      <a:endParaRPr lang="en-US" sz="10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50" b="1" dirty="0">
                          <a:solidFill>
                            <a:srgbClr val="0E4C55"/>
                          </a:solidFill>
                          <a:latin typeface="Calibri" pitchFamily="34" charset="0"/>
                          <a:ea typeface="Calibri" pitchFamily="34" charset="-122"/>
                          <a:cs typeface="Calibri" pitchFamily="34" charset="-120"/>
                        </a:rPr>
                        <a:t>Answered</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50" i="1" dirty="0">
                          <a:solidFill>
                            <a:srgbClr val="1F6F78"/>
                          </a:solidFill>
                          <a:latin typeface="Calibri" pitchFamily="34" charset="0"/>
                          <a:ea typeface="Calibri" pitchFamily="34" charset="-122"/>
                          <a:cs typeface="Calibri" pitchFamily="34" charset="-120"/>
                        </a:rPr>
                        <a:t>Not capital</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388620">
                <a:tc>
                  <a:txBody>
                    <a:bodyPr/>
                    <a:lstStyle/>
                    <a:p>
                      <a:pPr marL="0" indent="0" algn="ctr">
                        <a:buNone/>
                      </a:pPr>
                      <a:r>
                        <a:rPr lang="en-US" sz="1050" b="1" dirty="0">
                          <a:solidFill>
                            <a:srgbClr val="C8553D"/>
                          </a:solidFill>
                          <a:latin typeface="Calibri" pitchFamily="34" charset="0"/>
                          <a:ea typeface="Calibri" pitchFamily="34" charset="-122"/>
                          <a:cs typeface="Calibri" pitchFamily="34" charset="-120"/>
                        </a:rPr>
                        <a:t>Q5</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buNone/>
                      </a:pPr>
                      <a:r>
                        <a:rPr lang="en-US" sz="1050" b="1" dirty="0">
                          <a:solidFill>
                            <a:srgbClr val="12202E"/>
                          </a:solidFill>
                          <a:latin typeface="Calibri" pitchFamily="34" charset="0"/>
                          <a:ea typeface="Calibri" pitchFamily="34" charset="-122"/>
                          <a:cs typeface="Calibri" pitchFamily="34" charset="-120"/>
                        </a:rPr>
                        <a:t>Does the choice of “rural” definition change the answers?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buNone/>
                      </a:pPr>
                      <a:r>
                        <a:rPr lang="en-US" sz="1000" dirty="0">
                          <a:solidFill>
                            <a:srgbClr val="5B6B72"/>
                          </a:solidFill>
                          <a:latin typeface="Calibri" pitchFamily="34" charset="0"/>
                          <a:ea typeface="Calibri" pitchFamily="34" charset="-122"/>
                          <a:cs typeface="Calibri" pitchFamily="34" charset="-120"/>
                        </a:rPr>
                        <a:t>How much of the report must address definitions</a:t>
                      </a:r>
                      <a:endParaRPr lang="en-US" sz="10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950" b="1" dirty="0">
                          <a:solidFill>
                            <a:srgbClr val="0E4C55"/>
                          </a:solidFill>
                          <a:latin typeface="Calibri" pitchFamily="34" charset="0"/>
                          <a:ea typeface="Calibri" pitchFamily="34" charset="-122"/>
                          <a:cs typeface="Calibri" pitchFamily="34" charset="-120"/>
                        </a:rPr>
                        <a:t>Answered</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950" i="1" dirty="0">
                          <a:solidFill>
                            <a:srgbClr val="1F6F78"/>
                          </a:solidFill>
                          <a:latin typeface="Calibri" pitchFamily="34" charset="0"/>
                          <a:ea typeface="Calibri" pitchFamily="34" charset="-122"/>
                          <a:cs typeface="Calibri" pitchFamily="34" charset="-120"/>
                        </a:rPr>
                        <a:t>Levels yes, trends no</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5"/>
                  </a:ext>
                </a:extLst>
              </a:tr>
              <a:tr h="388620">
                <a:tc>
                  <a:txBody>
                    <a:bodyPr/>
                    <a:lstStyle/>
                    <a:p>
                      <a:pPr marL="0" indent="0" algn="ctr">
                        <a:buNone/>
                      </a:pPr>
                      <a:r>
                        <a:rPr lang="en-US" sz="1050" b="1" dirty="0">
                          <a:solidFill>
                            <a:srgbClr val="C8553D"/>
                          </a:solidFill>
                          <a:latin typeface="Calibri" pitchFamily="34" charset="0"/>
                          <a:ea typeface="Calibri" pitchFamily="34" charset="-122"/>
                          <a:cs typeface="Calibri" pitchFamily="34" charset="-120"/>
                        </a:rPr>
                        <a:t>Q6</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50" b="1" dirty="0">
                          <a:solidFill>
                            <a:srgbClr val="12202E"/>
                          </a:solidFill>
                          <a:latin typeface="Calibri" pitchFamily="34" charset="0"/>
                          <a:ea typeface="Calibri" pitchFamily="34" charset="-122"/>
                          <a:cs typeface="Calibri" pitchFamily="34" charset="-120"/>
                        </a:rPr>
                        <a:t>How many credit unions actually do agricultural lending?</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5B6B72"/>
                          </a:solidFill>
                          <a:latin typeface="Calibri" pitchFamily="34" charset="0"/>
                          <a:ea typeface="Calibri" pitchFamily="34" charset="-122"/>
                          <a:cs typeface="Calibri" pitchFamily="34" charset="-120"/>
                        </a:rPr>
                        <a:t>Whether agriculture is a chapter or a sidebar</a:t>
                      </a:r>
                      <a:endParaRPr lang="en-US" sz="10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50" b="1" dirty="0">
                          <a:solidFill>
                            <a:srgbClr val="C8553D"/>
                          </a:solidFill>
                          <a:latin typeface="Calibri" pitchFamily="34" charset="0"/>
                          <a:ea typeface="Calibri" pitchFamily="34" charset="-122"/>
                          <a:cs typeface="Calibri" pitchFamily="34" charset="-120"/>
                        </a:rPr>
                        <a:t>Open</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50" i="1" dirty="0">
                          <a:solidFill>
                            <a:srgbClr val="1F6F7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6"/>
                  </a:ext>
                </a:extLst>
              </a:tr>
              <a:tr h="388620">
                <a:tc>
                  <a:txBody>
                    <a:bodyPr/>
                    <a:lstStyle/>
                    <a:p>
                      <a:pPr marL="0" indent="0" algn="ctr">
                        <a:buNone/>
                      </a:pPr>
                      <a:r>
                        <a:rPr lang="en-US" sz="1050" b="1" dirty="0">
                          <a:solidFill>
                            <a:srgbClr val="C8553D"/>
                          </a:solidFill>
                          <a:latin typeface="Calibri" pitchFamily="34" charset="0"/>
                          <a:ea typeface="Calibri" pitchFamily="34" charset="-122"/>
                          <a:cs typeface="Calibri" pitchFamily="34" charset="-120"/>
                        </a:rPr>
                        <a:t>Q7</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buNone/>
                      </a:pPr>
                      <a:r>
                        <a:rPr lang="en-US" sz="1050" b="1" dirty="0">
                          <a:solidFill>
                            <a:srgbClr val="12202E"/>
                          </a:solidFill>
                          <a:latin typeface="Calibri" pitchFamily="34" charset="0"/>
                          <a:ea typeface="Calibri" pitchFamily="34" charset="-122"/>
                          <a:cs typeface="Calibri" pitchFamily="34" charset="-120"/>
                        </a:rPr>
                        <a:t>Have any new rural credit unions been chartered at all?</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buNone/>
                      </a:pPr>
                      <a:r>
                        <a:rPr lang="en-US" sz="1000" dirty="0">
                          <a:solidFill>
                            <a:srgbClr val="5B6B72"/>
                          </a:solidFill>
                          <a:latin typeface="Calibri" pitchFamily="34" charset="0"/>
                          <a:ea typeface="Calibri" pitchFamily="34" charset="-122"/>
                          <a:cs typeface="Calibri" pitchFamily="34" charset="-120"/>
                        </a:rPr>
                        <a:t>Whether we explain a pattern or explain a zero</a:t>
                      </a:r>
                      <a:endParaRPr lang="en-US" sz="10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950" b="1" dirty="0">
                          <a:solidFill>
                            <a:srgbClr val="0E4C55"/>
                          </a:solidFill>
                          <a:latin typeface="Calibri" pitchFamily="34" charset="0"/>
                          <a:ea typeface="Calibri" pitchFamily="34" charset="-122"/>
                          <a:cs typeface="Calibri" pitchFamily="34" charset="-120"/>
                        </a:rPr>
                        <a:t>Answered</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950" i="1" dirty="0">
                          <a:solidFill>
                            <a:srgbClr val="1F6F78"/>
                          </a:solidFill>
                          <a:latin typeface="Calibri" pitchFamily="34" charset="0"/>
                          <a:ea typeface="Calibri" pitchFamily="34" charset="-122"/>
                          <a:cs typeface="Calibri" pitchFamily="34" charset="-120"/>
                        </a:rPr>
                        <a:t>Almost none</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7"/>
                  </a:ext>
                </a:extLst>
              </a:tr>
              <a:tr h="388620">
                <a:tc>
                  <a:txBody>
                    <a:bodyPr/>
                    <a:lstStyle/>
                    <a:p>
                      <a:pPr marL="0" indent="0" algn="ctr">
                        <a:buNone/>
                      </a:pPr>
                      <a:r>
                        <a:rPr lang="en-US" sz="1050" b="1" dirty="0">
                          <a:solidFill>
                            <a:srgbClr val="C8553D"/>
                          </a:solidFill>
                          <a:latin typeface="Calibri" pitchFamily="34" charset="0"/>
                          <a:ea typeface="Calibri" pitchFamily="34" charset="-122"/>
                          <a:cs typeface="Calibri" pitchFamily="34" charset="-120"/>
                        </a:rPr>
                        <a:t>Q8</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50" b="1" dirty="0">
                          <a:solidFill>
                            <a:srgbClr val="12202E"/>
                          </a:solidFill>
                          <a:latin typeface="Calibri" pitchFamily="34" charset="0"/>
                          <a:ea typeface="Calibri" pitchFamily="34" charset="-122"/>
                          <a:cs typeface="Calibri" pitchFamily="34" charset="-120"/>
                        </a:rPr>
                        <a:t>Is access to a physical branch getting worse in rural areas?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5B6B72"/>
                          </a:solidFill>
                          <a:latin typeface="Calibri" pitchFamily="34" charset="0"/>
                          <a:ea typeface="Calibri" pitchFamily="34" charset="-122"/>
                          <a:cs typeface="Calibri" pitchFamily="34" charset="-120"/>
                        </a:rPr>
                        <a:t>Whether the access story is decline or substitution</a:t>
                      </a:r>
                      <a:endParaRPr lang="en-US" sz="10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50" b="1" dirty="0">
                          <a:solidFill>
                            <a:srgbClr val="0E4C55"/>
                          </a:solidFill>
                          <a:latin typeface="Calibri" pitchFamily="34" charset="0"/>
                          <a:ea typeface="Calibri" pitchFamily="34" charset="-122"/>
                          <a:cs typeface="Calibri" pitchFamily="34" charset="-120"/>
                        </a:rPr>
                        <a:t>Answered</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50" i="1" dirty="0">
                          <a:solidFill>
                            <a:srgbClr val="1F6F78"/>
                          </a:solidFill>
                          <a:latin typeface="Calibri" pitchFamily="34" charset="0"/>
                          <a:ea typeface="Calibri" pitchFamily="34" charset="-122"/>
                          <a:cs typeface="Calibri" pitchFamily="34" charset="-120"/>
                        </a:rPr>
                        <a:t>Substitution</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8"/>
                  </a:ext>
                </a:extLst>
              </a:tr>
              <a:tr h="388620">
                <a:tc>
                  <a:txBody>
                    <a:bodyPr/>
                    <a:lstStyle/>
                    <a:p>
                      <a:pPr marL="0" indent="0" algn="ctr">
                        <a:buNone/>
                      </a:pPr>
                      <a:r>
                        <a:rPr lang="en-US" sz="1050" b="1" dirty="0">
                          <a:solidFill>
                            <a:srgbClr val="C8553D"/>
                          </a:solidFill>
                          <a:latin typeface="Calibri" pitchFamily="34" charset="0"/>
                          <a:ea typeface="Calibri" pitchFamily="34" charset="-122"/>
                          <a:cs typeface="Calibri" pitchFamily="34" charset="-120"/>
                        </a:rPr>
                        <a:t>Q9</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buNone/>
                      </a:pPr>
                      <a:r>
                        <a:rPr lang="en-US" sz="1050" b="1" dirty="0">
                          <a:solidFill>
                            <a:srgbClr val="12202E"/>
                          </a:solidFill>
                          <a:latin typeface="Calibri" pitchFamily="34" charset="0"/>
                          <a:ea typeface="Calibri" pitchFamily="34" charset="-122"/>
                          <a:cs typeface="Calibri" pitchFamily="34" charset="-120"/>
                        </a:rPr>
                        <a:t>Do the data actually support a long time series?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buNone/>
                      </a:pPr>
                      <a:r>
                        <a:rPr lang="en-US" sz="1000" dirty="0">
                          <a:solidFill>
                            <a:srgbClr val="5B6B72"/>
                          </a:solidFill>
                          <a:latin typeface="Calibri" pitchFamily="34" charset="0"/>
                          <a:ea typeface="Calibri" pitchFamily="34" charset="-122"/>
                          <a:cs typeface="Calibri" pitchFamily="34" charset="-120"/>
                        </a:rPr>
                        <a:t>Which trends we can honestly show</a:t>
                      </a:r>
                      <a:endParaRPr lang="en-US" sz="10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950" b="1" dirty="0">
                          <a:solidFill>
                            <a:srgbClr val="0E4C55"/>
                          </a:solidFill>
                          <a:latin typeface="Calibri" pitchFamily="34" charset="0"/>
                          <a:ea typeface="Calibri" pitchFamily="34" charset="-122"/>
                          <a:cs typeface="Calibri" pitchFamily="34" charset="-120"/>
                        </a:rPr>
                        <a:t>Answered</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950" i="1" dirty="0">
                          <a:solidFill>
                            <a:srgbClr val="1F6F78"/>
                          </a:solidFill>
                          <a:latin typeface="Calibri" pitchFamily="34" charset="0"/>
                          <a:ea typeface="Calibri" pitchFamily="34" charset="-122"/>
                          <a:cs typeface="Calibri" pitchFamily="34" charset="-120"/>
                        </a:rPr>
                        <a:t>2010 institutions, 2013 offices</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9"/>
                  </a:ext>
                </a:extLst>
              </a:tr>
              <a:tr h="388620">
                <a:tc>
                  <a:txBody>
                    <a:bodyPr/>
                    <a:lstStyle/>
                    <a:p>
                      <a:pPr marL="0" indent="0" algn="ctr">
                        <a:buNone/>
                      </a:pPr>
                      <a:r>
                        <a:rPr lang="en-US" sz="1050" b="1" dirty="0">
                          <a:solidFill>
                            <a:srgbClr val="C8553D"/>
                          </a:solidFill>
                          <a:latin typeface="Calibri" pitchFamily="34" charset="0"/>
                          <a:ea typeface="Calibri" pitchFamily="34" charset="-122"/>
                          <a:cs typeface="Calibri" pitchFamily="34" charset="-120"/>
                        </a:rPr>
                        <a:t>Q10</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50" b="1" dirty="0">
                          <a:solidFill>
                            <a:srgbClr val="12202E"/>
                          </a:solidFill>
                          <a:latin typeface="Calibri" pitchFamily="34" charset="0"/>
                          <a:ea typeface="Calibri" pitchFamily="34" charset="-122"/>
                          <a:cs typeface="Calibri" pitchFamily="34" charset="-120"/>
                        </a:rPr>
                        <a:t>Do rural mortgage borrowers get worse outcomes, and does a local credit union help?</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5B6B72"/>
                          </a:solidFill>
                          <a:latin typeface="Calibri" pitchFamily="34" charset="0"/>
                          <a:ea typeface="Calibri" pitchFamily="34" charset="-122"/>
                          <a:cs typeface="Calibri" pitchFamily="34" charset="-120"/>
                        </a:rPr>
                        <a:t>Whether new rural charters would deliver a measurable borrower benefit</a:t>
                      </a:r>
                      <a:endParaRPr lang="en-US" sz="10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50" b="1" dirty="0">
                          <a:solidFill>
                            <a:srgbClr val="1F6F78"/>
                          </a:solidFill>
                          <a:latin typeface="Calibri" pitchFamily="34" charset="0"/>
                          <a:ea typeface="Calibri" pitchFamily="34" charset="-122"/>
                          <a:cs typeface="Calibri" pitchFamily="34" charset="-120"/>
                        </a:rPr>
                        <a:t>New</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50" i="1" dirty="0">
                          <a:solidFill>
                            <a:srgbClr val="1F6F7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10"/>
                  </a:ext>
                </a:extLst>
              </a:tr>
            </a:tbl>
          </a:graphicData>
        </a:graphic>
      </p:graphicFrame>
      <p:sp>
        <p:nvSpPr>
          <p:cNvPr id="5" name="Text 2"/>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Status as of August 2026. “Answered” means exploratory results exist and have survived the robustness checks applied so far — not that they are final. Q1-Q3 determine the thesis, Q4-Q6 and Q10 the remedies, Q7-Q9 what we can show; the tiering was fixed before any estimation.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4 · RESEARCH DESIGN</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Q10 — do rural borrowers actually get a worse deal?</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Everything so far measures institutions. This question measures the people they serve — and it is the one that tells Congress whether a new rural charter would deliver anything a borrower would notice.</a:t>
            </a:r>
            <a:endParaRPr lang="en-US" sz="1350" dirty="0"/>
          </a:p>
        </p:txBody>
      </p:sp>
      <p:sp>
        <p:nvSpPr>
          <p:cNvPr id="5" name="Shape 3"/>
          <p:cNvSpPr/>
          <p:nvPr/>
        </p:nvSpPr>
        <p:spPr>
          <a:xfrm>
            <a:off x="640080" y="1874520"/>
            <a:ext cx="10881360" cy="1051560"/>
          </a:xfrm>
          <a:prstGeom prst="roundRect">
            <a:avLst>
              <a:gd name="adj" fmla="val 4348"/>
            </a:avLst>
          </a:prstGeom>
          <a:solidFill>
            <a:srgbClr val="0E4C55"/>
          </a:solidFill>
          <a:ln/>
        </p:spPr>
        <p:txBody>
          <a:bodyPr/>
          <a:lstStyle/>
          <a:p>
            <a:endParaRPr lang="en-US"/>
          </a:p>
        </p:txBody>
      </p:sp>
      <p:sp>
        <p:nvSpPr>
          <p:cNvPr id="6" name="Text 4"/>
          <p:cNvSpPr/>
          <p:nvPr/>
        </p:nvSpPr>
        <p:spPr>
          <a:xfrm>
            <a:off x="960120" y="1984248"/>
            <a:ext cx="10149840" cy="256032"/>
          </a:xfrm>
          <a:prstGeom prst="rect">
            <a:avLst/>
          </a:prstGeom>
          <a:noFill/>
          <a:ln/>
        </p:spPr>
        <p:txBody>
          <a:bodyPr wrap="square" lIns="0" tIns="0" rIns="0" bIns="0" rtlCol="0" anchor="ctr"/>
          <a:lstStyle/>
          <a:p>
            <a:pPr marL="0" indent="0">
              <a:buNone/>
            </a:pPr>
            <a:r>
              <a:rPr lang="en-US" sz="1150" b="1" dirty="0">
                <a:solidFill>
                  <a:srgbClr val="E8A24A"/>
                </a:solidFill>
                <a:latin typeface="Calibri" pitchFamily="34" charset="0"/>
                <a:ea typeface="Calibri" pitchFamily="34" charset="-122"/>
                <a:cs typeface="Calibri" pitchFamily="34" charset="-120"/>
              </a:rPr>
              <a:t>The question, as we would put it in the report</a:t>
            </a:r>
            <a:endParaRPr lang="en-US" sz="1150" dirty="0"/>
          </a:p>
        </p:txBody>
      </p:sp>
      <p:sp>
        <p:nvSpPr>
          <p:cNvPr id="7" name="Text 5"/>
          <p:cNvSpPr/>
          <p:nvPr/>
        </p:nvSpPr>
        <p:spPr>
          <a:xfrm>
            <a:off x="960120" y="2267712"/>
            <a:ext cx="10149840" cy="566928"/>
          </a:xfrm>
          <a:prstGeom prst="rect">
            <a:avLst/>
          </a:prstGeom>
          <a:noFill/>
          <a:ln/>
        </p:spPr>
        <p:txBody>
          <a:bodyPr wrap="square" lIns="0" tIns="0" rIns="0" bIns="0" rtlCol="0" anchor="ctr"/>
          <a:lstStyle/>
          <a:p>
            <a:pPr marL="0" indent="0">
              <a:lnSpc>
                <a:spcPts val="1900"/>
              </a:lnSpc>
              <a:buNone/>
            </a:pPr>
            <a:r>
              <a:rPr lang="en-US" sz="1350" b="1" dirty="0">
                <a:solidFill>
                  <a:srgbClr val="FFFFFF"/>
                </a:solidFill>
                <a:latin typeface="Cambria" pitchFamily="34" charset="0"/>
                <a:ea typeface="Cambria" pitchFamily="34" charset="-122"/>
                <a:cs typeface="Cambria" pitchFamily="34" charset="-120"/>
              </a:rPr>
              <a:t>“Do mortgage applicants in rural counties face higher denial rates, higher priced loans and more abandoned applications than comparable applicants elsewhere — and does the presence of a local credit union narrow the gap?”</a:t>
            </a:r>
            <a:endParaRPr lang="en-US" sz="1350" dirty="0"/>
          </a:p>
        </p:txBody>
      </p:sp>
      <p:sp>
        <p:nvSpPr>
          <p:cNvPr id="8" name="Shape 6"/>
          <p:cNvSpPr/>
          <p:nvPr/>
        </p:nvSpPr>
        <p:spPr>
          <a:xfrm>
            <a:off x="640080" y="3154680"/>
            <a:ext cx="3291840" cy="2377440"/>
          </a:xfrm>
          <a:prstGeom prst="roundRect">
            <a:avLst>
              <a:gd name="adj" fmla="val 1923"/>
            </a:avLst>
          </a:prstGeom>
          <a:solidFill>
            <a:srgbClr val="F3F5F4"/>
          </a:solidFill>
          <a:ln/>
        </p:spPr>
        <p:txBody>
          <a:bodyPr/>
          <a:lstStyle/>
          <a:p>
            <a:endParaRPr lang="en-US"/>
          </a:p>
        </p:txBody>
      </p:sp>
      <p:sp>
        <p:nvSpPr>
          <p:cNvPr id="9" name="Text 7"/>
          <p:cNvSpPr/>
          <p:nvPr/>
        </p:nvSpPr>
        <p:spPr>
          <a:xfrm>
            <a:off x="896112" y="3310128"/>
            <a:ext cx="2788920" cy="502920"/>
          </a:xfrm>
          <a:prstGeom prst="rect">
            <a:avLst/>
          </a:prstGeom>
          <a:noFill/>
          <a:ln/>
        </p:spPr>
        <p:txBody>
          <a:bodyPr wrap="square" lIns="0" tIns="0" rIns="0" bIns="0" rtlCol="0" anchor="ctr"/>
          <a:lstStyle/>
          <a:p>
            <a:pPr marL="0" indent="0">
              <a:lnSpc>
                <a:spcPts val="1500"/>
              </a:lnSpc>
              <a:buNone/>
            </a:pPr>
            <a:r>
              <a:rPr lang="en-US" sz="1200" b="1" dirty="0">
                <a:solidFill>
                  <a:srgbClr val="0E4C55"/>
                </a:solidFill>
                <a:latin typeface="Calibri" pitchFamily="34" charset="0"/>
                <a:ea typeface="Calibri" pitchFamily="34" charset="-122"/>
                <a:cs typeface="Calibri" pitchFamily="34" charset="-120"/>
              </a:rPr>
              <a:t>Why it belongs in this report</a:t>
            </a:r>
            <a:endParaRPr lang="en-US" sz="1200" dirty="0"/>
          </a:p>
        </p:txBody>
      </p:sp>
      <p:sp>
        <p:nvSpPr>
          <p:cNvPr id="10" name="Text 8"/>
          <p:cNvSpPr/>
          <p:nvPr/>
        </p:nvSpPr>
        <p:spPr>
          <a:xfrm>
            <a:off x="896112" y="3822192"/>
            <a:ext cx="2834640" cy="160020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Sec. 909 asks what would improve rural credit unions and what stops new ones forming. Neither branch means much unless rural borrowers are measurably worse off. This question supplies the missing link — the consumer-side evidence that a new charter would have work to do.</a:t>
            </a:r>
            <a:endParaRPr lang="en-US" sz="1050" dirty="0"/>
          </a:p>
        </p:txBody>
      </p:sp>
      <p:sp>
        <p:nvSpPr>
          <p:cNvPr id="11" name="Shape 9"/>
          <p:cNvSpPr/>
          <p:nvPr/>
        </p:nvSpPr>
        <p:spPr>
          <a:xfrm>
            <a:off x="4297680" y="3154680"/>
            <a:ext cx="3291840" cy="2377440"/>
          </a:xfrm>
          <a:prstGeom prst="roundRect">
            <a:avLst>
              <a:gd name="adj" fmla="val 1923"/>
            </a:avLst>
          </a:prstGeom>
          <a:solidFill>
            <a:srgbClr val="F3F5F4"/>
          </a:solidFill>
          <a:ln/>
        </p:spPr>
        <p:txBody>
          <a:bodyPr/>
          <a:lstStyle/>
          <a:p>
            <a:endParaRPr lang="en-US"/>
          </a:p>
        </p:txBody>
      </p:sp>
      <p:sp>
        <p:nvSpPr>
          <p:cNvPr id="12" name="Text 10"/>
          <p:cNvSpPr/>
          <p:nvPr/>
        </p:nvSpPr>
        <p:spPr>
          <a:xfrm>
            <a:off x="4553712" y="3310128"/>
            <a:ext cx="2788920" cy="502920"/>
          </a:xfrm>
          <a:prstGeom prst="rect">
            <a:avLst/>
          </a:prstGeom>
          <a:noFill/>
          <a:ln/>
        </p:spPr>
        <p:txBody>
          <a:bodyPr wrap="square" lIns="0" tIns="0" rIns="0" bIns="0" rtlCol="0" anchor="ctr"/>
          <a:lstStyle/>
          <a:p>
            <a:pPr marL="0" indent="0">
              <a:lnSpc>
                <a:spcPts val="1500"/>
              </a:lnSpc>
              <a:buNone/>
            </a:pPr>
            <a:r>
              <a:rPr lang="en-US" sz="1200" b="1" dirty="0">
                <a:solidFill>
                  <a:srgbClr val="1F6F78"/>
                </a:solidFill>
                <a:latin typeface="Calibri" pitchFamily="34" charset="0"/>
                <a:ea typeface="Calibri" pitchFamily="34" charset="-122"/>
                <a:cs typeface="Calibri" pitchFamily="34" charset="-120"/>
              </a:rPr>
              <a:t>What we would measure</a:t>
            </a:r>
            <a:endParaRPr lang="en-US" sz="1200" dirty="0"/>
          </a:p>
        </p:txBody>
      </p:sp>
      <p:sp>
        <p:nvSpPr>
          <p:cNvPr id="13" name="Text 11"/>
          <p:cNvSpPr/>
          <p:nvPr/>
        </p:nvSpPr>
        <p:spPr>
          <a:xfrm>
            <a:off x="4553712" y="3822192"/>
            <a:ext cx="2834640" cy="160020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Three outcomes from the mortgage application record, 2019 to 2025: whether the application was denied, the interest rate spread on loans that closed, and how often applications were withdrawn or left incomplete. Rural against non-rural, credit unions against other lenders.</a:t>
            </a:r>
            <a:endParaRPr lang="en-US" sz="1050" dirty="0"/>
          </a:p>
        </p:txBody>
      </p:sp>
      <p:sp>
        <p:nvSpPr>
          <p:cNvPr id="14" name="Shape 12"/>
          <p:cNvSpPr/>
          <p:nvPr/>
        </p:nvSpPr>
        <p:spPr>
          <a:xfrm>
            <a:off x="7955280" y="3154680"/>
            <a:ext cx="3291840" cy="2377440"/>
          </a:xfrm>
          <a:prstGeom prst="roundRect">
            <a:avLst>
              <a:gd name="adj" fmla="val 1923"/>
            </a:avLst>
          </a:prstGeom>
          <a:solidFill>
            <a:srgbClr val="DCE6E4"/>
          </a:solidFill>
          <a:ln/>
        </p:spPr>
        <p:txBody>
          <a:bodyPr/>
          <a:lstStyle/>
          <a:p>
            <a:endParaRPr lang="en-US"/>
          </a:p>
        </p:txBody>
      </p:sp>
      <p:sp>
        <p:nvSpPr>
          <p:cNvPr id="15" name="Text 13"/>
          <p:cNvSpPr/>
          <p:nvPr/>
        </p:nvSpPr>
        <p:spPr>
          <a:xfrm>
            <a:off x="8211312" y="3310128"/>
            <a:ext cx="2788920" cy="502920"/>
          </a:xfrm>
          <a:prstGeom prst="rect">
            <a:avLst/>
          </a:prstGeom>
          <a:noFill/>
          <a:ln/>
        </p:spPr>
        <p:txBody>
          <a:bodyPr wrap="square" lIns="0" tIns="0" rIns="0" bIns="0" rtlCol="0" anchor="ctr"/>
          <a:lstStyle/>
          <a:p>
            <a:pPr marL="0" indent="0">
              <a:lnSpc>
                <a:spcPts val="1500"/>
              </a:lnSpc>
              <a:buNone/>
            </a:pPr>
            <a:r>
              <a:rPr lang="en-US" sz="1200" b="1" dirty="0">
                <a:solidFill>
                  <a:srgbClr val="C8553D"/>
                </a:solidFill>
                <a:latin typeface="Calibri" pitchFamily="34" charset="0"/>
                <a:ea typeface="Calibri" pitchFamily="34" charset="-122"/>
                <a:cs typeface="Calibri" pitchFamily="34" charset="-120"/>
              </a:rPr>
              <a:t>Two things it cannot do</a:t>
            </a:r>
            <a:endParaRPr lang="en-US" sz="1200" dirty="0"/>
          </a:p>
        </p:txBody>
      </p:sp>
      <p:sp>
        <p:nvSpPr>
          <p:cNvPr id="16" name="Text 14"/>
          <p:cNvSpPr/>
          <p:nvPr/>
        </p:nvSpPr>
        <p:spPr>
          <a:xfrm>
            <a:off x="8211312" y="3822192"/>
            <a:ext cx="2834640" cy="160020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The public data carry no credit score, so price comparisons are suggestive rather than settled. And most small rural credit unions fall below the reporting threshold entirely — so this measures what rural BORROWERS experience, not what small rural credit unions do.</a:t>
            </a:r>
            <a:endParaRPr lang="en-US" sz="1050" dirty="0"/>
          </a:p>
        </p:txBody>
      </p:sp>
      <p:sp>
        <p:nvSpPr>
          <p:cNvPr id="17" name="Shape 15"/>
          <p:cNvSpPr/>
          <p:nvPr/>
        </p:nvSpPr>
        <p:spPr>
          <a:xfrm>
            <a:off x="640080" y="5669280"/>
            <a:ext cx="10881360" cy="566928"/>
          </a:xfrm>
          <a:prstGeom prst="roundRect">
            <a:avLst>
              <a:gd name="adj" fmla="val 8065"/>
            </a:avLst>
          </a:prstGeom>
          <a:solidFill>
            <a:srgbClr val="F3F5F4"/>
          </a:solidFill>
          <a:ln/>
        </p:spPr>
        <p:txBody>
          <a:bodyPr/>
          <a:lstStyle/>
          <a:p>
            <a:endParaRPr lang="en-US"/>
          </a:p>
        </p:txBody>
      </p:sp>
      <p:sp>
        <p:nvSpPr>
          <p:cNvPr id="18" name="Text 16"/>
          <p:cNvSpPr/>
          <p:nvPr/>
        </p:nvSpPr>
        <p:spPr>
          <a:xfrm>
            <a:off x="960120" y="5669280"/>
            <a:ext cx="10241280" cy="566928"/>
          </a:xfrm>
          <a:prstGeom prst="rect">
            <a:avLst/>
          </a:prstGeom>
          <a:noFill/>
          <a:ln/>
        </p:spPr>
        <p:txBody>
          <a:bodyPr wrap="square" lIns="0" tIns="0" rIns="0" bIns="0" rtlCol="0" anchor="ctr"/>
          <a:lstStyle/>
          <a:p>
            <a:pPr marL="0" indent="0">
              <a:buNone/>
            </a:pPr>
            <a:r>
              <a:rPr lang="en-US" sz="1150" i="1" dirty="0">
                <a:solidFill>
                  <a:srgbClr val="12202E"/>
                </a:solidFill>
                <a:latin typeface="Calibri" pitchFamily="34" charset="0"/>
                <a:ea typeface="Calibri" pitchFamily="34" charset="-122"/>
                <a:cs typeface="Calibri" pitchFamily="34" charset="-120"/>
              </a:rPr>
              <a:t>If rural borrowers are not worse off, the report should say so plainly — that finding would narrow the recommendations rather than widen them.</a:t>
            </a:r>
            <a:endParaRPr lang="en-US" sz="1150" dirty="0"/>
          </a:p>
        </p:txBody>
      </p:sp>
      <p:sp>
        <p:nvSpPr>
          <p:cNvPr id="19" name="Text 17"/>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Public mortgage application records, 2019-2025. A reporting-threshold change in 2020 moves small lenders in and out of the panel and must be handled before any trend is claimed.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5 · RESULTS · Q1</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Q1 — the question the whole study turns on</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Rural credit unions look weaker than the system. They are also much smaller than the system. Those two explanations were tangled together, and they lead to opposite reports.</a:t>
            </a:r>
            <a:endParaRPr lang="en-US" sz="1350" dirty="0"/>
          </a:p>
        </p:txBody>
      </p:sp>
      <p:sp>
        <p:nvSpPr>
          <p:cNvPr id="5" name="Shape 3"/>
          <p:cNvSpPr/>
          <p:nvPr/>
        </p:nvSpPr>
        <p:spPr>
          <a:xfrm>
            <a:off x="640080" y="2011680"/>
            <a:ext cx="5257800" cy="1783080"/>
          </a:xfrm>
          <a:prstGeom prst="roundRect">
            <a:avLst>
              <a:gd name="adj" fmla="val 2564"/>
            </a:avLst>
          </a:prstGeom>
          <a:solidFill>
            <a:srgbClr val="F3F5F4"/>
          </a:solidFill>
          <a:ln/>
        </p:spPr>
        <p:txBody>
          <a:bodyPr/>
          <a:lstStyle/>
          <a:p>
            <a:endParaRPr lang="en-US"/>
          </a:p>
        </p:txBody>
      </p:sp>
      <p:sp>
        <p:nvSpPr>
          <p:cNvPr id="6" name="Text 4"/>
          <p:cNvSpPr/>
          <p:nvPr/>
        </p:nvSpPr>
        <p:spPr>
          <a:xfrm>
            <a:off x="932688" y="2194560"/>
            <a:ext cx="4572000" cy="237744"/>
          </a:xfrm>
          <a:prstGeom prst="rect">
            <a:avLst/>
          </a:prstGeom>
          <a:noFill/>
          <a:ln/>
        </p:spPr>
        <p:txBody>
          <a:bodyPr wrap="square" lIns="0" tIns="0" rIns="0" bIns="0" rtlCol="0" anchor="ctr"/>
          <a:lstStyle/>
          <a:p>
            <a:pPr marL="0" indent="0">
              <a:buNone/>
            </a:pPr>
            <a:r>
              <a:rPr lang="en-US" sz="1050" b="1" kern="0" spc="100" dirty="0">
                <a:solidFill>
                  <a:srgbClr val="5B6B72"/>
                </a:solidFill>
                <a:latin typeface="Calibri" pitchFamily="34" charset="0"/>
                <a:ea typeface="Calibri" pitchFamily="34" charset="-122"/>
                <a:cs typeface="Calibri" pitchFamily="34" charset="-120"/>
              </a:rPr>
              <a:t>IF THE GAP IS ABOUT SCALE</a:t>
            </a:r>
            <a:endParaRPr lang="en-US" sz="1050" dirty="0"/>
          </a:p>
        </p:txBody>
      </p:sp>
      <p:sp>
        <p:nvSpPr>
          <p:cNvPr id="7" name="Text 5"/>
          <p:cNvSpPr/>
          <p:nvPr/>
        </p:nvSpPr>
        <p:spPr>
          <a:xfrm>
            <a:off x="932688" y="2487168"/>
            <a:ext cx="4709160" cy="1188720"/>
          </a:xfrm>
          <a:prstGeom prst="rect">
            <a:avLst/>
          </a:prstGeom>
          <a:noFill/>
          <a:ln/>
        </p:spPr>
        <p:txBody>
          <a:bodyPr wrap="square" lIns="0" tIns="0" rIns="0" bIns="0" rtlCol="0" anchor="ctr"/>
          <a:lstStyle/>
          <a:p>
            <a:pPr marL="0" indent="0">
              <a:lnSpc>
                <a:spcPts val="1650"/>
              </a:lnSpc>
              <a:buNone/>
            </a:pPr>
            <a:r>
              <a:rPr lang="en-US" sz="1200" dirty="0">
                <a:solidFill>
                  <a:srgbClr val="12202E"/>
                </a:solidFill>
                <a:latin typeface="Calibri" pitchFamily="34" charset="0"/>
                <a:ea typeface="Calibri" pitchFamily="34" charset="-122"/>
                <a:cs typeface="Calibri" pitchFamily="34" charset="-120"/>
              </a:rPr>
              <a:t>Rural areas are simply where small institutions happen to be. The report becomes a small-institution report; rural-specific relief is the wrong instrument, and the recommendations should address fixed costs, shared services and consolidation policy.</a:t>
            </a:r>
            <a:endParaRPr lang="en-US" sz="1200" dirty="0"/>
          </a:p>
        </p:txBody>
      </p:sp>
      <p:sp>
        <p:nvSpPr>
          <p:cNvPr id="8" name="Shape 6"/>
          <p:cNvSpPr/>
          <p:nvPr/>
        </p:nvSpPr>
        <p:spPr>
          <a:xfrm>
            <a:off x="6263640" y="2011680"/>
            <a:ext cx="5257800" cy="1783080"/>
          </a:xfrm>
          <a:prstGeom prst="roundRect">
            <a:avLst>
              <a:gd name="adj" fmla="val 2564"/>
            </a:avLst>
          </a:prstGeom>
          <a:solidFill>
            <a:srgbClr val="DCE6E4"/>
          </a:solidFill>
          <a:ln/>
        </p:spPr>
        <p:txBody>
          <a:bodyPr/>
          <a:lstStyle/>
          <a:p>
            <a:endParaRPr lang="en-US"/>
          </a:p>
        </p:txBody>
      </p:sp>
      <p:sp>
        <p:nvSpPr>
          <p:cNvPr id="9" name="Text 7"/>
          <p:cNvSpPr/>
          <p:nvPr/>
        </p:nvSpPr>
        <p:spPr>
          <a:xfrm>
            <a:off x="6556248" y="2194560"/>
            <a:ext cx="4572000" cy="237744"/>
          </a:xfrm>
          <a:prstGeom prst="rect">
            <a:avLst/>
          </a:prstGeom>
          <a:noFill/>
          <a:ln/>
        </p:spPr>
        <p:txBody>
          <a:bodyPr wrap="square" lIns="0" tIns="0" rIns="0" bIns="0" rtlCol="0" anchor="ctr"/>
          <a:lstStyle/>
          <a:p>
            <a:pPr marL="0" indent="0">
              <a:buNone/>
            </a:pPr>
            <a:r>
              <a:rPr lang="en-US" sz="1050" b="1" kern="0" spc="100" dirty="0">
                <a:solidFill>
                  <a:srgbClr val="0E4C55"/>
                </a:solidFill>
                <a:latin typeface="Calibri" pitchFamily="34" charset="0"/>
                <a:ea typeface="Calibri" pitchFamily="34" charset="-122"/>
                <a:cs typeface="Calibri" pitchFamily="34" charset="-120"/>
              </a:rPr>
              <a:t>IF THE GAP IS ABOUT RURALITY</a:t>
            </a:r>
            <a:endParaRPr lang="en-US" sz="1050" dirty="0"/>
          </a:p>
        </p:txBody>
      </p:sp>
      <p:sp>
        <p:nvSpPr>
          <p:cNvPr id="10" name="Text 8"/>
          <p:cNvSpPr/>
          <p:nvPr/>
        </p:nvSpPr>
        <p:spPr>
          <a:xfrm>
            <a:off x="6556248" y="2487168"/>
            <a:ext cx="4709160" cy="1188720"/>
          </a:xfrm>
          <a:prstGeom prst="rect">
            <a:avLst/>
          </a:prstGeom>
          <a:noFill/>
          <a:ln/>
        </p:spPr>
        <p:txBody>
          <a:bodyPr wrap="square" lIns="0" tIns="0" rIns="0" bIns="0" rtlCol="0" anchor="ctr"/>
          <a:lstStyle/>
          <a:p>
            <a:pPr marL="0" indent="0">
              <a:lnSpc>
                <a:spcPts val="1650"/>
              </a:lnSpc>
              <a:buNone/>
            </a:pPr>
            <a:r>
              <a:rPr lang="en-US" sz="1200" dirty="0">
                <a:solidFill>
                  <a:srgbClr val="12202E"/>
                </a:solidFill>
                <a:latin typeface="Calibri" pitchFamily="34" charset="0"/>
                <a:ea typeface="Calibri" pitchFamily="34" charset="-122"/>
                <a:cs typeface="Calibri" pitchFamily="34" charset="-120"/>
              </a:rPr>
              <a:t>Something about operating in rural markets is doing the work — competition, member composition, field-of-membership structure, local economy. Sec. 909's premise of rural-specific barriers is then the right frame for the recommendations.</a:t>
            </a:r>
            <a:endParaRPr lang="en-US" sz="1200" dirty="0"/>
          </a:p>
        </p:txBody>
      </p:sp>
      <p:sp>
        <p:nvSpPr>
          <p:cNvPr id="11" name="Shape 9"/>
          <p:cNvSpPr/>
          <p:nvPr/>
        </p:nvSpPr>
        <p:spPr>
          <a:xfrm>
            <a:off x="640080" y="3977640"/>
            <a:ext cx="10881360" cy="1371600"/>
          </a:xfrm>
          <a:prstGeom prst="roundRect">
            <a:avLst>
              <a:gd name="adj" fmla="val 3333"/>
            </a:avLst>
          </a:prstGeom>
          <a:solidFill>
            <a:srgbClr val="0E4C55"/>
          </a:solidFill>
          <a:ln/>
        </p:spPr>
        <p:txBody>
          <a:bodyPr/>
          <a:lstStyle/>
          <a:p>
            <a:endParaRPr lang="en-US"/>
          </a:p>
        </p:txBody>
      </p:sp>
      <p:sp>
        <p:nvSpPr>
          <p:cNvPr id="12" name="Text 10"/>
          <p:cNvSpPr/>
          <p:nvPr/>
        </p:nvSpPr>
        <p:spPr>
          <a:xfrm>
            <a:off x="960120" y="4114800"/>
            <a:ext cx="10149840" cy="274320"/>
          </a:xfrm>
          <a:prstGeom prst="rect">
            <a:avLst/>
          </a:prstGeom>
          <a:noFill/>
          <a:ln/>
        </p:spPr>
        <p:txBody>
          <a:bodyPr wrap="square" lIns="0" tIns="0" rIns="0" bIns="0" rtlCol="0" anchor="ctr"/>
          <a:lstStyle/>
          <a:p>
            <a:pPr marL="0" indent="0">
              <a:buNone/>
            </a:pPr>
            <a:r>
              <a:rPr lang="en-US" sz="1200" b="1" dirty="0">
                <a:solidFill>
                  <a:srgbClr val="E8A24A"/>
                </a:solidFill>
                <a:latin typeface="Calibri" pitchFamily="34" charset="0"/>
                <a:ea typeface="Calibri" pitchFamily="34" charset="-122"/>
                <a:cs typeface="Calibri" pitchFamily="34" charset="-120"/>
              </a:rPr>
              <a:t>The decision rule, written down before we ran anything</a:t>
            </a:r>
            <a:endParaRPr lang="en-US" sz="1200" dirty="0"/>
          </a:p>
        </p:txBody>
      </p:sp>
      <p:sp>
        <p:nvSpPr>
          <p:cNvPr id="13" name="Text 11"/>
          <p:cNvSpPr/>
          <p:nvPr/>
        </p:nvSpPr>
        <p:spPr>
          <a:xfrm>
            <a:off x="960120" y="4407408"/>
            <a:ext cx="10149840" cy="3200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“If the gap largely disappears once size is accounted for, we conclude that scale is the operative factor and reorient the report.”</a:t>
            </a:r>
            <a:endParaRPr lang="en-US" sz="1400" dirty="0"/>
          </a:p>
        </p:txBody>
      </p:sp>
      <p:sp>
        <p:nvSpPr>
          <p:cNvPr id="14" name="Text 12"/>
          <p:cNvSpPr/>
          <p:nvPr/>
        </p:nvSpPr>
        <p:spPr>
          <a:xfrm>
            <a:off x="960120" y="4754880"/>
            <a:ext cx="10149840" cy="502920"/>
          </a:xfrm>
          <a:prstGeom prst="rect">
            <a:avLst/>
          </a:prstGeom>
          <a:noFill/>
          <a:ln/>
        </p:spPr>
        <p:txBody>
          <a:bodyPr wrap="square" lIns="0" tIns="0" rIns="0" bIns="0" rtlCol="0" anchor="ctr"/>
          <a:lstStyle/>
          <a:p>
            <a:pPr marL="0" indent="0">
              <a:lnSpc>
                <a:spcPts val="1550"/>
              </a:lnSpc>
              <a:buNone/>
            </a:pPr>
            <a:r>
              <a:rPr lang="en-US" sz="1150" dirty="0">
                <a:solidFill>
                  <a:srgbClr val="DCE6E4"/>
                </a:solidFill>
                <a:latin typeface="Calibri" pitchFamily="34" charset="0"/>
                <a:ea typeface="Calibri" pitchFamily="34" charset="-122"/>
                <a:cs typeface="Calibri" pitchFamily="34" charset="-120"/>
              </a:rPr>
              <a:t>Deciding the rules in advance removes the freedom to rationalise whatever we found. It is the difference between agreeing what counts as a win before the game and arguing about it afterwards — and for a report to Congress on a contested question, it is the first thing a skeptical reviewer will probe.</a:t>
            </a:r>
            <a:endParaRPr lang="en-US" sz="1150" dirty="0"/>
          </a:p>
        </p:txBody>
      </p:sp>
      <p:sp>
        <p:nvSpPr>
          <p:cNvPr id="15" name="Text 13"/>
          <p:cNvSpPr/>
          <p:nvPr/>
        </p:nvSpPr>
        <p:spPr>
          <a:xfrm>
            <a:off x="640080" y="5532120"/>
            <a:ext cx="10881360" cy="457200"/>
          </a:xfrm>
          <a:prstGeom prst="rect">
            <a:avLst/>
          </a:prstGeom>
          <a:noFill/>
          <a:ln/>
        </p:spPr>
        <p:txBody>
          <a:bodyPr wrap="square" lIns="0" tIns="0" rIns="0" bIns="0" rtlCol="0" anchor="ctr"/>
          <a:lstStyle/>
          <a:p>
            <a:pPr marL="0" indent="0">
              <a:buNone/>
            </a:pPr>
            <a:r>
              <a:rPr lang="en-US" sz="1300" b="1" dirty="0">
                <a:solidFill>
                  <a:srgbClr val="C8553D"/>
                </a:solidFill>
                <a:latin typeface="Calibri" pitchFamily="34" charset="0"/>
                <a:ea typeface="Calibri" pitchFamily="34" charset="-122"/>
                <a:cs typeface="Calibri" pitchFamily="34" charset="-120"/>
              </a:rPr>
              <a:t>The result: the gap did not disappear. It strengthened. The pre-committed rule therefore points to a RURAL report, not a SCALE report.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5 · RESULTS · Q1</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It did not disappear. It got stronger.</a:t>
            </a:r>
            <a:endParaRPr lang="en-US" sz="2700" dirty="0"/>
          </a:p>
        </p:txBody>
      </p:sp>
      <p:sp>
        <p:nvSpPr>
          <p:cNvPr id="4" name="Text 2"/>
          <p:cNvSpPr/>
          <p:nvPr/>
        </p:nvSpPr>
        <p:spPr>
          <a:xfrm>
            <a:off x="640080" y="1243584"/>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Size acts as a suppressor: larger credit unions grow faster and rural ones are smaller, so the raw comparison understates the rural advantage rather than inflating it.</a:t>
            </a:r>
            <a:endParaRPr lang="en-US" sz="1350" dirty="0"/>
          </a:p>
        </p:txBody>
      </p:sp>
      <p:graphicFrame>
        <p:nvGraphicFramePr>
          <p:cNvPr id="5" name="Chart 0"/>
          <p:cNvGraphicFramePr/>
          <p:nvPr/>
        </p:nvGraphicFramePr>
        <p:xfrm>
          <a:off x="640080" y="1874520"/>
          <a:ext cx="6583680" cy="3246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498080" y="1965960"/>
          <a:ext cx="4023360" cy="914400"/>
        </p:xfrm>
        <a:graphic>
          <a:graphicData uri="http://schemas.openxmlformats.org/drawingml/2006/table">
            <a:tbl>
              <a:tblPr/>
              <a:tblGrid>
                <a:gridCol w="16002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29184">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Outcome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Raw</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Conditional</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 of gap surviving</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extLst>
                  <a:ext uri="{0D108BD9-81ED-4DB2-BD59-A6C34878D82A}">
                    <a16:rowId xmlns:a16="http://schemas.microsoft.com/office/drawing/2014/main" val="10000"/>
                  </a:ext>
                </a:extLst>
              </a:tr>
              <a:tr h="329184">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Asset growth</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0.86</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1.029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120.0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1"/>
                  </a:ext>
                </a:extLst>
              </a:tr>
              <a:tr h="329184">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Loan growth</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0.83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1.069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128.1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29184">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Membership growth</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0.60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0.888</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147.1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3"/>
                  </a:ext>
                </a:extLst>
              </a:tr>
              <a:tr h="329184">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ROA</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0.14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0.173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00" dirty="0">
                          <a:solidFill>
                            <a:srgbClr val="12202E"/>
                          </a:solidFill>
                          <a:latin typeface="Calibri" pitchFamily="34" charset="0"/>
                          <a:ea typeface="Calibri" pitchFamily="34" charset="-122"/>
                          <a:cs typeface="Calibri" pitchFamily="34" charset="-120"/>
                        </a:rPr>
                        <a:t>120.3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329184">
                <a:tc>
                  <a:txBody>
                    <a:bodyPr/>
                    <a:lstStyle/>
                    <a:p>
                      <a:pPr marL="0" indent="0" algn="l">
                        <a:buNone/>
                      </a:pPr>
                      <a:r>
                        <a:rPr lang="en-US" sz="1000" b="1" dirty="0">
                          <a:solidFill>
                            <a:srgbClr val="12202E"/>
                          </a:solidFill>
                          <a:latin typeface="Calibri" pitchFamily="34" charset="0"/>
                          <a:ea typeface="Calibri" pitchFamily="34" charset="-122"/>
                          <a:cs typeface="Calibri" pitchFamily="34" charset="-120"/>
                        </a:rPr>
                        <a:t>Net worth ratio</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tc>
                  <a:txBody>
                    <a:bodyPr/>
                    <a:lstStyle/>
                    <a:p>
                      <a:pPr marL="0" indent="0" algn="ctr">
                        <a:buNone/>
                      </a:pPr>
                      <a:r>
                        <a:rPr lang="en-US" sz="1000" b="1" dirty="0">
                          <a:solidFill>
                            <a:srgbClr val="12202E"/>
                          </a:solidFill>
                          <a:latin typeface="Calibri" pitchFamily="34" charset="0"/>
                          <a:ea typeface="Calibri" pitchFamily="34" charset="-122"/>
                          <a:cs typeface="Calibri" pitchFamily="34" charset="-120"/>
                        </a:rPr>
                        <a:t>0.78</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tc>
                  <a:txBody>
                    <a:bodyPr/>
                    <a:lstStyle/>
                    <a:p>
                      <a:pPr marL="0" indent="0" algn="ctr">
                        <a:buNone/>
                      </a:pPr>
                      <a:r>
                        <a:rPr lang="en-US" sz="1000" b="1" dirty="0">
                          <a:solidFill>
                            <a:srgbClr val="12202E"/>
                          </a:solidFill>
                          <a:latin typeface="Calibri" pitchFamily="34" charset="0"/>
                          <a:ea typeface="Calibri" pitchFamily="34" charset="-122"/>
                          <a:cs typeface="Calibri" pitchFamily="34" charset="-120"/>
                        </a:rPr>
                        <a:t>0.415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tc>
                  <a:txBody>
                    <a:bodyPr/>
                    <a:lstStyle/>
                    <a:p>
                      <a:pPr marL="0" indent="0" algn="ctr">
                        <a:buNone/>
                      </a:pPr>
                      <a:r>
                        <a:rPr lang="en-US" sz="1000" b="1" dirty="0">
                          <a:solidFill>
                            <a:srgbClr val="12202E"/>
                          </a:solidFill>
                          <a:latin typeface="Calibri" pitchFamily="34" charset="0"/>
                          <a:ea typeface="Calibri" pitchFamily="34" charset="-122"/>
                          <a:cs typeface="Calibri" pitchFamily="34" charset="-120"/>
                        </a:rPr>
                        <a:t>53.0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extLst>
                  <a:ext uri="{0D108BD9-81ED-4DB2-BD59-A6C34878D82A}">
                    <a16:rowId xmlns:a16="http://schemas.microsoft.com/office/drawing/2014/main" val="10005"/>
                  </a:ext>
                </a:extLst>
              </a:tr>
            </a:tbl>
          </a:graphicData>
        </a:graphic>
      </p:graphicFrame>
      <p:sp>
        <p:nvSpPr>
          <p:cNvPr id="7" name="Shape 3"/>
          <p:cNvSpPr/>
          <p:nvPr/>
        </p:nvSpPr>
        <p:spPr>
          <a:xfrm>
            <a:off x="7498080" y="4069080"/>
            <a:ext cx="4023360" cy="1920240"/>
          </a:xfrm>
          <a:prstGeom prst="roundRect">
            <a:avLst>
              <a:gd name="adj" fmla="val 2381"/>
            </a:avLst>
          </a:prstGeom>
          <a:solidFill>
            <a:srgbClr val="DCE6E4"/>
          </a:solidFill>
          <a:ln/>
        </p:spPr>
        <p:txBody>
          <a:bodyPr/>
          <a:lstStyle/>
          <a:p>
            <a:endParaRPr lang="en-US"/>
          </a:p>
        </p:txBody>
      </p:sp>
      <p:sp>
        <p:nvSpPr>
          <p:cNvPr id="8" name="Text 4"/>
          <p:cNvSpPr/>
          <p:nvPr/>
        </p:nvSpPr>
        <p:spPr>
          <a:xfrm>
            <a:off x="7726680" y="4224528"/>
            <a:ext cx="3566160" cy="256032"/>
          </a:xfrm>
          <a:prstGeom prst="rect">
            <a:avLst/>
          </a:prstGeom>
          <a:noFill/>
          <a:ln/>
        </p:spPr>
        <p:txBody>
          <a:bodyPr wrap="square" lIns="0" tIns="0" rIns="0" bIns="0" rtlCol="0" anchor="ctr"/>
          <a:lstStyle/>
          <a:p>
            <a:pPr marL="0" indent="0">
              <a:buNone/>
            </a:pPr>
            <a:r>
              <a:rPr lang="en-US" sz="1150" b="1" dirty="0">
                <a:solidFill>
                  <a:srgbClr val="C8553D"/>
                </a:solidFill>
                <a:latin typeface="Calibri" pitchFamily="34" charset="0"/>
                <a:ea typeface="Calibri" pitchFamily="34" charset="-122"/>
                <a:cs typeface="Calibri" pitchFamily="34" charset="-120"/>
              </a:rPr>
              <a:t>Net worth is the exception</a:t>
            </a:r>
            <a:endParaRPr lang="en-US" sz="1150" dirty="0"/>
          </a:p>
        </p:txBody>
      </p:sp>
      <p:sp>
        <p:nvSpPr>
          <p:cNvPr id="9" name="Text 5"/>
          <p:cNvSpPr/>
          <p:nvPr/>
        </p:nvSpPr>
        <p:spPr>
          <a:xfrm>
            <a:off x="7726680" y="4498848"/>
            <a:ext cx="3611880" cy="1417320"/>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Conditioning RAISES four of the five gaps. Only capital shrinks — barely half the raw gap survives, the Oaxaca unexplained share falls to 31.2% against 168.8% for growth and 148.1% for ROA, and it is insignificant under the alternative service-area definition. Of the statute's three outcomes, rural institutions lead robustly on growth and profitability and have no distinctive capital advantage.</a:t>
            </a:r>
            <a:endParaRPr lang="en-US" sz="1000" dirty="0"/>
          </a:p>
        </p:txBody>
      </p:sp>
      <p:sp>
        <p:nvSpPr>
          <p:cNvPr id="10" name="Text 6"/>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313,650 credit-union quarters, 2010Q1-2026Q1. State × quarter fixed effects, standard errors clustered by institution. Common support 98.9%.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5 · RESULTS · PERFORMANCE</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On the statute's own measures, the ordinary rural institution leads</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Trailing four quarters, medians. The word “median” is doing real work here — see the correction on the right.</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658368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Measure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Rural</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Non-rural</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Gap</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Statutory outcome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extLst>
                  <a:ext uri="{0D108BD9-81ED-4DB2-BD59-A6C34878D82A}">
                    <a16:rowId xmlns:a16="http://schemas.microsoft.com/office/drawing/2014/main" val="10000"/>
                  </a:ext>
                </a:extLst>
              </a:tr>
              <a:tr h="384048">
                <a:tc>
                  <a:txBody>
                    <a:bodyPr/>
                    <a:lstStyle/>
                    <a:p>
                      <a:pPr marL="0" indent="0" algn="l">
                        <a:buNone/>
                      </a:pPr>
                      <a:r>
                        <a:rPr lang="en-US" sz="1100" b="1" dirty="0">
                          <a:solidFill>
                            <a:srgbClr val="12202E"/>
                          </a:solidFill>
                          <a:latin typeface="Calibri" pitchFamily="34" charset="0"/>
                          <a:ea typeface="Calibri" pitchFamily="34" charset="-122"/>
                          <a:cs typeface="Calibri" pitchFamily="34" charset="-120"/>
                        </a:rPr>
                        <a:t>Asset growth</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4.04%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2.67%</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+1.37</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Growth</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1"/>
                  </a:ext>
                </a:extLst>
              </a:tr>
              <a:tr h="384048">
                <a:tc>
                  <a:txBody>
                    <a:bodyPr/>
                    <a:lstStyle/>
                    <a:p>
                      <a:pPr marL="0" indent="0" algn="l">
                        <a:buNone/>
                      </a:pPr>
                      <a:r>
                        <a:rPr lang="en-US" sz="1100" b="1" dirty="0">
                          <a:solidFill>
                            <a:srgbClr val="12202E"/>
                          </a:solidFill>
                          <a:latin typeface="Calibri" pitchFamily="34" charset="0"/>
                          <a:ea typeface="Calibri" pitchFamily="34" charset="-122"/>
                          <a:cs typeface="Calibri" pitchFamily="34" charset="-120"/>
                        </a:rPr>
                        <a:t>Loan growth</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0.35%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+1.28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Growth</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100" b="1" dirty="0">
                          <a:solidFill>
                            <a:srgbClr val="12202E"/>
                          </a:solidFill>
                          <a:latin typeface="Calibri" pitchFamily="34" charset="0"/>
                          <a:ea typeface="Calibri" pitchFamily="34" charset="-122"/>
                          <a:cs typeface="Calibri" pitchFamily="34" charset="-120"/>
                        </a:rPr>
                        <a:t>Membership growth</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-0.58%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+0.73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Growth</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3"/>
                  </a:ext>
                </a:extLst>
              </a:tr>
              <a:tr h="384048">
                <a:tc>
                  <a:txBody>
                    <a:bodyPr/>
                    <a:lstStyle/>
                    <a:p>
                      <a:pPr marL="0" indent="0" algn="l">
                        <a:buNone/>
                      </a:pPr>
                      <a:r>
                        <a:rPr lang="en-US" sz="1100" b="1" dirty="0">
                          <a:solidFill>
                            <a:srgbClr val="12202E"/>
                          </a:solidFill>
                          <a:latin typeface="Calibri" pitchFamily="34" charset="0"/>
                          <a:ea typeface="Calibri" pitchFamily="34" charset="-122"/>
                          <a:cs typeface="Calibri" pitchFamily="34" charset="-120"/>
                        </a:rPr>
                        <a:t>Return on assets</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0.69%</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+0.23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Profitability</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12202E"/>
                          </a:solidFill>
                          <a:latin typeface="Calibri" pitchFamily="34" charset="0"/>
                          <a:ea typeface="Calibri" pitchFamily="34" charset="-122"/>
                          <a:cs typeface="Calibri" pitchFamily="34" charset="-120"/>
                        </a:rPr>
                        <a:t>Net worth ratio</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13.36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12.18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+1.18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Capital adequacy</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5"/>
                  </a:ext>
                </a:extLst>
              </a:tr>
              <a:tr h="384048">
                <a:tc>
                  <a:txBody>
                    <a:bodyPr/>
                    <a:lstStyle/>
                    <a:p>
                      <a:pPr marL="0" indent="0" algn="l">
                        <a:buNone/>
                      </a:pPr>
                      <a:r>
                        <a:rPr lang="en-US" sz="1100" b="1" dirty="0">
                          <a:solidFill>
                            <a:srgbClr val="12202E"/>
                          </a:solidFill>
                          <a:latin typeface="Calibri" pitchFamily="34" charset="0"/>
                          <a:ea typeface="Calibri" pitchFamily="34" charset="-122"/>
                          <a:cs typeface="Calibri" pitchFamily="34" charset="-120"/>
                        </a:rPr>
                        <a:t>Delinquency</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0.63%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0.67%</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-0.04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12202E"/>
                          </a:solidFill>
                          <a:latin typeface="Calibri" pitchFamily="34" charset="0"/>
                          <a:ea typeface="Calibri" pitchFamily="34" charset="-122"/>
                          <a:cs typeface="Calibri" pitchFamily="34" charset="-120"/>
                        </a:rPr>
                        <a:t>(risk, not statutory)</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7498080" y="1965960"/>
            <a:ext cx="4023360" cy="1737360"/>
          </a:xfrm>
          <a:prstGeom prst="roundRect">
            <a:avLst>
              <a:gd name="adj" fmla="val 2632"/>
            </a:avLst>
          </a:prstGeom>
          <a:solidFill>
            <a:srgbClr val="C8553D"/>
          </a:solidFill>
          <a:ln/>
        </p:spPr>
        <p:txBody>
          <a:bodyPr/>
          <a:lstStyle/>
          <a:p>
            <a:endParaRPr lang="en-US"/>
          </a:p>
        </p:txBody>
      </p:sp>
      <p:sp>
        <p:nvSpPr>
          <p:cNvPr id="7" name="Text 4"/>
          <p:cNvSpPr/>
          <p:nvPr/>
        </p:nvSpPr>
        <p:spPr>
          <a:xfrm>
            <a:off x="7726680" y="2121408"/>
            <a:ext cx="3566160" cy="256032"/>
          </a:xfrm>
          <a:prstGeom prst="rect">
            <a:avLst/>
          </a:prstGeom>
          <a:noFill/>
          <a:ln/>
        </p:spPr>
        <p:txBody>
          <a:bodyPr wrap="square" lIns="0" tIns="0" rIns="0" bIns="0" rtlCol="0" anchor="ctr"/>
          <a:lstStyle/>
          <a:p>
            <a:pPr marL="0" indent="0">
              <a:buNone/>
            </a:pPr>
            <a:r>
              <a:rPr lang="en-US" sz="1150" b="1" dirty="0">
                <a:solidFill>
                  <a:srgbClr val="FFE8E2"/>
                </a:solidFill>
                <a:latin typeface="Calibri" pitchFamily="34" charset="0"/>
                <a:ea typeface="Calibri" pitchFamily="34" charset="-122"/>
                <a:cs typeface="Calibri" pitchFamily="34" charset="-120"/>
              </a:rPr>
              <a:t>One correction to carry</a:t>
            </a:r>
            <a:endParaRPr lang="en-US" sz="1150" dirty="0"/>
          </a:p>
        </p:txBody>
      </p:sp>
      <p:sp>
        <p:nvSpPr>
          <p:cNvPr id="8" name="Text 5"/>
          <p:cNvSpPr/>
          <p:nvPr/>
        </p:nvSpPr>
        <p:spPr>
          <a:xfrm>
            <a:off x="7726680" y="2414016"/>
            <a:ext cx="3611880" cy="1188720"/>
          </a:xfrm>
          <a:prstGeom prst="rect">
            <a:avLst/>
          </a:prstGeom>
          <a:noFill/>
          <a:ln/>
        </p:spPr>
        <p:txBody>
          <a:bodyPr wrap="square" lIns="0" tIns="0" rIns="0" bIns="0" rtlCol="0" anchor="ctr"/>
          <a:lstStyle/>
          <a:p>
            <a:pPr marL="0" indent="0">
              <a:lnSpc>
                <a:spcPts val="1400"/>
              </a:lnSpc>
              <a:buNone/>
            </a:pPr>
            <a:r>
              <a:rPr lang="en-US" sz="1050" dirty="0">
                <a:solidFill>
                  <a:srgbClr val="FFFFFF"/>
                </a:solidFill>
                <a:latin typeface="Calibri" pitchFamily="34" charset="0"/>
                <a:ea typeface="Calibri" pitchFamily="34" charset="-122"/>
                <a:cs typeface="Calibri" pitchFamily="34" charset="-120"/>
              </a:rPr>
              <a:t>Membership growth REVERSES when weighted by assets: rural 1.96 against non-rural 2.80. A few very large non-rural institutions carry their segment. Claim the ordinary institution, never the aggregate.</a:t>
            </a:r>
            <a:endParaRPr lang="en-US" sz="1050" dirty="0"/>
          </a:p>
        </p:txBody>
      </p:sp>
      <p:sp>
        <p:nvSpPr>
          <p:cNvPr id="9" name="Shape 6"/>
          <p:cNvSpPr/>
          <p:nvPr/>
        </p:nvSpPr>
        <p:spPr>
          <a:xfrm>
            <a:off x="7498080" y="3840480"/>
            <a:ext cx="4023360" cy="2148840"/>
          </a:xfrm>
          <a:prstGeom prst="roundRect">
            <a:avLst>
              <a:gd name="adj" fmla="val 2128"/>
            </a:avLst>
          </a:prstGeom>
          <a:solidFill>
            <a:srgbClr val="F3F5F4"/>
          </a:solidFill>
          <a:ln/>
        </p:spPr>
        <p:txBody>
          <a:bodyPr/>
          <a:lstStyle/>
          <a:p>
            <a:endParaRPr lang="en-US"/>
          </a:p>
        </p:txBody>
      </p:sp>
      <p:sp>
        <p:nvSpPr>
          <p:cNvPr id="10" name="Text 7"/>
          <p:cNvSpPr/>
          <p:nvPr/>
        </p:nvSpPr>
        <p:spPr>
          <a:xfrm>
            <a:off x="7726680" y="3995928"/>
            <a:ext cx="3566160" cy="256032"/>
          </a:xfrm>
          <a:prstGeom prst="rect">
            <a:avLst/>
          </a:prstGeom>
          <a:noFill/>
          <a:ln/>
        </p:spPr>
        <p:txBody>
          <a:bodyPr wrap="square" lIns="0" tIns="0" rIns="0" bIns="0" rtlCol="0" anchor="ctr"/>
          <a:lstStyle/>
          <a:p>
            <a:pPr marL="0" indent="0">
              <a:buNone/>
            </a:pPr>
            <a:r>
              <a:rPr lang="en-US" sz="1150" b="1" dirty="0">
                <a:solidFill>
                  <a:srgbClr val="0E4C55"/>
                </a:solidFill>
                <a:latin typeface="Calibri" pitchFamily="34" charset="0"/>
                <a:ea typeface="Calibri" pitchFamily="34" charset="-122"/>
                <a:cs typeface="Calibri" pitchFamily="34" charset="-120"/>
              </a:rPr>
              <a:t>Designations tell us little</a:t>
            </a:r>
            <a:endParaRPr lang="en-US" sz="1150" dirty="0"/>
          </a:p>
        </p:txBody>
      </p:sp>
      <p:sp>
        <p:nvSpPr>
          <p:cNvPr id="11" name="Text 8"/>
          <p:cNvSpPr/>
          <p:nvPr/>
        </p:nvSpPr>
        <p:spPr>
          <a:xfrm>
            <a:off x="7726680" y="4279392"/>
            <a:ext cx="3611880" cy="160020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2202E"/>
                </a:solidFill>
                <a:latin typeface="Calibri" pitchFamily="34" charset="0"/>
                <a:ea typeface="Calibri" pitchFamily="34" charset="-122"/>
                <a:cs typeface="Calibri" pitchFamily="34" charset="-120"/>
              </a:rPr>
              <a:t>Low-income designation: 55.1% rural vs 55.0% non-rural — indistinguishable.</a:t>
            </a:r>
            <a:endParaRPr lang="en-US" sz="1050" dirty="0"/>
          </a:p>
          <a:p>
            <a:pPr marL="342900" indent="-342900">
              <a:lnSpc>
                <a:spcPts val="1400"/>
              </a:lnSpc>
              <a:spcAft>
                <a:spcPts val="600"/>
              </a:spcAft>
              <a:buSzPct val="100000"/>
              <a:buChar char="•"/>
            </a:pPr>
            <a:r>
              <a:rPr lang="en-US" sz="1050" dirty="0">
                <a:solidFill>
                  <a:srgbClr val="12202E"/>
                </a:solidFill>
                <a:latin typeface="Calibri" pitchFamily="34" charset="0"/>
                <a:ea typeface="Calibri" pitchFamily="34" charset="-122"/>
                <a:cs typeface="Calibri" pitchFamily="34" charset="-120"/>
              </a:rPr>
              <a:t>Minority depository institutions: 7.9% rural vs 9.2% non-rural, which is counterintuitive and may be an artifact of recording MDI status by minority category rather than as a flag.</a:t>
            </a:r>
            <a:endParaRPr lang="en-US" sz="1050" dirty="0"/>
          </a:p>
        </p:txBody>
      </p:sp>
      <p:sp>
        <p:nvSpPr>
          <p:cNvPr id="12" name="Shape 9"/>
          <p:cNvSpPr/>
          <p:nvPr/>
        </p:nvSpPr>
        <p:spPr>
          <a:xfrm>
            <a:off x="640080" y="4617720"/>
            <a:ext cx="6583680" cy="1371600"/>
          </a:xfrm>
          <a:prstGeom prst="roundRect">
            <a:avLst>
              <a:gd name="adj" fmla="val 3333"/>
            </a:avLst>
          </a:prstGeom>
          <a:solidFill>
            <a:srgbClr val="0E4C55"/>
          </a:solidFill>
          <a:ln/>
        </p:spPr>
        <p:txBody>
          <a:bodyPr/>
          <a:lstStyle/>
          <a:p>
            <a:endParaRPr lang="en-US"/>
          </a:p>
        </p:txBody>
      </p:sp>
      <p:sp>
        <p:nvSpPr>
          <p:cNvPr id="13" name="Text 10"/>
          <p:cNvSpPr/>
          <p:nvPr/>
        </p:nvSpPr>
        <p:spPr>
          <a:xfrm>
            <a:off x="914400" y="4754880"/>
            <a:ext cx="6035040" cy="256032"/>
          </a:xfrm>
          <a:prstGeom prst="rect">
            <a:avLst/>
          </a:prstGeom>
          <a:noFill/>
          <a:ln/>
        </p:spPr>
        <p:txBody>
          <a:bodyPr wrap="square" lIns="0" tIns="0" rIns="0" bIns="0" rtlCol="0" anchor="ctr"/>
          <a:lstStyle/>
          <a:p>
            <a:pPr marL="0" indent="0">
              <a:buNone/>
            </a:pPr>
            <a:r>
              <a:rPr lang="en-US" sz="1150" b="1" dirty="0">
                <a:solidFill>
                  <a:srgbClr val="E8A24A"/>
                </a:solidFill>
                <a:latin typeface="Calibri" pitchFamily="34" charset="0"/>
                <a:ea typeface="Calibri" pitchFamily="34" charset="-122"/>
                <a:cs typeface="Calibri" pitchFamily="34" charset="-120"/>
              </a:rPr>
              <a:t>And the trend runs the same way</a:t>
            </a:r>
            <a:endParaRPr lang="en-US" sz="1150" dirty="0"/>
          </a:p>
        </p:txBody>
      </p:sp>
      <p:sp>
        <p:nvSpPr>
          <p:cNvPr id="14" name="Text 11"/>
          <p:cNvSpPr/>
          <p:nvPr/>
        </p:nvSpPr>
        <p:spPr>
          <a:xfrm>
            <a:off x="914400" y="5047488"/>
            <a:ext cx="6080760" cy="822960"/>
          </a:xfrm>
          <a:prstGeom prst="rect">
            <a:avLst/>
          </a:prstGeom>
          <a:noFill/>
          <a:ln/>
        </p:spPr>
        <p:txBody>
          <a:bodyPr wrap="square" lIns="0" tIns="0" rIns="0" bIns="0" rtlCol="0" anchor="ctr"/>
          <a:lstStyle/>
          <a:p>
            <a:pPr marL="0" indent="0">
              <a:lnSpc>
                <a:spcPts val="1550"/>
              </a:lnSpc>
              <a:buNone/>
            </a:pPr>
            <a:r>
              <a:rPr lang="en-US" sz="1150" dirty="0">
                <a:solidFill>
                  <a:srgbClr val="FFFFFF"/>
                </a:solidFill>
                <a:latin typeface="Calibri" pitchFamily="34" charset="0"/>
                <a:ea typeface="Calibri" pitchFamily="34" charset="-122"/>
                <a:cs typeface="Calibri" pitchFamily="34" charset="-120"/>
              </a:rPr>
              <a:t>Charter count indexed to 2010 = 100 stands at 67.7 rural against 60.2 non-rural. Rural institutions are declining more slowly than the system — which is why “rural decline” is not, on its own, an honest headline for this report.</a:t>
            </a:r>
            <a:endParaRPr lang="en-US" sz="1150" dirty="0"/>
          </a:p>
        </p:txBody>
      </p:sp>
      <p:sp>
        <p:nvSpPr>
          <p:cNvPr id="5" name="Text 12"/>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2026Q1. Median assets $38m rural against $78m non-rural; present-tense text uses current-quarter figures, not pooled-panel values.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5 · RESULTS · Q2</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Are we losing rural credit unions, or just losing credit unions?</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Charter counts have fallen everywhere for decades. Rural is only a distinct problem if rural charters fall faster — and the obvious objection to the whole study runs the wrong way.</a:t>
            </a:r>
            <a:endParaRPr lang="en-US" sz="1350" dirty="0"/>
          </a:p>
        </p:txBody>
      </p:sp>
      <p:sp>
        <p:nvSpPr>
          <p:cNvPr id="5" name="Shape 3"/>
          <p:cNvSpPr/>
          <p:nvPr/>
        </p:nvSpPr>
        <p:spPr>
          <a:xfrm>
            <a:off x="640080" y="1965960"/>
            <a:ext cx="2514600" cy="1508760"/>
          </a:xfrm>
          <a:prstGeom prst="roundRect">
            <a:avLst>
              <a:gd name="adj" fmla="val 3030"/>
            </a:avLst>
          </a:prstGeom>
          <a:solidFill>
            <a:srgbClr val="F3F5F4"/>
          </a:solidFill>
          <a:ln/>
        </p:spPr>
        <p:txBody>
          <a:bodyPr/>
          <a:lstStyle/>
          <a:p>
            <a:endParaRPr lang="en-US"/>
          </a:p>
        </p:txBody>
      </p:sp>
      <p:sp>
        <p:nvSpPr>
          <p:cNvPr id="6" name="Text 4"/>
          <p:cNvSpPr/>
          <p:nvPr/>
        </p:nvSpPr>
        <p:spPr>
          <a:xfrm>
            <a:off x="868680" y="2121408"/>
            <a:ext cx="2148840" cy="548640"/>
          </a:xfrm>
          <a:prstGeom prst="rect">
            <a:avLst/>
          </a:prstGeom>
          <a:noFill/>
          <a:ln/>
        </p:spPr>
        <p:txBody>
          <a:bodyPr wrap="square" lIns="0" tIns="0" rIns="0" bIns="0" rtlCol="0" anchor="ctr"/>
          <a:lstStyle/>
          <a:p>
            <a:pPr marL="0" indent="0">
              <a:buNone/>
            </a:pPr>
            <a:r>
              <a:rPr lang="en-US" sz="2500" b="1" dirty="0">
                <a:solidFill>
                  <a:srgbClr val="0E4C55"/>
                </a:solidFill>
                <a:latin typeface="Cambria" pitchFamily="34" charset="0"/>
                <a:ea typeface="Cambria" pitchFamily="34" charset="-122"/>
                <a:cs typeface="Cambria" pitchFamily="34" charset="-120"/>
              </a:rPr>
              <a:t>67.7</a:t>
            </a:r>
            <a:endParaRPr lang="en-US" sz="2500" dirty="0"/>
          </a:p>
        </p:txBody>
      </p:sp>
      <p:sp>
        <p:nvSpPr>
          <p:cNvPr id="7" name="Text 5"/>
          <p:cNvSpPr/>
          <p:nvPr/>
        </p:nvSpPr>
        <p:spPr>
          <a:xfrm>
            <a:off x="868680" y="2670048"/>
            <a:ext cx="2148840" cy="384048"/>
          </a:xfrm>
          <a:prstGeom prst="rect">
            <a:avLst/>
          </a:prstGeom>
          <a:noFill/>
          <a:ln/>
        </p:spPr>
        <p:txBody>
          <a:bodyPr wrap="square" lIns="0" tIns="0" rIns="0" bIns="0" rtlCol="0" anchor="ctr"/>
          <a:lstStyle/>
          <a:p>
            <a:pPr marL="0" indent="0">
              <a:lnSpc>
                <a:spcPts val="1400"/>
              </a:lnSpc>
              <a:buNone/>
            </a:pPr>
            <a:r>
              <a:rPr lang="en-US" sz="1100" b="1" dirty="0">
                <a:solidFill>
                  <a:srgbClr val="12202E"/>
                </a:solidFill>
                <a:latin typeface="Calibri" pitchFamily="34" charset="0"/>
                <a:ea typeface="Calibri" pitchFamily="34" charset="-122"/>
                <a:cs typeface="Calibri" pitchFamily="34" charset="-120"/>
              </a:rPr>
              <a:t>rural charter index, 2010 = 100</a:t>
            </a:r>
            <a:endParaRPr lang="en-US" sz="1100" dirty="0"/>
          </a:p>
        </p:txBody>
      </p:sp>
      <p:sp>
        <p:nvSpPr>
          <p:cNvPr id="8" name="Text 6"/>
          <p:cNvSpPr/>
          <p:nvPr/>
        </p:nvSpPr>
        <p:spPr>
          <a:xfrm>
            <a:off x="868680" y="3054096"/>
            <a:ext cx="2148840" cy="365760"/>
          </a:xfrm>
          <a:prstGeom prst="rect">
            <a:avLst/>
          </a:prstGeom>
          <a:noFill/>
          <a:ln/>
        </p:spPr>
        <p:txBody>
          <a:bodyPr wrap="square" lIns="0" tIns="0" rIns="0" bIns="0" rtlCol="0" anchor="ctr"/>
          <a:lstStyle/>
          <a:p>
            <a:pPr marL="0" indent="0">
              <a:lnSpc>
                <a:spcPts val="1300"/>
              </a:lnSpc>
              <a:buNone/>
            </a:pPr>
            <a:r>
              <a:rPr lang="en-US" sz="1000" dirty="0">
                <a:solidFill>
                  <a:srgbClr val="5B6B72"/>
                </a:solidFill>
                <a:latin typeface="Calibri" pitchFamily="34" charset="0"/>
                <a:ea typeface="Calibri" pitchFamily="34" charset="-122"/>
                <a:cs typeface="Calibri" pitchFamily="34" charset="-120"/>
              </a:rPr>
              <a:t>against 60.2 non-rural</a:t>
            </a:r>
            <a:endParaRPr lang="en-US" sz="1000" dirty="0"/>
          </a:p>
        </p:txBody>
      </p:sp>
      <p:sp>
        <p:nvSpPr>
          <p:cNvPr id="9" name="Shape 7"/>
          <p:cNvSpPr/>
          <p:nvPr/>
        </p:nvSpPr>
        <p:spPr>
          <a:xfrm>
            <a:off x="3401568" y="1965960"/>
            <a:ext cx="2514600" cy="1508760"/>
          </a:xfrm>
          <a:prstGeom prst="roundRect">
            <a:avLst>
              <a:gd name="adj" fmla="val 3030"/>
            </a:avLst>
          </a:prstGeom>
          <a:solidFill>
            <a:srgbClr val="F3F5F4"/>
          </a:solidFill>
          <a:ln/>
        </p:spPr>
        <p:txBody>
          <a:bodyPr/>
          <a:lstStyle/>
          <a:p>
            <a:endParaRPr lang="en-US"/>
          </a:p>
        </p:txBody>
      </p:sp>
      <p:sp>
        <p:nvSpPr>
          <p:cNvPr id="10" name="Text 8"/>
          <p:cNvSpPr/>
          <p:nvPr/>
        </p:nvSpPr>
        <p:spPr>
          <a:xfrm>
            <a:off x="3630168" y="2121408"/>
            <a:ext cx="2148840" cy="548640"/>
          </a:xfrm>
          <a:prstGeom prst="rect">
            <a:avLst/>
          </a:prstGeom>
          <a:noFill/>
          <a:ln/>
        </p:spPr>
        <p:txBody>
          <a:bodyPr wrap="square" lIns="0" tIns="0" rIns="0" bIns="0" rtlCol="0" anchor="ctr"/>
          <a:lstStyle/>
          <a:p>
            <a:pPr marL="0" indent="0">
              <a:buNone/>
            </a:pPr>
            <a:r>
              <a:rPr lang="en-US" sz="2500" b="1" dirty="0">
                <a:solidFill>
                  <a:srgbClr val="0E4C55"/>
                </a:solidFill>
                <a:latin typeface="Cambria" pitchFamily="34" charset="0"/>
                <a:ea typeface="Cambria" pitchFamily="34" charset="-122"/>
                <a:cs typeface="Cambria" pitchFamily="34" charset="-120"/>
              </a:rPr>
              <a:t>36.9%</a:t>
            </a:r>
            <a:endParaRPr lang="en-US" sz="2500" dirty="0"/>
          </a:p>
        </p:txBody>
      </p:sp>
      <p:sp>
        <p:nvSpPr>
          <p:cNvPr id="11" name="Text 9"/>
          <p:cNvSpPr/>
          <p:nvPr/>
        </p:nvSpPr>
        <p:spPr>
          <a:xfrm>
            <a:off x="3630168" y="2670048"/>
            <a:ext cx="2148840" cy="384048"/>
          </a:xfrm>
          <a:prstGeom prst="rect">
            <a:avLst/>
          </a:prstGeom>
          <a:noFill/>
          <a:ln/>
        </p:spPr>
        <p:txBody>
          <a:bodyPr wrap="square" lIns="0" tIns="0" rIns="0" bIns="0" rtlCol="0" anchor="ctr"/>
          <a:lstStyle/>
          <a:p>
            <a:pPr marL="0" indent="0">
              <a:lnSpc>
                <a:spcPts val="1400"/>
              </a:lnSpc>
              <a:buNone/>
            </a:pPr>
            <a:r>
              <a:rPr lang="en-US" sz="1100" b="1" dirty="0">
                <a:solidFill>
                  <a:srgbClr val="12202E"/>
                </a:solidFill>
                <a:latin typeface="Calibri" pitchFamily="34" charset="0"/>
                <a:ea typeface="Calibri" pitchFamily="34" charset="-122"/>
                <a:cs typeface="Calibri" pitchFamily="34" charset="-120"/>
              </a:rPr>
              <a:t>rural exit rate over the panel</a:t>
            </a:r>
            <a:endParaRPr lang="en-US" sz="1100" dirty="0"/>
          </a:p>
        </p:txBody>
      </p:sp>
      <p:sp>
        <p:nvSpPr>
          <p:cNvPr id="12" name="Text 10"/>
          <p:cNvSpPr/>
          <p:nvPr/>
        </p:nvSpPr>
        <p:spPr>
          <a:xfrm>
            <a:off x="3630168" y="3054096"/>
            <a:ext cx="2148840" cy="365760"/>
          </a:xfrm>
          <a:prstGeom prst="rect">
            <a:avLst/>
          </a:prstGeom>
          <a:noFill/>
          <a:ln/>
        </p:spPr>
        <p:txBody>
          <a:bodyPr wrap="square" lIns="0" tIns="0" rIns="0" bIns="0" rtlCol="0" anchor="ctr"/>
          <a:lstStyle/>
          <a:p>
            <a:pPr marL="0" indent="0">
              <a:lnSpc>
                <a:spcPts val="1300"/>
              </a:lnSpc>
              <a:buNone/>
            </a:pPr>
            <a:r>
              <a:rPr lang="en-US" sz="1000" dirty="0">
                <a:solidFill>
                  <a:srgbClr val="5B6B72"/>
                </a:solidFill>
                <a:latin typeface="Calibri" pitchFamily="34" charset="0"/>
                <a:ea typeface="Calibri" pitchFamily="34" charset="-122"/>
                <a:cs typeface="Calibri" pitchFamily="34" charset="-120"/>
              </a:rPr>
              <a:t>against 44.1% non-rural</a:t>
            </a:r>
            <a:endParaRPr lang="en-US" sz="1000" dirty="0"/>
          </a:p>
        </p:txBody>
      </p:sp>
      <p:sp>
        <p:nvSpPr>
          <p:cNvPr id="13" name="Shape 11"/>
          <p:cNvSpPr/>
          <p:nvPr/>
        </p:nvSpPr>
        <p:spPr>
          <a:xfrm>
            <a:off x="6163056" y="1965960"/>
            <a:ext cx="2514600" cy="1508760"/>
          </a:xfrm>
          <a:prstGeom prst="roundRect">
            <a:avLst>
              <a:gd name="adj" fmla="val 3030"/>
            </a:avLst>
          </a:prstGeom>
          <a:solidFill>
            <a:srgbClr val="DCE6E4"/>
          </a:solidFill>
          <a:ln/>
        </p:spPr>
        <p:txBody>
          <a:bodyPr/>
          <a:lstStyle/>
          <a:p>
            <a:endParaRPr lang="en-US"/>
          </a:p>
        </p:txBody>
      </p:sp>
      <p:sp>
        <p:nvSpPr>
          <p:cNvPr id="14" name="Text 12"/>
          <p:cNvSpPr/>
          <p:nvPr/>
        </p:nvSpPr>
        <p:spPr>
          <a:xfrm>
            <a:off x="6391656" y="2121408"/>
            <a:ext cx="2148840" cy="548640"/>
          </a:xfrm>
          <a:prstGeom prst="rect">
            <a:avLst/>
          </a:prstGeom>
          <a:noFill/>
          <a:ln/>
        </p:spPr>
        <p:txBody>
          <a:bodyPr wrap="square" lIns="0" tIns="0" rIns="0" bIns="0" rtlCol="0" anchor="ctr"/>
          <a:lstStyle/>
          <a:p>
            <a:pPr marL="0" indent="0">
              <a:buNone/>
            </a:pPr>
            <a:r>
              <a:rPr lang="en-US" sz="2500" b="1" dirty="0">
                <a:solidFill>
                  <a:srgbClr val="C8553D"/>
                </a:solidFill>
                <a:latin typeface="Cambria" pitchFamily="34" charset="0"/>
                <a:ea typeface="Cambria" pitchFamily="34" charset="-122"/>
                <a:cs typeface="Cambria" pitchFamily="34" charset="-120"/>
              </a:rPr>
              <a:t>0.745</a:t>
            </a:r>
            <a:endParaRPr lang="en-US" sz="2500" dirty="0"/>
          </a:p>
        </p:txBody>
      </p:sp>
      <p:sp>
        <p:nvSpPr>
          <p:cNvPr id="15" name="Text 13"/>
          <p:cNvSpPr/>
          <p:nvPr/>
        </p:nvSpPr>
        <p:spPr>
          <a:xfrm>
            <a:off x="6391656" y="2670048"/>
            <a:ext cx="2148840" cy="384048"/>
          </a:xfrm>
          <a:prstGeom prst="rect">
            <a:avLst/>
          </a:prstGeom>
          <a:noFill/>
          <a:ln/>
        </p:spPr>
        <p:txBody>
          <a:bodyPr wrap="square" lIns="0" tIns="0" rIns="0" bIns="0" rtlCol="0" anchor="ctr"/>
          <a:lstStyle/>
          <a:p>
            <a:pPr marL="0" indent="0">
              <a:lnSpc>
                <a:spcPts val="1400"/>
              </a:lnSpc>
              <a:buNone/>
            </a:pPr>
            <a:r>
              <a:rPr lang="en-US" sz="1100" b="1" dirty="0">
                <a:solidFill>
                  <a:srgbClr val="12202E"/>
                </a:solidFill>
                <a:latin typeface="Calibri" pitchFamily="34" charset="0"/>
                <a:ea typeface="Calibri" pitchFamily="34" charset="-122"/>
                <a:cs typeface="Calibri" pitchFamily="34" charset="-120"/>
              </a:rPr>
              <a:t>conditional exit hazard</a:t>
            </a:r>
            <a:endParaRPr lang="en-US" sz="1100" dirty="0"/>
          </a:p>
        </p:txBody>
      </p:sp>
      <p:sp>
        <p:nvSpPr>
          <p:cNvPr id="16" name="Text 14"/>
          <p:cNvSpPr/>
          <p:nvPr/>
        </p:nvSpPr>
        <p:spPr>
          <a:xfrm>
            <a:off x="6391656" y="3054096"/>
            <a:ext cx="2148840" cy="365760"/>
          </a:xfrm>
          <a:prstGeom prst="rect">
            <a:avLst/>
          </a:prstGeom>
          <a:noFill/>
          <a:ln/>
        </p:spPr>
        <p:txBody>
          <a:bodyPr wrap="square" lIns="0" tIns="0" rIns="0" bIns="0" rtlCol="0" anchor="ctr"/>
          <a:lstStyle/>
          <a:p>
            <a:pPr marL="0" indent="0">
              <a:lnSpc>
                <a:spcPts val="1300"/>
              </a:lnSpc>
              <a:buNone/>
            </a:pPr>
            <a:r>
              <a:rPr lang="en-US" sz="1000" dirty="0">
                <a:solidFill>
                  <a:srgbClr val="5B6B72"/>
                </a:solidFill>
                <a:latin typeface="Calibri" pitchFamily="34" charset="0"/>
                <a:ea typeface="Calibri" pitchFamily="34" charset="-122"/>
                <a:cs typeface="Calibri" pitchFamily="34" charset="-120"/>
              </a:rPr>
              <a:t>raw 0.794, size-only 0.631, all p &lt; 0.001</a:t>
            </a:r>
            <a:endParaRPr lang="en-US" sz="1000" dirty="0"/>
          </a:p>
        </p:txBody>
      </p:sp>
      <p:sp>
        <p:nvSpPr>
          <p:cNvPr id="17" name="Shape 15"/>
          <p:cNvSpPr/>
          <p:nvPr/>
        </p:nvSpPr>
        <p:spPr>
          <a:xfrm>
            <a:off x="8924544" y="1965960"/>
            <a:ext cx="2514600" cy="1508760"/>
          </a:xfrm>
          <a:prstGeom prst="roundRect">
            <a:avLst>
              <a:gd name="adj" fmla="val 3030"/>
            </a:avLst>
          </a:prstGeom>
          <a:solidFill>
            <a:srgbClr val="F3F5F4"/>
          </a:solidFill>
          <a:ln/>
        </p:spPr>
        <p:txBody>
          <a:bodyPr/>
          <a:lstStyle/>
          <a:p>
            <a:endParaRPr lang="en-US"/>
          </a:p>
        </p:txBody>
      </p:sp>
      <p:sp>
        <p:nvSpPr>
          <p:cNvPr id="18" name="Text 16"/>
          <p:cNvSpPr/>
          <p:nvPr/>
        </p:nvSpPr>
        <p:spPr>
          <a:xfrm>
            <a:off x="9153144" y="2121408"/>
            <a:ext cx="2148840" cy="548640"/>
          </a:xfrm>
          <a:prstGeom prst="rect">
            <a:avLst/>
          </a:prstGeom>
          <a:noFill/>
          <a:ln/>
        </p:spPr>
        <p:txBody>
          <a:bodyPr wrap="square" lIns="0" tIns="0" rIns="0" bIns="0" rtlCol="0" anchor="ctr"/>
          <a:lstStyle/>
          <a:p>
            <a:pPr marL="0" indent="0">
              <a:buNone/>
            </a:pPr>
            <a:r>
              <a:rPr lang="en-US" sz="2500" b="1" dirty="0">
                <a:solidFill>
                  <a:srgbClr val="0E4C55"/>
                </a:solidFill>
                <a:latin typeface="Cambria" pitchFamily="34" charset="0"/>
                <a:ea typeface="Cambria" pitchFamily="34" charset="-122"/>
                <a:cs typeface="Cambria" pitchFamily="34" charset="-120"/>
              </a:rPr>
              <a:t>~80%</a:t>
            </a:r>
            <a:endParaRPr lang="en-US" sz="2500" dirty="0"/>
          </a:p>
        </p:txBody>
      </p:sp>
      <p:sp>
        <p:nvSpPr>
          <p:cNvPr id="19" name="Text 17"/>
          <p:cNvSpPr/>
          <p:nvPr/>
        </p:nvSpPr>
        <p:spPr>
          <a:xfrm>
            <a:off x="9153144" y="2670048"/>
            <a:ext cx="2148840" cy="384048"/>
          </a:xfrm>
          <a:prstGeom prst="rect">
            <a:avLst/>
          </a:prstGeom>
          <a:noFill/>
          <a:ln/>
        </p:spPr>
        <p:txBody>
          <a:bodyPr wrap="square" lIns="0" tIns="0" rIns="0" bIns="0" rtlCol="0" anchor="ctr"/>
          <a:lstStyle/>
          <a:p>
            <a:pPr marL="0" indent="0">
              <a:lnSpc>
                <a:spcPts val="1400"/>
              </a:lnSpc>
              <a:buNone/>
            </a:pPr>
            <a:r>
              <a:rPr lang="en-US" sz="1100" b="1" dirty="0">
                <a:solidFill>
                  <a:srgbClr val="12202E"/>
                </a:solidFill>
                <a:latin typeface="Calibri" pitchFamily="34" charset="0"/>
                <a:ea typeface="Calibri" pitchFamily="34" charset="-122"/>
                <a:cs typeface="Calibri" pitchFamily="34" charset="-120"/>
              </a:rPr>
              <a:t>of the advantage survives</a:t>
            </a:r>
            <a:endParaRPr lang="en-US" sz="1100" dirty="0"/>
          </a:p>
        </p:txBody>
      </p:sp>
      <p:sp>
        <p:nvSpPr>
          <p:cNvPr id="20" name="Text 18"/>
          <p:cNvSpPr/>
          <p:nvPr/>
        </p:nvSpPr>
        <p:spPr>
          <a:xfrm>
            <a:off x="9153144" y="3054096"/>
            <a:ext cx="2148840" cy="365760"/>
          </a:xfrm>
          <a:prstGeom prst="rect">
            <a:avLst/>
          </a:prstGeom>
          <a:noFill/>
          <a:ln/>
        </p:spPr>
        <p:txBody>
          <a:bodyPr wrap="square" lIns="0" tIns="0" rIns="0" bIns="0" rtlCol="0" anchor="ctr"/>
          <a:lstStyle/>
          <a:p>
            <a:pPr marL="0" indent="0">
              <a:lnSpc>
                <a:spcPts val="1300"/>
              </a:lnSpc>
              <a:buNone/>
            </a:pPr>
            <a:r>
              <a:rPr lang="en-US" sz="1000" dirty="0">
                <a:solidFill>
                  <a:srgbClr val="5B6B72"/>
                </a:solidFill>
                <a:latin typeface="Calibri" pitchFamily="34" charset="0"/>
                <a:ea typeface="Calibri" pitchFamily="34" charset="-122"/>
                <a:cs typeface="Calibri" pitchFamily="34" charset="-120"/>
              </a:rPr>
              <a:t>on a fully balanced panel</a:t>
            </a:r>
            <a:endParaRPr lang="en-US" sz="1000" dirty="0"/>
          </a:p>
        </p:txBody>
      </p:sp>
      <p:sp>
        <p:nvSpPr>
          <p:cNvPr id="21" name="Shape 19"/>
          <p:cNvSpPr/>
          <p:nvPr/>
        </p:nvSpPr>
        <p:spPr>
          <a:xfrm>
            <a:off x="640080" y="3639312"/>
            <a:ext cx="5257800" cy="2377440"/>
          </a:xfrm>
          <a:prstGeom prst="roundRect">
            <a:avLst>
              <a:gd name="adj" fmla="val 1923"/>
            </a:avLst>
          </a:prstGeom>
          <a:solidFill>
            <a:srgbClr val="F3F5F4"/>
          </a:solidFill>
          <a:ln/>
        </p:spPr>
        <p:txBody>
          <a:bodyPr/>
          <a:lstStyle/>
          <a:p>
            <a:endParaRPr lang="en-US"/>
          </a:p>
        </p:txBody>
      </p:sp>
      <p:sp>
        <p:nvSpPr>
          <p:cNvPr id="22" name="Text 20"/>
          <p:cNvSpPr/>
          <p:nvPr/>
        </p:nvSpPr>
        <p:spPr>
          <a:xfrm>
            <a:off x="914400" y="3794760"/>
            <a:ext cx="4663440" cy="256032"/>
          </a:xfrm>
          <a:prstGeom prst="rect">
            <a:avLst/>
          </a:prstGeom>
          <a:noFill/>
          <a:ln/>
        </p:spPr>
        <p:txBody>
          <a:bodyPr wrap="square" lIns="0" tIns="0" rIns="0" bIns="0" rtlCol="0" anchor="ctr"/>
          <a:lstStyle/>
          <a:p>
            <a:pPr marL="0" indent="0">
              <a:buNone/>
            </a:pPr>
            <a:r>
              <a:rPr lang="en-US" sz="1200" b="1" dirty="0">
                <a:solidFill>
                  <a:srgbClr val="C8553D"/>
                </a:solidFill>
                <a:latin typeface="Calibri" pitchFamily="34" charset="0"/>
                <a:ea typeface="Calibri" pitchFamily="34" charset="-122"/>
                <a:cs typeface="Calibri" pitchFamily="34" charset="-120"/>
              </a:rPr>
              <a:t>The objection we had to answer</a:t>
            </a:r>
            <a:endParaRPr lang="en-US" sz="1200" dirty="0"/>
          </a:p>
        </p:txBody>
      </p:sp>
      <p:sp>
        <p:nvSpPr>
          <p:cNvPr id="23" name="Text 21"/>
          <p:cNvSpPr/>
          <p:nvPr/>
        </p:nvSpPr>
        <p:spPr>
          <a:xfrm>
            <a:off x="914400" y="4096512"/>
            <a:ext cx="4709160" cy="777240"/>
          </a:xfrm>
          <a:prstGeom prst="rect">
            <a:avLst/>
          </a:prstGeom>
          <a:noFill/>
          <a:ln/>
        </p:spPr>
        <p:txBody>
          <a:bodyPr wrap="square" lIns="0" tIns="0" rIns="0" bIns="0" rtlCol="0" anchor="ctr"/>
          <a:lstStyle/>
          <a:p>
            <a:pPr marL="0" indent="0">
              <a:lnSpc>
                <a:spcPts val="1550"/>
              </a:lnSpc>
              <a:buNone/>
            </a:pPr>
            <a:r>
              <a:rPr lang="en-US" sz="1150" dirty="0">
                <a:solidFill>
                  <a:srgbClr val="12202E"/>
                </a:solidFill>
                <a:latin typeface="Calibri" pitchFamily="34" charset="0"/>
                <a:ea typeface="Calibri" pitchFamily="34" charset="-122"/>
                <a:cs typeface="Calibri" pitchFamily="34" charset="-120"/>
              </a:rPr>
              <a:t>A third of the 2010 rural cohort is gone. If the weakest rural institutions were the ones that disappeared, the survivors would look strong for a trivial reason and the entire Q1 finding would be selection.</a:t>
            </a:r>
            <a:endParaRPr lang="en-US" sz="1150" dirty="0"/>
          </a:p>
        </p:txBody>
      </p:sp>
      <p:sp>
        <p:nvSpPr>
          <p:cNvPr id="24" name="Text 22"/>
          <p:cNvSpPr/>
          <p:nvPr/>
        </p:nvSpPr>
        <p:spPr>
          <a:xfrm>
            <a:off x="914400" y="4892040"/>
            <a:ext cx="4709160" cy="960120"/>
          </a:xfrm>
          <a:prstGeom prst="rect">
            <a:avLst/>
          </a:prstGeom>
          <a:noFill/>
          <a:ln/>
        </p:spPr>
        <p:txBody>
          <a:bodyPr wrap="square" lIns="0" tIns="0" rIns="0" bIns="0" rtlCol="0" anchor="ctr"/>
          <a:lstStyle/>
          <a:p>
            <a:pPr marL="0" indent="0">
              <a:lnSpc>
                <a:spcPts val="1550"/>
              </a:lnSpc>
              <a:buNone/>
            </a:pPr>
            <a:r>
              <a:rPr lang="en-US" sz="1150" dirty="0">
                <a:solidFill>
                  <a:srgbClr val="12202E"/>
                </a:solidFill>
                <a:latin typeface="Calibri" pitchFamily="34" charset="0"/>
                <a:ea typeface="Calibri" pitchFamily="34" charset="-122"/>
                <a:cs typeface="Calibri" pitchFamily="34" charset="-120"/>
              </a:rPr>
              <a:t>It is not. Rural institutions exit LESS often, and the balanced panel — institutions present in every quarter since 2010, so no exits at all — still gives asset growth +0.815 and ROA +0.140, highly significant. Rural credit unions retain their weaker members and still outperform.</a:t>
            </a:r>
            <a:endParaRPr lang="en-US" sz="1150" dirty="0"/>
          </a:p>
        </p:txBody>
      </p:sp>
      <p:sp>
        <p:nvSpPr>
          <p:cNvPr id="25" name="Shape 23"/>
          <p:cNvSpPr/>
          <p:nvPr/>
        </p:nvSpPr>
        <p:spPr>
          <a:xfrm>
            <a:off x="6263640" y="3639312"/>
            <a:ext cx="5257800" cy="2377440"/>
          </a:xfrm>
          <a:prstGeom prst="roundRect">
            <a:avLst>
              <a:gd name="adj" fmla="val 1923"/>
            </a:avLst>
          </a:prstGeom>
          <a:solidFill>
            <a:srgbClr val="0E4C55"/>
          </a:solidFill>
          <a:ln/>
        </p:spPr>
        <p:txBody>
          <a:bodyPr/>
          <a:lstStyle/>
          <a:p>
            <a:endParaRPr lang="en-US"/>
          </a:p>
        </p:txBody>
      </p:sp>
      <p:sp>
        <p:nvSpPr>
          <p:cNvPr id="26" name="Text 24"/>
          <p:cNvSpPr/>
          <p:nvPr/>
        </p:nvSpPr>
        <p:spPr>
          <a:xfrm>
            <a:off x="6537960" y="3794760"/>
            <a:ext cx="4663440" cy="256032"/>
          </a:xfrm>
          <a:prstGeom prst="rect">
            <a:avLst/>
          </a:prstGeom>
          <a:noFill/>
          <a:ln/>
        </p:spPr>
        <p:txBody>
          <a:bodyPr wrap="square" lIns="0" tIns="0" rIns="0" bIns="0" rtlCol="0" anchor="ctr"/>
          <a:lstStyle/>
          <a:p>
            <a:pPr marL="0" indent="0">
              <a:buNone/>
            </a:pPr>
            <a:r>
              <a:rPr lang="en-US" sz="1200" b="1" dirty="0">
                <a:solidFill>
                  <a:srgbClr val="E8A24A"/>
                </a:solidFill>
                <a:latin typeface="Calibri" pitchFamily="34" charset="0"/>
                <a:ea typeface="Calibri" pitchFamily="34" charset="-122"/>
                <a:cs typeface="Calibri" pitchFamily="34" charset="-120"/>
              </a:rPr>
              <a:t>What still needs verifying</a:t>
            </a:r>
            <a:endParaRPr lang="en-US" sz="1200" dirty="0"/>
          </a:p>
        </p:txBody>
      </p:sp>
      <p:sp>
        <p:nvSpPr>
          <p:cNvPr id="27" name="Text 25"/>
          <p:cNvSpPr/>
          <p:nvPr/>
        </p:nvSpPr>
        <p:spPr>
          <a:xfrm>
            <a:off x="6537960" y="4096512"/>
            <a:ext cx="4709160" cy="594360"/>
          </a:xfrm>
          <a:prstGeom prst="rect">
            <a:avLst/>
          </a:prstGeom>
          <a:noFill/>
          <a:ln/>
        </p:spPr>
        <p:txBody>
          <a:bodyPr wrap="square" lIns="0" tIns="0" rIns="0" bIns="0" rtlCol="0" anchor="ctr"/>
          <a:lstStyle/>
          <a:p>
            <a:pPr marL="0" indent="0">
              <a:lnSpc>
                <a:spcPts val="1550"/>
              </a:lnSpc>
              <a:buNone/>
            </a:pPr>
            <a:r>
              <a:rPr lang="en-US" sz="1150" dirty="0">
                <a:solidFill>
                  <a:srgbClr val="FFFFFF"/>
                </a:solidFill>
                <a:latin typeface="Calibri" pitchFamily="34" charset="0"/>
                <a:ea typeface="Calibri" pitchFamily="34" charset="-122"/>
                <a:cs typeface="Calibri" pitchFamily="34" charset="-120"/>
              </a:rPr>
              <a:t>One outcome code carries 220 of 274 rural exits (80%) and 2,445 of 2,945 urban exits (83%). Rural reason code 7 carries 171 of 274.</a:t>
            </a:r>
            <a:endParaRPr lang="en-US" sz="1150" dirty="0"/>
          </a:p>
        </p:txBody>
      </p:sp>
      <p:sp>
        <p:nvSpPr>
          <p:cNvPr id="28" name="Text 26"/>
          <p:cNvSpPr/>
          <p:nvPr/>
        </p:nvSpPr>
        <p:spPr>
          <a:xfrm>
            <a:off x="6537960" y="4754880"/>
            <a:ext cx="4709160" cy="1097280"/>
          </a:xfrm>
          <a:prstGeom prst="rect">
            <a:avLst/>
          </a:prstGeom>
          <a:noFill/>
          <a:ln/>
        </p:spPr>
        <p:txBody>
          <a:bodyPr wrap="square" lIns="0" tIns="0" rIns="0" bIns="0" rtlCol="0" anchor="ctr"/>
          <a:lstStyle/>
          <a:p>
            <a:pPr marL="0" indent="0">
              <a:lnSpc>
                <a:spcPts val="1550"/>
              </a:lnSpc>
              <a:buNone/>
            </a:pPr>
            <a:r>
              <a:rPr lang="en-US" sz="1150" dirty="0">
                <a:solidFill>
                  <a:srgbClr val="DCE6E4"/>
                </a:solidFill>
                <a:latin typeface="Calibri" pitchFamily="34" charset="0"/>
                <a:ea typeface="Calibri" pitchFamily="34" charset="-122"/>
                <a:cs typeface="Calibri" pitchFamily="34" charset="-120"/>
              </a:rPr>
              <a:t>The code meanings have not been confirmed against the NCUA data dictionary. “220 mergers” and “220 failures” are different sentences, and two drafted report sections currently rest on which it is. This is the top blocking item on the work plan.</a:t>
            </a:r>
            <a:endParaRPr lang="en-US" sz="1150" dirty="0"/>
          </a:p>
        </p:txBody>
      </p:sp>
      <p:sp>
        <p:nvSpPr>
          <p:cNvPr id="29" name="Text 27"/>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Cox proportional hazards on exit, controlling for size, capital, profitability and state.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5 · RESULTS · Q7 FORMATION</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The one thing that is genuinely broken</a:t>
            </a:r>
            <a:endParaRPr lang="en-US" sz="2700" dirty="0"/>
          </a:p>
        </p:txBody>
      </p:sp>
      <p:graphicFrame>
        <p:nvGraphicFramePr>
          <p:cNvPr id="4" name="Chart 0"/>
          <p:cNvGraphicFramePr/>
          <p:nvPr/>
        </p:nvGraphicFramePr>
        <p:xfrm>
          <a:off x="640080" y="1371600"/>
          <a:ext cx="47548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760720" y="1371600"/>
            <a:ext cx="5760720" cy="731520"/>
          </a:xfrm>
          <a:prstGeom prst="rect">
            <a:avLst/>
          </a:prstGeom>
          <a:noFill/>
          <a:ln/>
        </p:spPr>
        <p:txBody>
          <a:bodyPr wrap="square" lIns="0" tIns="0" rIns="0" bIns="0" rtlCol="0" anchor="ctr"/>
          <a:lstStyle/>
          <a:p>
            <a:pPr marL="0" indent="0">
              <a:lnSpc>
                <a:spcPts val="2600"/>
              </a:lnSpc>
              <a:buNone/>
            </a:pPr>
            <a:r>
              <a:rPr lang="en-US" sz="2000" b="1" dirty="0">
                <a:solidFill>
                  <a:srgbClr val="12202E"/>
                </a:solidFill>
                <a:latin typeface="Cambria" pitchFamily="34" charset="0"/>
                <a:ea typeface="Cambria" pitchFamily="34" charset="-122"/>
                <a:cs typeface="Cambria" pitchFamily="34" charset="-120"/>
              </a:rPr>
              <a:t>Roughly one new rural credit union a year, against fifteen departures.</a:t>
            </a:r>
            <a:endParaRPr lang="en-US" sz="2000" dirty="0"/>
          </a:p>
        </p:txBody>
      </p:sp>
      <p:sp>
        <p:nvSpPr>
          <p:cNvPr id="6" name="Text 3"/>
          <p:cNvSpPr/>
          <p:nvPr/>
        </p:nvSpPr>
        <p:spPr>
          <a:xfrm>
            <a:off x="5760720" y="2212848"/>
            <a:ext cx="5760720" cy="256032"/>
          </a:xfrm>
          <a:prstGeom prst="rect">
            <a:avLst/>
          </a:prstGeom>
          <a:noFill/>
          <a:ln/>
        </p:spPr>
        <p:txBody>
          <a:bodyPr wrap="square" lIns="0" tIns="0" rIns="0" bIns="0" rtlCol="0" anchor="ctr"/>
          <a:lstStyle/>
          <a:p>
            <a:pPr marL="0" indent="0">
              <a:buNone/>
            </a:pPr>
            <a:r>
              <a:rPr lang="en-US" sz="1100" b="1" dirty="0">
                <a:solidFill>
                  <a:srgbClr val="5B6B72"/>
                </a:solidFill>
                <a:latin typeface="Calibri" pitchFamily="34" charset="0"/>
                <a:ea typeface="Calibri" pitchFamily="34" charset="-122"/>
                <a:cs typeface="Calibri" pitchFamily="34" charset="-120"/>
              </a:rPr>
              <a:t>Rural entries by year, 2022 to 2026</a:t>
            </a:r>
            <a:endParaRPr lang="en-US" sz="1100" dirty="0"/>
          </a:p>
        </p:txBody>
      </p:sp>
      <p:sp>
        <p:nvSpPr>
          <p:cNvPr id="7" name="Shape 4"/>
          <p:cNvSpPr/>
          <p:nvPr/>
        </p:nvSpPr>
        <p:spPr>
          <a:xfrm>
            <a:off x="5760720" y="2514600"/>
            <a:ext cx="566928" cy="566928"/>
          </a:xfrm>
          <a:prstGeom prst="roundRect">
            <a:avLst>
              <a:gd name="adj" fmla="val 16129"/>
            </a:avLst>
          </a:prstGeom>
          <a:solidFill>
            <a:srgbClr val="DCE6E4"/>
          </a:solidFill>
          <a:ln/>
        </p:spPr>
        <p:txBody>
          <a:bodyPr/>
          <a:lstStyle/>
          <a:p>
            <a:endParaRPr lang="en-US"/>
          </a:p>
        </p:txBody>
      </p:sp>
      <p:sp>
        <p:nvSpPr>
          <p:cNvPr id="8" name="Text 5"/>
          <p:cNvSpPr/>
          <p:nvPr/>
        </p:nvSpPr>
        <p:spPr>
          <a:xfrm>
            <a:off x="5760720" y="2514600"/>
            <a:ext cx="566928" cy="566928"/>
          </a:xfrm>
          <a:prstGeom prst="rect">
            <a:avLst/>
          </a:prstGeom>
          <a:noFill/>
          <a:ln/>
        </p:spPr>
        <p:txBody>
          <a:bodyPr wrap="square" lIns="0" tIns="0" rIns="0" bIns="0" rtlCol="0" anchor="ctr"/>
          <a:lstStyle/>
          <a:p>
            <a:pPr marL="0" indent="0" algn="ctr">
              <a:buNone/>
            </a:pPr>
            <a:r>
              <a:rPr lang="en-US" sz="1700" b="1" dirty="0">
                <a:solidFill>
                  <a:srgbClr val="5B6B72"/>
                </a:solidFill>
                <a:latin typeface="Cambria" pitchFamily="34" charset="0"/>
                <a:ea typeface="Cambria" pitchFamily="34" charset="-122"/>
                <a:cs typeface="Cambria" pitchFamily="34" charset="-120"/>
              </a:rPr>
              <a:t>0</a:t>
            </a:r>
            <a:endParaRPr lang="en-US" sz="1700" dirty="0"/>
          </a:p>
        </p:txBody>
      </p:sp>
      <p:sp>
        <p:nvSpPr>
          <p:cNvPr id="9" name="Shape 6"/>
          <p:cNvSpPr/>
          <p:nvPr/>
        </p:nvSpPr>
        <p:spPr>
          <a:xfrm>
            <a:off x="6446520" y="2514600"/>
            <a:ext cx="566928" cy="566928"/>
          </a:xfrm>
          <a:prstGeom prst="roundRect">
            <a:avLst>
              <a:gd name="adj" fmla="val 16129"/>
            </a:avLst>
          </a:prstGeom>
          <a:solidFill>
            <a:srgbClr val="C8553D"/>
          </a:solidFill>
          <a:ln/>
        </p:spPr>
        <p:txBody>
          <a:bodyPr/>
          <a:lstStyle/>
          <a:p>
            <a:endParaRPr lang="en-US"/>
          </a:p>
        </p:txBody>
      </p:sp>
      <p:sp>
        <p:nvSpPr>
          <p:cNvPr id="10" name="Text 7"/>
          <p:cNvSpPr/>
          <p:nvPr/>
        </p:nvSpPr>
        <p:spPr>
          <a:xfrm>
            <a:off x="6446520" y="2514600"/>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11" name="Shape 8"/>
          <p:cNvSpPr/>
          <p:nvPr/>
        </p:nvSpPr>
        <p:spPr>
          <a:xfrm>
            <a:off x="7132320" y="2514600"/>
            <a:ext cx="566928" cy="566928"/>
          </a:xfrm>
          <a:prstGeom prst="roundRect">
            <a:avLst>
              <a:gd name="adj" fmla="val 16129"/>
            </a:avLst>
          </a:prstGeom>
          <a:solidFill>
            <a:srgbClr val="C8553D"/>
          </a:solidFill>
          <a:ln/>
        </p:spPr>
        <p:txBody>
          <a:bodyPr/>
          <a:lstStyle/>
          <a:p>
            <a:endParaRPr lang="en-US"/>
          </a:p>
        </p:txBody>
      </p:sp>
      <p:sp>
        <p:nvSpPr>
          <p:cNvPr id="12" name="Text 9"/>
          <p:cNvSpPr/>
          <p:nvPr/>
        </p:nvSpPr>
        <p:spPr>
          <a:xfrm>
            <a:off x="7132320" y="2514600"/>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13" name="Shape 10"/>
          <p:cNvSpPr/>
          <p:nvPr/>
        </p:nvSpPr>
        <p:spPr>
          <a:xfrm>
            <a:off x="7818120" y="2514600"/>
            <a:ext cx="566928" cy="566928"/>
          </a:xfrm>
          <a:prstGeom prst="roundRect">
            <a:avLst>
              <a:gd name="adj" fmla="val 16129"/>
            </a:avLst>
          </a:prstGeom>
          <a:solidFill>
            <a:srgbClr val="C8553D"/>
          </a:solidFill>
          <a:ln/>
        </p:spPr>
        <p:txBody>
          <a:bodyPr/>
          <a:lstStyle/>
          <a:p>
            <a:endParaRPr lang="en-US"/>
          </a:p>
        </p:txBody>
      </p:sp>
      <p:sp>
        <p:nvSpPr>
          <p:cNvPr id="14" name="Text 11"/>
          <p:cNvSpPr/>
          <p:nvPr/>
        </p:nvSpPr>
        <p:spPr>
          <a:xfrm>
            <a:off x="7818120" y="2514600"/>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5" name="Shape 12"/>
          <p:cNvSpPr/>
          <p:nvPr/>
        </p:nvSpPr>
        <p:spPr>
          <a:xfrm>
            <a:off x="8503920" y="2514600"/>
            <a:ext cx="566928" cy="566928"/>
          </a:xfrm>
          <a:prstGeom prst="roundRect">
            <a:avLst>
              <a:gd name="adj" fmla="val 16129"/>
            </a:avLst>
          </a:prstGeom>
          <a:solidFill>
            <a:srgbClr val="DCE6E4"/>
          </a:solidFill>
          <a:ln/>
        </p:spPr>
        <p:txBody>
          <a:bodyPr/>
          <a:lstStyle/>
          <a:p>
            <a:endParaRPr lang="en-US"/>
          </a:p>
        </p:txBody>
      </p:sp>
      <p:sp>
        <p:nvSpPr>
          <p:cNvPr id="16" name="Text 13"/>
          <p:cNvSpPr/>
          <p:nvPr/>
        </p:nvSpPr>
        <p:spPr>
          <a:xfrm>
            <a:off x="8503920" y="2514600"/>
            <a:ext cx="566928" cy="566928"/>
          </a:xfrm>
          <a:prstGeom prst="rect">
            <a:avLst/>
          </a:prstGeom>
          <a:noFill/>
          <a:ln/>
        </p:spPr>
        <p:txBody>
          <a:bodyPr wrap="square" lIns="0" tIns="0" rIns="0" bIns="0" rtlCol="0" anchor="ctr"/>
          <a:lstStyle/>
          <a:p>
            <a:pPr marL="0" indent="0" algn="ctr">
              <a:buNone/>
            </a:pPr>
            <a:r>
              <a:rPr lang="en-US" sz="1700" b="1" dirty="0">
                <a:solidFill>
                  <a:srgbClr val="5B6B72"/>
                </a:solidFill>
                <a:latin typeface="Cambria" pitchFamily="34" charset="0"/>
                <a:ea typeface="Cambria" pitchFamily="34" charset="-122"/>
                <a:cs typeface="Cambria" pitchFamily="34" charset="-120"/>
              </a:rPr>
              <a:t>0</a:t>
            </a:r>
            <a:endParaRPr lang="en-US" sz="1700" dirty="0"/>
          </a:p>
        </p:txBody>
      </p:sp>
      <p:sp>
        <p:nvSpPr>
          <p:cNvPr id="17" name="Text 14"/>
          <p:cNvSpPr/>
          <p:nvPr/>
        </p:nvSpPr>
        <p:spPr>
          <a:xfrm>
            <a:off x="5760720" y="3291840"/>
            <a:ext cx="5760720" cy="137160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“Entries” includes charter conversions, so genuine de novo formation is lower still — the honest number is below one a year.</a:t>
            </a:r>
            <a:endParaRPr lang="en-US" sz="1150" dirty="0"/>
          </a:p>
          <a:p>
            <a:pPr marL="342900" indent="-342900">
              <a:lnSpc>
                <a:spcPts val="16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This is the direct answer to the de novo clause of Sec. 909, and the strongest single finding in the study.</a:t>
            </a:r>
            <a:endParaRPr lang="en-US" sz="1150" dirty="0"/>
          </a:p>
          <a:p>
            <a:pPr marL="342900" indent="-342900">
              <a:lnSpc>
                <a:spcPts val="16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It is also the finding least addressed by the existing regulatory relief agenda, which is aimed at institutions that already exist.</a:t>
            </a:r>
            <a:endParaRPr lang="en-US" sz="1150" dirty="0"/>
          </a:p>
        </p:txBody>
      </p:sp>
      <p:sp>
        <p:nvSpPr>
          <p:cNvPr id="18" name="Shape 15"/>
          <p:cNvSpPr/>
          <p:nvPr/>
        </p:nvSpPr>
        <p:spPr>
          <a:xfrm>
            <a:off x="640080" y="4800600"/>
            <a:ext cx="10881360" cy="1234440"/>
          </a:xfrm>
          <a:prstGeom prst="roundRect">
            <a:avLst>
              <a:gd name="adj" fmla="val 3704"/>
            </a:avLst>
          </a:prstGeom>
          <a:solidFill>
            <a:srgbClr val="0E4C55"/>
          </a:solidFill>
          <a:ln/>
        </p:spPr>
        <p:txBody>
          <a:bodyPr/>
          <a:lstStyle/>
          <a:p>
            <a:endParaRPr lang="en-US"/>
          </a:p>
        </p:txBody>
      </p:sp>
      <p:sp>
        <p:nvSpPr>
          <p:cNvPr id="19" name="Text 16"/>
          <p:cNvSpPr/>
          <p:nvPr/>
        </p:nvSpPr>
        <p:spPr>
          <a:xfrm>
            <a:off x="960120" y="4937760"/>
            <a:ext cx="5029200" cy="256032"/>
          </a:xfrm>
          <a:prstGeom prst="rect">
            <a:avLst/>
          </a:prstGeom>
          <a:noFill/>
          <a:ln/>
        </p:spPr>
        <p:txBody>
          <a:bodyPr wrap="square" lIns="0" tIns="0" rIns="0" bIns="0" rtlCol="0" anchor="ctr"/>
          <a:lstStyle/>
          <a:p>
            <a:pPr marL="0" indent="0">
              <a:buNone/>
            </a:pPr>
            <a:r>
              <a:rPr lang="en-US" sz="1200" b="1" dirty="0">
                <a:solidFill>
                  <a:srgbClr val="E8A24A"/>
                </a:solidFill>
                <a:latin typeface="Calibri" pitchFamily="34" charset="0"/>
                <a:ea typeface="Calibri" pitchFamily="34" charset="-122"/>
                <a:cs typeface="Calibri" pitchFamily="34" charset="-120"/>
              </a:rPr>
              <a:t>Replacement rates make the asymmetry concrete</a:t>
            </a:r>
            <a:endParaRPr lang="en-US" sz="1200" dirty="0"/>
          </a:p>
        </p:txBody>
      </p:sp>
      <p:sp>
        <p:nvSpPr>
          <p:cNvPr id="20" name="Text 17"/>
          <p:cNvSpPr/>
          <p:nvPr/>
        </p:nvSpPr>
        <p:spPr>
          <a:xfrm>
            <a:off x="960120" y="5230368"/>
            <a:ext cx="237744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~17%</a:t>
            </a:r>
            <a:endParaRPr lang="en-US" sz="1900" dirty="0"/>
          </a:p>
        </p:txBody>
      </p:sp>
      <p:sp>
        <p:nvSpPr>
          <p:cNvPr id="21" name="Text 18"/>
          <p:cNvSpPr/>
          <p:nvPr/>
        </p:nvSpPr>
        <p:spPr>
          <a:xfrm>
            <a:off x="960120" y="5614416"/>
            <a:ext cx="2377440" cy="274320"/>
          </a:xfrm>
          <a:prstGeom prst="rect">
            <a:avLst/>
          </a:prstGeom>
          <a:noFill/>
          <a:ln/>
        </p:spPr>
        <p:txBody>
          <a:bodyPr wrap="square" lIns="0" tIns="0" rIns="0" bIns="0" rtlCol="0" anchor="ctr"/>
          <a:lstStyle/>
          <a:p>
            <a:pPr marL="0" indent="0">
              <a:buNone/>
            </a:pPr>
            <a:r>
              <a:rPr lang="en-US" sz="1050" dirty="0">
                <a:solidFill>
                  <a:srgbClr val="DCE6E4"/>
                </a:solidFill>
                <a:latin typeface="Calibri" pitchFamily="34" charset="0"/>
                <a:ea typeface="Calibri" pitchFamily="34" charset="-122"/>
                <a:cs typeface="Calibri" pitchFamily="34" charset="-120"/>
              </a:rPr>
              <a:t>Rural institutions</a:t>
            </a:r>
            <a:endParaRPr lang="en-US" sz="1050" dirty="0"/>
          </a:p>
        </p:txBody>
      </p:sp>
      <p:sp>
        <p:nvSpPr>
          <p:cNvPr id="22" name="Text 19"/>
          <p:cNvSpPr/>
          <p:nvPr/>
        </p:nvSpPr>
        <p:spPr>
          <a:xfrm>
            <a:off x="3611880" y="5230368"/>
            <a:ext cx="237744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~12%</a:t>
            </a:r>
            <a:endParaRPr lang="en-US" sz="1900" dirty="0"/>
          </a:p>
        </p:txBody>
      </p:sp>
      <p:sp>
        <p:nvSpPr>
          <p:cNvPr id="23" name="Text 20"/>
          <p:cNvSpPr/>
          <p:nvPr/>
        </p:nvSpPr>
        <p:spPr>
          <a:xfrm>
            <a:off x="3611880" y="5614416"/>
            <a:ext cx="2377440" cy="274320"/>
          </a:xfrm>
          <a:prstGeom prst="rect">
            <a:avLst/>
          </a:prstGeom>
          <a:noFill/>
          <a:ln/>
        </p:spPr>
        <p:txBody>
          <a:bodyPr wrap="square" lIns="0" tIns="0" rIns="0" bIns="0" rtlCol="0" anchor="ctr"/>
          <a:lstStyle/>
          <a:p>
            <a:pPr marL="0" indent="0">
              <a:buNone/>
            </a:pPr>
            <a:r>
              <a:rPr lang="en-US" sz="1050" dirty="0">
                <a:solidFill>
                  <a:srgbClr val="DCE6E4"/>
                </a:solidFill>
                <a:latin typeface="Calibri" pitchFamily="34" charset="0"/>
                <a:ea typeface="Calibri" pitchFamily="34" charset="-122"/>
                <a:cs typeface="Calibri" pitchFamily="34" charset="-120"/>
              </a:rPr>
              <a:t>Urban institutions</a:t>
            </a:r>
            <a:endParaRPr lang="en-US" sz="1050" dirty="0"/>
          </a:p>
        </p:txBody>
      </p:sp>
      <p:sp>
        <p:nvSpPr>
          <p:cNvPr id="24" name="Text 21"/>
          <p:cNvSpPr/>
          <p:nvPr/>
        </p:nvSpPr>
        <p:spPr>
          <a:xfrm>
            <a:off x="6263640" y="5230368"/>
            <a:ext cx="2377440" cy="384048"/>
          </a:xfrm>
          <a:prstGeom prst="rect">
            <a:avLst/>
          </a:prstGeom>
          <a:noFill/>
          <a:ln/>
        </p:spPr>
        <p:txBody>
          <a:bodyPr wrap="square" lIns="0" tIns="0" rIns="0" bIns="0" rtlCol="0" anchor="ctr"/>
          <a:lstStyle/>
          <a:p>
            <a:pPr marL="0" indent="0">
              <a:buNone/>
            </a:pPr>
            <a:r>
              <a:rPr lang="en-US" sz="1900" b="1" dirty="0">
                <a:solidFill>
                  <a:srgbClr val="7FB0AE"/>
                </a:solidFill>
                <a:latin typeface="Cambria" pitchFamily="34" charset="0"/>
                <a:ea typeface="Cambria" pitchFamily="34" charset="-122"/>
                <a:cs typeface="Cambria" pitchFamily="34" charset="-120"/>
              </a:rPr>
              <a:t>104.8%</a:t>
            </a:r>
            <a:endParaRPr lang="en-US" sz="1900" dirty="0"/>
          </a:p>
        </p:txBody>
      </p:sp>
      <p:sp>
        <p:nvSpPr>
          <p:cNvPr id="25" name="Text 22"/>
          <p:cNvSpPr/>
          <p:nvPr/>
        </p:nvSpPr>
        <p:spPr>
          <a:xfrm>
            <a:off x="6263640" y="5614416"/>
            <a:ext cx="2377440" cy="274320"/>
          </a:xfrm>
          <a:prstGeom prst="rect">
            <a:avLst/>
          </a:prstGeom>
          <a:noFill/>
          <a:ln/>
        </p:spPr>
        <p:txBody>
          <a:bodyPr wrap="square" lIns="0" tIns="0" rIns="0" bIns="0" rtlCol="0" anchor="ctr"/>
          <a:lstStyle/>
          <a:p>
            <a:pPr marL="0" indent="0">
              <a:buNone/>
            </a:pPr>
            <a:r>
              <a:rPr lang="en-US" sz="1050" dirty="0">
                <a:solidFill>
                  <a:srgbClr val="DCE6E4"/>
                </a:solidFill>
                <a:latin typeface="Calibri" pitchFamily="34" charset="0"/>
                <a:ea typeface="Calibri" pitchFamily="34" charset="-122"/>
                <a:cs typeface="Calibri" pitchFamily="34" charset="-120"/>
              </a:rPr>
              <a:t>Rural offices</a:t>
            </a:r>
            <a:endParaRPr lang="en-US" sz="1050" dirty="0"/>
          </a:p>
        </p:txBody>
      </p:sp>
      <p:sp>
        <p:nvSpPr>
          <p:cNvPr id="26" name="Text 23"/>
          <p:cNvSpPr/>
          <p:nvPr/>
        </p:nvSpPr>
        <p:spPr>
          <a:xfrm>
            <a:off x="8915400" y="5230368"/>
            <a:ext cx="2377440" cy="384048"/>
          </a:xfrm>
          <a:prstGeom prst="rect">
            <a:avLst/>
          </a:prstGeom>
          <a:noFill/>
          <a:ln/>
        </p:spPr>
        <p:txBody>
          <a:bodyPr wrap="square" lIns="0" tIns="0" rIns="0" bIns="0" rtlCol="0" anchor="ctr"/>
          <a:lstStyle/>
          <a:p>
            <a:pPr marL="0" indent="0">
              <a:buNone/>
            </a:pPr>
            <a:r>
              <a:rPr lang="en-US" sz="1900" b="1" dirty="0">
                <a:solidFill>
                  <a:srgbClr val="7FB0AE"/>
                </a:solidFill>
                <a:latin typeface="Cambria" pitchFamily="34" charset="0"/>
                <a:ea typeface="Cambria" pitchFamily="34" charset="-122"/>
                <a:cs typeface="Cambria" pitchFamily="34" charset="-120"/>
              </a:rPr>
              <a:t>97.2%</a:t>
            </a:r>
            <a:endParaRPr lang="en-US" sz="1900" dirty="0"/>
          </a:p>
        </p:txBody>
      </p:sp>
      <p:sp>
        <p:nvSpPr>
          <p:cNvPr id="27" name="Text 24"/>
          <p:cNvSpPr/>
          <p:nvPr/>
        </p:nvSpPr>
        <p:spPr>
          <a:xfrm>
            <a:off x="8915400" y="5614416"/>
            <a:ext cx="2377440" cy="274320"/>
          </a:xfrm>
          <a:prstGeom prst="rect">
            <a:avLst/>
          </a:prstGeom>
          <a:noFill/>
          <a:ln/>
        </p:spPr>
        <p:txBody>
          <a:bodyPr wrap="square" lIns="0" tIns="0" rIns="0" bIns="0" rtlCol="0" anchor="ctr"/>
          <a:lstStyle/>
          <a:p>
            <a:pPr marL="0" indent="0">
              <a:buNone/>
            </a:pPr>
            <a:r>
              <a:rPr lang="en-US" sz="1050" dirty="0">
                <a:solidFill>
                  <a:srgbClr val="DCE6E4"/>
                </a:solidFill>
                <a:latin typeface="Calibri" pitchFamily="34" charset="0"/>
                <a:ea typeface="Calibri" pitchFamily="34" charset="-122"/>
                <a:cs typeface="Calibri" pitchFamily="34" charset="-120"/>
              </a:rPr>
              <a:t>Urban offices</a:t>
            </a:r>
            <a:endParaRPr lang="en-US" sz="1050" dirty="0"/>
          </a:p>
        </p:txBody>
      </p:sp>
      <p:sp>
        <p:nvSpPr>
          <p:cNvPr id="28" name="Text 25"/>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Charters are not being replaced anywhere in the system — but in rural areas formation has effectively stopped, while rural offices are more than replaced.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5 · RESULTS · WHERE THE SYSTEM SITS</a:t>
            </a:r>
            <a:endParaRPr lang="en-US" sz="1050" dirty="0"/>
          </a:p>
        </p:txBody>
      </p:sp>
      <p:sp>
        <p:nvSpPr>
          <p:cNvPr id="3" name="Text 1"/>
          <p:cNvSpPr/>
          <p:nvPr/>
        </p:nvSpPr>
        <p:spPr>
          <a:xfrm>
            <a:off x="640080" y="621792"/>
            <a:ext cx="10881360" cy="457200"/>
          </a:xfrm>
          <a:prstGeom prst="rect">
            <a:avLst/>
          </a:prstGeom>
          <a:noFill/>
          <a:ln/>
        </p:spPr>
        <p:txBody>
          <a:bodyPr wrap="square" lIns="0" tIns="0" rIns="0" bIns="0" rtlCol="0" anchor="ctr"/>
          <a:lstStyle/>
          <a:p>
            <a:pPr marL="0" indent="0">
              <a:buNone/>
            </a:pPr>
            <a:r>
              <a:rPr lang="en-US" sz="2600" b="1" dirty="0">
                <a:solidFill>
                  <a:srgbClr val="12202E"/>
                </a:solidFill>
                <a:latin typeface="Cambria" pitchFamily="34" charset="0"/>
                <a:ea typeface="Cambria" pitchFamily="34" charset="-122"/>
                <a:cs typeface="Cambria" pitchFamily="34" charset="-120"/>
              </a:rPr>
              <a:t>Two thirds of counties have no credit union HEADQUARTERED in them</a:t>
            </a:r>
            <a:endParaRPr lang="en-US" sz="2600" dirty="0"/>
          </a:p>
        </p:txBody>
      </p:sp>
      <p:pic>
        <p:nvPicPr>
          <p:cNvPr id="4" name="Image 0" descr="map_crop.png"/>
          <p:cNvPicPr>
            <a:picLocks noChangeAspect="1"/>
          </p:cNvPicPr>
          <p:nvPr/>
        </p:nvPicPr>
        <p:blipFill>
          <a:blip r:embed="rId3"/>
          <a:stretch>
            <a:fillRect/>
          </a:stretch>
        </p:blipFill>
        <p:spPr>
          <a:xfrm>
            <a:off x="822960" y="1188720"/>
            <a:ext cx="7863840" cy="5029200"/>
          </a:xfrm>
          <a:prstGeom prst="rect">
            <a:avLst/>
          </a:prstGeom>
        </p:spPr>
      </p:pic>
      <p:sp>
        <p:nvSpPr>
          <p:cNvPr id="5" name="Shape 2"/>
          <p:cNvSpPr/>
          <p:nvPr/>
        </p:nvSpPr>
        <p:spPr>
          <a:xfrm>
            <a:off x="8961120" y="1554480"/>
            <a:ext cx="2651760" cy="1508760"/>
          </a:xfrm>
          <a:prstGeom prst="roundRect">
            <a:avLst>
              <a:gd name="adj" fmla="val 3030"/>
            </a:avLst>
          </a:prstGeom>
          <a:solidFill>
            <a:srgbClr val="F3F5F4"/>
          </a:solidFill>
          <a:ln/>
        </p:spPr>
        <p:txBody>
          <a:bodyPr/>
          <a:lstStyle/>
          <a:p>
            <a:endParaRPr lang="en-US"/>
          </a:p>
        </p:txBody>
      </p:sp>
      <p:sp>
        <p:nvSpPr>
          <p:cNvPr id="6" name="Text 3"/>
          <p:cNvSpPr/>
          <p:nvPr/>
        </p:nvSpPr>
        <p:spPr>
          <a:xfrm>
            <a:off x="9189720" y="1691640"/>
            <a:ext cx="2194560" cy="457200"/>
          </a:xfrm>
          <a:prstGeom prst="rect">
            <a:avLst/>
          </a:prstGeom>
          <a:noFill/>
          <a:ln/>
        </p:spPr>
        <p:txBody>
          <a:bodyPr wrap="square" lIns="0" tIns="0" rIns="0" bIns="0" rtlCol="0" anchor="ctr"/>
          <a:lstStyle/>
          <a:p>
            <a:pPr marL="0" indent="0">
              <a:buNone/>
            </a:pPr>
            <a:r>
              <a:rPr lang="en-US" sz="2400" b="1" dirty="0">
                <a:solidFill>
                  <a:srgbClr val="0E4C55"/>
                </a:solidFill>
                <a:latin typeface="Cambria" pitchFamily="34" charset="0"/>
                <a:ea typeface="Cambria" pitchFamily="34" charset="-122"/>
                <a:cs typeface="Cambria" pitchFamily="34" charset="-120"/>
              </a:rPr>
              <a:t>2,036</a:t>
            </a:r>
            <a:endParaRPr lang="en-US" sz="2400" dirty="0"/>
          </a:p>
        </p:txBody>
      </p:sp>
      <p:sp>
        <p:nvSpPr>
          <p:cNvPr id="7" name="Text 4"/>
          <p:cNvSpPr/>
          <p:nvPr/>
        </p:nvSpPr>
        <p:spPr>
          <a:xfrm>
            <a:off x="9189720" y="2148840"/>
            <a:ext cx="2240280" cy="457200"/>
          </a:xfrm>
          <a:prstGeom prst="rect">
            <a:avLst/>
          </a:prstGeom>
          <a:noFill/>
          <a:ln/>
        </p:spPr>
        <p:txBody>
          <a:bodyPr wrap="square" lIns="0" tIns="0" rIns="0" bIns="0" rtlCol="0" anchor="ctr"/>
          <a:lstStyle/>
          <a:p>
            <a:pPr marL="0" indent="0">
              <a:lnSpc>
                <a:spcPts val="1400"/>
              </a:lnSpc>
              <a:buNone/>
            </a:pPr>
            <a:r>
              <a:rPr lang="en-US" sz="1100" b="1" dirty="0">
                <a:solidFill>
                  <a:srgbClr val="12202E"/>
                </a:solidFill>
                <a:latin typeface="Calibri" pitchFamily="34" charset="0"/>
                <a:ea typeface="Calibri" pitchFamily="34" charset="-122"/>
                <a:cs typeface="Calibri" pitchFamily="34" charset="-120"/>
              </a:rPr>
              <a:t>counties have no credit union headquarters</a:t>
            </a:r>
            <a:endParaRPr lang="en-US" sz="1100" dirty="0"/>
          </a:p>
        </p:txBody>
      </p:sp>
      <p:sp>
        <p:nvSpPr>
          <p:cNvPr id="8" name="Text 5"/>
          <p:cNvSpPr/>
          <p:nvPr/>
        </p:nvSpPr>
        <p:spPr>
          <a:xfrm>
            <a:off x="9189720" y="2651760"/>
            <a:ext cx="2240280" cy="274320"/>
          </a:xfrm>
          <a:prstGeom prst="rect">
            <a:avLst/>
          </a:prstGeom>
          <a:noFill/>
          <a:ln/>
        </p:spPr>
        <p:txBody>
          <a:bodyPr wrap="square" lIns="0" tIns="0" rIns="0" bIns="0" rtlCol="0" anchor="ctr"/>
          <a:lstStyle/>
          <a:p>
            <a:pPr marL="0" indent="0">
              <a:buNone/>
            </a:pPr>
            <a:r>
              <a:rPr lang="en-US" sz="1050" dirty="0">
                <a:solidFill>
                  <a:srgbClr val="5B6B72"/>
                </a:solidFill>
                <a:latin typeface="Calibri" pitchFamily="34" charset="0"/>
                <a:ea typeface="Calibri" pitchFamily="34" charset="-122"/>
                <a:cs typeface="Calibri" pitchFamily="34" charset="-120"/>
              </a:rPr>
              <a:t>of 3,222 — 63%</a:t>
            </a:r>
            <a:endParaRPr lang="en-US" sz="1050" dirty="0"/>
          </a:p>
        </p:txBody>
      </p:sp>
      <p:sp>
        <p:nvSpPr>
          <p:cNvPr id="9" name="Shape 6"/>
          <p:cNvSpPr/>
          <p:nvPr/>
        </p:nvSpPr>
        <p:spPr>
          <a:xfrm>
            <a:off x="8961120" y="3246120"/>
            <a:ext cx="2651760" cy="1508760"/>
          </a:xfrm>
          <a:prstGeom prst="roundRect">
            <a:avLst>
              <a:gd name="adj" fmla="val 3030"/>
            </a:avLst>
          </a:prstGeom>
          <a:solidFill>
            <a:srgbClr val="DCE6E4"/>
          </a:solidFill>
          <a:ln/>
        </p:spPr>
        <p:txBody>
          <a:bodyPr/>
          <a:lstStyle/>
          <a:p>
            <a:endParaRPr lang="en-US"/>
          </a:p>
        </p:txBody>
      </p:sp>
      <p:sp>
        <p:nvSpPr>
          <p:cNvPr id="10" name="Text 7"/>
          <p:cNvSpPr/>
          <p:nvPr/>
        </p:nvSpPr>
        <p:spPr>
          <a:xfrm>
            <a:off x="9189720" y="3383280"/>
            <a:ext cx="2194560" cy="457200"/>
          </a:xfrm>
          <a:prstGeom prst="rect">
            <a:avLst/>
          </a:prstGeom>
          <a:noFill/>
          <a:ln/>
        </p:spPr>
        <p:txBody>
          <a:bodyPr wrap="square" lIns="0" tIns="0" rIns="0" bIns="0" rtlCol="0" anchor="ctr"/>
          <a:lstStyle/>
          <a:p>
            <a:pPr marL="0" indent="0">
              <a:buNone/>
            </a:pPr>
            <a:r>
              <a:rPr lang="en-US" sz="2400" b="1" dirty="0">
                <a:solidFill>
                  <a:srgbClr val="C8553D"/>
                </a:solidFill>
                <a:latin typeface="Cambria" pitchFamily="34" charset="0"/>
                <a:ea typeface="Cambria" pitchFamily="34" charset="-122"/>
                <a:cs typeface="Cambria" pitchFamily="34" charset="-120"/>
              </a:rPr>
              <a:t>967</a:t>
            </a:r>
            <a:endParaRPr lang="en-US" sz="2400" dirty="0"/>
          </a:p>
        </p:txBody>
      </p:sp>
      <p:sp>
        <p:nvSpPr>
          <p:cNvPr id="11" name="Text 8"/>
          <p:cNvSpPr/>
          <p:nvPr/>
        </p:nvSpPr>
        <p:spPr>
          <a:xfrm>
            <a:off x="9189720" y="3840480"/>
            <a:ext cx="2240280" cy="502920"/>
          </a:xfrm>
          <a:prstGeom prst="rect">
            <a:avLst/>
          </a:prstGeom>
          <a:noFill/>
          <a:ln/>
        </p:spPr>
        <p:txBody>
          <a:bodyPr wrap="square" lIns="0" tIns="0" rIns="0" bIns="0" rtlCol="0" anchor="ctr"/>
          <a:lstStyle/>
          <a:p>
            <a:pPr marL="0" indent="0">
              <a:lnSpc>
                <a:spcPts val="1400"/>
              </a:lnSpc>
              <a:buNone/>
            </a:pPr>
            <a:r>
              <a:rPr lang="en-US" sz="1100" b="1" dirty="0">
                <a:solidFill>
                  <a:srgbClr val="12202E"/>
                </a:solidFill>
                <a:latin typeface="Calibri" pitchFamily="34" charset="0"/>
                <a:ea typeface="Calibri" pitchFamily="34" charset="-122"/>
                <a:cs typeface="Calibri" pitchFamily="34" charset="-120"/>
              </a:rPr>
              <a:t>counties have no credit union OFFICE of any kind</a:t>
            </a:r>
            <a:endParaRPr lang="en-US" sz="1100" dirty="0"/>
          </a:p>
        </p:txBody>
      </p:sp>
      <p:sp>
        <p:nvSpPr>
          <p:cNvPr id="12" name="Text 9"/>
          <p:cNvSpPr/>
          <p:nvPr/>
        </p:nvSpPr>
        <p:spPr>
          <a:xfrm>
            <a:off x="9189720" y="4389120"/>
            <a:ext cx="2240280" cy="274320"/>
          </a:xfrm>
          <a:prstGeom prst="rect">
            <a:avLst/>
          </a:prstGeom>
          <a:noFill/>
          <a:ln/>
        </p:spPr>
        <p:txBody>
          <a:bodyPr wrap="square" lIns="0" tIns="0" rIns="0" bIns="0" rtlCol="0" anchor="ctr"/>
          <a:lstStyle/>
          <a:p>
            <a:pPr marL="0" indent="0">
              <a:buNone/>
            </a:pPr>
            <a:r>
              <a:rPr lang="en-US" sz="1050" dirty="0">
                <a:solidFill>
                  <a:srgbClr val="5B6B72"/>
                </a:solidFill>
                <a:latin typeface="Calibri" pitchFamily="34" charset="0"/>
                <a:ea typeface="Calibri" pitchFamily="34" charset="-122"/>
                <a:cs typeface="Calibri" pitchFamily="34" charset="-120"/>
              </a:rPr>
              <a:t>of 3,134 — 31%</a:t>
            </a:r>
            <a:endParaRPr lang="en-US" sz="1050" dirty="0"/>
          </a:p>
        </p:txBody>
      </p:sp>
      <p:sp>
        <p:nvSpPr>
          <p:cNvPr id="13" name="Shape 10"/>
          <p:cNvSpPr/>
          <p:nvPr/>
        </p:nvSpPr>
        <p:spPr>
          <a:xfrm>
            <a:off x="8961120" y="4937760"/>
            <a:ext cx="2651760" cy="1188720"/>
          </a:xfrm>
          <a:prstGeom prst="roundRect">
            <a:avLst>
              <a:gd name="adj" fmla="val 3846"/>
            </a:avLst>
          </a:prstGeom>
          <a:solidFill>
            <a:srgbClr val="0E4C55"/>
          </a:solidFill>
          <a:ln/>
        </p:spPr>
        <p:txBody>
          <a:bodyPr/>
          <a:lstStyle/>
          <a:p>
            <a:endParaRPr lang="en-US"/>
          </a:p>
        </p:txBody>
      </p:sp>
      <p:sp>
        <p:nvSpPr>
          <p:cNvPr id="14" name="Text 11"/>
          <p:cNvSpPr/>
          <p:nvPr/>
        </p:nvSpPr>
        <p:spPr>
          <a:xfrm>
            <a:off x="9189720" y="5074920"/>
            <a:ext cx="2240280" cy="960120"/>
          </a:xfrm>
          <a:prstGeom prst="rect">
            <a:avLst/>
          </a:prstGeom>
          <a:noFill/>
          <a:ln/>
        </p:spPr>
        <p:txBody>
          <a:bodyPr wrap="square" lIns="0" tIns="0" rIns="0" bIns="0" rtlCol="0" anchor="ctr"/>
          <a:lstStyle/>
          <a:p>
            <a:pPr marL="0" indent="0">
              <a:lnSpc>
                <a:spcPts val="1350"/>
              </a:lnSpc>
              <a:buNone/>
            </a:pPr>
            <a:r>
              <a:rPr lang="en-US" sz="1050" dirty="0">
                <a:solidFill>
                  <a:srgbClr val="FFFFFF"/>
                </a:solidFill>
                <a:latin typeface="Calibri" pitchFamily="34" charset="0"/>
                <a:ea typeface="Calibri" pitchFamily="34" charset="-122"/>
                <a:cs typeface="Calibri" pitchFamily="34" charset="-120"/>
              </a:rPr>
              <a:t>Branch networks reach about twice as far as charters do. That gap is why the access finding and the formation finding point in different directions.</a:t>
            </a:r>
            <a:endParaRPr lang="en-US" sz="1050" dirty="0"/>
          </a:p>
        </p:txBody>
      </p:sp>
      <p:sp>
        <p:nvSpPr>
          <p:cNvPr id="15" name="Text 12"/>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Map shows headquarters only, charter types 1 and 2, 2026Q1. Headquarters denominator includes Connecticut and Puerto Rico; the office figure excludes them, so the two are not directly differenced. Preliminary render — being reissued with the Connecticut planning-region fix.</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6 · CORRECTIONS</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What we tested and had to withdraw</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An earlier draft argued that rural credit unions were growing into a capital ceiling. We tested it against internal capital generation. It is not supported, and it has been removed from both drafted sections.</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667512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6576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Group</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Actual growth</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Sustainable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Headroom</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 above sustainable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extLst>
                  <a:ext uri="{0D108BD9-81ED-4DB2-BD59-A6C34878D82A}">
                    <a16:rowId xmlns:a16="http://schemas.microsoft.com/office/drawing/2014/main" val="10000"/>
                  </a:ext>
                </a:extLst>
              </a:tr>
              <a:tr h="365760">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Rural</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4.04</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6.76</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+2.72</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32.1</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1"/>
                  </a:ext>
                </a:extLst>
              </a:tr>
              <a:tr h="365760">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Urban</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2.67</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5.47</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+2.80</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30.7</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Rural LID</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4.26</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7.54</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+3.28</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31.7</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3"/>
                  </a:ext>
                </a:extLst>
              </a:tr>
              <a:tr h="365760">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Rural non-LID</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3.78</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6.12</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+2.34</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32.5</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Urban LID</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2.93</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5.53</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+2.60</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32.4</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5"/>
                  </a:ext>
                </a:extLst>
              </a:tr>
              <a:tr h="365760">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Urban non-LID</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2.37</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5.40</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+3.03</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28.7</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7498080" y="2103120"/>
            <a:ext cx="4023360" cy="1325880"/>
          </a:xfrm>
          <a:prstGeom prst="roundRect">
            <a:avLst>
              <a:gd name="adj" fmla="val 3448"/>
            </a:avLst>
          </a:prstGeom>
          <a:solidFill>
            <a:srgbClr val="F3F5F4"/>
          </a:solidFill>
          <a:ln/>
        </p:spPr>
        <p:txBody>
          <a:bodyPr/>
          <a:lstStyle/>
          <a:p>
            <a:endParaRPr lang="en-US"/>
          </a:p>
        </p:txBody>
      </p:sp>
      <p:sp>
        <p:nvSpPr>
          <p:cNvPr id="7" name="Text 4"/>
          <p:cNvSpPr/>
          <p:nvPr/>
        </p:nvSpPr>
        <p:spPr>
          <a:xfrm>
            <a:off x="7726680" y="2240280"/>
            <a:ext cx="3566160" cy="237744"/>
          </a:xfrm>
          <a:prstGeom prst="rect">
            <a:avLst/>
          </a:prstGeom>
          <a:noFill/>
          <a:ln/>
        </p:spPr>
        <p:txBody>
          <a:bodyPr wrap="square" lIns="0" tIns="0" rIns="0" bIns="0" rtlCol="0" anchor="ctr"/>
          <a:lstStyle/>
          <a:p>
            <a:pPr marL="0" indent="0">
              <a:buNone/>
            </a:pPr>
            <a:r>
              <a:rPr lang="en-US" sz="1150" b="1" dirty="0">
                <a:solidFill>
                  <a:srgbClr val="0E4C55"/>
                </a:solidFill>
                <a:latin typeface="Calibri" pitchFamily="34" charset="0"/>
                <a:ea typeface="Calibri" pitchFamily="34" charset="-122"/>
                <a:cs typeface="Calibri" pitchFamily="34" charset="-120"/>
              </a:rPr>
              <a:t>What survives</a:t>
            </a:r>
            <a:endParaRPr lang="en-US" sz="1150" dirty="0"/>
          </a:p>
        </p:txBody>
      </p:sp>
      <p:sp>
        <p:nvSpPr>
          <p:cNvPr id="8" name="Text 5"/>
          <p:cNvSpPr/>
          <p:nvPr/>
        </p:nvSpPr>
        <p:spPr>
          <a:xfrm>
            <a:off x="7726680" y="2505456"/>
            <a:ext cx="3611880" cy="868680"/>
          </a:xfrm>
          <a:prstGeom prst="rect">
            <a:avLst/>
          </a:prstGeom>
          <a:noFill/>
          <a:ln/>
        </p:spPr>
        <p:txBody>
          <a:bodyPr wrap="square" lIns="0" tIns="0" rIns="0" bIns="0" rtlCol="0" anchor="ctr"/>
          <a:lstStyle/>
          <a:p>
            <a:pPr marL="0" indent="0">
              <a:lnSpc>
                <a:spcPts val="1400"/>
              </a:lnSpc>
              <a:buNone/>
            </a:pPr>
            <a:r>
              <a:rPr lang="en-US" sz="1050" dirty="0">
                <a:solidFill>
                  <a:srgbClr val="12202E"/>
                </a:solidFill>
                <a:latin typeface="Calibri" pitchFamily="34" charset="0"/>
                <a:ea typeface="Calibri" pitchFamily="34" charset="-122"/>
                <a:cs typeface="Calibri" pitchFamily="34" charset="-120"/>
              </a:rPr>
              <a:t>Rural credit unions have no capital ADVANTAGE once size is accounted for — 0.16 pp on a base of 13.3 in matched pairs: detectable, and economically negligible.</a:t>
            </a:r>
            <a:endParaRPr lang="en-US" sz="1050" dirty="0"/>
          </a:p>
        </p:txBody>
      </p:sp>
      <p:sp>
        <p:nvSpPr>
          <p:cNvPr id="9" name="Shape 6"/>
          <p:cNvSpPr/>
          <p:nvPr/>
        </p:nvSpPr>
        <p:spPr>
          <a:xfrm>
            <a:off x="7498080" y="3566160"/>
            <a:ext cx="4023360" cy="1371600"/>
          </a:xfrm>
          <a:prstGeom prst="roundRect">
            <a:avLst>
              <a:gd name="adj" fmla="val 3333"/>
            </a:avLst>
          </a:prstGeom>
          <a:solidFill>
            <a:srgbClr val="C8553D"/>
          </a:solidFill>
          <a:ln/>
        </p:spPr>
        <p:txBody>
          <a:bodyPr/>
          <a:lstStyle/>
          <a:p>
            <a:endParaRPr lang="en-US"/>
          </a:p>
        </p:txBody>
      </p:sp>
      <p:sp>
        <p:nvSpPr>
          <p:cNvPr id="10" name="Text 7"/>
          <p:cNvSpPr/>
          <p:nvPr/>
        </p:nvSpPr>
        <p:spPr>
          <a:xfrm>
            <a:off x="7726680" y="3703320"/>
            <a:ext cx="3566160" cy="237744"/>
          </a:xfrm>
          <a:prstGeom prst="rect">
            <a:avLst/>
          </a:prstGeom>
          <a:noFill/>
          <a:ln/>
        </p:spPr>
        <p:txBody>
          <a:bodyPr wrap="square" lIns="0" tIns="0" rIns="0" bIns="0" rtlCol="0" anchor="ctr"/>
          <a:lstStyle/>
          <a:p>
            <a:pPr marL="0" indent="0">
              <a:buNone/>
            </a:pPr>
            <a:r>
              <a:rPr lang="en-US" sz="1150" b="1" dirty="0">
                <a:solidFill>
                  <a:srgbClr val="FFE8E2"/>
                </a:solidFill>
                <a:latin typeface="Calibri" pitchFamily="34" charset="0"/>
                <a:ea typeface="Calibri" pitchFamily="34" charset="-122"/>
                <a:cs typeface="Calibri" pitchFamily="34" charset="-120"/>
              </a:rPr>
              <a:t>What does not</a:t>
            </a:r>
            <a:endParaRPr lang="en-US" sz="1150" dirty="0"/>
          </a:p>
        </p:txBody>
      </p:sp>
      <p:sp>
        <p:nvSpPr>
          <p:cNvPr id="11" name="Text 8"/>
          <p:cNvSpPr/>
          <p:nvPr/>
        </p:nvSpPr>
        <p:spPr>
          <a:xfrm>
            <a:off x="7726680" y="3968496"/>
            <a:ext cx="3611880" cy="914400"/>
          </a:xfrm>
          <a:prstGeom prst="rect">
            <a:avLst/>
          </a:prstGeom>
          <a:noFill/>
          <a:ln/>
        </p:spPr>
        <p:txBody>
          <a:bodyPr wrap="square" lIns="0" tIns="0" rIns="0" bIns="0" rtlCol="0" anchor="ctr"/>
          <a:lstStyle/>
          <a:p>
            <a:pPr marL="0" indent="0">
              <a:lnSpc>
                <a:spcPts val="1400"/>
              </a:lnSpc>
              <a:buNone/>
            </a:pPr>
            <a:r>
              <a:rPr lang="en-US" sz="1050" dirty="0">
                <a:solidFill>
                  <a:srgbClr val="FFFFFF"/>
                </a:solidFill>
                <a:latin typeface="Calibri" pitchFamily="34" charset="0"/>
                <a:ea typeface="Calibri" pitchFamily="34" charset="-122"/>
                <a:cs typeface="Calibri" pitchFamily="34" charset="-120"/>
              </a:rPr>
              <a:t>The inference that capital limits their growth. The typical rural institution has 2.7 points of headroom, essentially identical to urban, and the LID split — which proxies secondary capital access — makes no difference anywhere.</a:t>
            </a:r>
            <a:endParaRPr lang="en-US" sz="1050" dirty="0"/>
          </a:p>
        </p:txBody>
      </p:sp>
      <p:sp>
        <p:nvSpPr>
          <p:cNvPr id="12" name="Shape 9"/>
          <p:cNvSpPr/>
          <p:nvPr/>
        </p:nvSpPr>
        <p:spPr>
          <a:xfrm>
            <a:off x="640080" y="4773168"/>
            <a:ext cx="6675120" cy="1280160"/>
          </a:xfrm>
          <a:prstGeom prst="roundRect">
            <a:avLst>
              <a:gd name="adj" fmla="val 3571"/>
            </a:avLst>
          </a:prstGeom>
          <a:solidFill>
            <a:srgbClr val="0E4C55"/>
          </a:solidFill>
          <a:ln/>
        </p:spPr>
        <p:txBody>
          <a:bodyPr/>
          <a:lstStyle/>
          <a:p>
            <a:endParaRPr lang="en-US"/>
          </a:p>
        </p:txBody>
      </p:sp>
      <p:sp>
        <p:nvSpPr>
          <p:cNvPr id="13" name="Text 10"/>
          <p:cNvSpPr/>
          <p:nvPr/>
        </p:nvSpPr>
        <p:spPr>
          <a:xfrm>
            <a:off x="914400" y="4882896"/>
            <a:ext cx="6126480" cy="256032"/>
          </a:xfrm>
          <a:prstGeom prst="rect">
            <a:avLst/>
          </a:prstGeom>
          <a:noFill/>
          <a:ln/>
        </p:spPr>
        <p:txBody>
          <a:bodyPr wrap="square" lIns="0" tIns="0" rIns="0" bIns="0" rtlCol="0" anchor="ctr"/>
          <a:lstStyle/>
          <a:p>
            <a:pPr marL="0" indent="0">
              <a:buNone/>
            </a:pPr>
            <a:r>
              <a:rPr lang="en-US" sz="1150" b="1" dirty="0">
                <a:solidFill>
                  <a:srgbClr val="E8A24A"/>
                </a:solidFill>
                <a:latin typeface="Calibri" pitchFamily="34" charset="0"/>
                <a:ea typeface="Calibri" pitchFamily="34" charset="-122"/>
                <a:cs typeface="Calibri" pitchFamily="34" charset="-120"/>
              </a:rPr>
              <a:t>The distinction to preserve</a:t>
            </a:r>
            <a:endParaRPr lang="en-US" sz="1150" dirty="0"/>
          </a:p>
        </p:txBody>
      </p:sp>
      <p:sp>
        <p:nvSpPr>
          <p:cNvPr id="14" name="Text 11"/>
          <p:cNvSpPr/>
          <p:nvPr/>
        </p:nvSpPr>
        <p:spPr>
          <a:xfrm>
            <a:off x="914400" y="5157216"/>
            <a:ext cx="6172200" cy="822960"/>
          </a:xfrm>
          <a:prstGeom prst="rect">
            <a:avLst/>
          </a:prstGeom>
          <a:noFill/>
          <a:ln/>
        </p:spPr>
        <p:txBody>
          <a:bodyPr wrap="square" lIns="0" tIns="0" rIns="0" bIns="0" rtlCol="0" anchor="ctr"/>
          <a:lstStyle/>
          <a:p>
            <a:pPr marL="0" indent="0">
              <a:lnSpc>
                <a:spcPts val="1500"/>
              </a:lnSpc>
              <a:buNone/>
            </a:pPr>
            <a:r>
              <a:rPr lang="en-US" sz="1100" dirty="0">
                <a:solidFill>
                  <a:srgbClr val="FFFFFF"/>
                </a:solidFill>
                <a:latin typeface="Calibri" pitchFamily="34" charset="0"/>
                <a:ea typeface="Calibri" pitchFamily="34" charset="-122"/>
                <a:cs typeface="Calibri" pitchFamily="34" charset="-120"/>
              </a:rPr>
              <a:t>This tests whether capital constrains EXISTING rural credit unions. It does not. Whether initial capital requirements deter the FORMATION of new ones is a different mechanism — a de novo needs capital before it has any earnings to retain — and remains untested. Losing the first claim does not cost us the second.</a:t>
            </a:r>
            <a:endParaRPr lang="en-US" sz="1100" dirty="0"/>
          </a:p>
        </p:txBody>
      </p:sp>
      <p:sp>
        <p:nvSpPr>
          <p:cNvPr id="15" name="Shape 12"/>
          <p:cNvSpPr/>
          <p:nvPr/>
        </p:nvSpPr>
        <p:spPr>
          <a:xfrm>
            <a:off x="7498080" y="5074920"/>
            <a:ext cx="4023360" cy="914400"/>
          </a:xfrm>
          <a:prstGeom prst="roundRect">
            <a:avLst>
              <a:gd name="adj" fmla="val 5000"/>
            </a:avLst>
          </a:prstGeom>
          <a:solidFill>
            <a:srgbClr val="DCE6E4"/>
          </a:solidFill>
          <a:ln/>
        </p:spPr>
        <p:txBody>
          <a:bodyPr/>
          <a:lstStyle/>
          <a:p>
            <a:endParaRPr lang="en-US"/>
          </a:p>
        </p:txBody>
      </p:sp>
      <p:sp>
        <p:nvSpPr>
          <p:cNvPr id="16" name="Text 13"/>
          <p:cNvSpPr/>
          <p:nvPr/>
        </p:nvSpPr>
        <p:spPr>
          <a:xfrm>
            <a:off x="7726680" y="5212080"/>
            <a:ext cx="3611880" cy="685800"/>
          </a:xfrm>
          <a:prstGeom prst="rect">
            <a:avLst/>
          </a:prstGeom>
          <a:noFill/>
          <a:ln/>
        </p:spPr>
        <p:txBody>
          <a:bodyPr wrap="square" lIns="0" tIns="0" rIns="0" bIns="0" rtlCol="0" anchor="ctr"/>
          <a:lstStyle/>
          <a:p>
            <a:pPr marL="0" indent="0">
              <a:lnSpc>
                <a:spcPts val="1400"/>
              </a:lnSpc>
              <a:buNone/>
            </a:pPr>
            <a:r>
              <a:rPr lang="en-US" sz="1050" dirty="0">
                <a:solidFill>
                  <a:srgbClr val="12202E"/>
                </a:solidFill>
                <a:latin typeface="Calibri" pitchFamily="34" charset="0"/>
                <a:ea typeface="Calibri" pitchFamily="34" charset="-122"/>
                <a:cs typeface="Calibri" pitchFamily="34" charset="-120"/>
              </a:rPr>
              <a:t>Consequence: the case for capital-access recommendations is much weaker than drafted, and the report's centre of gravity moves to formation.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7 · CONFIDENCE</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What we cannot yet say</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Stated plainly, because naming the limits is what makes the rest of the report credible.</a:t>
            </a:r>
            <a:endParaRPr lang="en-US" sz="1350" dirty="0"/>
          </a:p>
        </p:txBody>
      </p:sp>
      <p:sp>
        <p:nvSpPr>
          <p:cNvPr id="5" name="Shape 3"/>
          <p:cNvSpPr/>
          <p:nvPr/>
        </p:nvSpPr>
        <p:spPr>
          <a:xfrm>
            <a:off x="640080" y="1920240"/>
            <a:ext cx="3337560" cy="1920240"/>
          </a:xfrm>
          <a:prstGeom prst="roundRect">
            <a:avLst>
              <a:gd name="adj" fmla="val 2381"/>
            </a:avLst>
          </a:prstGeom>
          <a:solidFill>
            <a:srgbClr val="F3F5F4"/>
          </a:solidFill>
          <a:ln/>
        </p:spPr>
        <p:txBody>
          <a:bodyPr/>
          <a:lstStyle/>
          <a:p>
            <a:endParaRPr lang="en-US"/>
          </a:p>
        </p:txBody>
      </p:sp>
      <p:sp>
        <p:nvSpPr>
          <p:cNvPr id="6" name="Text 4"/>
          <p:cNvSpPr/>
          <p:nvPr/>
        </p:nvSpPr>
        <p:spPr>
          <a:xfrm>
            <a:off x="868680" y="2084832"/>
            <a:ext cx="2926080" cy="457200"/>
          </a:xfrm>
          <a:prstGeom prst="rect">
            <a:avLst/>
          </a:prstGeom>
          <a:noFill/>
          <a:ln/>
        </p:spPr>
        <p:txBody>
          <a:bodyPr wrap="square" lIns="0" tIns="0" rIns="0" bIns="0" rtlCol="0" anchor="ctr"/>
          <a:lstStyle/>
          <a:p>
            <a:pPr marL="0" indent="0">
              <a:lnSpc>
                <a:spcPts val="1500"/>
              </a:lnSpc>
              <a:buNone/>
            </a:pPr>
            <a:r>
              <a:rPr lang="en-US" sz="1200" b="1" dirty="0">
                <a:solidFill>
                  <a:srgbClr val="C8553D"/>
                </a:solidFill>
                <a:latin typeface="Calibri" pitchFamily="34" charset="0"/>
                <a:ea typeface="Calibri" pitchFamily="34" charset="-122"/>
                <a:cs typeface="Calibri" pitchFamily="34" charset="-120"/>
              </a:rPr>
              <a:t>Mechanism is unidentified</a:t>
            </a:r>
            <a:endParaRPr lang="en-US" sz="1200" dirty="0"/>
          </a:p>
        </p:txBody>
      </p:sp>
      <p:sp>
        <p:nvSpPr>
          <p:cNvPr id="7" name="Text 5"/>
          <p:cNvSpPr/>
          <p:nvPr/>
        </p:nvSpPr>
        <p:spPr>
          <a:xfrm>
            <a:off x="868680" y="2560320"/>
            <a:ext cx="2926080" cy="1188720"/>
          </a:xfrm>
          <a:prstGeom prst="rect">
            <a:avLst/>
          </a:prstGeom>
          <a:noFill/>
          <a:ln/>
        </p:spPr>
        <p:txBody>
          <a:bodyPr wrap="square" lIns="0" tIns="0" rIns="0" bIns="0" rtlCol="0" anchor="ctr"/>
          <a:lstStyle/>
          <a:p>
            <a:pPr marL="0" indent="0">
              <a:lnSpc>
                <a:spcPts val="1250"/>
              </a:lnSpc>
              <a:buNone/>
            </a:pPr>
            <a:r>
              <a:rPr lang="en-US" sz="950" dirty="0">
                <a:solidFill>
                  <a:srgbClr val="5B6B72"/>
                </a:solidFill>
                <a:latin typeface="Calibri" pitchFamily="34" charset="0"/>
                <a:ea typeface="Calibri" pitchFamily="34" charset="-122"/>
                <a:cs typeface="Calibri" pitchFamily="34" charset="-120"/>
              </a:rPr>
              <a:t>We have established that rural credit unions perform differently and that it is not a size artifact. We have not established why. “Rural” bundles less local competition, different member composition, different field-of-membership structures and a distinct local economy. The report should say so rather than imply a mechanism we have not tested.</a:t>
            </a:r>
            <a:endParaRPr lang="en-US" sz="950" dirty="0"/>
          </a:p>
        </p:txBody>
      </p:sp>
      <p:sp>
        <p:nvSpPr>
          <p:cNvPr id="8" name="Shape 6"/>
          <p:cNvSpPr/>
          <p:nvPr/>
        </p:nvSpPr>
        <p:spPr>
          <a:xfrm>
            <a:off x="4297680" y="1920240"/>
            <a:ext cx="3337560" cy="1920240"/>
          </a:xfrm>
          <a:prstGeom prst="roundRect">
            <a:avLst>
              <a:gd name="adj" fmla="val 2381"/>
            </a:avLst>
          </a:prstGeom>
          <a:solidFill>
            <a:srgbClr val="F3F5F4"/>
          </a:solidFill>
          <a:ln/>
        </p:spPr>
        <p:txBody>
          <a:bodyPr/>
          <a:lstStyle/>
          <a:p>
            <a:endParaRPr lang="en-US"/>
          </a:p>
        </p:txBody>
      </p:sp>
      <p:sp>
        <p:nvSpPr>
          <p:cNvPr id="9" name="Text 7"/>
          <p:cNvSpPr/>
          <p:nvPr/>
        </p:nvSpPr>
        <p:spPr>
          <a:xfrm>
            <a:off x="4526280" y="2084832"/>
            <a:ext cx="2926080" cy="457200"/>
          </a:xfrm>
          <a:prstGeom prst="rect">
            <a:avLst/>
          </a:prstGeom>
          <a:noFill/>
          <a:ln/>
        </p:spPr>
        <p:txBody>
          <a:bodyPr wrap="square" lIns="0" tIns="0" rIns="0" bIns="0" rtlCol="0" anchor="ctr"/>
          <a:lstStyle/>
          <a:p>
            <a:pPr marL="0" indent="0">
              <a:lnSpc>
                <a:spcPts val="1500"/>
              </a:lnSpc>
              <a:buNone/>
            </a:pPr>
            <a:r>
              <a:rPr lang="en-US" sz="1200" b="1" dirty="0">
                <a:solidFill>
                  <a:srgbClr val="C8553D"/>
                </a:solidFill>
                <a:latin typeface="Calibri" pitchFamily="34" charset="0"/>
                <a:ea typeface="Calibri" pitchFamily="34" charset="-122"/>
                <a:cs typeface="Calibri" pitchFamily="34" charset="-120"/>
              </a:rPr>
              <a:t>Exit composition is unverified</a:t>
            </a:r>
            <a:endParaRPr lang="en-US" sz="1200" dirty="0"/>
          </a:p>
        </p:txBody>
      </p:sp>
      <p:sp>
        <p:nvSpPr>
          <p:cNvPr id="10" name="Text 8"/>
          <p:cNvSpPr/>
          <p:nvPr/>
        </p:nvSpPr>
        <p:spPr>
          <a:xfrm>
            <a:off x="4526280" y="2560320"/>
            <a:ext cx="2926080" cy="1188720"/>
          </a:xfrm>
          <a:prstGeom prst="rect">
            <a:avLst/>
          </a:prstGeom>
          <a:noFill/>
          <a:ln/>
        </p:spPr>
        <p:txBody>
          <a:bodyPr wrap="square" lIns="0" tIns="0" rIns="0" bIns="0" rtlCol="0" anchor="ctr"/>
          <a:lstStyle/>
          <a:p>
            <a:pPr marL="0" indent="0">
              <a:lnSpc>
                <a:spcPts val="1250"/>
              </a:lnSpc>
              <a:buNone/>
            </a:pPr>
            <a:r>
              <a:rPr lang="en-US" sz="950" dirty="0">
                <a:solidFill>
                  <a:srgbClr val="5B6B72"/>
                </a:solidFill>
                <a:latin typeface="Calibri" pitchFamily="34" charset="0"/>
                <a:ea typeface="Calibri" pitchFamily="34" charset="-122"/>
                <a:cs typeface="Calibri" pitchFamily="34" charset="-120"/>
              </a:rPr>
              <a:t>One outcome code carries four fifths of rural exits. “220 mergers” and “220 failures” are different sentences, and two drafted sections rest on which it is. Blocking, and resolved by pulling the data dictionary.</a:t>
            </a:r>
            <a:endParaRPr lang="en-US" sz="950" dirty="0"/>
          </a:p>
        </p:txBody>
      </p:sp>
      <p:sp>
        <p:nvSpPr>
          <p:cNvPr id="11" name="Shape 9"/>
          <p:cNvSpPr/>
          <p:nvPr/>
        </p:nvSpPr>
        <p:spPr>
          <a:xfrm>
            <a:off x="7955280" y="1920240"/>
            <a:ext cx="3337560" cy="1920240"/>
          </a:xfrm>
          <a:prstGeom prst="roundRect">
            <a:avLst>
              <a:gd name="adj" fmla="val 2381"/>
            </a:avLst>
          </a:prstGeom>
          <a:solidFill>
            <a:srgbClr val="F3F5F4"/>
          </a:solidFill>
          <a:ln/>
        </p:spPr>
        <p:txBody>
          <a:bodyPr/>
          <a:lstStyle/>
          <a:p>
            <a:endParaRPr lang="en-US"/>
          </a:p>
        </p:txBody>
      </p:sp>
      <p:sp>
        <p:nvSpPr>
          <p:cNvPr id="12" name="Text 10"/>
          <p:cNvSpPr/>
          <p:nvPr/>
        </p:nvSpPr>
        <p:spPr>
          <a:xfrm>
            <a:off x="8183880" y="2084832"/>
            <a:ext cx="2926080" cy="457200"/>
          </a:xfrm>
          <a:prstGeom prst="rect">
            <a:avLst/>
          </a:prstGeom>
          <a:noFill/>
          <a:ln/>
        </p:spPr>
        <p:txBody>
          <a:bodyPr wrap="square" lIns="0" tIns="0" rIns="0" bIns="0" rtlCol="0" anchor="ctr"/>
          <a:lstStyle/>
          <a:p>
            <a:pPr marL="0" indent="0">
              <a:lnSpc>
                <a:spcPts val="1500"/>
              </a:lnSpc>
              <a:buNone/>
            </a:pPr>
            <a:r>
              <a:rPr lang="en-US" sz="1200" b="1" dirty="0">
                <a:solidFill>
                  <a:srgbClr val="C8553D"/>
                </a:solidFill>
                <a:latin typeface="Calibri" pitchFamily="34" charset="0"/>
                <a:ea typeface="Calibri" pitchFamily="34" charset="-122"/>
                <a:cs typeface="Calibri" pitchFamily="34" charset="-120"/>
              </a:rPr>
              <a:t>The bank comparison is missing</a:t>
            </a:r>
            <a:endParaRPr lang="en-US" sz="1200" dirty="0"/>
          </a:p>
        </p:txBody>
      </p:sp>
      <p:sp>
        <p:nvSpPr>
          <p:cNvPr id="13" name="Text 11"/>
          <p:cNvSpPr/>
          <p:nvPr/>
        </p:nvSpPr>
        <p:spPr>
          <a:xfrm>
            <a:off x="8183880" y="2560320"/>
            <a:ext cx="2926080" cy="1188720"/>
          </a:xfrm>
          <a:prstGeom prst="rect">
            <a:avLst/>
          </a:prstGeom>
          <a:noFill/>
          <a:ln/>
        </p:spPr>
        <p:txBody>
          <a:bodyPr wrap="square" lIns="0" tIns="0" rIns="0" bIns="0" rtlCol="0" anchor="ctr"/>
          <a:lstStyle/>
          <a:p>
            <a:pPr marL="0" indent="0">
              <a:lnSpc>
                <a:spcPts val="1250"/>
              </a:lnSpc>
              <a:buNone/>
            </a:pPr>
            <a:r>
              <a:rPr lang="en-US" sz="950" dirty="0">
                <a:solidFill>
                  <a:srgbClr val="5B6B72"/>
                </a:solidFill>
                <a:latin typeface="Calibri" pitchFamily="34" charset="0"/>
                <a:ea typeface="Calibri" pitchFamily="34" charset="-122"/>
                <a:cs typeface="Calibri" pitchFamily="34" charset="-120"/>
              </a:rPr>
              <a:t>Rural counties gained credit union offices over this period. Whether they lost bank branches at the same time determines whether this is a credit union story or a rural depository story — and it is our natural contribution to the interagency joint study.</a:t>
            </a:r>
            <a:endParaRPr lang="en-US" sz="950" dirty="0"/>
          </a:p>
        </p:txBody>
      </p:sp>
      <p:sp>
        <p:nvSpPr>
          <p:cNvPr id="14" name="Shape 12"/>
          <p:cNvSpPr/>
          <p:nvPr/>
        </p:nvSpPr>
        <p:spPr>
          <a:xfrm>
            <a:off x="640080" y="4069080"/>
            <a:ext cx="3337560" cy="1920240"/>
          </a:xfrm>
          <a:prstGeom prst="roundRect">
            <a:avLst>
              <a:gd name="adj" fmla="val 2381"/>
            </a:avLst>
          </a:prstGeom>
          <a:solidFill>
            <a:srgbClr val="F3F5F4"/>
          </a:solidFill>
          <a:ln/>
        </p:spPr>
        <p:txBody>
          <a:bodyPr/>
          <a:lstStyle/>
          <a:p>
            <a:endParaRPr lang="en-US"/>
          </a:p>
        </p:txBody>
      </p:sp>
      <p:sp>
        <p:nvSpPr>
          <p:cNvPr id="15" name="Text 13"/>
          <p:cNvSpPr/>
          <p:nvPr/>
        </p:nvSpPr>
        <p:spPr>
          <a:xfrm>
            <a:off x="868680" y="4233672"/>
            <a:ext cx="2926080" cy="457200"/>
          </a:xfrm>
          <a:prstGeom prst="rect">
            <a:avLst/>
          </a:prstGeom>
          <a:noFill/>
          <a:ln/>
        </p:spPr>
        <p:txBody>
          <a:bodyPr wrap="square" lIns="0" tIns="0" rIns="0" bIns="0" rtlCol="0" anchor="ctr"/>
          <a:lstStyle/>
          <a:p>
            <a:pPr marL="0" indent="0">
              <a:lnSpc>
                <a:spcPts val="1500"/>
              </a:lnSpc>
              <a:buNone/>
            </a:pPr>
            <a:r>
              <a:rPr lang="en-US" sz="1200" b="1" dirty="0">
                <a:solidFill>
                  <a:srgbClr val="C8553D"/>
                </a:solidFill>
                <a:latin typeface="Calibri" pitchFamily="34" charset="0"/>
                <a:ea typeface="Calibri" pitchFamily="34" charset="-122"/>
                <a:cs typeface="Calibri" pitchFamily="34" charset="-120"/>
              </a:rPr>
              <a:t>Demography is a hard ceiling</a:t>
            </a:r>
            <a:endParaRPr lang="en-US" sz="1200" dirty="0"/>
          </a:p>
        </p:txBody>
      </p:sp>
      <p:sp>
        <p:nvSpPr>
          <p:cNvPr id="16" name="Text 14"/>
          <p:cNvSpPr/>
          <p:nvPr/>
        </p:nvSpPr>
        <p:spPr>
          <a:xfrm>
            <a:off x="868680" y="4709160"/>
            <a:ext cx="2926080" cy="1188720"/>
          </a:xfrm>
          <a:prstGeom prst="rect">
            <a:avLst/>
          </a:prstGeom>
          <a:noFill/>
          <a:ln/>
        </p:spPr>
        <p:txBody>
          <a:bodyPr wrap="square" lIns="0" tIns="0" rIns="0" bIns="0" rtlCol="0" anchor="ctr"/>
          <a:lstStyle/>
          <a:p>
            <a:pPr marL="0" indent="0">
              <a:lnSpc>
                <a:spcPts val="1250"/>
              </a:lnSpc>
              <a:buNone/>
            </a:pPr>
            <a:r>
              <a:rPr lang="en-US" sz="950" dirty="0">
                <a:solidFill>
                  <a:srgbClr val="5B6B72"/>
                </a:solidFill>
                <a:latin typeface="Calibri" pitchFamily="34" charset="0"/>
                <a:ea typeface="Calibri" pitchFamily="34" charset="-122"/>
                <a:cs typeface="Calibri" pitchFamily="34" charset="-120"/>
              </a:rPr>
              <a:t>No regulatory change makes members appear in a county losing population. Rural counties hold 7.9% of the population across 49.5% of the counties. The report should not promise growth that policy cannot deliver.</a:t>
            </a:r>
            <a:endParaRPr lang="en-US" sz="950" dirty="0"/>
          </a:p>
        </p:txBody>
      </p:sp>
      <p:sp>
        <p:nvSpPr>
          <p:cNvPr id="17" name="Shape 15"/>
          <p:cNvSpPr/>
          <p:nvPr/>
        </p:nvSpPr>
        <p:spPr>
          <a:xfrm>
            <a:off x="4297680" y="4069080"/>
            <a:ext cx="3337560" cy="1920240"/>
          </a:xfrm>
          <a:prstGeom prst="roundRect">
            <a:avLst>
              <a:gd name="adj" fmla="val 2381"/>
            </a:avLst>
          </a:prstGeom>
          <a:solidFill>
            <a:srgbClr val="F3F5F4"/>
          </a:solidFill>
          <a:ln/>
        </p:spPr>
        <p:txBody>
          <a:bodyPr/>
          <a:lstStyle/>
          <a:p>
            <a:endParaRPr lang="en-US"/>
          </a:p>
        </p:txBody>
      </p:sp>
      <p:sp>
        <p:nvSpPr>
          <p:cNvPr id="18" name="Text 16"/>
          <p:cNvSpPr/>
          <p:nvPr/>
        </p:nvSpPr>
        <p:spPr>
          <a:xfrm>
            <a:off x="4526280" y="4233672"/>
            <a:ext cx="2926080" cy="457200"/>
          </a:xfrm>
          <a:prstGeom prst="rect">
            <a:avLst/>
          </a:prstGeom>
          <a:noFill/>
          <a:ln/>
        </p:spPr>
        <p:txBody>
          <a:bodyPr wrap="square" lIns="0" tIns="0" rIns="0" bIns="0" rtlCol="0" anchor="ctr"/>
          <a:lstStyle/>
          <a:p>
            <a:pPr marL="0" indent="0">
              <a:lnSpc>
                <a:spcPts val="1500"/>
              </a:lnSpc>
              <a:buNone/>
            </a:pPr>
            <a:r>
              <a:rPr lang="en-US" sz="1200" b="1" dirty="0">
                <a:solidFill>
                  <a:srgbClr val="C8553D"/>
                </a:solidFill>
                <a:latin typeface="Calibri" pitchFamily="34" charset="0"/>
                <a:ea typeface="Calibri" pitchFamily="34" charset="-122"/>
                <a:cs typeface="Calibri" pitchFamily="34" charset="-120"/>
              </a:rPr>
              <a:t>Small numbers</a:t>
            </a:r>
            <a:endParaRPr lang="en-US" sz="1200" dirty="0"/>
          </a:p>
        </p:txBody>
      </p:sp>
      <p:sp>
        <p:nvSpPr>
          <p:cNvPr id="19" name="Text 17"/>
          <p:cNvSpPr/>
          <p:nvPr/>
        </p:nvSpPr>
        <p:spPr>
          <a:xfrm>
            <a:off x="4526280" y="4709160"/>
            <a:ext cx="2926080" cy="1188720"/>
          </a:xfrm>
          <a:prstGeom prst="rect">
            <a:avLst/>
          </a:prstGeom>
          <a:noFill/>
          <a:ln/>
        </p:spPr>
        <p:txBody>
          <a:bodyPr wrap="square" lIns="0" tIns="0" rIns="0" bIns="0" rtlCol="0" anchor="ctr"/>
          <a:lstStyle/>
          <a:p>
            <a:pPr marL="0" indent="0">
              <a:lnSpc>
                <a:spcPts val="1250"/>
              </a:lnSpc>
              <a:buNone/>
            </a:pPr>
            <a:r>
              <a:rPr lang="en-US" sz="950" dirty="0">
                <a:solidFill>
                  <a:srgbClr val="5B6B72"/>
                </a:solidFill>
                <a:latin typeface="Calibri" pitchFamily="34" charset="0"/>
                <a:ea typeface="Calibri" pitchFamily="34" charset="-122"/>
                <a:cs typeface="Calibri" pitchFamily="34" charset="-120"/>
              </a:rPr>
              <a:t>468 rural institutions and 2.5% of system assets. The findings are statistically robust, but the band above $1bn contains only ten rural credit unions, so any claim about large rural institutions is a claim about ten firms.</a:t>
            </a:r>
            <a:endParaRPr lang="en-US" sz="950" dirty="0"/>
          </a:p>
        </p:txBody>
      </p:sp>
      <p:sp>
        <p:nvSpPr>
          <p:cNvPr id="20" name="Shape 18"/>
          <p:cNvSpPr/>
          <p:nvPr/>
        </p:nvSpPr>
        <p:spPr>
          <a:xfrm>
            <a:off x="7955280" y="4069080"/>
            <a:ext cx="3337560" cy="1920240"/>
          </a:xfrm>
          <a:prstGeom prst="roundRect">
            <a:avLst>
              <a:gd name="adj" fmla="val 2381"/>
            </a:avLst>
          </a:prstGeom>
          <a:solidFill>
            <a:srgbClr val="F3F5F4"/>
          </a:solidFill>
          <a:ln/>
        </p:spPr>
        <p:txBody>
          <a:bodyPr/>
          <a:lstStyle/>
          <a:p>
            <a:endParaRPr lang="en-US"/>
          </a:p>
        </p:txBody>
      </p:sp>
      <p:sp>
        <p:nvSpPr>
          <p:cNvPr id="21" name="Text 19"/>
          <p:cNvSpPr/>
          <p:nvPr/>
        </p:nvSpPr>
        <p:spPr>
          <a:xfrm>
            <a:off x="8183880" y="4233672"/>
            <a:ext cx="2926080" cy="457200"/>
          </a:xfrm>
          <a:prstGeom prst="rect">
            <a:avLst/>
          </a:prstGeom>
          <a:noFill/>
          <a:ln/>
        </p:spPr>
        <p:txBody>
          <a:bodyPr wrap="square" lIns="0" tIns="0" rIns="0" bIns="0" rtlCol="0" anchor="ctr"/>
          <a:lstStyle/>
          <a:p>
            <a:pPr marL="0" indent="0">
              <a:lnSpc>
                <a:spcPts val="1500"/>
              </a:lnSpc>
              <a:buNone/>
            </a:pPr>
            <a:r>
              <a:rPr lang="en-US" sz="1200" b="1" dirty="0">
                <a:solidFill>
                  <a:srgbClr val="C8553D"/>
                </a:solidFill>
                <a:latin typeface="Calibri" pitchFamily="34" charset="0"/>
                <a:ea typeface="Calibri" pitchFamily="34" charset="-122"/>
                <a:cs typeface="Calibri" pitchFamily="34" charset="-120"/>
              </a:rPr>
              <a:t>Two open classification checks</a:t>
            </a:r>
            <a:endParaRPr lang="en-US" sz="1200" dirty="0"/>
          </a:p>
        </p:txBody>
      </p:sp>
      <p:sp>
        <p:nvSpPr>
          <p:cNvPr id="22" name="Text 20"/>
          <p:cNvSpPr/>
          <p:nvPr/>
        </p:nvSpPr>
        <p:spPr>
          <a:xfrm>
            <a:off x="8183880" y="4709160"/>
            <a:ext cx="2926080" cy="1188720"/>
          </a:xfrm>
          <a:prstGeom prst="rect">
            <a:avLst/>
          </a:prstGeom>
          <a:noFill/>
          <a:ln/>
        </p:spPr>
        <p:txBody>
          <a:bodyPr wrap="square" lIns="0" tIns="0" rIns="0" bIns="0" rtlCol="0" anchor="ctr"/>
          <a:lstStyle/>
          <a:p>
            <a:pPr marL="0" indent="0">
              <a:lnSpc>
                <a:spcPts val="1250"/>
              </a:lnSpc>
              <a:buNone/>
            </a:pPr>
            <a:r>
              <a:rPr lang="en-US" sz="950" dirty="0">
                <a:solidFill>
                  <a:srgbClr val="5B6B72"/>
                </a:solidFill>
                <a:latin typeface="Calibri" pitchFamily="34" charset="0"/>
                <a:ea typeface="Calibri" pitchFamily="34" charset="-122"/>
                <a:cs typeface="Calibri" pitchFamily="34" charset="-120"/>
              </a:rPr>
              <a:t>Hawaii holds $4.3bn of rural credit union assets on a 31% rural share, and an adjacency-based definition behaves oddly with island counties. MDI status may be undercounted because it is recorded by minority category rather than as a flag.</a:t>
            </a:r>
            <a:endParaRPr lang="en-US" sz="950" dirty="0"/>
          </a:p>
        </p:txBody>
      </p:sp>
      <p:sp>
        <p:nvSpPr>
          <p:cNvPr id="23" name="Text 21"/>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All figures remain exploratory and will be re-estimated on the final analytic sample before transmittal.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8 · NEXT STEPS</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Plan forward, in priority order</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Ordered by what each unlocks, not by effort. The first two change what the report can say; the rest make it complete.</a:t>
            </a:r>
            <a:endParaRPr lang="en-US" sz="1350" dirty="0"/>
          </a:p>
        </p:txBody>
      </p:sp>
      <p:sp>
        <p:nvSpPr>
          <p:cNvPr id="5" name="Shape 3"/>
          <p:cNvSpPr/>
          <p:nvPr/>
        </p:nvSpPr>
        <p:spPr>
          <a:xfrm>
            <a:off x="640080" y="1965960"/>
            <a:ext cx="10881360" cy="640080"/>
          </a:xfrm>
          <a:prstGeom prst="roundRect">
            <a:avLst>
              <a:gd name="adj" fmla="val 5714"/>
            </a:avLst>
          </a:prstGeom>
          <a:solidFill>
            <a:srgbClr val="F3F5F4"/>
          </a:solidFill>
          <a:ln/>
        </p:spPr>
        <p:txBody>
          <a:bodyPr/>
          <a:lstStyle/>
          <a:p>
            <a:endParaRPr lang="en-US"/>
          </a:p>
        </p:txBody>
      </p:sp>
      <p:sp>
        <p:nvSpPr>
          <p:cNvPr id="6" name="Shape 4"/>
          <p:cNvSpPr/>
          <p:nvPr/>
        </p:nvSpPr>
        <p:spPr>
          <a:xfrm>
            <a:off x="841248" y="2121408"/>
            <a:ext cx="329184" cy="329184"/>
          </a:xfrm>
          <a:prstGeom prst="ellipse">
            <a:avLst/>
          </a:prstGeom>
          <a:solidFill>
            <a:srgbClr val="C8553D"/>
          </a:solidFill>
          <a:ln/>
        </p:spPr>
        <p:txBody>
          <a:bodyPr/>
          <a:lstStyle/>
          <a:p>
            <a:endParaRPr lang="en-US"/>
          </a:p>
        </p:txBody>
      </p:sp>
      <p:sp>
        <p:nvSpPr>
          <p:cNvPr id="7" name="Text 5"/>
          <p:cNvSpPr/>
          <p:nvPr/>
        </p:nvSpPr>
        <p:spPr>
          <a:xfrm>
            <a:off x="841248" y="212140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8" name="Text 6"/>
          <p:cNvSpPr/>
          <p:nvPr/>
        </p:nvSpPr>
        <p:spPr>
          <a:xfrm>
            <a:off x="1371600" y="2039112"/>
            <a:ext cx="4572000" cy="274320"/>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Verify the NCUA outcome and reason codes</a:t>
            </a:r>
            <a:endParaRPr lang="en-US" sz="1200" dirty="0"/>
          </a:p>
        </p:txBody>
      </p:sp>
      <p:sp>
        <p:nvSpPr>
          <p:cNvPr id="9" name="Text 7"/>
          <p:cNvSpPr/>
          <p:nvPr/>
        </p:nvSpPr>
        <p:spPr>
          <a:xfrm>
            <a:off x="1371600" y="2304288"/>
            <a:ext cx="6766560" cy="256032"/>
          </a:xfrm>
          <a:prstGeom prst="rect">
            <a:avLst/>
          </a:prstGeom>
          <a:noFill/>
          <a:ln/>
        </p:spPr>
        <p:txBody>
          <a:bodyPr wrap="square" lIns="0" tIns="0" rIns="0" bIns="0" rtlCol="0" anchor="ctr"/>
          <a:lstStyle/>
          <a:p>
            <a:pPr marL="0" indent="0">
              <a:buNone/>
            </a:pPr>
            <a:r>
              <a:rPr lang="en-US" sz="1050" dirty="0">
                <a:solidFill>
                  <a:srgbClr val="5B6B72"/>
                </a:solidFill>
                <a:latin typeface="Calibri" pitchFamily="34" charset="0"/>
                <a:ea typeface="Calibri" pitchFamily="34" charset="-122"/>
                <a:cs typeface="Calibri" pitchFamily="34" charset="-120"/>
              </a:rPr>
              <a:t>Unblocks the exit-composition paragraph in both drafted sections.</a:t>
            </a:r>
            <a:endParaRPr lang="en-US" sz="1050" dirty="0"/>
          </a:p>
        </p:txBody>
      </p:sp>
      <p:sp>
        <p:nvSpPr>
          <p:cNvPr id="10" name="Text 8"/>
          <p:cNvSpPr/>
          <p:nvPr/>
        </p:nvSpPr>
        <p:spPr>
          <a:xfrm>
            <a:off x="8458200" y="2148840"/>
            <a:ext cx="1783080" cy="274320"/>
          </a:xfrm>
          <a:prstGeom prst="rect">
            <a:avLst/>
          </a:prstGeom>
          <a:noFill/>
          <a:ln/>
        </p:spPr>
        <p:txBody>
          <a:bodyPr wrap="square" lIns="0" tIns="0" rIns="0" bIns="0" rtlCol="0" anchor="ctr"/>
          <a:lstStyle/>
          <a:p>
            <a:pPr marL="0" indent="0" algn="r">
              <a:buNone/>
            </a:pPr>
            <a:r>
              <a:rPr lang="en-US" sz="1050" b="1" dirty="0">
                <a:solidFill>
                  <a:srgbClr val="C8553D"/>
                </a:solidFill>
                <a:latin typeface="Calibri" pitchFamily="34" charset="0"/>
                <a:ea typeface="Calibri" pitchFamily="34" charset="-122"/>
                <a:cs typeface="Calibri" pitchFamily="34" charset="-120"/>
              </a:rPr>
              <a:t>Blocking</a:t>
            </a:r>
            <a:endParaRPr lang="en-US" sz="1050" dirty="0"/>
          </a:p>
        </p:txBody>
      </p:sp>
      <p:sp>
        <p:nvSpPr>
          <p:cNvPr id="11" name="Text 9"/>
          <p:cNvSpPr/>
          <p:nvPr/>
        </p:nvSpPr>
        <p:spPr>
          <a:xfrm>
            <a:off x="10378440" y="2148840"/>
            <a:ext cx="868680" cy="274320"/>
          </a:xfrm>
          <a:prstGeom prst="rect">
            <a:avLst/>
          </a:prstGeom>
          <a:noFill/>
          <a:ln/>
        </p:spPr>
        <p:txBody>
          <a:bodyPr wrap="square" lIns="0" tIns="0" rIns="0" bIns="0" rtlCol="0" anchor="ctr"/>
          <a:lstStyle/>
          <a:p>
            <a:pPr marL="0" indent="0" algn="r">
              <a:buNone/>
            </a:pPr>
            <a:r>
              <a:rPr lang="en-US" sz="1050" dirty="0">
                <a:solidFill>
                  <a:srgbClr val="5B6B72"/>
                </a:solidFill>
                <a:latin typeface="Calibri" pitchFamily="34" charset="0"/>
                <a:ea typeface="Calibri" pitchFamily="34" charset="-122"/>
                <a:cs typeface="Calibri" pitchFamily="34" charset="-120"/>
              </a:rPr>
              <a:t>Days</a:t>
            </a:r>
            <a:endParaRPr lang="en-US" sz="1050" dirty="0"/>
          </a:p>
        </p:txBody>
      </p:sp>
      <p:sp>
        <p:nvSpPr>
          <p:cNvPr id="12" name="Shape 10"/>
          <p:cNvSpPr/>
          <p:nvPr/>
        </p:nvSpPr>
        <p:spPr>
          <a:xfrm>
            <a:off x="640080" y="2688336"/>
            <a:ext cx="10881360" cy="640080"/>
          </a:xfrm>
          <a:prstGeom prst="roundRect">
            <a:avLst>
              <a:gd name="adj" fmla="val 5714"/>
            </a:avLst>
          </a:prstGeom>
          <a:solidFill>
            <a:srgbClr val="FFFFFF"/>
          </a:solidFill>
          <a:ln/>
        </p:spPr>
        <p:txBody>
          <a:bodyPr/>
          <a:lstStyle/>
          <a:p>
            <a:endParaRPr lang="en-US"/>
          </a:p>
        </p:txBody>
      </p:sp>
      <p:sp>
        <p:nvSpPr>
          <p:cNvPr id="13" name="Shape 11"/>
          <p:cNvSpPr/>
          <p:nvPr/>
        </p:nvSpPr>
        <p:spPr>
          <a:xfrm>
            <a:off x="841248" y="2843784"/>
            <a:ext cx="329184" cy="329184"/>
          </a:xfrm>
          <a:prstGeom prst="ellipse">
            <a:avLst/>
          </a:prstGeom>
          <a:solidFill>
            <a:srgbClr val="0E4C55"/>
          </a:solidFill>
          <a:ln/>
        </p:spPr>
        <p:txBody>
          <a:bodyPr/>
          <a:lstStyle/>
          <a:p>
            <a:endParaRPr lang="en-US"/>
          </a:p>
        </p:txBody>
      </p:sp>
      <p:sp>
        <p:nvSpPr>
          <p:cNvPr id="14" name="Text 12"/>
          <p:cNvSpPr/>
          <p:nvPr/>
        </p:nvSpPr>
        <p:spPr>
          <a:xfrm>
            <a:off x="841248" y="2843784"/>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1371600" y="2761488"/>
            <a:ext cx="4572000" cy="274320"/>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FDIC Summary of Deposits bank comparison</a:t>
            </a:r>
            <a:endParaRPr lang="en-US" sz="1200" dirty="0"/>
          </a:p>
        </p:txBody>
      </p:sp>
      <p:sp>
        <p:nvSpPr>
          <p:cNvPr id="16" name="Text 14"/>
          <p:cNvSpPr/>
          <p:nvPr/>
        </p:nvSpPr>
        <p:spPr>
          <a:xfrm>
            <a:off x="1371600" y="3026664"/>
            <a:ext cx="6766560" cy="256032"/>
          </a:xfrm>
          <a:prstGeom prst="rect">
            <a:avLst/>
          </a:prstGeom>
          <a:noFill/>
          <a:ln/>
        </p:spPr>
        <p:txBody>
          <a:bodyPr wrap="square" lIns="0" tIns="0" rIns="0" bIns="0" rtlCol="0" anchor="ctr"/>
          <a:lstStyle/>
          <a:p>
            <a:pPr marL="0" indent="0">
              <a:buNone/>
            </a:pPr>
            <a:r>
              <a:rPr lang="en-US" sz="1050" dirty="0">
                <a:solidFill>
                  <a:srgbClr val="5B6B72"/>
                </a:solidFill>
                <a:latin typeface="Calibri" pitchFamily="34" charset="0"/>
                <a:ea typeface="Calibri" pitchFamily="34" charset="-122"/>
                <a:cs typeface="Calibri" pitchFamily="34" charset="-120"/>
              </a:rPr>
              <a:t>Decides whether this is a credit union story or a rural depository story.</a:t>
            </a:r>
            <a:endParaRPr lang="en-US" sz="1050" dirty="0"/>
          </a:p>
        </p:txBody>
      </p:sp>
      <p:sp>
        <p:nvSpPr>
          <p:cNvPr id="17" name="Text 15"/>
          <p:cNvSpPr/>
          <p:nvPr/>
        </p:nvSpPr>
        <p:spPr>
          <a:xfrm>
            <a:off x="8458200" y="2871216"/>
            <a:ext cx="1783080" cy="274320"/>
          </a:xfrm>
          <a:prstGeom prst="rect">
            <a:avLst/>
          </a:prstGeom>
          <a:noFill/>
          <a:ln/>
        </p:spPr>
        <p:txBody>
          <a:bodyPr wrap="square" lIns="0" tIns="0" rIns="0" bIns="0" rtlCol="0" anchor="ctr"/>
          <a:lstStyle/>
          <a:p>
            <a:pPr marL="0" indent="0" algn="r">
              <a:buNone/>
            </a:pPr>
            <a:r>
              <a:rPr lang="en-US" sz="1050" b="1" dirty="0">
                <a:solidFill>
                  <a:srgbClr val="1F6F78"/>
                </a:solidFill>
                <a:latin typeface="Calibri" pitchFamily="34" charset="0"/>
                <a:ea typeface="Calibri" pitchFamily="34" charset="-122"/>
                <a:cs typeface="Calibri" pitchFamily="34" charset="-120"/>
              </a:rPr>
              <a:t>Highest value</a:t>
            </a:r>
            <a:endParaRPr lang="en-US" sz="1050" dirty="0"/>
          </a:p>
        </p:txBody>
      </p:sp>
      <p:sp>
        <p:nvSpPr>
          <p:cNvPr id="18" name="Text 16"/>
          <p:cNvSpPr/>
          <p:nvPr/>
        </p:nvSpPr>
        <p:spPr>
          <a:xfrm>
            <a:off x="10378440" y="2871216"/>
            <a:ext cx="868680" cy="274320"/>
          </a:xfrm>
          <a:prstGeom prst="rect">
            <a:avLst/>
          </a:prstGeom>
          <a:noFill/>
          <a:ln/>
        </p:spPr>
        <p:txBody>
          <a:bodyPr wrap="square" lIns="0" tIns="0" rIns="0" bIns="0" rtlCol="0" anchor="ctr"/>
          <a:lstStyle/>
          <a:p>
            <a:pPr marL="0" indent="0" algn="r">
              <a:buNone/>
            </a:pPr>
            <a:r>
              <a:rPr lang="en-US" sz="1050" dirty="0">
                <a:solidFill>
                  <a:srgbClr val="5B6B72"/>
                </a:solidFill>
                <a:latin typeface="Calibri" pitchFamily="34" charset="0"/>
                <a:ea typeface="Calibri" pitchFamily="34" charset="-122"/>
                <a:cs typeface="Calibri" pitchFamily="34" charset="-120"/>
              </a:rPr>
              <a:t>Weeks</a:t>
            </a:r>
            <a:endParaRPr lang="en-US" sz="1050" dirty="0"/>
          </a:p>
        </p:txBody>
      </p:sp>
      <p:sp>
        <p:nvSpPr>
          <p:cNvPr id="19" name="Shape 17"/>
          <p:cNvSpPr/>
          <p:nvPr/>
        </p:nvSpPr>
        <p:spPr>
          <a:xfrm>
            <a:off x="640080" y="3410712"/>
            <a:ext cx="10881360" cy="640080"/>
          </a:xfrm>
          <a:prstGeom prst="roundRect">
            <a:avLst>
              <a:gd name="adj" fmla="val 5714"/>
            </a:avLst>
          </a:prstGeom>
          <a:solidFill>
            <a:srgbClr val="F3F5F4"/>
          </a:solidFill>
          <a:ln/>
        </p:spPr>
        <p:txBody>
          <a:bodyPr/>
          <a:lstStyle/>
          <a:p>
            <a:endParaRPr lang="en-US"/>
          </a:p>
        </p:txBody>
      </p:sp>
      <p:sp>
        <p:nvSpPr>
          <p:cNvPr id="20" name="Shape 18"/>
          <p:cNvSpPr/>
          <p:nvPr/>
        </p:nvSpPr>
        <p:spPr>
          <a:xfrm>
            <a:off x="841248" y="3566160"/>
            <a:ext cx="329184" cy="329184"/>
          </a:xfrm>
          <a:prstGeom prst="ellipse">
            <a:avLst/>
          </a:prstGeom>
          <a:solidFill>
            <a:srgbClr val="0E4C55"/>
          </a:solidFill>
          <a:ln/>
        </p:spPr>
        <p:txBody>
          <a:bodyPr/>
          <a:lstStyle/>
          <a:p>
            <a:endParaRPr lang="en-US"/>
          </a:p>
        </p:txBody>
      </p:sp>
      <p:sp>
        <p:nvSpPr>
          <p:cNvPr id="21" name="Text 19"/>
          <p:cNvSpPr/>
          <p:nvPr/>
        </p:nvSpPr>
        <p:spPr>
          <a:xfrm>
            <a:off x="841248" y="3566160"/>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p:nvPr/>
        </p:nvSpPr>
        <p:spPr>
          <a:xfrm>
            <a:off x="1371600" y="3483864"/>
            <a:ext cx="4572000" cy="274320"/>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Membership penetration test</a:t>
            </a:r>
            <a:endParaRPr lang="en-US" sz="1200" dirty="0"/>
          </a:p>
        </p:txBody>
      </p:sp>
      <p:sp>
        <p:nvSpPr>
          <p:cNvPr id="23" name="Text 21"/>
          <p:cNvSpPr/>
          <p:nvPr/>
        </p:nvSpPr>
        <p:spPr>
          <a:xfrm>
            <a:off x="1371600" y="3749040"/>
            <a:ext cx="6766560" cy="256032"/>
          </a:xfrm>
          <a:prstGeom prst="rect">
            <a:avLst/>
          </a:prstGeom>
          <a:noFill/>
          <a:ln/>
        </p:spPr>
        <p:txBody>
          <a:bodyPr wrap="square" lIns="0" tIns="0" rIns="0" bIns="0" rtlCol="0" anchor="ctr"/>
          <a:lstStyle/>
          <a:p>
            <a:pPr marL="0" indent="0">
              <a:buNone/>
            </a:pPr>
            <a:r>
              <a:rPr lang="en-US" sz="1050" dirty="0">
                <a:solidFill>
                  <a:srgbClr val="5B6B72"/>
                </a:solidFill>
                <a:latin typeface="Calibri" pitchFamily="34" charset="0"/>
                <a:ea typeface="Calibri" pitchFamily="34" charset="-122"/>
                <a:cs typeface="Calibri" pitchFamily="34" charset="-120"/>
              </a:rPr>
              <a:t>Tests whether rural growth faces a demand ceiling that non-rural does not.</a:t>
            </a:r>
            <a:endParaRPr lang="en-US" sz="1050" dirty="0"/>
          </a:p>
        </p:txBody>
      </p:sp>
      <p:sp>
        <p:nvSpPr>
          <p:cNvPr id="24" name="Text 22"/>
          <p:cNvSpPr/>
          <p:nvPr/>
        </p:nvSpPr>
        <p:spPr>
          <a:xfrm>
            <a:off x="8458200" y="3593592"/>
            <a:ext cx="1783080" cy="274320"/>
          </a:xfrm>
          <a:prstGeom prst="rect">
            <a:avLst/>
          </a:prstGeom>
          <a:noFill/>
          <a:ln/>
        </p:spPr>
        <p:txBody>
          <a:bodyPr wrap="square" lIns="0" tIns="0" rIns="0" bIns="0" rtlCol="0" anchor="ctr"/>
          <a:lstStyle/>
          <a:p>
            <a:pPr marL="0" indent="0" algn="r">
              <a:buNone/>
            </a:pPr>
            <a:r>
              <a:rPr lang="en-US" sz="1050" b="1" dirty="0">
                <a:solidFill>
                  <a:srgbClr val="1F6F78"/>
                </a:solidFill>
                <a:latin typeface="Calibri" pitchFamily="34" charset="0"/>
                <a:ea typeface="Calibri" pitchFamily="34" charset="-122"/>
                <a:cs typeface="Calibri" pitchFamily="34" charset="-120"/>
              </a:rPr>
              <a:t>Cheap</a:t>
            </a:r>
            <a:endParaRPr lang="en-US" sz="1050" dirty="0"/>
          </a:p>
        </p:txBody>
      </p:sp>
      <p:sp>
        <p:nvSpPr>
          <p:cNvPr id="25" name="Text 23"/>
          <p:cNvSpPr/>
          <p:nvPr/>
        </p:nvSpPr>
        <p:spPr>
          <a:xfrm>
            <a:off x="10378440" y="3593592"/>
            <a:ext cx="868680" cy="274320"/>
          </a:xfrm>
          <a:prstGeom prst="rect">
            <a:avLst/>
          </a:prstGeom>
          <a:noFill/>
          <a:ln/>
        </p:spPr>
        <p:txBody>
          <a:bodyPr wrap="square" lIns="0" tIns="0" rIns="0" bIns="0" rtlCol="0" anchor="ctr"/>
          <a:lstStyle/>
          <a:p>
            <a:pPr marL="0" indent="0" algn="r">
              <a:buNone/>
            </a:pPr>
            <a:r>
              <a:rPr lang="en-US" sz="1050" dirty="0">
                <a:solidFill>
                  <a:srgbClr val="5B6B72"/>
                </a:solidFill>
                <a:latin typeface="Calibri" pitchFamily="34" charset="0"/>
                <a:ea typeface="Calibri" pitchFamily="34" charset="-122"/>
                <a:cs typeface="Calibri" pitchFamily="34" charset="-120"/>
              </a:rPr>
              <a:t>Days</a:t>
            </a:r>
            <a:endParaRPr lang="en-US" sz="1050" dirty="0"/>
          </a:p>
        </p:txBody>
      </p:sp>
      <p:sp>
        <p:nvSpPr>
          <p:cNvPr id="26" name="Shape 24"/>
          <p:cNvSpPr/>
          <p:nvPr/>
        </p:nvSpPr>
        <p:spPr>
          <a:xfrm>
            <a:off x="640080" y="4133088"/>
            <a:ext cx="10881360" cy="640080"/>
          </a:xfrm>
          <a:prstGeom prst="roundRect">
            <a:avLst>
              <a:gd name="adj" fmla="val 5714"/>
            </a:avLst>
          </a:prstGeom>
          <a:solidFill>
            <a:srgbClr val="FFFFFF"/>
          </a:solidFill>
          <a:ln/>
        </p:spPr>
        <p:txBody>
          <a:bodyPr/>
          <a:lstStyle/>
          <a:p>
            <a:endParaRPr lang="en-US"/>
          </a:p>
        </p:txBody>
      </p:sp>
      <p:sp>
        <p:nvSpPr>
          <p:cNvPr id="27" name="Shape 25"/>
          <p:cNvSpPr/>
          <p:nvPr/>
        </p:nvSpPr>
        <p:spPr>
          <a:xfrm>
            <a:off x="841248" y="4288536"/>
            <a:ext cx="329184" cy="329184"/>
          </a:xfrm>
          <a:prstGeom prst="ellipse">
            <a:avLst/>
          </a:prstGeom>
          <a:solidFill>
            <a:srgbClr val="0E4C55"/>
          </a:solidFill>
          <a:ln/>
        </p:spPr>
        <p:txBody>
          <a:bodyPr/>
          <a:lstStyle/>
          <a:p>
            <a:endParaRPr lang="en-US"/>
          </a:p>
        </p:txBody>
      </p:sp>
      <p:sp>
        <p:nvSpPr>
          <p:cNvPr id="28" name="Text 26"/>
          <p:cNvSpPr/>
          <p:nvPr/>
        </p:nvSpPr>
        <p:spPr>
          <a:xfrm>
            <a:off x="841248" y="4288536"/>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9" name="Text 27"/>
          <p:cNvSpPr/>
          <p:nvPr/>
        </p:nvSpPr>
        <p:spPr>
          <a:xfrm>
            <a:off x="1371600" y="4206240"/>
            <a:ext cx="4572000" cy="274320"/>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De novo capital simulation</a:t>
            </a:r>
            <a:endParaRPr lang="en-US" sz="1200" dirty="0"/>
          </a:p>
        </p:txBody>
      </p:sp>
      <p:sp>
        <p:nvSpPr>
          <p:cNvPr id="30" name="Text 28"/>
          <p:cNvSpPr/>
          <p:nvPr/>
        </p:nvSpPr>
        <p:spPr>
          <a:xfrm>
            <a:off x="1371600" y="4471416"/>
            <a:ext cx="6766560" cy="256032"/>
          </a:xfrm>
          <a:prstGeom prst="rect">
            <a:avLst/>
          </a:prstGeom>
          <a:noFill/>
          <a:ln/>
        </p:spPr>
        <p:txBody>
          <a:bodyPr wrap="square" lIns="0" tIns="0" rIns="0" bIns="0" rtlCol="0" anchor="ctr"/>
          <a:lstStyle/>
          <a:p>
            <a:pPr marL="0" indent="0">
              <a:buNone/>
            </a:pPr>
            <a:r>
              <a:rPr lang="en-US" sz="1050" dirty="0">
                <a:solidFill>
                  <a:srgbClr val="5B6B72"/>
                </a:solidFill>
                <a:latin typeface="Calibri" pitchFamily="34" charset="0"/>
                <a:ea typeface="Calibri" pitchFamily="34" charset="-122"/>
                <a:cs typeface="Calibri" pitchFamily="34" charset="-120"/>
              </a:rPr>
              <a:t>Years and dollars for a new charter in a county of 15,000 to reach 7% net worth.</a:t>
            </a:r>
            <a:endParaRPr lang="en-US" sz="1050" dirty="0"/>
          </a:p>
        </p:txBody>
      </p:sp>
      <p:sp>
        <p:nvSpPr>
          <p:cNvPr id="31" name="Text 29"/>
          <p:cNvSpPr/>
          <p:nvPr/>
        </p:nvSpPr>
        <p:spPr>
          <a:xfrm>
            <a:off x="8458200" y="4315968"/>
            <a:ext cx="1783080" cy="274320"/>
          </a:xfrm>
          <a:prstGeom prst="rect">
            <a:avLst/>
          </a:prstGeom>
          <a:noFill/>
          <a:ln/>
        </p:spPr>
        <p:txBody>
          <a:bodyPr wrap="square" lIns="0" tIns="0" rIns="0" bIns="0" rtlCol="0" anchor="ctr"/>
          <a:lstStyle/>
          <a:p>
            <a:pPr marL="0" indent="0" algn="r">
              <a:buNone/>
            </a:pPr>
            <a:r>
              <a:rPr lang="en-US" sz="1050" b="1" dirty="0">
                <a:solidFill>
                  <a:srgbClr val="1F6F78"/>
                </a:solidFill>
                <a:latin typeface="Calibri" pitchFamily="34" charset="0"/>
                <a:ea typeface="Calibri" pitchFamily="34" charset="-122"/>
                <a:cs typeface="Calibri" pitchFamily="34" charset="-120"/>
              </a:rPr>
              <a:t>Most actionable</a:t>
            </a:r>
            <a:endParaRPr lang="en-US" sz="1050" dirty="0"/>
          </a:p>
        </p:txBody>
      </p:sp>
      <p:sp>
        <p:nvSpPr>
          <p:cNvPr id="32" name="Text 30"/>
          <p:cNvSpPr/>
          <p:nvPr/>
        </p:nvSpPr>
        <p:spPr>
          <a:xfrm>
            <a:off x="10378440" y="4315968"/>
            <a:ext cx="868680" cy="274320"/>
          </a:xfrm>
          <a:prstGeom prst="rect">
            <a:avLst/>
          </a:prstGeom>
          <a:noFill/>
          <a:ln/>
        </p:spPr>
        <p:txBody>
          <a:bodyPr wrap="square" lIns="0" tIns="0" rIns="0" bIns="0" rtlCol="0" anchor="ctr"/>
          <a:lstStyle/>
          <a:p>
            <a:pPr marL="0" indent="0" algn="r">
              <a:buNone/>
            </a:pPr>
            <a:r>
              <a:rPr lang="en-US" sz="1050" dirty="0">
                <a:solidFill>
                  <a:srgbClr val="5B6B72"/>
                </a:solidFill>
                <a:latin typeface="Calibri" pitchFamily="34" charset="0"/>
                <a:ea typeface="Calibri" pitchFamily="34" charset="-122"/>
                <a:cs typeface="Calibri" pitchFamily="34" charset="-120"/>
              </a:rPr>
              <a:t>Weeks</a:t>
            </a:r>
            <a:endParaRPr lang="en-US" sz="1050" dirty="0"/>
          </a:p>
        </p:txBody>
      </p:sp>
      <p:sp>
        <p:nvSpPr>
          <p:cNvPr id="33" name="Shape 31"/>
          <p:cNvSpPr/>
          <p:nvPr/>
        </p:nvSpPr>
        <p:spPr>
          <a:xfrm>
            <a:off x="640080" y="4855464"/>
            <a:ext cx="10881360" cy="640080"/>
          </a:xfrm>
          <a:prstGeom prst="roundRect">
            <a:avLst>
              <a:gd name="adj" fmla="val 5714"/>
            </a:avLst>
          </a:prstGeom>
          <a:solidFill>
            <a:srgbClr val="F3F5F4"/>
          </a:solidFill>
          <a:ln/>
        </p:spPr>
        <p:txBody>
          <a:bodyPr/>
          <a:lstStyle/>
          <a:p>
            <a:endParaRPr lang="en-US"/>
          </a:p>
        </p:txBody>
      </p:sp>
      <p:sp>
        <p:nvSpPr>
          <p:cNvPr id="34" name="Shape 32"/>
          <p:cNvSpPr/>
          <p:nvPr/>
        </p:nvSpPr>
        <p:spPr>
          <a:xfrm>
            <a:off x="841248" y="5010912"/>
            <a:ext cx="329184" cy="329184"/>
          </a:xfrm>
          <a:prstGeom prst="ellipse">
            <a:avLst/>
          </a:prstGeom>
          <a:solidFill>
            <a:srgbClr val="0E4C55"/>
          </a:solidFill>
          <a:ln/>
        </p:spPr>
        <p:txBody>
          <a:bodyPr/>
          <a:lstStyle/>
          <a:p>
            <a:endParaRPr lang="en-US"/>
          </a:p>
        </p:txBody>
      </p:sp>
      <p:sp>
        <p:nvSpPr>
          <p:cNvPr id="35" name="Text 33"/>
          <p:cNvSpPr/>
          <p:nvPr/>
        </p:nvSpPr>
        <p:spPr>
          <a:xfrm>
            <a:off x="841248" y="5010912"/>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6" name="Text 34"/>
          <p:cNvSpPr/>
          <p:nvPr/>
        </p:nvSpPr>
        <p:spPr>
          <a:xfrm>
            <a:off x="1371600" y="4928616"/>
            <a:ext cx="4572000" cy="274320"/>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Re-run the exhibit pack, knit the full report</a:t>
            </a:r>
            <a:endParaRPr lang="en-US" sz="1200" dirty="0"/>
          </a:p>
        </p:txBody>
      </p:sp>
      <p:sp>
        <p:nvSpPr>
          <p:cNvPr id="37" name="Text 35"/>
          <p:cNvSpPr/>
          <p:nvPr/>
        </p:nvSpPr>
        <p:spPr>
          <a:xfrm>
            <a:off x="1371600" y="5193792"/>
            <a:ext cx="6766560" cy="256032"/>
          </a:xfrm>
          <a:prstGeom prst="rect">
            <a:avLst/>
          </a:prstGeom>
          <a:noFill/>
          <a:ln/>
        </p:spPr>
        <p:txBody>
          <a:bodyPr wrap="square" lIns="0" tIns="0" rIns="0" bIns="0" rtlCol="0" anchor="ctr"/>
          <a:lstStyle/>
          <a:p>
            <a:pPr marL="0" indent="0">
              <a:buNone/>
            </a:pPr>
            <a:r>
              <a:rPr lang="en-US" sz="1050" dirty="0">
                <a:solidFill>
                  <a:srgbClr val="5B6B72"/>
                </a:solidFill>
                <a:latin typeface="Calibri" pitchFamily="34" charset="0"/>
                <a:ea typeface="Calibri" pitchFamily="34" charset="-122"/>
                <a:cs typeface="Calibri" pitchFamily="34" charset="-120"/>
              </a:rPr>
              <a:t>Reissues every exhibit on the corrected build, with maps in place.</a:t>
            </a:r>
            <a:endParaRPr lang="en-US" sz="1050" dirty="0"/>
          </a:p>
        </p:txBody>
      </p:sp>
      <p:sp>
        <p:nvSpPr>
          <p:cNvPr id="38" name="Text 36"/>
          <p:cNvSpPr/>
          <p:nvPr/>
        </p:nvSpPr>
        <p:spPr>
          <a:xfrm>
            <a:off x="8458200" y="5038344"/>
            <a:ext cx="1783080" cy="274320"/>
          </a:xfrm>
          <a:prstGeom prst="rect">
            <a:avLst/>
          </a:prstGeom>
          <a:noFill/>
          <a:ln/>
        </p:spPr>
        <p:txBody>
          <a:bodyPr wrap="square" lIns="0" tIns="0" rIns="0" bIns="0" rtlCol="0" anchor="ctr"/>
          <a:lstStyle/>
          <a:p>
            <a:pPr marL="0" indent="0" algn="r">
              <a:buNone/>
            </a:pPr>
            <a:r>
              <a:rPr lang="en-US" sz="1050" b="1" dirty="0">
                <a:solidFill>
                  <a:srgbClr val="1F6F78"/>
                </a:solidFill>
                <a:latin typeface="Calibri" pitchFamily="34" charset="0"/>
                <a:ea typeface="Calibri" pitchFamily="34" charset="-122"/>
                <a:cs typeface="Calibri" pitchFamily="34" charset="-120"/>
              </a:rPr>
              <a:t>Production</a:t>
            </a:r>
            <a:endParaRPr lang="en-US" sz="1050" dirty="0"/>
          </a:p>
        </p:txBody>
      </p:sp>
      <p:sp>
        <p:nvSpPr>
          <p:cNvPr id="39" name="Text 37"/>
          <p:cNvSpPr/>
          <p:nvPr/>
        </p:nvSpPr>
        <p:spPr>
          <a:xfrm>
            <a:off x="10378440" y="5038344"/>
            <a:ext cx="868680" cy="274320"/>
          </a:xfrm>
          <a:prstGeom prst="rect">
            <a:avLst/>
          </a:prstGeom>
          <a:noFill/>
          <a:ln/>
        </p:spPr>
        <p:txBody>
          <a:bodyPr wrap="square" lIns="0" tIns="0" rIns="0" bIns="0" rtlCol="0" anchor="ctr"/>
          <a:lstStyle/>
          <a:p>
            <a:pPr marL="0" indent="0" algn="r">
              <a:buNone/>
            </a:pPr>
            <a:r>
              <a:rPr lang="en-US" sz="1050" dirty="0">
                <a:solidFill>
                  <a:srgbClr val="5B6B72"/>
                </a:solidFill>
                <a:latin typeface="Calibri" pitchFamily="34" charset="0"/>
                <a:ea typeface="Calibri" pitchFamily="34" charset="-122"/>
                <a:cs typeface="Calibri" pitchFamily="34" charset="-120"/>
              </a:rPr>
              <a:t>Weeks</a:t>
            </a:r>
            <a:endParaRPr lang="en-US" sz="1050" dirty="0"/>
          </a:p>
        </p:txBody>
      </p:sp>
      <p:sp>
        <p:nvSpPr>
          <p:cNvPr id="40" name="Shape 38"/>
          <p:cNvSpPr/>
          <p:nvPr/>
        </p:nvSpPr>
        <p:spPr>
          <a:xfrm>
            <a:off x="640080" y="5577840"/>
            <a:ext cx="10881360" cy="640080"/>
          </a:xfrm>
          <a:prstGeom prst="roundRect">
            <a:avLst>
              <a:gd name="adj" fmla="val 5714"/>
            </a:avLst>
          </a:prstGeom>
          <a:solidFill>
            <a:srgbClr val="FFFFFF"/>
          </a:solidFill>
          <a:ln/>
        </p:spPr>
        <p:txBody>
          <a:bodyPr/>
          <a:lstStyle/>
          <a:p>
            <a:endParaRPr lang="en-US"/>
          </a:p>
        </p:txBody>
      </p:sp>
      <p:sp>
        <p:nvSpPr>
          <p:cNvPr id="41" name="Shape 39"/>
          <p:cNvSpPr/>
          <p:nvPr/>
        </p:nvSpPr>
        <p:spPr>
          <a:xfrm>
            <a:off x="841248" y="5733288"/>
            <a:ext cx="329184" cy="329184"/>
          </a:xfrm>
          <a:prstGeom prst="ellipse">
            <a:avLst/>
          </a:prstGeom>
          <a:solidFill>
            <a:srgbClr val="0E4C55"/>
          </a:solidFill>
          <a:ln/>
        </p:spPr>
        <p:txBody>
          <a:bodyPr/>
          <a:lstStyle/>
          <a:p>
            <a:endParaRPr lang="en-US"/>
          </a:p>
        </p:txBody>
      </p:sp>
      <p:sp>
        <p:nvSpPr>
          <p:cNvPr id="42" name="Text 40"/>
          <p:cNvSpPr/>
          <p:nvPr/>
        </p:nvSpPr>
        <p:spPr>
          <a:xfrm>
            <a:off x="841248" y="573328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43" name="Text 41"/>
          <p:cNvSpPr/>
          <p:nvPr/>
        </p:nvSpPr>
        <p:spPr>
          <a:xfrm>
            <a:off x="1371600" y="5650992"/>
            <a:ext cx="4572000" cy="274320"/>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Q3 bunching estimator; territorial scope; Hawaii check</a:t>
            </a:r>
            <a:endParaRPr lang="en-US" sz="1200" dirty="0"/>
          </a:p>
        </p:txBody>
      </p:sp>
      <p:sp>
        <p:nvSpPr>
          <p:cNvPr id="44" name="Text 42"/>
          <p:cNvSpPr/>
          <p:nvPr/>
        </p:nvSpPr>
        <p:spPr>
          <a:xfrm>
            <a:off x="1371600" y="5916168"/>
            <a:ext cx="6766560" cy="256032"/>
          </a:xfrm>
          <a:prstGeom prst="rect">
            <a:avLst/>
          </a:prstGeom>
          <a:noFill/>
          <a:ln/>
        </p:spPr>
        <p:txBody>
          <a:bodyPr wrap="square" lIns="0" tIns="0" rIns="0" bIns="0" rtlCol="0" anchor="ctr"/>
          <a:lstStyle/>
          <a:p>
            <a:pPr marL="0" indent="0">
              <a:buNone/>
            </a:pPr>
            <a:r>
              <a:rPr lang="en-US" sz="1050" dirty="0">
                <a:solidFill>
                  <a:srgbClr val="5B6B72"/>
                </a:solidFill>
                <a:latin typeface="Calibri" pitchFamily="34" charset="0"/>
                <a:ea typeface="Calibri" pitchFamily="34" charset="-122"/>
                <a:cs typeface="Calibri" pitchFamily="34" charset="-120"/>
              </a:rPr>
              <a:t>Closes the remaining Tier 2 and Tier 3 questions.</a:t>
            </a:r>
            <a:endParaRPr lang="en-US" sz="1050" dirty="0"/>
          </a:p>
        </p:txBody>
      </p:sp>
      <p:sp>
        <p:nvSpPr>
          <p:cNvPr id="45" name="Text 43"/>
          <p:cNvSpPr/>
          <p:nvPr/>
        </p:nvSpPr>
        <p:spPr>
          <a:xfrm>
            <a:off x="8458200" y="5760720"/>
            <a:ext cx="1783080" cy="274320"/>
          </a:xfrm>
          <a:prstGeom prst="rect">
            <a:avLst/>
          </a:prstGeom>
          <a:noFill/>
          <a:ln/>
        </p:spPr>
        <p:txBody>
          <a:bodyPr wrap="square" lIns="0" tIns="0" rIns="0" bIns="0" rtlCol="0" anchor="ctr"/>
          <a:lstStyle/>
          <a:p>
            <a:pPr marL="0" indent="0" algn="r">
              <a:buNone/>
            </a:pPr>
            <a:r>
              <a:rPr lang="en-US" sz="1050" b="1" dirty="0">
                <a:solidFill>
                  <a:srgbClr val="1F6F78"/>
                </a:solidFill>
                <a:latin typeface="Calibri" pitchFamily="34" charset="0"/>
                <a:ea typeface="Calibri" pitchFamily="34" charset="-122"/>
                <a:cs typeface="Calibri" pitchFamily="34" charset="-120"/>
              </a:rPr>
              <a:t>Completeness</a:t>
            </a:r>
            <a:endParaRPr lang="en-US" sz="1050" dirty="0"/>
          </a:p>
        </p:txBody>
      </p:sp>
      <p:sp>
        <p:nvSpPr>
          <p:cNvPr id="46" name="Text 44"/>
          <p:cNvSpPr/>
          <p:nvPr/>
        </p:nvSpPr>
        <p:spPr>
          <a:xfrm>
            <a:off x="10378440" y="5760720"/>
            <a:ext cx="868680" cy="274320"/>
          </a:xfrm>
          <a:prstGeom prst="rect">
            <a:avLst/>
          </a:prstGeom>
          <a:noFill/>
          <a:ln/>
        </p:spPr>
        <p:txBody>
          <a:bodyPr wrap="square" lIns="0" tIns="0" rIns="0" bIns="0" rtlCol="0" anchor="ctr"/>
          <a:lstStyle/>
          <a:p>
            <a:pPr marL="0" indent="0" algn="r">
              <a:buNone/>
            </a:pPr>
            <a:r>
              <a:rPr lang="en-US" sz="1050" dirty="0">
                <a:solidFill>
                  <a:srgbClr val="5B6B72"/>
                </a:solidFill>
                <a:latin typeface="Calibri" pitchFamily="34" charset="0"/>
                <a:ea typeface="Calibri" pitchFamily="34" charset="-122"/>
                <a:cs typeface="Calibri" pitchFamily="34" charset="-120"/>
              </a:rPr>
              <a:t>Weeks</a:t>
            </a:r>
            <a:endParaRPr lang="en-US" sz="1050" dirty="0"/>
          </a:p>
        </p:txBody>
      </p:sp>
      <p:sp>
        <p:nvSpPr>
          <p:cNvPr id="47" name="Text 45"/>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Against a July 2027 transmittal: analysis complete around year-end, drafting and internal review through the first half of 2027, leaving margin for the interagency joint study.</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202E"/>
        </a:solidFill>
        <a:effectLst/>
      </p:bgPr>
    </p:bg>
    <p:spTree>
      <p:nvGrpSpPr>
        <p:cNvPr id="1" name=""/>
        <p:cNvGrpSpPr/>
        <p:nvPr/>
      </p:nvGrpSpPr>
      <p:grpSpPr>
        <a:xfrm>
          <a:off x="0" y="0"/>
          <a:ext cx="0" cy="0"/>
          <a:chOff x="0" y="0"/>
          <a:chExt cx="0" cy="0"/>
        </a:xfrm>
      </p:grpSpPr>
      <p:sp>
        <p:nvSpPr>
          <p:cNvPr id="2" name="Text 0"/>
          <p:cNvSpPr/>
          <p:nvPr/>
        </p:nvSpPr>
        <p:spPr>
          <a:xfrm>
            <a:off x="640080" y="685800"/>
            <a:ext cx="10881360" cy="320040"/>
          </a:xfrm>
          <a:prstGeom prst="rect">
            <a:avLst/>
          </a:prstGeom>
          <a:noFill/>
          <a:ln/>
        </p:spPr>
        <p:txBody>
          <a:bodyPr wrap="square" lIns="0" tIns="0" rIns="0" bIns="0" rtlCol="0" anchor="ctr"/>
          <a:lstStyle/>
          <a:p>
            <a:pPr marL="0" indent="0">
              <a:buNone/>
            </a:pPr>
            <a:r>
              <a:rPr lang="en-US" sz="1100" b="1" kern="0" spc="200" dirty="0">
                <a:solidFill>
                  <a:srgbClr val="7FB0AE"/>
                </a:solidFill>
                <a:latin typeface="Calibri" pitchFamily="34" charset="0"/>
                <a:ea typeface="Calibri" pitchFamily="34" charset="-122"/>
                <a:cs typeface="Calibri" pitchFamily="34" charset="-120"/>
              </a:rPr>
              <a:t>What this means for the report</a:t>
            </a:r>
            <a:endParaRPr lang="en-US" sz="1100" dirty="0"/>
          </a:p>
        </p:txBody>
      </p:sp>
      <p:sp>
        <p:nvSpPr>
          <p:cNvPr id="3" name="Text 1"/>
          <p:cNvSpPr/>
          <p:nvPr/>
        </p:nvSpPr>
        <p:spPr>
          <a:xfrm>
            <a:off x="640080" y="1097280"/>
            <a:ext cx="10424160" cy="1188720"/>
          </a:xfrm>
          <a:prstGeom prst="rect">
            <a:avLst/>
          </a:prstGeom>
          <a:noFill/>
          <a:ln/>
        </p:spPr>
        <p:txBody>
          <a:bodyPr wrap="square" lIns="0" tIns="0" rIns="0" bIns="0" rtlCol="0" anchor="ctr"/>
          <a:lstStyle/>
          <a:p>
            <a:pPr marL="0" indent="0">
              <a:lnSpc>
                <a:spcPts val="3600"/>
              </a:lnSpc>
              <a:buNone/>
            </a:pPr>
            <a:r>
              <a:rPr lang="en-US" sz="2500" b="1" dirty="0">
                <a:solidFill>
                  <a:srgbClr val="FFFFFF"/>
                </a:solidFill>
                <a:latin typeface="Cambria" pitchFamily="34" charset="0"/>
                <a:ea typeface="Cambria" pitchFamily="34" charset="-122"/>
                <a:cs typeface="Cambria" pitchFamily="34" charset="-120"/>
              </a:rPr>
              <a:t>Section 909 asked us to fix underperforming rural institutions.</a:t>
            </a:r>
            <a:endParaRPr lang="en-US" sz="2500" dirty="0"/>
          </a:p>
          <a:p>
            <a:pPr marL="0" indent="0">
              <a:lnSpc>
                <a:spcPts val="3600"/>
              </a:lnSpc>
              <a:buNone/>
            </a:pPr>
            <a:r>
              <a:rPr lang="en-US" sz="2500" b="1" dirty="0">
                <a:solidFill>
                  <a:srgbClr val="FFFFFF"/>
                </a:solidFill>
                <a:latin typeface="Cambria" pitchFamily="34" charset="0"/>
                <a:ea typeface="Cambria" pitchFamily="34" charset="-122"/>
                <a:cs typeface="Cambria" pitchFamily="34" charset="-120"/>
              </a:rPr>
              <a:t>The institutions are fine. The pipeline is empty.</a:t>
            </a:r>
            <a:endParaRPr lang="en-US" sz="2500" dirty="0"/>
          </a:p>
        </p:txBody>
      </p:sp>
      <p:sp>
        <p:nvSpPr>
          <p:cNvPr id="4" name="Shape 2"/>
          <p:cNvSpPr/>
          <p:nvPr/>
        </p:nvSpPr>
        <p:spPr>
          <a:xfrm>
            <a:off x="640080" y="2551176"/>
            <a:ext cx="292608" cy="292608"/>
          </a:xfrm>
          <a:prstGeom prst="ellipse">
            <a:avLst/>
          </a:prstGeom>
          <a:solidFill>
            <a:srgbClr val="E8A24A"/>
          </a:solidFill>
          <a:ln/>
        </p:spPr>
        <p:txBody>
          <a:bodyPr/>
          <a:lstStyle/>
          <a:p>
            <a:endParaRPr lang="en-US"/>
          </a:p>
        </p:txBody>
      </p:sp>
      <p:sp>
        <p:nvSpPr>
          <p:cNvPr id="5" name="Text 3"/>
          <p:cNvSpPr/>
          <p:nvPr/>
        </p:nvSpPr>
        <p:spPr>
          <a:xfrm>
            <a:off x="1143000" y="2514600"/>
            <a:ext cx="101498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Reorient the recommendations</a:t>
            </a:r>
            <a:endParaRPr lang="en-US" sz="1350" dirty="0"/>
          </a:p>
        </p:txBody>
      </p:sp>
      <p:sp>
        <p:nvSpPr>
          <p:cNvPr id="6" name="Text 4"/>
          <p:cNvSpPr/>
          <p:nvPr/>
        </p:nvSpPr>
        <p:spPr>
          <a:xfrm>
            <a:off x="1143000" y="2788920"/>
            <a:ext cx="10149840" cy="640080"/>
          </a:xfrm>
          <a:prstGeom prst="rect">
            <a:avLst/>
          </a:prstGeom>
          <a:noFill/>
          <a:ln/>
        </p:spPr>
        <p:txBody>
          <a:bodyPr wrap="square" lIns="0" tIns="0" rIns="0" bIns="0" rtlCol="0" anchor="ctr"/>
          <a:lstStyle/>
          <a:p>
            <a:pPr marL="0" indent="0">
              <a:lnSpc>
                <a:spcPts val="1450"/>
              </a:lnSpc>
              <a:buNone/>
            </a:pPr>
            <a:r>
              <a:rPr lang="en-US" sz="1100" dirty="0">
                <a:solidFill>
                  <a:srgbClr val="DCE6E4"/>
                </a:solidFill>
                <a:latin typeface="Calibri" pitchFamily="34" charset="0"/>
                <a:ea typeface="Calibri" pitchFamily="34" charset="-122"/>
                <a:cs typeface="Calibri" pitchFamily="34" charset="-120"/>
              </a:rPr>
              <a:t>Toward the de novo clause — chartering pathway, initial capital, field-of-membership rules for new entrants — and away from remedies aimed at weak institutions, which the evidence does not support. The methods branch of the mandate is the weaker one on our findings, and the report should say why rather than pad it.</a:t>
            </a:r>
            <a:endParaRPr lang="en-US" sz="1100" dirty="0"/>
          </a:p>
        </p:txBody>
      </p:sp>
      <p:sp>
        <p:nvSpPr>
          <p:cNvPr id="7" name="Shape 5"/>
          <p:cNvSpPr/>
          <p:nvPr/>
        </p:nvSpPr>
        <p:spPr>
          <a:xfrm>
            <a:off x="640080" y="3511296"/>
            <a:ext cx="292608" cy="292608"/>
          </a:xfrm>
          <a:prstGeom prst="ellipse">
            <a:avLst/>
          </a:prstGeom>
          <a:solidFill>
            <a:srgbClr val="E8A24A"/>
          </a:solidFill>
          <a:ln/>
        </p:spPr>
        <p:txBody>
          <a:bodyPr/>
          <a:lstStyle/>
          <a:p>
            <a:endParaRPr lang="en-US"/>
          </a:p>
        </p:txBody>
      </p:sp>
      <p:sp>
        <p:nvSpPr>
          <p:cNvPr id="8" name="Text 6"/>
          <p:cNvSpPr/>
          <p:nvPr/>
        </p:nvSpPr>
        <p:spPr>
          <a:xfrm>
            <a:off x="1143000" y="3474720"/>
            <a:ext cx="101498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Report access alongside formation</a:t>
            </a:r>
            <a:endParaRPr lang="en-US" sz="1350" dirty="0"/>
          </a:p>
        </p:txBody>
      </p:sp>
      <p:sp>
        <p:nvSpPr>
          <p:cNvPr id="9" name="Text 7"/>
          <p:cNvSpPr/>
          <p:nvPr/>
        </p:nvSpPr>
        <p:spPr>
          <a:xfrm>
            <a:off x="1143000" y="3749040"/>
            <a:ext cx="10149840" cy="640080"/>
          </a:xfrm>
          <a:prstGeom prst="rect">
            <a:avLst/>
          </a:prstGeom>
          <a:noFill/>
          <a:ln/>
        </p:spPr>
        <p:txBody>
          <a:bodyPr wrap="square" lIns="0" tIns="0" rIns="0" bIns="0" rtlCol="0" anchor="ctr"/>
          <a:lstStyle/>
          <a:p>
            <a:pPr marL="0" indent="0">
              <a:lnSpc>
                <a:spcPts val="1450"/>
              </a:lnSpc>
              <a:buNone/>
            </a:pPr>
            <a:r>
              <a:rPr lang="en-US" sz="1100" dirty="0">
                <a:solidFill>
                  <a:srgbClr val="DCE6E4"/>
                </a:solidFill>
                <a:latin typeface="Calibri" pitchFamily="34" charset="0"/>
                <a:ea typeface="Calibri" pitchFamily="34" charset="-122"/>
                <a:cs typeface="Calibri" pitchFamily="34" charset="-120"/>
              </a:rPr>
              <a:t>Rural offices grew 6.7% to 7.6% and are more than replaced when they close. Presenting the formation collapse without this would overstate the immediate harm and invite a correction from the trades.</a:t>
            </a:r>
            <a:endParaRPr lang="en-US" sz="1100" dirty="0"/>
          </a:p>
        </p:txBody>
      </p:sp>
      <p:sp>
        <p:nvSpPr>
          <p:cNvPr id="10" name="Shape 8"/>
          <p:cNvSpPr/>
          <p:nvPr/>
        </p:nvSpPr>
        <p:spPr>
          <a:xfrm>
            <a:off x="640080" y="4471416"/>
            <a:ext cx="292608" cy="292608"/>
          </a:xfrm>
          <a:prstGeom prst="ellipse">
            <a:avLst/>
          </a:prstGeom>
          <a:solidFill>
            <a:srgbClr val="E8A24A"/>
          </a:solidFill>
          <a:ln/>
        </p:spPr>
        <p:txBody>
          <a:bodyPr/>
          <a:lstStyle/>
          <a:p>
            <a:endParaRPr lang="en-US"/>
          </a:p>
        </p:txBody>
      </p:sp>
      <p:sp>
        <p:nvSpPr>
          <p:cNvPr id="11" name="Text 9"/>
          <p:cNvSpPr/>
          <p:nvPr/>
        </p:nvSpPr>
        <p:spPr>
          <a:xfrm>
            <a:off x="1143000" y="4434840"/>
            <a:ext cx="101498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Say what we do not know</a:t>
            </a:r>
            <a:endParaRPr lang="en-US" sz="1350" dirty="0"/>
          </a:p>
        </p:txBody>
      </p:sp>
      <p:sp>
        <p:nvSpPr>
          <p:cNvPr id="12" name="Text 10"/>
          <p:cNvSpPr/>
          <p:nvPr/>
        </p:nvSpPr>
        <p:spPr>
          <a:xfrm>
            <a:off x="1143000" y="4709160"/>
            <a:ext cx="10149840" cy="640080"/>
          </a:xfrm>
          <a:prstGeom prst="rect">
            <a:avLst/>
          </a:prstGeom>
          <a:noFill/>
          <a:ln/>
        </p:spPr>
        <p:txBody>
          <a:bodyPr wrap="square" lIns="0" tIns="0" rIns="0" bIns="0" rtlCol="0" anchor="ctr"/>
          <a:lstStyle/>
          <a:p>
            <a:pPr marL="0" indent="0">
              <a:lnSpc>
                <a:spcPts val="1450"/>
              </a:lnSpc>
              <a:buNone/>
            </a:pPr>
            <a:r>
              <a:rPr lang="en-US" sz="1100" dirty="0">
                <a:solidFill>
                  <a:srgbClr val="DCE6E4"/>
                </a:solidFill>
                <a:latin typeface="Calibri" pitchFamily="34" charset="0"/>
                <a:ea typeface="Calibri" pitchFamily="34" charset="-122"/>
                <a:cs typeface="Calibri" pitchFamily="34" charset="-120"/>
              </a:rPr>
              <a:t>The mechanism behind the rural advantage is unidentified, the exit composition is unverified, and the bank comparison is not yet done. Naming those plainly is what makes the rest of the report survive a hostile reading.</a:t>
            </a:r>
            <a:endParaRPr lang="en-US" sz="1100" dirty="0"/>
          </a:p>
        </p:txBody>
      </p:sp>
      <p:sp>
        <p:nvSpPr>
          <p:cNvPr id="13" name="Shape 11"/>
          <p:cNvSpPr/>
          <p:nvPr/>
        </p:nvSpPr>
        <p:spPr>
          <a:xfrm>
            <a:off x="640080" y="5431536"/>
            <a:ext cx="292608" cy="292608"/>
          </a:xfrm>
          <a:prstGeom prst="ellipse">
            <a:avLst/>
          </a:prstGeom>
          <a:solidFill>
            <a:srgbClr val="E8A24A"/>
          </a:solidFill>
          <a:ln/>
        </p:spPr>
        <p:txBody>
          <a:bodyPr/>
          <a:lstStyle/>
          <a:p>
            <a:endParaRPr lang="en-US"/>
          </a:p>
        </p:txBody>
      </p:sp>
      <p:sp>
        <p:nvSpPr>
          <p:cNvPr id="14" name="Text 12"/>
          <p:cNvSpPr/>
          <p:nvPr/>
        </p:nvSpPr>
        <p:spPr>
          <a:xfrm>
            <a:off x="1143000" y="5394960"/>
            <a:ext cx="101498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Do not overpromise</a:t>
            </a:r>
            <a:endParaRPr lang="en-US" sz="1350" dirty="0"/>
          </a:p>
        </p:txBody>
      </p:sp>
      <p:sp>
        <p:nvSpPr>
          <p:cNvPr id="15" name="Text 13"/>
          <p:cNvSpPr/>
          <p:nvPr/>
        </p:nvSpPr>
        <p:spPr>
          <a:xfrm>
            <a:off x="1143000" y="5669280"/>
            <a:ext cx="10149840" cy="640080"/>
          </a:xfrm>
          <a:prstGeom prst="rect">
            <a:avLst/>
          </a:prstGeom>
          <a:noFill/>
          <a:ln/>
        </p:spPr>
        <p:txBody>
          <a:bodyPr wrap="square" lIns="0" tIns="0" rIns="0" bIns="0" rtlCol="0" anchor="ctr"/>
          <a:lstStyle/>
          <a:p>
            <a:pPr marL="0" indent="0">
              <a:lnSpc>
                <a:spcPts val="1450"/>
              </a:lnSpc>
              <a:buNone/>
            </a:pPr>
            <a:r>
              <a:rPr lang="en-US" sz="1100" dirty="0">
                <a:solidFill>
                  <a:srgbClr val="DCE6E4"/>
                </a:solidFill>
                <a:latin typeface="Calibri" pitchFamily="34" charset="0"/>
                <a:ea typeface="Calibri" pitchFamily="34" charset="-122"/>
                <a:cs typeface="Calibri" pitchFamily="34" charset="-120"/>
              </a:rPr>
              <a:t>Demography sets a ceiling no regulatory change can lift. The honest offer to Congress is a better formation pathway and a quantified estimate of what a de novo actually requires — not a growth guarantee.</a:t>
            </a:r>
            <a:endParaRPr lang="en-US" sz="1100" dirty="0"/>
          </a:p>
        </p:txBody>
      </p:sp>
      <p:sp>
        <p:nvSpPr>
          <p:cNvPr id="16" name="Text 14"/>
          <p:cNvSpPr/>
          <p:nvPr/>
        </p:nvSpPr>
        <p:spPr>
          <a:xfrm>
            <a:off x="640080" y="6355080"/>
            <a:ext cx="10881360" cy="256032"/>
          </a:xfrm>
          <a:prstGeom prst="rect">
            <a:avLst/>
          </a:prstGeom>
          <a:noFill/>
          <a:ln/>
        </p:spPr>
        <p:txBody>
          <a:bodyPr wrap="square" lIns="0" tIns="0" rIns="0" bIns="0" rtlCol="0" anchor="ctr"/>
          <a:lstStyle/>
          <a:p>
            <a:pPr marL="0" indent="0">
              <a:buNone/>
            </a:pPr>
            <a:r>
              <a:rPr lang="en-US" sz="950" dirty="0">
                <a:solidFill>
                  <a:srgbClr val="5B6B72"/>
                </a:solidFill>
                <a:latin typeface="Calibri" pitchFamily="34" charset="0"/>
                <a:ea typeface="Calibri" pitchFamily="34" charset="-122"/>
                <a:cs typeface="Calibri" pitchFamily="34" charset="-120"/>
              </a:rPr>
              <a:t>NCUA Office of the Chief Economist  ·  ROAD Act Sec. 909  ·  August 2026  ·  All findings exploratory pending final estimation</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202E"/>
        </a:solidFill>
        <a:effectLst/>
      </p:bgPr>
    </p:bg>
    <p:spTree>
      <p:nvGrpSpPr>
        <p:cNvPr id="1" name=""/>
        <p:cNvGrpSpPr/>
        <p:nvPr/>
      </p:nvGrpSpPr>
      <p:grpSpPr>
        <a:xfrm>
          <a:off x="0" y="0"/>
          <a:ext cx="0" cy="0"/>
          <a:chOff x="0" y="0"/>
          <a:chExt cx="0" cy="0"/>
        </a:xfrm>
      </p:grpSpPr>
      <p:sp>
        <p:nvSpPr>
          <p:cNvPr id="2" name="Text 0"/>
          <p:cNvSpPr/>
          <p:nvPr/>
        </p:nvSpPr>
        <p:spPr>
          <a:xfrm>
            <a:off x="640080" y="2377440"/>
            <a:ext cx="1088136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Appendix</a:t>
            </a:r>
            <a:endParaRPr lang="en-US" sz="4000" dirty="0"/>
          </a:p>
        </p:txBody>
      </p:sp>
      <p:sp>
        <p:nvSpPr>
          <p:cNvPr id="3" name="Text 1"/>
          <p:cNvSpPr/>
          <p:nvPr/>
        </p:nvSpPr>
        <p:spPr>
          <a:xfrm>
            <a:off x="640080" y="3291840"/>
            <a:ext cx="8686800" cy="822960"/>
          </a:xfrm>
          <a:prstGeom prst="rect">
            <a:avLst/>
          </a:prstGeom>
          <a:noFill/>
          <a:ln/>
        </p:spPr>
        <p:txBody>
          <a:bodyPr wrap="square" lIns="0" tIns="0" rIns="0" bIns="0" rtlCol="0" anchor="ctr"/>
          <a:lstStyle/>
          <a:p>
            <a:pPr marL="0" indent="0">
              <a:lnSpc>
                <a:spcPts val="2100"/>
              </a:lnSpc>
              <a:buNone/>
            </a:pPr>
            <a:r>
              <a:rPr lang="en-US" sz="1400" dirty="0">
                <a:solidFill>
                  <a:srgbClr val="DCE6E4"/>
                </a:solidFill>
                <a:latin typeface="Calibri" pitchFamily="34" charset="0"/>
                <a:ea typeface="Calibri" pitchFamily="34" charset="-122"/>
                <a:cs typeface="Calibri" pitchFamily="34" charset="-120"/>
              </a:rPr>
              <a:t>Held back from the main briefing for time. Each of these answers a question that is likely to be asked, and any one can be turned to directly.</a:t>
            </a:r>
            <a:endParaRPr lang="en-US" sz="1400" dirty="0"/>
          </a:p>
        </p:txBody>
      </p:sp>
      <p:sp>
        <p:nvSpPr>
          <p:cNvPr id="4" name="Text 2"/>
          <p:cNvSpPr/>
          <p:nvPr/>
        </p:nvSpPr>
        <p:spPr>
          <a:xfrm>
            <a:off x="640080" y="4343400"/>
            <a:ext cx="5212080" cy="365760"/>
          </a:xfrm>
          <a:prstGeom prst="rect">
            <a:avLst/>
          </a:prstGeom>
          <a:noFill/>
          <a:ln/>
        </p:spPr>
        <p:txBody>
          <a:bodyPr wrap="square" lIns="0" tIns="0" rIns="0" bIns="0" rtlCol="0" anchor="ctr"/>
          <a:lstStyle/>
          <a:p>
            <a:pPr marL="0" indent="0">
              <a:buNone/>
            </a:pPr>
            <a:r>
              <a:rPr lang="en-US" sz="1200" dirty="0">
                <a:solidFill>
                  <a:srgbClr val="7FB0AE"/>
                </a:solidFill>
                <a:latin typeface="Calibri" pitchFamily="34" charset="0"/>
                <a:ea typeface="Calibri" pitchFamily="34" charset="-122"/>
                <a:cs typeface="Calibri" pitchFamily="34" charset="-120"/>
              </a:rPr>
              <a:t>•  How the ten questions were tiered</a:t>
            </a:r>
            <a:endParaRPr lang="en-US" sz="1200" dirty="0"/>
          </a:p>
        </p:txBody>
      </p:sp>
      <p:sp>
        <p:nvSpPr>
          <p:cNvPr id="5" name="Text 3"/>
          <p:cNvSpPr/>
          <p:nvPr/>
        </p:nvSpPr>
        <p:spPr>
          <a:xfrm>
            <a:off x="6126480" y="4343400"/>
            <a:ext cx="5212080" cy="365760"/>
          </a:xfrm>
          <a:prstGeom prst="rect">
            <a:avLst/>
          </a:prstGeom>
          <a:noFill/>
          <a:ln/>
        </p:spPr>
        <p:txBody>
          <a:bodyPr wrap="square" lIns="0" tIns="0" rIns="0" bIns="0" rtlCol="0" anchor="ctr"/>
          <a:lstStyle/>
          <a:p>
            <a:pPr marL="0" indent="0">
              <a:buNone/>
            </a:pPr>
            <a:r>
              <a:rPr lang="en-US" sz="1200" dirty="0">
                <a:solidFill>
                  <a:srgbClr val="7FB0AE"/>
                </a:solidFill>
                <a:latin typeface="Calibri" pitchFamily="34" charset="0"/>
                <a:ea typeface="Calibri" pitchFamily="34" charset="-122"/>
                <a:cs typeface="Calibri" pitchFamily="34" charset="-120"/>
              </a:rPr>
              <a:t>•  What the findings are built on</a:t>
            </a:r>
            <a:endParaRPr lang="en-US" sz="1200" dirty="0"/>
          </a:p>
        </p:txBody>
      </p:sp>
      <p:sp>
        <p:nvSpPr>
          <p:cNvPr id="6" name="Text 4"/>
          <p:cNvSpPr/>
          <p:nvPr/>
        </p:nvSpPr>
        <p:spPr>
          <a:xfrm>
            <a:off x="640080" y="4800600"/>
            <a:ext cx="5212080" cy="365760"/>
          </a:xfrm>
          <a:prstGeom prst="rect">
            <a:avLst/>
          </a:prstGeom>
          <a:noFill/>
          <a:ln/>
        </p:spPr>
        <p:txBody>
          <a:bodyPr wrap="square" lIns="0" tIns="0" rIns="0" bIns="0" rtlCol="0" anchor="ctr"/>
          <a:lstStyle/>
          <a:p>
            <a:pPr marL="0" indent="0">
              <a:buNone/>
            </a:pPr>
            <a:r>
              <a:rPr lang="en-US" sz="1200" dirty="0">
                <a:solidFill>
                  <a:srgbClr val="7FB0AE"/>
                </a:solidFill>
                <a:latin typeface="Calibri" pitchFamily="34" charset="0"/>
                <a:ea typeface="Calibri" pitchFamily="34" charset="-122"/>
                <a:cs typeface="Calibri" pitchFamily="34" charset="-120"/>
              </a:rPr>
              <a:t>•  How much the definition of “rural” moves the answers</a:t>
            </a:r>
            <a:endParaRPr lang="en-US" sz="1200" dirty="0"/>
          </a:p>
        </p:txBody>
      </p:sp>
      <p:sp>
        <p:nvSpPr>
          <p:cNvPr id="7" name="Text 5"/>
          <p:cNvSpPr/>
          <p:nvPr/>
        </p:nvSpPr>
        <p:spPr>
          <a:xfrm>
            <a:off x="6126480" y="4800600"/>
            <a:ext cx="5212080" cy="365760"/>
          </a:xfrm>
          <a:prstGeom prst="rect">
            <a:avLst/>
          </a:prstGeom>
          <a:noFill/>
          <a:ln/>
        </p:spPr>
        <p:txBody>
          <a:bodyPr wrap="square" lIns="0" tIns="0" rIns="0" bIns="0" rtlCol="0" anchor="ctr"/>
          <a:lstStyle/>
          <a:p>
            <a:pPr marL="0" indent="0">
              <a:buNone/>
            </a:pPr>
            <a:r>
              <a:rPr lang="en-US" sz="1200" dirty="0">
                <a:solidFill>
                  <a:srgbClr val="7FB0AE"/>
                </a:solidFill>
                <a:latin typeface="Calibri" pitchFamily="34" charset="0"/>
                <a:ea typeface="Calibri" pitchFamily="34" charset="-122"/>
                <a:cs typeface="Calibri" pitchFamily="34" charset="-120"/>
              </a:rPr>
              <a:t>•  Four more ways of testing the Q1 finding</a:t>
            </a:r>
            <a:endParaRPr lang="en-US" sz="1200" dirty="0"/>
          </a:p>
        </p:txBody>
      </p:sp>
      <p:sp>
        <p:nvSpPr>
          <p:cNvPr id="8" name="Text 6"/>
          <p:cNvSpPr/>
          <p:nvPr/>
        </p:nvSpPr>
        <p:spPr>
          <a:xfrm>
            <a:off x="640080" y="5257800"/>
            <a:ext cx="5212080" cy="365760"/>
          </a:xfrm>
          <a:prstGeom prst="rect">
            <a:avLst/>
          </a:prstGeom>
          <a:noFill/>
          <a:ln/>
        </p:spPr>
        <p:txBody>
          <a:bodyPr wrap="square" lIns="0" tIns="0" rIns="0" bIns="0" rtlCol="0" anchor="ctr"/>
          <a:lstStyle/>
          <a:p>
            <a:pPr marL="0" indent="0">
              <a:buNone/>
            </a:pPr>
            <a:r>
              <a:rPr lang="en-US" sz="1200" dirty="0">
                <a:solidFill>
                  <a:srgbClr val="7FB0AE"/>
                </a:solidFill>
                <a:latin typeface="Calibri" pitchFamily="34" charset="0"/>
                <a:ea typeface="Calibri" pitchFamily="34" charset="-122"/>
                <a:cs typeface="Calibri" pitchFamily="34" charset="-120"/>
              </a:rPr>
              <a:t>•  The office network, 2013 to 2026</a:t>
            </a:r>
            <a:endParaRPr lang="en-US" sz="1200" dirty="0"/>
          </a:p>
        </p:txBody>
      </p:sp>
      <p:sp>
        <p:nvSpPr>
          <p:cNvPr id="9" name="Text 7"/>
          <p:cNvSpPr/>
          <p:nvPr/>
        </p:nvSpPr>
        <p:spPr>
          <a:xfrm>
            <a:off x="6126480" y="5257800"/>
            <a:ext cx="5212080" cy="365760"/>
          </a:xfrm>
          <a:prstGeom prst="rect">
            <a:avLst/>
          </a:prstGeom>
          <a:noFill/>
          <a:ln/>
        </p:spPr>
        <p:txBody>
          <a:bodyPr wrap="square" lIns="0" tIns="0" rIns="0" bIns="0" rtlCol="0" anchor="ctr"/>
          <a:lstStyle/>
          <a:p>
            <a:pPr marL="0" indent="0">
              <a:buNone/>
            </a:pPr>
            <a:r>
              <a:rPr lang="en-US" sz="1200" dirty="0">
                <a:solidFill>
                  <a:srgbClr val="7FB0AE"/>
                </a:solidFill>
                <a:latin typeface="Calibri" pitchFamily="34" charset="0"/>
                <a:ea typeface="Calibri" pitchFamily="34" charset="-122"/>
                <a:cs typeface="Calibri" pitchFamily="34" charset="-120"/>
              </a:rPr>
              <a:t>•  The business lending cap</a:t>
            </a:r>
            <a:endParaRPr lang="en-US" sz="1200" dirty="0"/>
          </a:p>
        </p:txBody>
      </p:sp>
      <p:sp>
        <p:nvSpPr>
          <p:cNvPr id="10" name="Text 8"/>
          <p:cNvSpPr/>
          <p:nvPr/>
        </p:nvSpPr>
        <p:spPr>
          <a:xfrm>
            <a:off x="640080" y="5715000"/>
            <a:ext cx="5212080" cy="365760"/>
          </a:xfrm>
          <a:prstGeom prst="rect">
            <a:avLst/>
          </a:prstGeom>
          <a:noFill/>
          <a:ln/>
        </p:spPr>
        <p:txBody>
          <a:bodyPr wrap="square" lIns="0" tIns="0" rIns="0" bIns="0" rtlCol="0" anchor="ctr"/>
          <a:lstStyle/>
          <a:p>
            <a:pPr marL="0" indent="0">
              <a:buNone/>
            </a:pPr>
            <a:r>
              <a:rPr lang="en-US" sz="1200" dirty="0">
                <a:solidFill>
                  <a:srgbClr val="7FB0AE"/>
                </a:solidFill>
                <a:latin typeface="Calibri" pitchFamily="34" charset="0"/>
                <a:ea typeface="Calibri" pitchFamily="34" charset="-122"/>
                <a:cs typeface="Calibri" pitchFamily="34" charset="-120"/>
              </a:rPr>
              <a:t>•  Three other corrections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4 · RESEARCH DESIGN</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We turned a two-sentence mandate into ten answerable questions</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A statute asks whether rural credit unions are underperforming. That cannot be tested directly — it bundles at least ten separate empirical claims. Each question below was written so that the answer changes what the report says.</a:t>
            </a:r>
            <a:endParaRPr lang="en-US" sz="1350" dirty="0"/>
          </a:p>
        </p:txBody>
      </p:sp>
      <p:sp>
        <p:nvSpPr>
          <p:cNvPr id="5" name="Shape 3"/>
          <p:cNvSpPr/>
          <p:nvPr/>
        </p:nvSpPr>
        <p:spPr>
          <a:xfrm>
            <a:off x="640080" y="2148840"/>
            <a:ext cx="2377440" cy="868680"/>
          </a:xfrm>
          <a:prstGeom prst="roundRect">
            <a:avLst>
              <a:gd name="adj" fmla="val 5263"/>
            </a:avLst>
          </a:prstGeom>
          <a:solidFill>
            <a:srgbClr val="0E4C55"/>
          </a:solidFill>
          <a:ln/>
        </p:spPr>
        <p:txBody>
          <a:bodyPr/>
          <a:lstStyle/>
          <a:p>
            <a:endParaRPr lang="en-US"/>
          </a:p>
        </p:txBody>
      </p:sp>
      <p:sp>
        <p:nvSpPr>
          <p:cNvPr id="6" name="Text 4"/>
          <p:cNvSpPr/>
          <p:nvPr/>
        </p:nvSpPr>
        <p:spPr>
          <a:xfrm>
            <a:off x="822960" y="2240280"/>
            <a:ext cx="20574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Q1 Q2 Q3</a:t>
            </a:r>
            <a:endParaRPr lang="en-US" sz="1700" dirty="0"/>
          </a:p>
        </p:txBody>
      </p:sp>
      <p:sp>
        <p:nvSpPr>
          <p:cNvPr id="7" name="Text 5"/>
          <p:cNvSpPr/>
          <p:nvPr/>
        </p:nvSpPr>
        <p:spPr>
          <a:xfrm>
            <a:off x="822960" y="2624328"/>
            <a:ext cx="2148840" cy="292608"/>
          </a:xfrm>
          <a:prstGeom prst="rect">
            <a:avLst/>
          </a:prstGeom>
          <a:noFill/>
          <a:ln/>
        </p:spPr>
        <p:txBody>
          <a:bodyPr wrap="square" lIns="0" tIns="0" rIns="0" bIns="0" rtlCol="0" anchor="ctr"/>
          <a:lstStyle/>
          <a:p>
            <a:pPr marL="0" indent="0">
              <a:buNone/>
            </a:pPr>
            <a:r>
              <a:rPr lang="en-US" sz="1000" dirty="0">
                <a:solidFill>
                  <a:srgbClr val="DCE6E4"/>
                </a:solidFill>
                <a:latin typeface="Calibri" pitchFamily="34" charset="0"/>
                <a:ea typeface="Calibri" pitchFamily="34" charset="-122"/>
                <a:cs typeface="Calibri" pitchFamily="34" charset="-120"/>
              </a:rPr>
              <a:t>Determines the thesis</a:t>
            </a:r>
            <a:endParaRPr lang="en-US" sz="1000" dirty="0"/>
          </a:p>
        </p:txBody>
      </p:sp>
      <p:sp>
        <p:nvSpPr>
          <p:cNvPr id="8" name="Text 6"/>
          <p:cNvSpPr/>
          <p:nvPr/>
        </p:nvSpPr>
        <p:spPr>
          <a:xfrm>
            <a:off x="3337560" y="2258568"/>
            <a:ext cx="8138160" cy="685800"/>
          </a:xfrm>
          <a:prstGeom prst="rect">
            <a:avLst/>
          </a:prstGeom>
          <a:noFill/>
          <a:ln/>
        </p:spPr>
        <p:txBody>
          <a:bodyPr wrap="square" lIns="0" tIns="0" rIns="0" bIns="0" rtlCol="0" anchor="ctr"/>
          <a:lstStyle/>
          <a:p>
            <a:pPr marL="0" indent="0">
              <a:lnSpc>
                <a:spcPts val="1650"/>
              </a:lnSpc>
              <a:buNone/>
            </a:pPr>
            <a:r>
              <a:rPr lang="en-US" sz="1200" dirty="0">
                <a:solidFill>
                  <a:srgbClr val="5B6B72"/>
                </a:solidFill>
                <a:latin typeface="Calibri" pitchFamily="34" charset="0"/>
                <a:ea typeface="Calibri" pitchFamily="34" charset="-122"/>
                <a:cs typeface="Calibri" pitchFamily="34" charset="-120"/>
              </a:rPr>
              <a:t>Whether the report is about rural barriers or about scale; whether “rural decline” is the honest headline; whether our most-cited barrier is real.</a:t>
            </a:r>
            <a:endParaRPr lang="en-US" sz="1200" dirty="0"/>
          </a:p>
        </p:txBody>
      </p:sp>
      <p:sp>
        <p:nvSpPr>
          <p:cNvPr id="9" name="Shape 7"/>
          <p:cNvSpPr/>
          <p:nvPr/>
        </p:nvSpPr>
        <p:spPr>
          <a:xfrm>
            <a:off x="640080" y="3200400"/>
            <a:ext cx="2377440" cy="868680"/>
          </a:xfrm>
          <a:prstGeom prst="roundRect">
            <a:avLst>
              <a:gd name="adj" fmla="val 5263"/>
            </a:avLst>
          </a:prstGeom>
          <a:solidFill>
            <a:srgbClr val="1F6F78"/>
          </a:solidFill>
          <a:ln/>
        </p:spPr>
        <p:txBody>
          <a:bodyPr/>
          <a:lstStyle/>
          <a:p>
            <a:endParaRPr lang="en-US"/>
          </a:p>
        </p:txBody>
      </p:sp>
      <p:sp>
        <p:nvSpPr>
          <p:cNvPr id="10" name="Text 8"/>
          <p:cNvSpPr/>
          <p:nvPr/>
        </p:nvSpPr>
        <p:spPr>
          <a:xfrm>
            <a:off x="822960" y="3291840"/>
            <a:ext cx="20574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Q4 Q5 Q6 Q10</a:t>
            </a:r>
            <a:endParaRPr lang="en-US" sz="1700" dirty="0"/>
          </a:p>
        </p:txBody>
      </p:sp>
      <p:sp>
        <p:nvSpPr>
          <p:cNvPr id="11" name="Text 9"/>
          <p:cNvSpPr/>
          <p:nvPr/>
        </p:nvSpPr>
        <p:spPr>
          <a:xfrm>
            <a:off x="822960" y="3675888"/>
            <a:ext cx="2148840" cy="292608"/>
          </a:xfrm>
          <a:prstGeom prst="rect">
            <a:avLst/>
          </a:prstGeom>
          <a:noFill/>
          <a:ln/>
        </p:spPr>
        <p:txBody>
          <a:bodyPr wrap="square" lIns="0" tIns="0" rIns="0" bIns="0" rtlCol="0" anchor="ctr"/>
          <a:lstStyle/>
          <a:p>
            <a:pPr marL="0" indent="0">
              <a:buNone/>
            </a:pPr>
            <a:r>
              <a:rPr lang="en-US" sz="1000" dirty="0">
                <a:solidFill>
                  <a:srgbClr val="DCE6E4"/>
                </a:solidFill>
                <a:latin typeface="Calibri" pitchFamily="34" charset="0"/>
                <a:ea typeface="Calibri" pitchFamily="34" charset="-122"/>
                <a:cs typeface="Calibri" pitchFamily="34" charset="-120"/>
              </a:rPr>
              <a:t>Determines the remedies</a:t>
            </a:r>
            <a:endParaRPr lang="en-US" sz="1000" dirty="0"/>
          </a:p>
        </p:txBody>
      </p:sp>
      <p:sp>
        <p:nvSpPr>
          <p:cNvPr id="12" name="Text 10"/>
          <p:cNvSpPr/>
          <p:nvPr/>
        </p:nvSpPr>
        <p:spPr>
          <a:xfrm>
            <a:off x="3337560" y="3310128"/>
            <a:ext cx="8138160" cy="685800"/>
          </a:xfrm>
          <a:prstGeom prst="rect">
            <a:avLst/>
          </a:prstGeom>
          <a:noFill/>
          <a:ln/>
        </p:spPr>
        <p:txBody>
          <a:bodyPr wrap="square" lIns="0" tIns="0" rIns="0" bIns="0" rtlCol="0" anchor="ctr"/>
          <a:lstStyle/>
          <a:p>
            <a:pPr marL="0" indent="0">
              <a:lnSpc>
                <a:spcPts val="1650"/>
              </a:lnSpc>
              <a:buNone/>
            </a:pPr>
            <a:r>
              <a:rPr lang="en-US" sz="1200" dirty="0">
                <a:solidFill>
                  <a:srgbClr val="5B6B72"/>
                </a:solidFill>
                <a:latin typeface="Calibri" pitchFamily="34" charset="0"/>
                <a:ea typeface="Calibri" pitchFamily="34" charset="-122"/>
                <a:cs typeface="Calibri" pitchFamily="34" charset="-120"/>
              </a:rPr>
              <a:t>Whether regulatory relief can plausibly help; how much of the report must address definitions; whether agriculture is a chapter or a sidebar; whether rural borrowers are actually worse off.</a:t>
            </a:r>
            <a:endParaRPr lang="en-US" sz="1200" dirty="0"/>
          </a:p>
        </p:txBody>
      </p:sp>
      <p:sp>
        <p:nvSpPr>
          <p:cNvPr id="13" name="Shape 11"/>
          <p:cNvSpPr/>
          <p:nvPr/>
        </p:nvSpPr>
        <p:spPr>
          <a:xfrm>
            <a:off x="640080" y="4251960"/>
            <a:ext cx="2377440" cy="868680"/>
          </a:xfrm>
          <a:prstGeom prst="roundRect">
            <a:avLst>
              <a:gd name="adj" fmla="val 5263"/>
            </a:avLst>
          </a:prstGeom>
          <a:solidFill>
            <a:srgbClr val="7FB0AE"/>
          </a:solidFill>
          <a:ln/>
        </p:spPr>
        <p:txBody>
          <a:bodyPr/>
          <a:lstStyle/>
          <a:p>
            <a:endParaRPr lang="en-US"/>
          </a:p>
        </p:txBody>
      </p:sp>
      <p:sp>
        <p:nvSpPr>
          <p:cNvPr id="14" name="Text 12"/>
          <p:cNvSpPr/>
          <p:nvPr/>
        </p:nvSpPr>
        <p:spPr>
          <a:xfrm>
            <a:off x="822960" y="4343400"/>
            <a:ext cx="20574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Q7 Q8 Q9</a:t>
            </a:r>
            <a:endParaRPr lang="en-US" sz="1700" dirty="0"/>
          </a:p>
        </p:txBody>
      </p:sp>
      <p:sp>
        <p:nvSpPr>
          <p:cNvPr id="15" name="Text 13"/>
          <p:cNvSpPr/>
          <p:nvPr/>
        </p:nvSpPr>
        <p:spPr>
          <a:xfrm>
            <a:off x="822960" y="4727448"/>
            <a:ext cx="214884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Determines what we can show</a:t>
            </a:r>
            <a:endParaRPr lang="en-US" sz="1000" dirty="0"/>
          </a:p>
        </p:txBody>
      </p:sp>
      <p:sp>
        <p:nvSpPr>
          <p:cNvPr id="16" name="Text 14"/>
          <p:cNvSpPr/>
          <p:nvPr/>
        </p:nvSpPr>
        <p:spPr>
          <a:xfrm>
            <a:off x="3337560" y="4361688"/>
            <a:ext cx="8138160" cy="685800"/>
          </a:xfrm>
          <a:prstGeom prst="rect">
            <a:avLst/>
          </a:prstGeom>
          <a:noFill/>
          <a:ln/>
        </p:spPr>
        <p:txBody>
          <a:bodyPr wrap="square" lIns="0" tIns="0" rIns="0" bIns="0" rtlCol="0" anchor="ctr"/>
          <a:lstStyle/>
          <a:p>
            <a:pPr marL="0" indent="0">
              <a:lnSpc>
                <a:spcPts val="1650"/>
              </a:lnSpc>
              <a:buNone/>
            </a:pPr>
            <a:r>
              <a:rPr lang="en-US" sz="1200" dirty="0">
                <a:solidFill>
                  <a:srgbClr val="5B6B72"/>
                </a:solidFill>
                <a:latin typeface="Calibri" pitchFamily="34" charset="0"/>
                <a:ea typeface="Calibri" pitchFamily="34" charset="-122"/>
                <a:cs typeface="Calibri" pitchFamily="34" charset="-120"/>
              </a:rPr>
              <a:t>Whether we explain a pattern or explain a zero; whether the access story is decline or substitution; which trends the data honestly support.</a:t>
            </a:r>
            <a:endParaRPr lang="en-US" sz="1200" dirty="0"/>
          </a:p>
        </p:txBody>
      </p:sp>
      <p:sp>
        <p:nvSpPr>
          <p:cNvPr id="17" name="Shape 15"/>
          <p:cNvSpPr/>
          <p:nvPr/>
        </p:nvSpPr>
        <p:spPr>
          <a:xfrm>
            <a:off x="640080" y="5394960"/>
            <a:ext cx="10881360" cy="777240"/>
          </a:xfrm>
          <a:prstGeom prst="roundRect">
            <a:avLst>
              <a:gd name="adj" fmla="val 5882"/>
            </a:avLst>
          </a:prstGeom>
          <a:solidFill>
            <a:srgbClr val="F3F5F4"/>
          </a:solidFill>
          <a:ln/>
        </p:spPr>
        <p:txBody>
          <a:bodyPr/>
          <a:lstStyle/>
          <a:p>
            <a:endParaRPr lang="en-US"/>
          </a:p>
        </p:txBody>
      </p:sp>
      <p:sp>
        <p:nvSpPr>
          <p:cNvPr id="18" name="Text 16"/>
          <p:cNvSpPr/>
          <p:nvPr/>
        </p:nvSpPr>
        <p:spPr>
          <a:xfrm>
            <a:off x="932688" y="5504688"/>
            <a:ext cx="2651760" cy="256032"/>
          </a:xfrm>
          <a:prstGeom prst="rect">
            <a:avLst/>
          </a:prstGeom>
          <a:noFill/>
          <a:ln/>
        </p:spPr>
        <p:txBody>
          <a:bodyPr wrap="square" lIns="0" tIns="0" rIns="0" bIns="0" rtlCol="0" anchor="ctr"/>
          <a:lstStyle/>
          <a:p>
            <a:pPr marL="0" indent="0">
              <a:buNone/>
            </a:pPr>
            <a:r>
              <a:rPr lang="en-US" sz="1150" b="1" dirty="0">
                <a:solidFill>
                  <a:srgbClr val="C8553D"/>
                </a:solidFill>
                <a:latin typeface="Calibri" pitchFamily="34" charset="0"/>
                <a:ea typeface="Calibri" pitchFamily="34" charset="-122"/>
                <a:cs typeface="Calibri" pitchFamily="34" charset="-120"/>
              </a:rPr>
              <a:t>Two disciplines fixed in advance:</a:t>
            </a:r>
            <a:endParaRPr lang="en-US" sz="1150" dirty="0"/>
          </a:p>
        </p:txBody>
      </p:sp>
      <p:sp>
        <p:nvSpPr>
          <p:cNvPr id="19" name="Text 17"/>
          <p:cNvSpPr/>
          <p:nvPr/>
        </p:nvSpPr>
        <p:spPr>
          <a:xfrm>
            <a:off x="3657600" y="5486400"/>
            <a:ext cx="7589520" cy="594360"/>
          </a:xfrm>
          <a:prstGeom prst="rect">
            <a:avLst/>
          </a:prstGeom>
          <a:noFill/>
          <a:ln/>
        </p:spPr>
        <p:txBody>
          <a:bodyPr wrap="square" lIns="0" tIns="0" rIns="0" bIns="0" rtlCol="0" anchor="ctr"/>
          <a:lstStyle/>
          <a:p>
            <a:pPr marL="0" indent="0">
              <a:lnSpc>
                <a:spcPts val="1500"/>
              </a:lnSpc>
              <a:buNone/>
            </a:pPr>
            <a:r>
              <a:rPr lang="en-US" sz="1150" dirty="0">
                <a:solidFill>
                  <a:srgbClr val="12202E"/>
                </a:solidFill>
                <a:latin typeface="Calibri" pitchFamily="34" charset="0"/>
                <a:ea typeface="Calibri" pitchFamily="34" charset="-122"/>
                <a:cs typeface="Calibri" pitchFamily="34" charset="-120"/>
              </a:rPr>
              <a:t>the tiering was set before any estimation, so no question could be promoted after we saw its answer; and every finding from this phase is labelled exploratory, to be re-tested on the final analytic sample. Mixing the two stages is how studies lose credibility.</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4 · RESEARCH DESIGN</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What the findings are built on</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Two panels, both constructed in-house from NCUA filings, plus the USDA-ERS county classification.</a:t>
            </a:r>
            <a:endParaRPr lang="en-US" sz="1350" dirty="0"/>
          </a:p>
        </p:txBody>
      </p:sp>
      <p:sp>
        <p:nvSpPr>
          <p:cNvPr id="5" name="Shape 3"/>
          <p:cNvSpPr/>
          <p:nvPr/>
        </p:nvSpPr>
        <p:spPr>
          <a:xfrm>
            <a:off x="640080" y="1920240"/>
            <a:ext cx="5257800" cy="1783080"/>
          </a:xfrm>
          <a:prstGeom prst="roundRect">
            <a:avLst>
              <a:gd name="adj" fmla="val 2564"/>
            </a:avLst>
          </a:prstGeom>
          <a:solidFill>
            <a:srgbClr val="F3F5F4"/>
          </a:solidFill>
          <a:ln/>
        </p:spPr>
        <p:txBody>
          <a:bodyPr/>
          <a:lstStyle/>
          <a:p>
            <a:endParaRPr lang="en-US"/>
          </a:p>
        </p:txBody>
      </p:sp>
      <p:sp>
        <p:nvSpPr>
          <p:cNvPr id="6" name="Text 4"/>
          <p:cNvSpPr/>
          <p:nvPr/>
        </p:nvSpPr>
        <p:spPr>
          <a:xfrm>
            <a:off x="914400" y="2084832"/>
            <a:ext cx="4663440" cy="256032"/>
          </a:xfrm>
          <a:prstGeom prst="rect">
            <a:avLst/>
          </a:prstGeom>
          <a:noFill/>
          <a:ln/>
        </p:spPr>
        <p:txBody>
          <a:bodyPr wrap="square" lIns="0" tIns="0" rIns="0" bIns="0" rtlCol="0" anchor="ctr"/>
          <a:lstStyle/>
          <a:p>
            <a:pPr marL="0" indent="0">
              <a:buNone/>
            </a:pPr>
            <a:r>
              <a:rPr lang="en-US" sz="1250" b="1" dirty="0">
                <a:solidFill>
                  <a:srgbClr val="0E4C55"/>
                </a:solidFill>
                <a:latin typeface="Calibri" pitchFamily="34" charset="0"/>
                <a:ea typeface="Calibri" pitchFamily="34" charset="-122"/>
                <a:cs typeface="Calibri" pitchFamily="34" charset="-120"/>
              </a:rPr>
              <a:t>Call Report panel</a:t>
            </a:r>
            <a:endParaRPr lang="en-US" sz="1250" dirty="0"/>
          </a:p>
        </p:txBody>
      </p:sp>
      <p:sp>
        <p:nvSpPr>
          <p:cNvPr id="7" name="Text 5"/>
          <p:cNvSpPr/>
          <p:nvPr/>
        </p:nvSpPr>
        <p:spPr>
          <a:xfrm>
            <a:off x="914400" y="2377440"/>
            <a:ext cx="4754880" cy="1234440"/>
          </a:xfrm>
          <a:prstGeom prst="rect">
            <a:avLst/>
          </a:prstGeom>
          <a:noFill/>
          <a:ln/>
        </p:spPr>
        <p:txBody>
          <a:bodyPr wrap="square" lIns="0" tIns="0" rIns="0" bIns="0" rtlCol="0" anchor="ctr"/>
          <a:lstStyle/>
          <a:p>
            <a:pPr marL="342900" indent="-342900">
              <a:lnSpc>
                <a:spcPts val="1500"/>
              </a:lnSpc>
              <a:spcAft>
                <a:spcPts val="300"/>
              </a:spcAft>
              <a:buSzPct val="100000"/>
              <a:buChar char="•"/>
            </a:pPr>
            <a:r>
              <a:rPr lang="en-US" sz="1100" dirty="0">
                <a:solidFill>
                  <a:srgbClr val="12202E"/>
                </a:solidFill>
                <a:latin typeface="Calibri" pitchFamily="34" charset="0"/>
                <a:ea typeface="Calibri" pitchFamily="34" charset="-122"/>
                <a:cs typeface="Calibri" pitchFamily="34" charset="-120"/>
              </a:rPr>
              <a:t>5300 filings, 2010Q1 to 2026Q1 — 105 quarters</a:t>
            </a:r>
            <a:endParaRPr lang="en-US" sz="1100" dirty="0"/>
          </a:p>
          <a:p>
            <a:pPr marL="342900" indent="-342900">
              <a:lnSpc>
                <a:spcPts val="1500"/>
              </a:lnSpc>
              <a:spcAft>
                <a:spcPts val="300"/>
              </a:spcAft>
              <a:buSzPct val="100000"/>
              <a:buChar char="•"/>
            </a:pPr>
            <a:r>
              <a:rPr lang="en-US" sz="1100" dirty="0">
                <a:solidFill>
                  <a:srgbClr val="12202E"/>
                </a:solidFill>
                <a:latin typeface="Calibri" pitchFamily="34" charset="0"/>
                <a:ea typeface="Calibri" pitchFamily="34" charset="-122"/>
                <a:cs typeface="Calibri" pitchFamily="34" charset="-120"/>
              </a:rPr>
              <a:t>11,327 credit unions, 701,351 credit-union quarters</a:t>
            </a:r>
            <a:endParaRPr lang="en-US" sz="1100" dirty="0"/>
          </a:p>
          <a:p>
            <a:pPr marL="342900" indent="-342900">
              <a:lnSpc>
                <a:spcPts val="1500"/>
              </a:lnSpc>
              <a:spcAft>
                <a:spcPts val="300"/>
              </a:spcAft>
              <a:buSzPct val="100000"/>
              <a:buChar char="•"/>
            </a:pPr>
            <a:r>
              <a:rPr lang="en-US" sz="1100" dirty="0">
                <a:solidFill>
                  <a:srgbClr val="12202E"/>
                </a:solidFill>
                <a:latin typeface="Calibri" pitchFamily="34" charset="0"/>
                <a:ea typeface="Calibri" pitchFamily="34" charset="-122"/>
                <a:cs typeface="Calibri" pitchFamily="34" charset="-120"/>
              </a:rPr>
              <a:t>~275 fields each; headquarters in 1,819 distinct county FIPS</a:t>
            </a:r>
            <a:endParaRPr lang="en-US" sz="1100" dirty="0"/>
          </a:p>
          <a:p>
            <a:pPr marL="342900" indent="-342900">
              <a:lnSpc>
                <a:spcPts val="1500"/>
              </a:lnSpc>
              <a:spcAft>
                <a:spcPts val="300"/>
              </a:spcAft>
              <a:buSzPct val="100000"/>
              <a:buChar char="•"/>
            </a:pPr>
            <a:r>
              <a:rPr lang="en-US" sz="1100" dirty="0">
                <a:solidFill>
                  <a:srgbClr val="12202E"/>
                </a:solidFill>
                <a:latin typeface="Calibri" pitchFamily="34" charset="0"/>
                <a:ea typeface="Calibri" pitchFamily="34" charset="-122"/>
                <a:cs typeface="Calibri" pitchFamily="34" charset="-120"/>
              </a:rPr>
              <a:t>Q1 estimation sample: 313,650 quarters, 7,180 CUs, 765 rural</a:t>
            </a:r>
            <a:endParaRPr lang="en-US" sz="1100" dirty="0"/>
          </a:p>
        </p:txBody>
      </p:sp>
      <p:sp>
        <p:nvSpPr>
          <p:cNvPr id="8" name="Shape 6"/>
          <p:cNvSpPr/>
          <p:nvPr/>
        </p:nvSpPr>
        <p:spPr>
          <a:xfrm>
            <a:off x="6217920" y="1920240"/>
            <a:ext cx="5257800" cy="1783080"/>
          </a:xfrm>
          <a:prstGeom prst="roundRect">
            <a:avLst>
              <a:gd name="adj" fmla="val 2564"/>
            </a:avLst>
          </a:prstGeom>
          <a:solidFill>
            <a:srgbClr val="F3F5F4"/>
          </a:solidFill>
          <a:ln/>
        </p:spPr>
        <p:txBody>
          <a:bodyPr/>
          <a:lstStyle/>
          <a:p>
            <a:endParaRPr lang="en-US"/>
          </a:p>
        </p:txBody>
      </p:sp>
      <p:sp>
        <p:nvSpPr>
          <p:cNvPr id="9" name="Text 7"/>
          <p:cNvSpPr/>
          <p:nvPr/>
        </p:nvSpPr>
        <p:spPr>
          <a:xfrm>
            <a:off x="6492240" y="2084832"/>
            <a:ext cx="4663440" cy="256032"/>
          </a:xfrm>
          <a:prstGeom prst="rect">
            <a:avLst/>
          </a:prstGeom>
          <a:noFill/>
          <a:ln/>
        </p:spPr>
        <p:txBody>
          <a:bodyPr wrap="square" lIns="0" tIns="0" rIns="0" bIns="0" rtlCol="0" anchor="ctr"/>
          <a:lstStyle/>
          <a:p>
            <a:pPr marL="0" indent="0">
              <a:buNone/>
            </a:pPr>
            <a:r>
              <a:rPr lang="en-US" sz="1250" b="1" dirty="0">
                <a:solidFill>
                  <a:srgbClr val="0E4C55"/>
                </a:solidFill>
                <a:latin typeface="Calibri" pitchFamily="34" charset="0"/>
                <a:ea typeface="Calibri" pitchFamily="34" charset="-122"/>
                <a:cs typeface="Calibri" pitchFamily="34" charset="-120"/>
              </a:rPr>
              <a:t>Branch panel</a:t>
            </a:r>
            <a:endParaRPr lang="en-US" sz="1250" dirty="0"/>
          </a:p>
        </p:txBody>
      </p:sp>
      <p:sp>
        <p:nvSpPr>
          <p:cNvPr id="10" name="Text 8"/>
          <p:cNvSpPr/>
          <p:nvPr/>
        </p:nvSpPr>
        <p:spPr>
          <a:xfrm>
            <a:off x="6492240" y="2377440"/>
            <a:ext cx="4754880" cy="1234440"/>
          </a:xfrm>
          <a:prstGeom prst="rect">
            <a:avLst/>
          </a:prstGeom>
          <a:noFill/>
          <a:ln/>
        </p:spPr>
        <p:txBody>
          <a:bodyPr wrap="square" lIns="0" tIns="0" rIns="0" bIns="0" rtlCol="0" anchor="ctr"/>
          <a:lstStyle/>
          <a:p>
            <a:pPr marL="342900" indent="-342900">
              <a:lnSpc>
                <a:spcPts val="1500"/>
              </a:lnSpc>
              <a:spcAft>
                <a:spcPts val="300"/>
              </a:spcAft>
              <a:buSzPct val="100000"/>
              <a:buChar char="•"/>
            </a:pPr>
            <a:r>
              <a:rPr lang="en-US" sz="1100" dirty="0">
                <a:solidFill>
                  <a:srgbClr val="12202E"/>
                </a:solidFill>
                <a:latin typeface="Calibri" pitchFamily="34" charset="0"/>
                <a:ea typeface="Calibri" pitchFamily="34" charset="-122"/>
                <a:cs typeface="Calibri" pitchFamily="34" charset="-120"/>
              </a:rPr>
              <a:t>63 quarterly office files, 2010Q3 to 2026Q1</a:t>
            </a:r>
            <a:endParaRPr lang="en-US" sz="1100" dirty="0"/>
          </a:p>
          <a:p>
            <a:pPr marL="342900" indent="-342900">
              <a:lnSpc>
                <a:spcPts val="1500"/>
              </a:lnSpc>
              <a:spcAft>
                <a:spcPts val="300"/>
              </a:spcAft>
              <a:buSzPct val="100000"/>
              <a:buChar char="•"/>
            </a:pPr>
            <a:r>
              <a:rPr lang="en-US" sz="1100" dirty="0">
                <a:solidFill>
                  <a:srgbClr val="12202E"/>
                </a:solidFill>
                <a:latin typeface="Calibri" pitchFamily="34" charset="0"/>
                <a:ea typeface="Calibri" pitchFamily="34" charset="-122"/>
                <a:cs typeface="Calibri" pitchFamily="34" charset="-120"/>
              </a:rPr>
              <a:t>1,347,744 site-quarters across 37,811 distinct sites</a:t>
            </a:r>
            <a:endParaRPr lang="en-US" sz="1100" dirty="0"/>
          </a:p>
          <a:p>
            <a:pPr marL="342900" indent="-342900">
              <a:lnSpc>
                <a:spcPts val="1500"/>
              </a:lnSpc>
              <a:spcAft>
                <a:spcPts val="300"/>
              </a:spcAft>
              <a:buSzPct val="100000"/>
              <a:buChar char="•"/>
            </a:pPr>
            <a:r>
              <a:rPr lang="en-US" sz="1100" dirty="0">
                <a:solidFill>
                  <a:srgbClr val="12202E"/>
                </a:solidFill>
                <a:latin typeface="Calibri" pitchFamily="34" charset="0"/>
                <a:ea typeface="Calibri" pitchFamily="34" charset="-122"/>
                <a:cs typeface="Calibri" pitchFamily="34" charset="-120"/>
              </a:rPr>
              <a:t>Site identifiers are stable — 29,829 of 36,493 appear in 10+ quarters</a:t>
            </a:r>
            <a:endParaRPr lang="en-US" sz="1100" dirty="0"/>
          </a:p>
          <a:p>
            <a:pPr marL="342900" indent="-342900">
              <a:lnSpc>
                <a:spcPts val="1500"/>
              </a:lnSpc>
              <a:spcAft>
                <a:spcPts val="300"/>
              </a:spcAft>
              <a:buSzPct val="100000"/>
              <a:buChar char="•"/>
            </a:pPr>
            <a:r>
              <a:rPr lang="en-US" sz="1100" dirty="0">
                <a:solidFill>
                  <a:srgbClr val="12202E"/>
                </a:solidFill>
                <a:latin typeface="Calibri" pitchFamily="34" charset="0"/>
                <a:ea typeface="Calibri" pitchFamily="34" charset="-122"/>
                <a:cs typeface="Calibri" pitchFamily="34" charset="-120"/>
              </a:rPr>
              <a:t>Event analysis starts 2013Q1, once table coverage has filled</a:t>
            </a:r>
            <a:endParaRPr lang="en-US" sz="1100" dirty="0"/>
          </a:p>
        </p:txBody>
      </p:sp>
      <p:sp>
        <p:nvSpPr>
          <p:cNvPr id="11" name="Text 9"/>
          <p:cNvSpPr/>
          <p:nvPr/>
        </p:nvSpPr>
        <p:spPr>
          <a:xfrm>
            <a:off x="640080" y="3886200"/>
            <a:ext cx="10881360" cy="274320"/>
          </a:xfrm>
          <a:prstGeom prst="rect">
            <a:avLst/>
          </a:prstGeom>
          <a:noFill/>
          <a:ln/>
        </p:spPr>
        <p:txBody>
          <a:bodyPr wrap="square" lIns="0" tIns="0" rIns="0" bIns="0" rtlCol="0" anchor="ctr"/>
          <a:lstStyle/>
          <a:p>
            <a:pPr marL="0" indent="0">
              <a:buNone/>
            </a:pPr>
            <a:r>
              <a:rPr lang="en-US" sz="1300" b="1" dirty="0">
                <a:solidFill>
                  <a:srgbClr val="0E4C55"/>
                </a:solidFill>
                <a:latin typeface="Calibri" pitchFamily="34" charset="0"/>
                <a:ea typeface="Calibri" pitchFamily="34" charset="-122"/>
                <a:cs typeface="Calibri" pitchFamily="34" charset="-120"/>
              </a:rPr>
              <a:t>Five methods, chosen so that they fail independently</a:t>
            </a:r>
            <a:endParaRPr lang="en-US" sz="1300" dirty="0"/>
          </a:p>
        </p:txBody>
      </p:sp>
      <p:sp>
        <p:nvSpPr>
          <p:cNvPr id="12" name="Shape 10"/>
          <p:cNvSpPr/>
          <p:nvPr/>
        </p:nvSpPr>
        <p:spPr>
          <a:xfrm>
            <a:off x="640080" y="4251960"/>
            <a:ext cx="2011680" cy="1783080"/>
          </a:xfrm>
          <a:prstGeom prst="roundRect">
            <a:avLst>
              <a:gd name="adj" fmla="val 2564"/>
            </a:avLst>
          </a:prstGeom>
          <a:solidFill>
            <a:srgbClr val="DCE6E4"/>
          </a:solidFill>
          <a:ln/>
        </p:spPr>
        <p:txBody>
          <a:bodyPr/>
          <a:lstStyle/>
          <a:p>
            <a:endParaRPr lang="en-US"/>
          </a:p>
        </p:txBody>
      </p:sp>
      <p:sp>
        <p:nvSpPr>
          <p:cNvPr id="13" name="Text 11"/>
          <p:cNvSpPr/>
          <p:nvPr/>
        </p:nvSpPr>
        <p:spPr>
          <a:xfrm>
            <a:off x="822960" y="4407408"/>
            <a:ext cx="1691640" cy="548640"/>
          </a:xfrm>
          <a:prstGeom prst="rect">
            <a:avLst/>
          </a:prstGeom>
          <a:noFill/>
          <a:ln/>
        </p:spPr>
        <p:txBody>
          <a:bodyPr wrap="square" lIns="0" tIns="0" rIns="0" bIns="0" rtlCol="0" anchor="ctr"/>
          <a:lstStyle/>
          <a:p>
            <a:pPr marL="0" indent="0">
              <a:lnSpc>
                <a:spcPts val="1450"/>
              </a:lnSpc>
              <a:buNone/>
            </a:pPr>
            <a:r>
              <a:rPr lang="en-US" sz="1150" b="1" dirty="0">
                <a:solidFill>
                  <a:srgbClr val="0E4C55"/>
                </a:solidFill>
                <a:latin typeface="Calibri" pitchFamily="34" charset="0"/>
                <a:ea typeface="Calibri" pitchFamily="34" charset="-122"/>
                <a:cs typeface="Calibri" pitchFamily="34" charset="-120"/>
              </a:rPr>
              <a:t>Fixed-effects regression</a:t>
            </a:r>
            <a:endParaRPr lang="en-US" sz="1150" dirty="0"/>
          </a:p>
        </p:txBody>
      </p:sp>
      <p:sp>
        <p:nvSpPr>
          <p:cNvPr id="14" name="Text 12"/>
          <p:cNvSpPr/>
          <p:nvPr/>
        </p:nvSpPr>
        <p:spPr>
          <a:xfrm>
            <a:off x="822960" y="4983480"/>
            <a:ext cx="1691640" cy="960120"/>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State × quarter effects, clustered errors. Removes local-economy and macro timing.</a:t>
            </a:r>
            <a:endParaRPr lang="en-US" sz="1000" dirty="0"/>
          </a:p>
        </p:txBody>
      </p:sp>
      <p:sp>
        <p:nvSpPr>
          <p:cNvPr id="15" name="Shape 13"/>
          <p:cNvSpPr/>
          <p:nvPr/>
        </p:nvSpPr>
        <p:spPr>
          <a:xfrm>
            <a:off x="2862072" y="4251960"/>
            <a:ext cx="2011680" cy="1783080"/>
          </a:xfrm>
          <a:prstGeom prst="roundRect">
            <a:avLst>
              <a:gd name="adj" fmla="val 2564"/>
            </a:avLst>
          </a:prstGeom>
          <a:solidFill>
            <a:srgbClr val="DCE6E4"/>
          </a:solidFill>
          <a:ln/>
        </p:spPr>
        <p:txBody>
          <a:bodyPr/>
          <a:lstStyle/>
          <a:p>
            <a:endParaRPr lang="en-US"/>
          </a:p>
        </p:txBody>
      </p:sp>
      <p:sp>
        <p:nvSpPr>
          <p:cNvPr id="16" name="Text 14"/>
          <p:cNvSpPr/>
          <p:nvPr/>
        </p:nvSpPr>
        <p:spPr>
          <a:xfrm>
            <a:off x="3044952" y="4407408"/>
            <a:ext cx="1691640" cy="548640"/>
          </a:xfrm>
          <a:prstGeom prst="rect">
            <a:avLst/>
          </a:prstGeom>
          <a:noFill/>
          <a:ln/>
        </p:spPr>
        <p:txBody>
          <a:bodyPr wrap="square" lIns="0" tIns="0" rIns="0" bIns="0" rtlCol="0" anchor="ctr"/>
          <a:lstStyle/>
          <a:p>
            <a:pPr marL="0" indent="0">
              <a:lnSpc>
                <a:spcPts val="1450"/>
              </a:lnSpc>
              <a:buNone/>
            </a:pPr>
            <a:r>
              <a:rPr lang="en-US" sz="1150" b="1" dirty="0">
                <a:solidFill>
                  <a:srgbClr val="0E4C55"/>
                </a:solidFill>
                <a:latin typeface="Calibri" pitchFamily="34" charset="0"/>
                <a:ea typeface="Calibri" pitchFamily="34" charset="-122"/>
                <a:cs typeface="Calibri" pitchFamily="34" charset="-120"/>
              </a:rPr>
              <a:t>Size-band comparison</a:t>
            </a:r>
            <a:endParaRPr lang="en-US" sz="1150" dirty="0"/>
          </a:p>
        </p:txBody>
      </p:sp>
      <p:sp>
        <p:nvSpPr>
          <p:cNvPr id="17" name="Text 15"/>
          <p:cNvSpPr/>
          <p:nvPr/>
        </p:nvSpPr>
        <p:spPr>
          <a:xfrm>
            <a:off x="3044952" y="4983480"/>
            <a:ext cx="1691640" cy="960120"/>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Six asset bands, compared within band. Removes functional-form risk.</a:t>
            </a:r>
            <a:endParaRPr lang="en-US" sz="1000" dirty="0"/>
          </a:p>
        </p:txBody>
      </p:sp>
      <p:sp>
        <p:nvSpPr>
          <p:cNvPr id="18" name="Shape 16"/>
          <p:cNvSpPr/>
          <p:nvPr/>
        </p:nvSpPr>
        <p:spPr>
          <a:xfrm>
            <a:off x="5084064" y="4251960"/>
            <a:ext cx="2011680" cy="1783080"/>
          </a:xfrm>
          <a:prstGeom prst="roundRect">
            <a:avLst>
              <a:gd name="adj" fmla="val 2564"/>
            </a:avLst>
          </a:prstGeom>
          <a:solidFill>
            <a:srgbClr val="DCE6E4"/>
          </a:solidFill>
          <a:ln/>
        </p:spPr>
        <p:txBody>
          <a:bodyPr/>
          <a:lstStyle/>
          <a:p>
            <a:endParaRPr lang="en-US"/>
          </a:p>
        </p:txBody>
      </p:sp>
      <p:sp>
        <p:nvSpPr>
          <p:cNvPr id="19" name="Text 17"/>
          <p:cNvSpPr/>
          <p:nvPr/>
        </p:nvSpPr>
        <p:spPr>
          <a:xfrm>
            <a:off x="5266944" y="4407408"/>
            <a:ext cx="1691640" cy="548640"/>
          </a:xfrm>
          <a:prstGeom prst="rect">
            <a:avLst/>
          </a:prstGeom>
          <a:noFill/>
          <a:ln/>
        </p:spPr>
        <p:txBody>
          <a:bodyPr wrap="square" lIns="0" tIns="0" rIns="0" bIns="0" rtlCol="0" anchor="ctr"/>
          <a:lstStyle/>
          <a:p>
            <a:pPr marL="0" indent="0">
              <a:lnSpc>
                <a:spcPts val="1450"/>
              </a:lnSpc>
              <a:buNone/>
            </a:pPr>
            <a:r>
              <a:rPr lang="en-US" sz="1150" b="1" dirty="0">
                <a:solidFill>
                  <a:srgbClr val="0E4C55"/>
                </a:solidFill>
                <a:latin typeface="Calibri" pitchFamily="34" charset="0"/>
                <a:ea typeface="Calibri" pitchFamily="34" charset="-122"/>
                <a:cs typeface="Calibri" pitchFamily="34" charset="-120"/>
              </a:rPr>
              <a:t>Size-matched pairs</a:t>
            </a:r>
            <a:endParaRPr lang="en-US" sz="1150" dirty="0"/>
          </a:p>
        </p:txBody>
      </p:sp>
      <p:sp>
        <p:nvSpPr>
          <p:cNvPr id="20" name="Text 18"/>
          <p:cNvSpPr/>
          <p:nvPr/>
        </p:nvSpPr>
        <p:spPr>
          <a:xfrm>
            <a:off x="5266944" y="4983480"/>
            <a:ext cx="1691640" cy="960120"/>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33,403 rural quarters matched within 10% on assets, same quarter.</a:t>
            </a:r>
            <a:endParaRPr lang="en-US" sz="1000" dirty="0"/>
          </a:p>
        </p:txBody>
      </p:sp>
      <p:sp>
        <p:nvSpPr>
          <p:cNvPr id="21" name="Shape 19"/>
          <p:cNvSpPr/>
          <p:nvPr/>
        </p:nvSpPr>
        <p:spPr>
          <a:xfrm>
            <a:off x="7306056" y="4251960"/>
            <a:ext cx="2011680" cy="1783080"/>
          </a:xfrm>
          <a:prstGeom prst="roundRect">
            <a:avLst>
              <a:gd name="adj" fmla="val 2564"/>
            </a:avLst>
          </a:prstGeom>
          <a:solidFill>
            <a:srgbClr val="DCE6E4"/>
          </a:solidFill>
          <a:ln/>
        </p:spPr>
        <p:txBody>
          <a:bodyPr/>
          <a:lstStyle/>
          <a:p>
            <a:endParaRPr lang="en-US"/>
          </a:p>
        </p:txBody>
      </p:sp>
      <p:sp>
        <p:nvSpPr>
          <p:cNvPr id="22" name="Text 20"/>
          <p:cNvSpPr/>
          <p:nvPr/>
        </p:nvSpPr>
        <p:spPr>
          <a:xfrm>
            <a:off x="7488936" y="4407408"/>
            <a:ext cx="1691640" cy="548640"/>
          </a:xfrm>
          <a:prstGeom prst="rect">
            <a:avLst/>
          </a:prstGeom>
          <a:noFill/>
          <a:ln/>
        </p:spPr>
        <p:txBody>
          <a:bodyPr wrap="square" lIns="0" tIns="0" rIns="0" bIns="0" rtlCol="0" anchor="ctr"/>
          <a:lstStyle/>
          <a:p>
            <a:pPr marL="0" indent="0">
              <a:lnSpc>
                <a:spcPts val="1450"/>
              </a:lnSpc>
              <a:buNone/>
            </a:pPr>
            <a:r>
              <a:rPr lang="en-US" sz="1150" b="1" dirty="0">
                <a:solidFill>
                  <a:srgbClr val="0E4C55"/>
                </a:solidFill>
                <a:latin typeface="Calibri" pitchFamily="34" charset="0"/>
                <a:ea typeface="Calibri" pitchFamily="34" charset="-122"/>
                <a:cs typeface="Calibri" pitchFamily="34" charset="-120"/>
              </a:rPr>
              <a:t>Oaxaca decomposition</a:t>
            </a:r>
            <a:endParaRPr lang="en-US" sz="1150" dirty="0"/>
          </a:p>
        </p:txBody>
      </p:sp>
      <p:sp>
        <p:nvSpPr>
          <p:cNvPr id="23" name="Text 21"/>
          <p:cNvSpPr/>
          <p:nvPr/>
        </p:nvSpPr>
        <p:spPr>
          <a:xfrm>
            <a:off x="7488936" y="4983480"/>
            <a:ext cx="1691640" cy="960120"/>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Splits the raw gap into explained and unexplained components.</a:t>
            </a:r>
            <a:endParaRPr lang="en-US" sz="1000" dirty="0"/>
          </a:p>
        </p:txBody>
      </p:sp>
      <p:sp>
        <p:nvSpPr>
          <p:cNvPr id="24" name="Shape 22"/>
          <p:cNvSpPr/>
          <p:nvPr/>
        </p:nvSpPr>
        <p:spPr>
          <a:xfrm>
            <a:off x="9528048" y="4251960"/>
            <a:ext cx="2011680" cy="1783080"/>
          </a:xfrm>
          <a:prstGeom prst="roundRect">
            <a:avLst>
              <a:gd name="adj" fmla="val 2564"/>
            </a:avLst>
          </a:prstGeom>
          <a:solidFill>
            <a:srgbClr val="DCE6E4"/>
          </a:solidFill>
          <a:ln/>
        </p:spPr>
        <p:txBody>
          <a:bodyPr/>
          <a:lstStyle/>
          <a:p>
            <a:endParaRPr lang="en-US"/>
          </a:p>
        </p:txBody>
      </p:sp>
      <p:sp>
        <p:nvSpPr>
          <p:cNvPr id="25" name="Text 23"/>
          <p:cNvSpPr/>
          <p:nvPr/>
        </p:nvSpPr>
        <p:spPr>
          <a:xfrm>
            <a:off x="9710928" y="4407408"/>
            <a:ext cx="1691640" cy="548640"/>
          </a:xfrm>
          <a:prstGeom prst="rect">
            <a:avLst/>
          </a:prstGeom>
          <a:noFill/>
          <a:ln/>
        </p:spPr>
        <p:txBody>
          <a:bodyPr wrap="square" lIns="0" tIns="0" rIns="0" bIns="0" rtlCol="0" anchor="ctr"/>
          <a:lstStyle/>
          <a:p>
            <a:pPr marL="0" indent="0">
              <a:lnSpc>
                <a:spcPts val="1450"/>
              </a:lnSpc>
              <a:buNone/>
            </a:pPr>
            <a:r>
              <a:rPr lang="en-US" sz="1150" b="1" dirty="0">
                <a:solidFill>
                  <a:srgbClr val="0E4C55"/>
                </a:solidFill>
                <a:latin typeface="Calibri" pitchFamily="34" charset="0"/>
                <a:ea typeface="Calibri" pitchFamily="34" charset="-122"/>
                <a:cs typeface="Calibri" pitchFamily="34" charset="-120"/>
              </a:rPr>
              <a:t>Survival analysis</a:t>
            </a:r>
            <a:endParaRPr lang="en-US" sz="1150" dirty="0"/>
          </a:p>
        </p:txBody>
      </p:sp>
      <p:sp>
        <p:nvSpPr>
          <p:cNvPr id="26" name="Text 24"/>
          <p:cNvSpPr/>
          <p:nvPr/>
        </p:nvSpPr>
        <p:spPr>
          <a:xfrm>
            <a:off x="9710928" y="4983480"/>
            <a:ext cx="1691640" cy="960120"/>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Cox hazards on exit, plus a fully balanced-panel replication.</a:t>
            </a:r>
            <a:endParaRPr lang="en-US" sz="1000" dirty="0"/>
          </a:p>
        </p:txBody>
      </p:sp>
      <p:sp>
        <p:nvSpPr>
          <p:cNvPr id="27" name="Text 25"/>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County classification: USDA-ERS Urban Influence Codes, 2013 and 2024 vintages, each held fixed across the full series.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2 · THE MANDATE</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Operationalising “rural” — and proving we did it right</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The definition is the most attackable choice in the study, so it was validated against ERS published counts before anything else was run.</a:t>
            </a:r>
            <a:endParaRPr lang="en-US" sz="1350" dirty="0"/>
          </a:p>
        </p:txBody>
      </p:sp>
      <p:sp>
        <p:nvSpPr>
          <p:cNvPr id="5" name="Shape 3"/>
          <p:cNvSpPr/>
          <p:nvPr/>
        </p:nvSpPr>
        <p:spPr>
          <a:xfrm>
            <a:off x="640080" y="1920240"/>
            <a:ext cx="5394960" cy="2148840"/>
          </a:xfrm>
          <a:prstGeom prst="roundRect">
            <a:avLst>
              <a:gd name="adj" fmla="val 2128"/>
            </a:avLst>
          </a:prstGeom>
          <a:solidFill>
            <a:srgbClr val="F3F5F4"/>
          </a:solidFill>
          <a:ln/>
        </p:spPr>
        <p:txBody>
          <a:bodyPr/>
          <a:lstStyle/>
          <a:p>
            <a:endParaRPr lang="en-US"/>
          </a:p>
        </p:txBody>
      </p:sp>
      <p:sp>
        <p:nvSpPr>
          <p:cNvPr id="6" name="Text 4"/>
          <p:cNvSpPr/>
          <p:nvPr/>
        </p:nvSpPr>
        <p:spPr>
          <a:xfrm>
            <a:off x="914400" y="2084832"/>
            <a:ext cx="4754880" cy="256032"/>
          </a:xfrm>
          <a:prstGeom prst="rect">
            <a:avLst/>
          </a:prstGeom>
          <a:noFill/>
          <a:ln/>
        </p:spPr>
        <p:txBody>
          <a:bodyPr wrap="square" lIns="0" tIns="0" rIns="0" bIns="0" rtlCol="0" anchor="ctr"/>
          <a:lstStyle/>
          <a:p>
            <a:pPr marL="0" indent="0">
              <a:buNone/>
            </a:pPr>
            <a:r>
              <a:rPr lang="en-US" sz="1200" b="1" dirty="0">
                <a:solidFill>
                  <a:srgbClr val="0E4C55"/>
                </a:solidFill>
                <a:latin typeface="Calibri" pitchFamily="34" charset="0"/>
                <a:ea typeface="Calibri" pitchFamily="34" charset="-122"/>
                <a:cs typeface="Calibri" pitchFamily="34" charset="-120"/>
              </a:rPr>
              <a:t>The classification</a:t>
            </a:r>
            <a:endParaRPr lang="en-US" sz="1200" dirty="0"/>
          </a:p>
        </p:txBody>
      </p:sp>
      <p:sp>
        <p:nvSpPr>
          <p:cNvPr id="7" name="Text 5"/>
          <p:cNvSpPr/>
          <p:nvPr/>
        </p:nvSpPr>
        <p:spPr>
          <a:xfrm>
            <a:off x="914400" y="2377440"/>
            <a:ext cx="4892040" cy="1554480"/>
          </a:xfrm>
          <a:prstGeom prst="rect">
            <a:avLst/>
          </a:prstGeom>
          <a:noFill/>
          <a:ln/>
        </p:spPr>
        <p:txBody>
          <a:bodyPr wrap="square" lIns="0" tIns="0" rIns="0" bIns="0" rtlCol="0" anchor="ctr"/>
          <a:lstStyle/>
          <a:p>
            <a:pPr marL="342900" indent="-342900">
              <a:lnSpc>
                <a:spcPts val="1600"/>
              </a:lnSpc>
              <a:spcAft>
                <a:spcPts val="400"/>
              </a:spcAft>
              <a:buSzPct val="100000"/>
              <a:buChar char="•"/>
            </a:pPr>
            <a:r>
              <a:rPr lang="en-US" sz="1150" dirty="0">
                <a:solidFill>
                  <a:srgbClr val="12202E"/>
                </a:solidFill>
                <a:latin typeface="Calibri" pitchFamily="34" charset="0"/>
                <a:ea typeface="Calibri" pitchFamily="34" charset="-122"/>
                <a:cs typeface="Calibri" pitchFamily="34" charset="-120"/>
              </a:rPr>
              <a:t>Rural = Urban Influence Code in {3, 6, 7, 8, 9}, 2024 vintage</a:t>
            </a:r>
            <a:endParaRPr lang="en-US" sz="1150" dirty="0"/>
          </a:p>
          <a:p>
            <a:pPr marL="342900" indent="-342900">
              <a:lnSpc>
                <a:spcPts val="1600"/>
              </a:lnSpc>
              <a:spcAft>
                <a:spcPts val="400"/>
              </a:spcAft>
              <a:buSzPct val="100000"/>
              <a:buChar char="•"/>
            </a:pPr>
            <a:r>
              <a:rPr lang="en-US" sz="1150" dirty="0">
                <a:solidFill>
                  <a:srgbClr val="12202E"/>
                </a:solidFill>
                <a:latin typeface="Calibri" pitchFamily="34" charset="0"/>
                <a:ea typeface="Calibri" pitchFamily="34" charset="-122"/>
                <a:cs typeface="Calibri" pitchFamily="34" charset="-120"/>
              </a:rPr>
              <a:t>Rural = UIC in {4, 6, 7, 8, 9, 10, 11, 12}, 2013 vintage</a:t>
            </a:r>
            <a:endParaRPr lang="en-US" sz="1150" dirty="0"/>
          </a:p>
          <a:p>
            <a:pPr marL="342900" indent="-342900">
              <a:lnSpc>
                <a:spcPts val="1600"/>
              </a:lnSpc>
              <a:spcAft>
                <a:spcPts val="400"/>
              </a:spcAft>
              <a:buSzPct val="100000"/>
              <a:buChar char="•"/>
            </a:pPr>
            <a:r>
              <a:rPr lang="en-US" sz="1150" dirty="0">
                <a:solidFill>
                  <a:srgbClr val="12202E"/>
                </a:solidFill>
                <a:latin typeface="Calibri" pitchFamily="34" charset="0"/>
                <a:ea typeface="Calibri" pitchFamily="34" charset="-122"/>
                <a:cs typeface="Calibri" pitchFamily="34" charset="-120"/>
              </a:rPr>
              <a:t>Yields 1,556 rural counties across 50 states and DC</a:t>
            </a:r>
            <a:endParaRPr lang="en-US" sz="1150" dirty="0"/>
          </a:p>
          <a:p>
            <a:pPr marL="342900" indent="-342900">
              <a:lnSpc>
                <a:spcPts val="1600"/>
              </a:lnSpc>
              <a:spcAft>
                <a:spcPts val="400"/>
              </a:spcAft>
              <a:buSzPct val="100000"/>
              <a:buChar char="•"/>
            </a:pPr>
            <a:r>
              <a:rPr lang="en-US" sz="1150" dirty="0">
                <a:solidFill>
                  <a:srgbClr val="12202E"/>
                </a:solidFill>
                <a:latin typeface="Calibri" pitchFamily="34" charset="0"/>
                <a:ea typeface="Calibri" pitchFamily="34" charset="-122"/>
                <a:cs typeface="Calibri" pitchFamily="34" charset="-120"/>
              </a:rPr>
              <a:t>All nine code-level county counts match ERS exactly</a:t>
            </a:r>
            <a:endParaRPr lang="en-US" sz="1150" dirty="0"/>
          </a:p>
        </p:txBody>
      </p:sp>
      <p:sp>
        <p:nvSpPr>
          <p:cNvPr id="8" name="Shape 6"/>
          <p:cNvSpPr/>
          <p:nvPr/>
        </p:nvSpPr>
        <p:spPr>
          <a:xfrm>
            <a:off x="6400800" y="1920240"/>
            <a:ext cx="5120640" cy="2148840"/>
          </a:xfrm>
          <a:prstGeom prst="roundRect">
            <a:avLst>
              <a:gd name="adj" fmla="val 2128"/>
            </a:avLst>
          </a:prstGeom>
          <a:solidFill>
            <a:srgbClr val="DCE6E4"/>
          </a:solidFill>
          <a:ln/>
        </p:spPr>
        <p:txBody>
          <a:bodyPr/>
          <a:lstStyle/>
          <a:p>
            <a:endParaRPr lang="en-US"/>
          </a:p>
        </p:txBody>
      </p:sp>
      <p:sp>
        <p:nvSpPr>
          <p:cNvPr id="9" name="Text 7"/>
          <p:cNvSpPr/>
          <p:nvPr/>
        </p:nvSpPr>
        <p:spPr>
          <a:xfrm>
            <a:off x="6675120" y="2084832"/>
            <a:ext cx="4572000" cy="256032"/>
          </a:xfrm>
          <a:prstGeom prst="rect">
            <a:avLst/>
          </a:prstGeom>
          <a:noFill/>
          <a:ln/>
        </p:spPr>
        <p:txBody>
          <a:bodyPr wrap="square" lIns="0" tIns="0" rIns="0" bIns="0" rtlCol="0" anchor="ctr"/>
          <a:lstStyle/>
          <a:p>
            <a:pPr marL="0" indent="0">
              <a:buNone/>
            </a:pPr>
            <a:r>
              <a:rPr lang="en-US" sz="1200" b="1" dirty="0">
                <a:solidFill>
                  <a:srgbClr val="0E4C55"/>
                </a:solidFill>
                <a:latin typeface="Calibri" pitchFamily="34" charset="0"/>
                <a:ea typeface="Calibri" pitchFamily="34" charset="-122"/>
                <a:cs typeface="Calibri" pitchFamily="34" charset="-120"/>
              </a:rPr>
              <a:t>The rule we imposed on ourselves</a:t>
            </a:r>
            <a:endParaRPr lang="en-US" sz="1200" dirty="0"/>
          </a:p>
        </p:txBody>
      </p:sp>
      <p:sp>
        <p:nvSpPr>
          <p:cNvPr id="10" name="Text 8"/>
          <p:cNvSpPr/>
          <p:nvPr/>
        </p:nvSpPr>
        <p:spPr>
          <a:xfrm>
            <a:off x="6675120" y="2395728"/>
            <a:ext cx="4572000" cy="1463040"/>
          </a:xfrm>
          <a:prstGeom prst="rect">
            <a:avLst/>
          </a:prstGeom>
          <a:noFill/>
          <a:ln/>
        </p:spPr>
        <p:txBody>
          <a:bodyPr wrap="square" lIns="0" tIns="0" rIns="0" bIns="0" rtlCol="0" anchor="ctr"/>
          <a:lstStyle/>
          <a:p>
            <a:pPr marL="0" indent="0">
              <a:lnSpc>
                <a:spcPts val="1600"/>
              </a:lnSpc>
              <a:buNone/>
            </a:pPr>
            <a:r>
              <a:rPr lang="en-US" sz="1150" dirty="0">
                <a:solidFill>
                  <a:srgbClr val="12202E"/>
                </a:solidFill>
                <a:latin typeface="Calibri" pitchFamily="34" charset="0"/>
                <a:ea typeface="Calibri" pitchFamily="34" charset="-122"/>
                <a:cs typeface="Calibri" pitchFamily="34" charset="-120"/>
              </a:rPr>
              <a:t>Hold one vintage FIXED across the entire series. Never use the contemporaneous definition — it lets counties change category mid-series and mixes genuine movement with map redrawing. Where the choice could matter, report both vintages and give the range.</a:t>
            </a:r>
            <a:endParaRPr lang="en-US" sz="1150" dirty="0"/>
          </a:p>
        </p:txBody>
      </p:sp>
      <p:sp>
        <p:nvSpPr>
          <p:cNvPr id="11" name="Text 9"/>
          <p:cNvSpPr/>
          <p:nvPr/>
        </p:nvSpPr>
        <p:spPr>
          <a:xfrm>
            <a:off x="640080" y="4251960"/>
            <a:ext cx="10881360" cy="274320"/>
          </a:xfrm>
          <a:prstGeom prst="rect">
            <a:avLst/>
          </a:prstGeom>
          <a:noFill/>
          <a:ln/>
        </p:spPr>
        <p:txBody>
          <a:bodyPr wrap="square" lIns="0" tIns="0" rIns="0" bIns="0" rtlCol="0" anchor="ctr"/>
          <a:lstStyle/>
          <a:p>
            <a:pPr marL="0" indent="0">
              <a:buNone/>
            </a:pPr>
            <a:r>
              <a:rPr lang="en-US" sz="1300" b="1" dirty="0">
                <a:solidFill>
                  <a:srgbClr val="0E4C55"/>
                </a:solidFill>
                <a:latin typeface="Calibri" pitchFamily="34" charset="0"/>
                <a:ea typeface="Calibri" pitchFamily="34" charset="-122"/>
                <a:cs typeface="Calibri" pitchFamily="34" charset="-120"/>
              </a:rPr>
              <a:t>How much does the definition actually move the answers?  (Q5)</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4526280"/>
          <a:ext cx="10881360" cy="914400"/>
        </p:xfrm>
        <a:graphic>
          <a:graphicData uri="http://schemas.openxmlformats.org/drawingml/2006/table">
            <a:tbl>
              <a:tblPr/>
              <a:tblGrid>
                <a:gridCol w="39319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283464">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Sensitivity test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Consequence for the report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extLst>
                  <a:ext uri="{0D108BD9-81ED-4DB2-BD59-A6C34878D82A}">
                    <a16:rowId xmlns:a16="http://schemas.microsoft.com/office/drawing/2014/main" val="10000"/>
                  </a:ext>
                </a:extLst>
              </a:tr>
              <a:tr h="283464">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Counties changing status between vintages</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169 of 3,222 (109 lost, 60 gained)</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Material — must be disclosed</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1"/>
                  </a:ext>
                </a:extLst>
              </a:tr>
              <a:tr h="283464">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Credit unions changing status on vintage alone</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66 (~14% of rural): 48 lose, 18 gain</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Report a range, not a point, for counts</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283464">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Office network LEVEL, 2024 vs 2013 codes</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6.4% difference, throughout the series</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Levels are vintage-dependent</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3"/>
                  </a:ext>
                </a:extLst>
              </a:tr>
              <a:tr h="283464">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Office network TREND, indexed 2013 = 100</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tc>
                  <a:txBody>
                    <a:bodyPr/>
                    <a:lstStyle/>
                    <a:p>
                      <a:pPr marL="0" indent="0" algn="ctr">
                        <a:buNone/>
                      </a:pPr>
                      <a:r>
                        <a:rPr lang="en-US" sz="1050" b="1" dirty="0">
                          <a:solidFill>
                            <a:srgbClr val="12202E"/>
                          </a:solidFill>
                          <a:latin typeface="Calibri" pitchFamily="34" charset="0"/>
                          <a:ea typeface="Calibri" pitchFamily="34" charset="-122"/>
                          <a:cs typeface="Calibri" pitchFamily="34" charset="-120"/>
                        </a:rPr>
                        <a:t>107.6 vs 106.7 after thirteen years</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tc>
                  <a:txBody>
                    <a:bodyPr/>
                    <a:lstStyle/>
                    <a:p>
                      <a:pPr marL="0" indent="0" algn="ctr">
                        <a:buNone/>
                      </a:pPr>
                      <a:r>
                        <a:rPr lang="en-US" sz="1050" b="1" dirty="0">
                          <a:solidFill>
                            <a:srgbClr val="12202E"/>
                          </a:solidFill>
                          <a:latin typeface="Calibri" pitchFamily="34" charset="0"/>
                          <a:ea typeface="Calibri" pitchFamily="34" charset="-122"/>
                          <a:cs typeface="Calibri" pitchFamily="34" charset="-120"/>
                        </a:rPr>
                        <a:t>Trends are not. Lead with trends.</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extLst>
                  <a:ext uri="{0D108BD9-81ED-4DB2-BD59-A6C34878D82A}">
                    <a16:rowId xmlns:a16="http://schemas.microsoft.com/office/drawing/2014/main" val="10004"/>
                  </a:ext>
                </a:extLst>
              </a:tr>
              <a:tr h="283464">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Service area: HQ county vs majority of offices</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98.77% agreement; Q1 coefficient 1.031 vs 1.029</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HQ-based findings stand; S2 is an appendix row</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5"/>
                  </a:ext>
                </a:extLst>
              </a:tr>
            </a:tbl>
          </a:graphicData>
        </a:graphic>
      </p:graphicFrame>
      <p:sp>
        <p:nvSpPr>
          <p:cNvPr id="13" name="Text 10"/>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Connecticut replaced counties with planning regions in 2022. Zero of 8 counties and zero of 9 planning regions are rural under either vintage, so the mismatch cannot alter any rural flag.</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5 · RESULTS · Q1</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Four more ways of asking, all pointing the same direction</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Each test fails for a different reason if the finding is wrong. None of them fails.</a:t>
            </a:r>
            <a:endParaRPr lang="en-US" sz="1350" dirty="0"/>
          </a:p>
        </p:txBody>
      </p:sp>
      <p:sp>
        <p:nvSpPr>
          <p:cNvPr id="5" name="Shape 3"/>
          <p:cNvSpPr/>
          <p:nvPr/>
        </p:nvSpPr>
        <p:spPr>
          <a:xfrm>
            <a:off x="640080" y="1920240"/>
            <a:ext cx="5257800" cy="1874520"/>
          </a:xfrm>
          <a:prstGeom prst="roundRect">
            <a:avLst>
              <a:gd name="adj" fmla="val 2439"/>
            </a:avLst>
          </a:prstGeom>
          <a:solidFill>
            <a:srgbClr val="F3F5F4"/>
          </a:solidFill>
          <a:ln/>
        </p:spPr>
        <p:txBody>
          <a:bodyPr/>
          <a:lstStyle/>
          <a:p>
            <a:endParaRPr lang="en-US"/>
          </a:p>
        </p:txBody>
      </p:sp>
      <p:sp>
        <p:nvSpPr>
          <p:cNvPr id="6" name="Text 4"/>
          <p:cNvSpPr/>
          <p:nvPr/>
        </p:nvSpPr>
        <p:spPr>
          <a:xfrm>
            <a:off x="914400" y="2084832"/>
            <a:ext cx="3291840" cy="228600"/>
          </a:xfrm>
          <a:prstGeom prst="rect">
            <a:avLst/>
          </a:prstGeom>
          <a:noFill/>
          <a:ln/>
        </p:spPr>
        <p:txBody>
          <a:bodyPr wrap="square" lIns="0" tIns="0" rIns="0" bIns="0" rtlCol="0" anchor="ctr"/>
          <a:lstStyle/>
          <a:p>
            <a:pPr marL="0" indent="0">
              <a:buNone/>
            </a:pPr>
            <a:r>
              <a:rPr lang="en-US" sz="1000" b="1" kern="0" spc="100" dirty="0">
                <a:solidFill>
                  <a:srgbClr val="7FB0AE"/>
                </a:solidFill>
                <a:latin typeface="Calibri" pitchFamily="34" charset="0"/>
                <a:ea typeface="Calibri" pitchFamily="34" charset="-122"/>
                <a:cs typeface="Calibri" pitchFamily="34" charset="-120"/>
              </a:rPr>
              <a:t>WITHIN SIZE BANDS</a:t>
            </a:r>
            <a:endParaRPr lang="en-US" sz="1000" dirty="0"/>
          </a:p>
        </p:txBody>
      </p:sp>
      <p:sp>
        <p:nvSpPr>
          <p:cNvPr id="7" name="Text 5"/>
          <p:cNvSpPr/>
          <p:nvPr/>
        </p:nvSpPr>
        <p:spPr>
          <a:xfrm>
            <a:off x="914400" y="2322576"/>
            <a:ext cx="4663440" cy="384048"/>
          </a:xfrm>
          <a:prstGeom prst="rect">
            <a:avLst/>
          </a:prstGeom>
          <a:noFill/>
          <a:ln/>
        </p:spPr>
        <p:txBody>
          <a:bodyPr wrap="square" lIns="0" tIns="0" rIns="0" bIns="0" rtlCol="0" anchor="ctr"/>
          <a:lstStyle/>
          <a:p>
            <a:pPr marL="0" indent="0">
              <a:buNone/>
            </a:pPr>
            <a:r>
              <a:rPr lang="en-US" sz="1900" b="1" dirty="0">
                <a:solidFill>
                  <a:srgbClr val="0E4C55"/>
                </a:solidFill>
                <a:latin typeface="Cambria" pitchFamily="34" charset="0"/>
                <a:ea typeface="Cambria" pitchFamily="34" charset="-122"/>
                <a:cs typeface="Cambria" pitchFamily="34" charset="-120"/>
              </a:rPr>
              <a:t>Positive in all six</a:t>
            </a:r>
            <a:endParaRPr lang="en-US" sz="1900" dirty="0"/>
          </a:p>
        </p:txBody>
      </p:sp>
      <p:sp>
        <p:nvSpPr>
          <p:cNvPr id="8" name="Text 6"/>
          <p:cNvSpPr/>
          <p:nvPr/>
        </p:nvSpPr>
        <p:spPr>
          <a:xfrm>
            <a:off x="914400" y="2743200"/>
            <a:ext cx="4709160" cy="96012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The rural gap on growth and ROA is positive in every asset-size band, so the result is not an artifact of a particular functional form or of one band driving the average.</a:t>
            </a:r>
            <a:endParaRPr lang="en-US" sz="1050" dirty="0"/>
          </a:p>
        </p:txBody>
      </p:sp>
      <p:sp>
        <p:nvSpPr>
          <p:cNvPr id="9" name="Shape 7"/>
          <p:cNvSpPr/>
          <p:nvPr/>
        </p:nvSpPr>
        <p:spPr>
          <a:xfrm>
            <a:off x="6217920" y="1920240"/>
            <a:ext cx="5257800" cy="1874520"/>
          </a:xfrm>
          <a:prstGeom prst="roundRect">
            <a:avLst>
              <a:gd name="adj" fmla="val 2439"/>
            </a:avLst>
          </a:prstGeom>
          <a:solidFill>
            <a:srgbClr val="F3F5F4"/>
          </a:solidFill>
          <a:ln/>
        </p:spPr>
        <p:txBody>
          <a:bodyPr/>
          <a:lstStyle/>
          <a:p>
            <a:endParaRPr lang="en-US"/>
          </a:p>
        </p:txBody>
      </p:sp>
      <p:sp>
        <p:nvSpPr>
          <p:cNvPr id="10" name="Text 8"/>
          <p:cNvSpPr/>
          <p:nvPr/>
        </p:nvSpPr>
        <p:spPr>
          <a:xfrm>
            <a:off x="6492240" y="2084832"/>
            <a:ext cx="3291840" cy="228600"/>
          </a:xfrm>
          <a:prstGeom prst="rect">
            <a:avLst/>
          </a:prstGeom>
          <a:noFill/>
          <a:ln/>
        </p:spPr>
        <p:txBody>
          <a:bodyPr wrap="square" lIns="0" tIns="0" rIns="0" bIns="0" rtlCol="0" anchor="ctr"/>
          <a:lstStyle/>
          <a:p>
            <a:pPr marL="0" indent="0">
              <a:buNone/>
            </a:pPr>
            <a:r>
              <a:rPr lang="en-US" sz="1000" b="1" kern="0" spc="100" dirty="0">
                <a:solidFill>
                  <a:srgbClr val="7FB0AE"/>
                </a:solidFill>
                <a:latin typeface="Calibri" pitchFamily="34" charset="0"/>
                <a:ea typeface="Calibri" pitchFamily="34" charset="-122"/>
                <a:cs typeface="Calibri" pitchFamily="34" charset="-120"/>
              </a:rPr>
              <a:t>SIZE-MATCHED PAIRS</a:t>
            </a:r>
            <a:endParaRPr lang="en-US" sz="1000" dirty="0"/>
          </a:p>
        </p:txBody>
      </p:sp>
      <p:sp>
        <p:nvSpPr>
          <p:cNvPr id="11" name="Text 9"/>
          <p:cNvSpPr/>
          <p:nvPr/>
        </p:nvSpPr>
        <p:spPr>
          <a:xfrm>
            <a:off x="6492240" y="2322576"/>
            <a:ext cx="4663440" cy="384048"/>
          </a:xfrm>
          <a:prstGeom prst="rect">
            <a:avLst/>
          </a:prstGeom>
          <a:noFill/>
          <a:ln/>
        </p:spPr>
        <p:txBody>
          <a:bodyPr wrap="square" lIns="0" tIns="0" rIns="0" bIns="0" rtlCol="0" anchor="ctr"/>
          <a:lstStyle/>
          <a:p>
            <a:pPr marL="0" indent="0">
              <a:buNone/>
            </a:pPr>
            <a:r>
              <a:rPr lang="en-US" sz="1900" b="1" dirty="0">
                <a:solidFill>
                  <a:srgbClr val="0E4C55"/>
                </a:solidFill>
                <a:latin typeface="Cambria" pitchFamily="34" charset="0"/>
                <a:ea typeface="Cambria" pitchFamily="34" charset="-122"/>
                <a:cs typeface="Cambria" pitchFamily="34" charset="-120"/>
              </a:rPr>
              <a:t>33,403 pairs</a:t>
            </a:r>
            <a:endParaRPr lang="en-US" sz="1900" dirty="0"/>
          </a:p>
        </p:txBody>
      </p:sp>
      <p:sp>
        <p:nvSpPr>
          <p:cNvPr id="12" name="Text 10"/>
          <p:cNvSpPr/>
          <p:nvPr/>
        </p:nvSpPr>
        <p:spPr>
          <a:xfrm>
            <a:off x="6492240" y="2743200"/>
            <a:ext cx="4709160" cy="96012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Rural quarters matched to non-rural within 10% on assets in the same quarter. Growth 4.11 vs 2.43 (+1.68), ROA 0.54 vs 0.31 (+0.23), net worth 13.44 vs 13.29 (+0.16). Reproduces the size-only regression almost exactly.</a:t>
            </a:r>
            <a:endParaRPr lang="en-US" sz="1050" dirty="0"/>
          </a:p>
        </p:txBody>
      </p:sp>
      <p:sp>
        <p:nvSpPr>
          <p:cNvPr id="13" name="Shape 11"/>
          <p:cNvSpPr/>
          <p:nvPr/>
        </p:nvSpPr>
        <p:spPr>
          <a:xfrm>
            <a:off x="640080" y="4023360"/>
            <a:ext cx="5257800" cy="1874520"/>
          </a:xfrm>
          <a:prstGeom prst="roundRect">
            <a:avLst>
              <a:gd name="adj" fmla="val 2439"/>
            </a:avLst>
          </a:prstGeom>
          <a:solidFill>
            <a:srgbClr val="F3F5F4"/>
          </a:solidFill>
          <a:ln/>
        </p:spPr>
        <p:txBody>
          <a:bodyPr/>
          <a:lstStyle/>
          <a:p>
            <a:endParaRPr lang="en-US"/>
          </a:p>
        </p:txBody>
      </p:sp>
      <p:sp>
        <p:nvSpPr>
          <p:cNvPr id="14" name="Text 12"/>
          <p:cNvSpPr/>
          <p:nvPr/>
        </p:nvSpPr>
        <p:spPr>
          <a:xfrm>
            <a:off x="914400" y="4187952"/>
            <a:ext cx="3291840" cy="228600"/>
          </a:xfrm>
          <a:prstGeom prst="rect">
            <a:avLst/>
          </a:prstGeom>
          <a:noFill/>
          <a:ln/>
        </p:spPr>
        <p:txBody>
          <a:bodyPr wrap="square" lIns="0" tIns="0" rIns="0" bIns="0" rtlCol="0" anchor="ctr"/>
          <a:lstStyle/>
          <a:p>
            <a:pPr marL="0" indent="0">
              <a:buNone/>
            </a:pPr>
            <a:r>
              <a:rPr lang="en-US" sz="1000" b="1" kern="0" spc="100" dirty="0">
                <a:solidFill>
                  <a:srgbClr val="7FB0AE"/>
                </a:solidFill>
                <a:latin typeface="Calibri" pitchFamily="34" charset="0"/>
                <a:ea typeface="Calibri" pitchFamily="34" charset="-122"/>
                <a:cs typeface="Calibri" pitchFamily="34" charset="-120"/>
              </a:rPr>
              <a:t>COMMON SUPPORT</a:t>
            </a:r>
            <a:endParaRPr lang="en-US" sz="1000" dirty="0"/>
          </a:p>
        </p:txBody>
      </p:sp>
      <p:sp>
        <p:nvSpPr>
          <p:cNvPr id="15" name="Text 13"/>
          <p:cNvSpPr/>
          <p:nvPr/>
        </p:nvSpPr>
        <p:spPr>
          <a:xfrm>
            <a:off x="914400" y="4425696"/>
            <a:ext cx="4663440" cy="384048"/>
          </a:xfrm>
          <a:prstGeom prst="rect">
            <a:avLst/>
          </a:prstGeom>
          <a:noFill/>
          <a:ln/>
        </p:spPr>
        <p:txBody>
          <a:bodyPr wrap="square" lIns="0" tIns="0" rIns="0" bIns="0" rtlCol="0" anchor="ctr"/>
          <a:lstStyle/>
          <a:p>
            <a:pPr marL="0" indent="0">
              <a:buNone/>
            </a:pPr>
            <a:r>
              <a:rPr lang="en-US" sz="1900" b="1" dirty="0">
                <a:solidFill>
                  <a:srgbClr val="0E4C55"/>
                </a:solidFill>
                <a:latin typeface="Cambria" pitchFamily="34" charset="0"/>
                <a:ea typeface="Cambria" pitchFamily="34" charset="-122"/>
                <a:cs typeface="Cambria" pitchFamily="34" charset="-120"/>
              </a:rPr>
              <a:t>98.9%</a:t>
            </a:r>
            <a:endParaRPr lang="en-US" sz="1900" dirty="0"/>
          </a:p>
        </p:txBody>
      </p:sp>
      <p:sp>
        <p:nvSpPr>
          <p:cNvPr id="16" name="Text 14"/>
          <p:cNvSpPr/>
          <p:nvPr/>
        </p:nvSpPr>
        <p:spPr>
          <a:xfrm>
            <a:off x="914400" y="4846320"/>
            <a:ext cx="4709160" cy="96012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Almost the entire rural distribution has non-rural counterparts of comparable size. This is a legitimate comparison, not extrapolation off the edge of the data.</a:t>
            </a:r>
            <a:endParaRPr lang="en-US" sz="1050" dirty="0"/>
          </a:p>
        </p:txBody>
      </p:sp>
      <p:sp>
        <p:nvSpPr>
          <p:cNvPr id="17" name="Shape 15"/>
          <p:cNvSpPr/>
          <p:nvPr/>
        </p:nvSpPr>
        <p:spPr>
          <a:xfrm>
            <a:off x="6217920" y="4023360"/>
            <a:ext cx="5257800" cy="1874520"/>
          </a:xfrm>
          <a:prstGeom prst="roundRect">
            <a:avLst>
              <a:gd name="adj" fmla="val 2439"/>
            </a:avLst>
          </a:prstGeom>
          <a:solidFill>
            <a:srgbClr val="F3F5F4"/>
          </a:solidFill>
          <a:ln/>
        </p:spPr>
        <p:txBody>
          <a:bodyPr/>
          <a:lstStyle/>
          <a:p>
            <a:endParaRPr lang="en-US"/>
          </a:p>
        </p:txBody>
      </p:sp>
      <p:sp>
        <p:nvSpPr>
          <p:cNvPr id="18" name="Text 16"/>
          <p:cNvSpPr/>
          <p:nvPr/>
        </p:nvSpPr>
        <p:spPr>
          <a:xfrm>
            <a:off x="6492240" y="4187952"/>
            <a:ext cx="3291840" cy="228600"/>
          </a:xfrm>
          <a:prstGeom prst="rect">
            <a:avLst/>
          </a:prstGeom>
          <a:noFill/>
          <a:ln/>
        </p:spPr>
        <p:txBody>
          <a:bodyPr wrap="square" lIns="0" tIns="0" rIns="0" bIns="0" rtlCol="0" anchor="ctr"/>
          <a:lstStyle/>
          <a:p>
            <a:pPr marL="0" indent="0">
              <a:buNone/>
            </a:pPr>
            <a:r>
              <a:rPr lang="en-US" sz="1000" b="1" kern="0" spc="100" dirty="0">
                <a:solidFill>
                  <a:srgbClr val="7FB0AE"/>
                </a:solidFill>
                <a:latin typeface="Calibri" pitchFamily="34" charset="0"/>
                <a:ea typeface="Calibri" pitchFamily="34" charset="-122"/>
                <a:cs typeface="Calibri" pitchFamily="34" charset="-120"/>
              </a:rPr>
              <a:t>ALTERNATIVE SERVICE AREA</a:t>
            </a:r>
            <a:endParaRPr lang="en-US" sz="1000" dirty="0"/>
          </a:p>
        </p:txBody>
      </p:sp>
      <p:sp>
        <p:nvSpPr>
          <p:cNvPr id="19" name="Text 17"/>
          <p:cNvSpPr/>
          <p:nvPr/>
        </p:nvSpPr>
        <p:spPr>
          <a:xfrm>
            <a:off x="6492240" y="4425696"/>
            <a:ext cx="4663440" cy="384048"/>
          </a:xfrm>
          <a:prstGeom prst="rect">
            <a:avLst/>
          </a:prstGeom>
          <a:noFill/>
          <a:ln/>
        </p:spPr>
        <p:txBody>
          <a:bodyPr wrap="square" lIns="0" tIns="0" rIns="0" bIns="0" rtlCol="0" anchor="ctr"/>
          <a:lstStyle/>
          <a:p>
            <a:pPr marL="0" indent="0">
              <a:buNone/>
            </a:pPr>
            <a:r>
              <a:rPr lang="en-US" sz="1900" b="1" dirty="0">
                <a:solidFill>
                  <a:srgbClr val="0E4C55"/>
                </a:solidFill>
                <a:latin typeface="Cambria" pitchFamily="34" charset="0"/>
                <a:ea typeface="Cambria" pitchFamily="34" charset="-122"/>
                <a:cs typeface="Cambria" pitchFamily="34" charset="-120"/>
              </a:rPr>
              <a:t>1.031 vs 1.029</a:t>
            </a:r>
            <a:endParaRPr lang="en-US" sz="1900" dirty="0"/>
          </a:p>
        </p:txBody>
      </p:sp>
      <p:sp>
        <p:nvSpPr>
          <p:cNvPr id="20" name="Text 18"/>
          <p:cNvSpPr/>
          <p:nvPr/>
        </p:nvSpPr>
        <p:spPr>
          <a:xfrm>
            <a:off x="6492240" y="4846320"/>
            <a:ext cx="4709160" cy="96012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Defining rurality by where the majority of a credit union's offices sit, rather than by headquarters, changes the asset-growth coefficient in the third decimal. The finding is not a domicile artifact.</a:t>
            </a:r>
            <a:endParaRPr lang="en-US" sz="1050" dirty="0"/>
          </a:p>
        </p:txBody>
      </p:sp>
      <p:sp>
        <p:nvSpPr>
          <p:cNvPr id="21" name="Text 19"/>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Matched-pair t-tests treat credit-union quarters as independent and so overstate significance; the clustered regression coefficients are the formal numbers.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5 · RESULTS · Q8 ACCESS</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Charters are disappearing. Offices are not.</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The reconciling result of the study: surviving credit unions open rural offices faster than rural offices close, so the formation collapse is real and is not yet producing an access collapse.</a:t>
            </a:r>
            <a:endParaRPr lang="en-US" sz="13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6766560" cy="914400"/>
        </p:xfrm>
        <a:graphic>
          <a:graphicData uri="http://schemas.openxmlformats.org/drawingml/2006/table">
            <a:tbl>
              <a:tblPr/>
              <a:tblGrid>
                <a:gridCol w="18745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41148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2013Q1 → 2026Q1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Rural</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Change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Urban</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Change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E4C55"/>
                    </a:solidFill>
                  </a:tcPr>
                </a:tc>
                <a:extLst>
                  <a:ext uri="{0D108BD9-81ED-4DB2-BD59-A6C34878D82A}">
                    <a16:rowId xmlns:a16="http://schemas.microsoft.com/office/drawing/2014/main" val="10000"/>
                  </a:ext>
                </a:extLst>
              </a:tr>
              <a:tr h="411480">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Total offices</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1,843 → 1,967</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+6.7%</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20,129 → 20,793</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1"/>
                  </a:ext>
                </a:extLst>
              </a:tr>
              <a:tr h="411480">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Headquarters</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685 → 469</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-31.5%</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6,191 → 3,852</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-37.8%</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11480">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Branches</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1,158 → 1,498</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+29.4%</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13,938 → 16,941</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tc>
                  <a:txBody>
                    <a:bodyPr/>
                    <a:lstStyle/>
                    <a:p>
                      <a:pPr marL="0" indent="0" algn="ctr">
                        <a:buNone/>
                      </a:pPr>
                      <a:r>
                        <a:rPr lang="en-US" sz="1050" dirty="0">
                          <a:solidFill>
                            <a:srgbClr val="12202E"/>
                          </a:solidFill>
                          <a:latin typeface="Calibri" pitchFamily="34" charset="0"/>
                          <a:ea typeface="Calibri" pitchFamily="34" charset="-122"/>
                          <a:cs typeface="Calibri" pitchFamily="34" charset="-120"/>
                        </a:rPr>
                        <a:t>+21.5%</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3F5F4"/>
                    </a:solidFill>
                  </a:tcPr>
                </a:tc>
                <a:extLst>
                  <a:ext uri="{0D108BD9-81ED-4DB2-BD59-A6C34878D82A}">
                    <a16:rowId xmlns:a16="http://schemas.microsoft.com/office/drawing/2014/main" val="10003"/>
                  </a:ext>
                </a:extLst>
              </a:tr>
              <a:tr h="411480">
                <a:tc>
                  <a:txBody>
                    <a:bodyPr/>
                    <a:lstStyle/>
                    <a:p>
                      <a:pPr marL="0" indent="0" algn="l">
                        <a:buNone/>
                      </a:pPr>
                      <a:r>
                        <a:rPr lang="en-US" sz="1050" b="1" dirty="0">
                          <a:solidFill>
                            <a:srgbClr val="12202E"/>
                          </a:solidFill>
                          <a:latin typeface="Calibri" pitchFamily="34" charset="0"/>
                          <a:ea typeface="Calibri" pitchFamily="34" charset="-122"/>
                          <a:cs typeface="Calibri" pitchFamily="34" charset="-120"/>
                        </a:rPr>
                        <a:t>Opened / closed</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tc>
                  <a:txBody>
                    <a:bodyPr/>
                    <a:lstStyle/>
                    <a:p>
                      <a:pPr marL="0" indent="0" algn="ctr">
                        <a:buNone/>
                      </a:pPr>
                      <a:r>
                        <a:rPr lang="en-US" sz="1050" b="1" dirty="0">
                          <a:solidFill>
                            <a:srgbClr val="12202E"/>
                          </a:solidFill>
                          <a:latin typeface="Calibri" pitchFamily="34" charset="0"/>
                          <a:ea typeface="Calibri" pitchFamily="34" charset="-122"/>
                          <a:cs typeface="Calibri" pitchFamily="34" charset="-120"/>
                        </a:rPr>
                        <a:t>882 / 842</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tc>
                  <a:txBody>
                    <a:bodyPr/>
                    <a:lstStyle/>
                    <a:p>
                      <a:pPr marL="0" indent="0" algn="ctr">
                        <a:buNone/>
                      </a:pPr>
                      <a:r>
                        <a:rPr lang="en-US" sz="1050" b="1" dirty="0">
                          <a:solidFill>
                            <a:srgbClr val="12202E"/>
                          </a:solidFill>
                          <a:latin typeface="Calibri" pitchFamily="34" charset="0"/>
                          <a:ea typeface="Calibri" pitchFamily="34" charset="-122"/>
                          <a:cs typeface="Calibri" pitchFamily="34" charset="-120"/>
                        </a:rPr>
                        <a:t>104.8%</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tc>
                  <a:txBody>
                    <a:bodyPr/>
                    <a:lstStyle/>
                    <a:p>
                      <a:pPr marL="0" indent="0" algn="ctr">
                        <a:buNone/>
                      </a:pPr>
                      <a:r>
                        <a:rPr lang="en-US" sz="1050" b="1" dirty="0">
                          <a:solidFill>
                            <a:srgbClr val="12202E"/>
                          </a:solidFill>
                          <a:latin typeface="Calibri" pitchFamily="34" charset="0"/>
                          <a:ea typeface="Calibri" pitchFamily="34" charset="-122"/>
                          <a:cs typeface="Calibri" pitchFamily="34" charset="-120"/>
                        </a:rPr>
                        <a:t>11,101 / 11,419</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tc>
                  <a:txBody>
                    <a:bodyPr/>
                    <a:lstStyle/>
                    <a:p>
                      <a:pPr marL="0" indent="0" algn="ctr">
                        <a:buNone/>
                      </a:pPr>
                      <a:r>
                        <a:rPr lang="en-US" sz="1050" b="1" dirty="0">
                          <a:solidFill>
                            <a:srgbClr val="12202E"/>
                          </a:solidFill>
                          <a:latin typeface="Calibri" pitchFamily="34" charset="0"/>
                          <a:ea typeface="Calibri" pitchFamily="34" charset="-122"/>
                          <a:cs typeface="Calibri" pitchFamily="34" charset="-120"/>
                        </a:rPr>
                        <a:t>97.2%</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DCE6E4"/>
                    </a:solidFill>
                  </a:tcPr>
                </a:tc>
                <a:extLst>
                  <a:ext uri="{0D108BD9-81ED-4DB2-BD59-A6C34878D82A}">
                    <a16:rowId xmlns:a16="http://schemas.microsoft.com/office/drawing/2014/main" val="10004"/>
                  </a:ext>
                </a:extLst>
              </a:tr>
            </a:tbl>
          </a:graphicData>
        </a:graphic>
      </p:graphicFrame>
      <p:sp>
        <p:nvSpPr>
          <p:cNvPr id="6" name="Shape 3"/>
          <p:cNvSpPr/>
          <p:nvPr/>
        </p:nvSpPr>
        <p:spPr>
          <a:xfrm>
            <a:off x="7635240" y="2011680"/>
            <a:ext cx="3886200" cy="1691640"/>
          </a:xfrm>
          <a:prstGeom prst="roundRect">
            <a:avLst>
              <a:gd name="adj" fmla="val 2703"/>
            </a:avLst>
          </a:prstGeom>
          <a:solidFill>
            <a:srgbClr val="C8553D"/>
          </a:solidFill>
          <a:ln/>
        </p:spPr>
        <p:txBody>
          <a:bodyPr/>
          <a:lstStyle/>
          <a:p>
            <a:endParaRPr lang="en-US"/>
          </a:p>
        </p:txBody>
      </p:sp>
      <p:sp>
        <p:nvSpPr>
          <p:cNvPr id="7" name="Text 4"/>
          <p:cNvSpPr/>
          <p:nvPr/>
        </p:nvSpPr>
        <p:spPr>
          <a:xfrm>
            <a:off x="7863840" y="2167128"/>
            <a:ext cx="3429000" cy="256032"/>
          </a:xfrm>
          <a:prstGeom prst="rect">
            <a:avLst/>
          </a:prstGeom>
          <a:noFill/>
          <a:ln/>
        </p:spPr>
        <p:txBody>
          <a:bodyPr wrap="square" lIns="0" tIns="0" rIns="0" bIns="0" rtlCol="0" anchor="ctr"/>
          <a:lstStyle/>
          <a:p>
            <a:pPr marL="0" indent="0">
              <a:buNone/>
            </a:pPr>
            <a:r>
              <a:rPr lang="en-US" sz="1150" b="1" dirty="0">
                <a:solidFill>
                  <a:srgbClr val="FFE8E2"/>
                </a:solidFill>
                <a:latin typeface="Calibri" pitchFamily="34" charset="0"/>
                <a:ea typeface="Calibri" pitchFamily="34" charset="-122"/>
                <a:cs typeface="Calibri" pitchFamily="34" charset="-120"/>
              </a:rPr>
              <a:t>Report net offices, not branch growth</a:t>
            </a:r>
            <a:endParaRPr lang="en-US" sz="1150" dirty="0"/>
          </a:p>
        </p:txBody>
      </p:sp>
      <p:sp>
        <p:nvSpPr>
          <p:cNvPr id="8" name="Text 5"/>
          <p:cNvSpPr/>
          <p:nvPr/>
        </p:nvSpPr>
        <p:spPr>
          <a:xfrm>
            <a:off x="7863840" y="2468880"/>
            <a:ext cx="3474720" cy="1143000"/>
          </a:xfrm>
          <a:prstGeom prst="rect">
            <a:avLst/>
          </a:prstGeom>
          <a:noFill/>
          <a:ln/>
        </p:spPr>
        <p:txBody>
          <a:bodyPr wrap="square" lIns="0" tIns="0" rIns="0" bIns="0" rtlCol="0" anchor="ctr"/>
          <a:lstStyle/>
          <a:p>
            <a:pPr marL="0" indent="0">
              <a:lnSpc>
                <a:spcPts val="1400"/>
              </a:lnSpc>
              <a:buNone/>
            </a:pPr>
            <a:r>
              <a:rPr lang="en-US" sz="1050" dirty="0">
                <a:solidFill>
                  <a:srgbClr val="FFFFFF"/>
                </a:solidFill>
                <a:latin typeface="Calibri" pitchFamily="34" charset="0"/>
                <a:ea typeface="Calibri" pitchFamily="34" charset="-122"/>
                <a:cs typeface="Calibri" pitchFamily="34" charset="-120"/>
              </a:rPr>
              <a:t>HQ change plus branch change equals net office change exactly, because an acquired credit union's headquarters becomes a branch. Most of the 29.4% is reclassification, not new construction.</a:t>
            </a:r>
            <a:endParaRPr lang="en-US" sz="1050" dirty="0"/>
          </a:p>
        </p:txBody>
      </p:sp>
      <p:sp>
        <p:nvSpPr>
          <p:cNvPr id="9" name="Text 6"/>
          <p:cNvSpPr/>
          <p:nvPr/>
        </p:nvSpPr>
        <p:spPr>
          <a:xfrm>
            <a:off x="640080" y="4224528"/>
            <a:ext cx="2286000" cy="256032"/>
          </a:xfrm>
          <a:prstGeom prst="rect">
            <a:avLst/>
          </a:prstGeom>
          <a:noFill/>
          <a:ln/>
        </p:spPr>
        <p:txBody>
          <a:bodyPr wrap="square" lIns="0" tIns="0" rIns="0" bIns="0" rtlCol="0" anchor="ctr"/>
          <a:lstStyle/>
          <a:p>
            <a:pPr marL="0" indent="0">
              <a:buNone/>
            </a:pPr>
            <a:r>
              <a:rPr lang="en-US" sz="1150" b="1" dirty="0">
                <a:solidFill>
                  <a:srgbClr val="0E4C55"/>
                </a:solidFill>
                <a:latin typeface="Calibri" pitchFamily="34" charset="0"/>
                <a:ea typeface="Calibri" pitchFamily="34" charset="-122"/>
                <a:cs typeface="Calibri" pitchFamily="34" charset="-120"/>
              </a:rPr>
              <a:t>Vintage check</a:t>
            </a:r>
            <a:endParaRPr lang="en-US" sz="1150" dirty="0"/>
          </a:p>
        </p:txBody>
      </p:sp>
      <p:sp>
        <p:nvSpPr>
          <p:cNvPr id="10" name="Text 7"/>
          <p:cNvSpPr/>
          <p:nvPr/>
        </p:nvSpPr>
        <p:spPr>
          <a:xfrm>
            <a:off x="3017520" y="4206240"/>
            <a:ext cx="8503920" cy="68580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Under the 2013 codes rural offices run 1,971 → 2,121 (+7.6%). So rural office growth is 6.7% to 7.6% depending on vintage, urban roughly 3.2% either way. The ranking is unaffected.</a:t>
            </a:r>
            <a:endParaRPr lang="en-US" sz="1050" dirty="0"/>
          </a:p>
        </p:txBody>
      </p:sp>
      <p:sp>
        <p:nvSpPr>
          <p:cNvPr id="11" name="Text 8"/>
          <p:cNvSpPr/>
          <p:nvPr/>
        </p:nvSpPr>
        <p:spPr>
          <a:xfrm>
            <a:off x="640080" y="4919472"/>
            <a:ext cx="2286000" cy="256032"/>
          </a:xfrm>
          <a:prstGeom prst="rect">
            <a:avLst/>
          </a:prstGeom>
          <a:noFill/>
          <a:ln/>
        </p:spPr>
        <p:txBody>
          <a:bodyPr wrap="square" lIns="0" tIns="0" rIns="0" bIns="0" rtlCol="0" anchor="ctr"/>
          <a:lstStyle/>
          <a:p>
            <a:pPr marL="0" indent="0">
              <a:buNone/>
            </a:pPr>
            <a:r>
              <a:rPr lang="en-US" sz="1150" b="1" dirty="0">
                <a:solidFill>
                  <a:srgbClr val="0E4C55"/>
                </a:solidFill>
                <a:latin typeface="Calibri" pitchFamily="34" charset="0"/>
                <a:ea typeface="Calibri" pitchFamily="34" charset="-122"/>
                <a:cs typeface="Calibri" pitchFamily="34" charset="-120"/>
              </a:rPr>
              <a:t>Relocation is negligible</a:t>
            </a:r>
            <a:endParaRPr lang="en-US" sz="1150" dirty="0"/>
          </a:p>
        </p:txBody>
      </p:sp>
      <p:sp>
        <p:nvSpPr>
          <p:cNvPr id="12" name="Text 9"/>
          <p:cNvSpPr/>
          <p:nvPr/>
        </p:nvSpPr>
        <p:spPr>
          <a:xfrm>
            <a:off x="3017520" y="4901184"/>
            <a:ext cx="8503920" cy="68580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Of 35,356 sites, 731 changed county and only 35 crossed the rural line — 20 urban to rural against 15 rural to urban, net toward rural. The network changes through openings and closings, not moves.</a:t>
            </a:r>
            <a:endParaRPr lang="en-US" sz="1050" dirty="0"/>
          </a:p>
        </p:txBody>
      </p:sp>
      <p:sp>
        <p:nvSpPr>
          <p:cNvPr id="13" name="Text 10"/>
          <p:cNvSpPr/>
          <p:nvPr/>
        </p:nvSpPr>
        <p:spPr>
          <a:xfrm>
            <a:off x="640080" y="5614416"/>
            <a:ext cx="2286000" cy="256032"/>
          </a:xfrm>
          <a:prstGeom prst="rect">
            <a:avLst/>
          </a:prstGeom>
          <a:noFill/>
          <a:ln/>
        </p:spPr>
        <p:txBody>
          <a:bodyPr wrap="square" lIns="0" tIns="0" rIns="0" bIns="0" rtlCol="0" anchor="ctr"/>
          <a:lstStyle/>
          <a:p>
            <a:pPr marL="0" indent="0">
              <a:buNone/>
            </a:pPr>
            <a:r>
              <a:rPr lang="en-US" sz="1150" b="1" dirty="0">
                <a:solidFill>
                  <a:srgbClr val="0E4C55"/>
                </a:solidFill>
                <a:latin typeface="Calibri" pitchFamily="34" charset="0"/>
                <a:ea typeface="Calibri" pitchFamily="34" charset="-122"/>
                <a:cs typeface="Calibri" pitchFamily="34" charset="-120"/>
              </a:rPr>
              <a:t>Density, with a caveat</a:t>
            </a:r>
            <a:endParaRPr lang="en-US" sz="1150" dirty="0"/>
          </a:p>
        </p:txBody>
      </p:sp>
      <p:sp>
        <p:nvSpPr>
          <p:cNvPr id="14" name="Text 11"/>
          <p:cNvSpPr/>
          <p:nvPr/>
        </p:nvSpPr>
        <p:spPr>
          <a:xfrm>
            <a:off x="3017520" y="5596128"/>
            <a:ext cx="8503920" cy="68580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Rural ~7.2 offices per 100,000 residents against urban ~6.8, on a fixed 2020 denominator. Density is not proximity: rural counties are large, and this must not be presented as a travel-distance claim.</a:t>
            </a:r>
            <a:endParaRPr lang="en-US" sz="1050" dirty="0"/>
          </a:p>
        </p:txBody>
      </p:sp>
      <p:sp>
        <p:nvSpPr>
          <p:cNvPr id="15" name="Text 12"/>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Branch panel 2013Q1-2026Q1: 35,356 distinct sites, 1,156,574 site-quarters, only 112 dropped for missing classification under either vintage.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5 · RESULTS · Q3</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Q3 — does the business lending cap actually restrict anyone?</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The member business lending cap is the most-cited statutory barrier in the credit union policy debate. On current evidence it shapes behaviour where it applies, but it does not bind most rural institutions.</a:t>
            </a:r>
            <a:endParaRPr lang="en-US" sz="1350" dirty="0"/>
          </a:p>
        </p:txBody>
      </p:sp>
      <p:sp>
        <p:nvSpPr>
          <p:cNvPr id="5" name="Shape 3"/>
          <p:cNvSpPr/>
          <p:nvPr/>
        </p:nvSpPr>
        <p:spPr>
          <a:xfrm>
            <a:off x="640080" y="1965960"/>
            <a:ext cx="2514600" cy="1463040"/>
          </a:xfrm>
          <a:prstGeom prst="roundRect">
            <a:avLst>
              <a:gd name="adj" fmla="val 3125"/>
            </a:avLst>
          </a:prstGeom>
          <a:solidFill>
            <a:srgbClr val="F3F5F4"/>
          </a:solidFill>
          <a:ln/>
        </p:spPr>
        <p:txBody>
          <a:bodyPr/>
          <a:lstStyle/>
          <a:p>
            <a:endParaRPr lang="en-US"/>
          </a:p>
        </p:txBody>
      </p:sp>
      <p:sp>
        <p:nvSpPr>
          <p:cNvPr id="6" name="Text 4"/>
          <p:cNvSpPr/>
          <p:nvPr/>
        </p:nvSpPr>
        <p:spPr>
          <a:xfrm>
            <a:off x="868680" y="2121408"/>
            <a:ext cx="2148840" cy="548640"/>
          </a:xfrm>
          <a:prstGeom prst="rect">
            <a:avLst/>
          </a:prstGeom>
          <a:noFill/>
          <a:ln/>
        </p:spPr>
        <p:txBody>
          <a:bodyPr wrap="square" lIns="0" tIns="0" rIns="0" bIns="0" rtlCol="0" anchor="ctr"/>
          <a:lstStyle/>
          <a:p>
            <a:pPr marL="0" indent="0">
              <a:buNone/>
            </a:pPr>
            <a:r>
              <a:rPr lang="en-US" sz="2500" b="1" dirty="0">
                <a:solidFill>
                  <a:srgbClr val="0E4C55"/>
                </a:solidFill>
                <a:latin typeface="Cambria" pitchFamily="34" charset="0"/>
                <a:ea typeface="Cambria" pitchFamily="34" charset="-122"/>
                <a:cs typeface="Cambria" pitchFamily="34" charset="-120"/>
              </a:rPr>
              <a:t>4.8%</a:t>
            </a:r>
            <a:endParaRPr lang="en-US" sz="2500" dirty="0"/>
          </a:p>
        </p:txBody>
      </p:sp>
      <p:sp>
        <p:nvSpPr>
          <p:cNvPr id="7" name="Text 5"/>
          <p:cNvSpPr/>
          <p:nvPr/>
        </p:nvSpPr>
        <p:spPr>
          <a:xfrm>
            <a:off x="868680" y="2670048"/>
            <a:ext cx="2148840" cy="68580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of rural CUs subject to the cap are above 90% of it</a:t>
            </a:r>
            <a:endParaRPr lang="en-US" sz="1050" dirty="0"/>
          </a:p>
        </p:txBody>
      </p:sp>
      <p:sp>
        <p:nvSpPr>
          <p:cNvPr id="8" name="Shape 6"/>
          <p:cNvSpPr/>
          <p:nvPr/>
        </p:nvSpPr>
        <p:spPr>
          <a:xfrm>
            <a:off x="3401568" y="1965960"/>
            <a:ext cx="2514600" cy="1463040"/>
          </a:xfrm>
          <a:prstGeom prst="roundRect">
            <a:avLst>
              <a:gd name="adj" fmla="val 3125"/>
            </a:avLst>
          </a:prstGeom>
          <a:solidFill>
            <a:srgbClr val="F3F5F4"/>
          </a:solidFill>
          <a:ln/>
        </p:spPr>
        <p:txBody>
          <a:bodyPr/>
          <a:lstStyle/>
          <a:p>
            <a:endParaRPr lang="en-US"/>
          </a:p>
        </p:txBody>
      </p:sp>
      <p:sp>
        <p:nvSpPr>
          <p:cNvPr id="9" name="Text 7"/>
          <p:cNvSpPr/>
          <p:nvPr/>
        </p:nvSpPr>
        <p:spPr>
          <a:xfrm>
            <a:off x="3630168" y="2121408"/>
            <a:ext cx="2148840" cy="548640"/>
          </a:xfrm>
          <a:prstGeom prst="rect">
            <a:avLst/>
          </a:prstGeom>
          <a:noFill/>
          <a:ln/>
        </p:spPr>
        <p:txBody>
          <a:bodyPr wrap="square" lIns="0" tIns="0" rIns="0" bIns="0" rtlCol="0" anchor="ctr"/>
          <a:lstStyle/>
          <a:p>
            <a:pPr marL="0" indent="0">
              <a:buNone/>
            </a:pPr>
            <a:r>
              <a:rPr lang="en-US" sz="2500" b="1" dirty="0">
                <a:solidFill>
                  <a:srgbClr val="0E4C55"/>
                </a:solidFill>
                <a:latin typeface="Cambria" pitchFamily="34" charset="0"/>
                <a:ea typeface="Cambria" pitchFamily="34" charset="-122"/>
                <a:cs typeface="Cambria" pitchFamily="34" charset="-120"/>
              </a:rPr>
              <a:t>~10</a:t>
            </a:r>
            <a:endParaRPr lang="en-US" sz="2500" dirty="0"/>
          </a:p>
        </p:txBody>
      </p:sp>
      <p:sp>
        <p:nvSpPr>
          <p:cNvPr id="10" name="Text 8"/>
          <p:cNvSpPr/>
          <p:nvPr/>
        </p:nvSpPr>
        <p:spPr>
          <a:xfrm>
            <a:off x="3630168" y="2670048"/>
            <a:ext cx="2148840" cy="68580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institutions nationwide, in practice</a:t>
            </a:r>
            <a:endParaRPr lang="en-US" sz="1050" dirty="0"/>
          </a:p>
        </p:txBody>
      </p:sp>
      <p:sp>
        <p:nvSpPr>
          <p:cNvPr id="11" name="Shape 9"/>
          <p:cNvSpPr/>
          <p:nvPr/>
        </p:nvSpPr>
        <p:spPr>
          <a:xfrm>
            <a:off x="6163056" y="1965960"/>
            <a:ext cx="2514600" cy="1463040"/>
          </a:xfrm>
          <a:prstGeom prst="roundRect">
            <a:avLst>
              <a:gd name="adj" fmla="val 3125"/>
            </a:avLst>
          </a:prstGeom>
          <a:solidFill>
            <a:srgbClr val="DCE6E4"/>
          </a:solidFill>
          <a:ln/>
        </p:spPr>
        <p:txBody>
          <a:bodyPr/>
          <a:lstStyle/>
          <a:p>
            <a:endParaRPr lang="en-US"/>
          </a:p>
        </p:txBody>
      </p:sp>
      <p:sp>
        <p:nvSpPr>
          <p:cNvPr id="12" name="Text 10"/>
          <p:cNvSpPr/>
          <p:nvPr/>
        </p:nvSpPr>
        <p:spPr>
          <a:xfrm>
            <a:off x="6391656" y="2121408"/>
            <a:ext cx="2148840" cy="548640"/>
          </a:xfrm>
          <a:prstGeom prst="rect">
            <a:avLst/>
          </a:prstGeom>
          <a:noFill/>
          <a:ln/>
        </p:spPr>
        <p:txBody>
          <a:bodyPr wrap="square" lIns="0" tIns="0" rIns="0" bIns="0" rtlCol="0" anchor="ctr"/>
          <a:lstStyle/>
          <a:p>
            <a:pPr marL="0" indent="0">
              <a:buNone/>
            </a:pPr>
            <a:r>
              <a:rPr lang="en-US" sz="2500" b="1" dirty="0">
                <a:solidFill>
                  <a:srgbClr val="C8553D"/>
                </a:solidFill>
                <a:latin typeface="Cambria" pitchFamily="34" charset="0"/>
                <a:ea typeface="Cambria" pitchFamily="34" charset="-122"/>
                <a:cs typeface="Cambria" pitchFamily="34" charset="-120"/>
              </a:rPr>
              <a:t>13.2%</a:t>
            </a:r>
            <a:endParaRPr lang="en-US" sz="2500" dirty="0"/>
          </a:p>
        </p:txBody>
      </p:sp>
      <p:sp>
        <p:nvSpPr>
          <p:cNvPr id="13" name="Text 11"/>
          <p:cNvSpPr/>
          <p:nvPr/>
        </p:nvSpPr>
        <p:spPr>
          <a:xfrm>
            <a:off x="6391656" y="2670048"/>
            <a:ext cx="2148840" cy="68580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rate among LID-exempt rural institutions</a:t>
            </a:r>
            <a:endParaRPr lang="en-US" sz="1050" dirty="0"/>
          </a:p>
        </p:txBody>
      </p:sp>
      <p:sp>
        <p:nvSpPr>
          <p:cNvPr id="14" name="Shape 12"/>
          <p:cNvSpPr/>
          <p:nvPr/>
        </p:nvSpPr>
        <p:spPr>
          <a:xfrm>
            <a:off x="8924544" y="1965960"/>
            <a:ext cx="2514600" cy="1463040"/>
          </a:xfrm>
          <a:prstGeom prst="roundRect">
            <a:avLst>
              <a:gd name="adj" fmla="val 3125"/>
            </a:avLst>
          </a:prstGeom>
          <a:solidFill>
            <a:srgbClr val="DCE6E4"/>
          </a:solidFill>
          <a:ln/>
        </p:spPr>
        <p:txBody>
          <a:bodyPr/>
          <a:lstStyle/>
          <a:p>
            <a:endParaRPr lang="en-US"/>
          </a:p>
        </p:txBody>
      </p:sp>
      <p:sp>
        <p:nvSpPr>
          <p:cNvPr id="15" name="Text 13"/>
          <p:cNvSpPr/>
          <p:nvPr/>
        </p:nvSpPr>
        <p:spPr>
          <a:xfrm>
            <a:off x="9153144" y="2121408"/>
            <a:ext cx="2148840" cy="548640"/>
          </a:xfrm>
          <a:prstGeom prst="rect">
            <a:avLst/>
          </a:prstGeom>
          <a:noFill/>
          <a:ln/>
        </p:spPr>
        <p:txBody>
          <a:bodyPr wrap="square" lIns="0" tIns="0" rIns="0" bIns="0" rtlCol="0" anchor="ctr"/>
          <a:lstStyle/>
          <a:p>
            <a:pPr marL="0" indent="0">
              <a:buNone/>
            </a:pPr>
            <a:r>
              <a:rPr lang="en-US" sz="2500" b="1" dirty="0">
                <a:solidFill>
                  <a:srgbClr val="C8553D"/>
                </a:solidFill>
                <a:latin typeface="Cambria" pitchFamily="34" charset="0"/>
                <a:ea typeface="Cambria" pitchFamily="34" charset="-122"/>
                <a:cs typeface="Cambria" pitchFamily="34" charset="-120"/>
              </a:rPr>
              <a:t>2.75×</a:t>
            </a:r>
            <a:endParaRPr lang="en-US" sz="2500" dirty="0"/>
          </a:p>
        </p:txBody>
      </p:sp>
      <p:sp>
        <p:nvSpPr>
          <p:cNvPr id="16" name="Text 14"/>
          <p:cNvSpPr/>
          <p:nvPr/>
        </p:nvSpPr>
        <p:spPr>
          <a:xfrm>
            <a:off x="9153144" y="2670048"/>
            <a:ext cx="2148840" cy="685800"/>
          </a:xfrm>
          <a:prstGeom prst="rect">
            <a:avLst/>
          </a:prstGeom>
          <a:noFill/>
          <a:ln/>
        </p:spPr>
        <p:txBody>
          <a:bodyPr wrap="square" lIns="0" tIns="0" rIns="0" bIns="0" rtlCol="0" anchor="ctr"/>
          <a:lstStyle/>
          <a:p>
            <a:pPr marL="0" indent="0">
              <a:lnSpc>
                <a:spcPts val="1400"/>
              </a:lnSpc>
              <a:buNone/>
            </a:pPr>
            <a:r>
              <a:rPr lang="en-US" sz="1050" dirty="0">
                <a:solidFill>
                  <a:srgbClr val="5B6B72"/>
                </a:solidFill>
                <a:latin typeface="Calibri" pitchFamily="34" charset="0"/>
                <a:ea typeface="Calibri" pitchFamily="34" charset="-122"/>
                <a:cs typeface="Calibri" pitchFamily="34" charset="-120"/>
              </a:rPr>
              <a:t>the rate of those not exempt</a:t>
            </a:r>
            <a:endParaRPr lang="en-US" sz="1050" dirty="0"/>
          </a:p>
        </p:txBody>
      </p:sp>
      <p:sp>
        <p:nvSpPr>
          <p:cNvPr id="17" name="Shape 15"/>
          <p:cNvSpPr/>
          <p:nvPr/>
        </p:nvSpPr>
        <p:spPr>
          <a:xfrm>
            <a:off x="640080" y="3611880"/>
            <a:ext cx="5257800" cy="2377440"/>
          </a:xfrm>
          <a:prstGeom prst="roundRect">
            <a:avLst>
              <a:gd name="adj" fmla="val 1923"/>
            </a:avLst>
          </a:prstGeom>
          <a:solidFill>
            <a:srgbClr val="F3F5F4"/>
          </a:solidFill>
          <a:ln/>
        </p:spPr>
        <p:txBody>
          <a:bodyPr/>
          <a:lstStyle/>
          <a:p>
            <a:endParaRPr lang="en-US"/>
          </a:p>
        </p:txBody>
      </p:sp>
      <p:sp>
        <p:nvSpPr>
          <p:cNvPr id="18" name="Text 16"/>
          <p:cNvSpPr/>
          <p:nvPr/>
        </p:nvSpPr>
        <p:spPr>
          <a:xfrm>
            <a:off x="914400" y="3767328"/>
            <a:ext cx="4663440" cy="256032"/>
          </a:xfrm>
          <a:prstGeom prst="rect">
            <a:avLst/>
          </a:prstGeom>
          <a:noFill/>
          <a:ln/>
        </p:spPr>
        <p:txBody>
          <a:bodyPr wrap="square" lIns="0" tIns="0" rIns="0" bIns="0" rtlCol="0" anchor="ctr"/>
          <a:lstStyle/>
          <a:p>
            <a:pPr marL="0" indent="0">
              <a:buNone/>
            </a:pPr>
            <a:r>
              <a:rPr lang="en-US" sz="1200" b="1" dirty="0">
                <a:solidFill>
                  <a:srgbClr val="0E4C55"/>
                </a:solidFill>
                <a:latin typeface="Calibri" pitchFamily="34" charset="0"/>
                <a:ea typeface="Calibri" pitchFamily="34" charset="-122"/>
                <a:cs typeface="Calibri" pitchFamily="34" charset="-120"/>
              </a:rPr>
              <a:t>How to read the LID gap</a:t>
            </a:r>
            <a:endParaRPr lang="en-US" sz="1200" dirty="0"/>
          </a:p>
        </p:txBody>
      </p:sp>
      <p:sp>
        <p:nvSpPr>
          <p:cNvPr id="19" name="Text 17"/>
          <p:cNvSpPr/>
          <p:nvPr/>
        </p:nvSpPr>
        <p:spPr>
          <a:xfrm>
            <a:off x="914400" y="4069080"/>
            <a:ext cx="4709160" cy="1005840"/>
          </a:xfrm>
          <a:prstGeom prst="rect">
            <a:avLst/>
          </a:prstGeom>
          <a:noFill/>
          <a:ln/>
        </p:spPr>
        <p:txBody>
          <a:bodyPr wrap="square" lIns="0" tIns="0" rIns="0" bIns="0" rtlCol="0" anchor="ctr"/>
          <a:lstStyle/>
          <a:p>
            <a:pPr marL="0" indent="0">
              <a:lnSpc>
                <a:spcPts val="1550"/>
              </a:lnSpc>
              <a:buNone/>
            </a:pPr>
            <a:r>
              <a:rPr lang="en-US" sz="1150" dirty="0">
                <a:solidFill>
                  <a:srgbClr val="12202E"/>
                </a:solidFill>
                <a:latin typeface="Calibri" pitchFamily="34" charset="0"/>
                <a:ea typeface="Calibri" pitchFamily="34" charset="-122"/>
                <a:cs typeface="Calibri" pitchFamily="34" charset="-120"/>
              </a:rPr>
              <a:t>Institutions exempt from the cap by virtue of their low-income designation run business lending at nearly three times the rate of those subject to it. That is the signature of a constraint binding at the margin for a small group — not of a cap holding back the sector.</a:t>
            </a:r>
            <a:endParaRPr lang="en-US" sz="1150" dirty="0"/>
          </a:p>
        </p:txBody>
      </p:sp>
      <p:sp>
        <p:nvSpPr>
          <p:cNvPr id="20" name="Text 18"/>
          <p:cNvSpPr/>
          <p:nvPr/>
        </p:nvSpPr>
        <p:spPr>
          <a:xfrm>
            <a:off x="914400" y="5120640"/>
            <a:ext cx="4709160" cy="777240"/>
          </a:xfrm>
          <a:prstGeom prst="rect">
            <a:avLst/>
          </a:prstGeom>
          <a:noFill/>
          <a:ln/>
        </p:spPr>
        <p:txBody>
          <a:bodyPr wrap="square" lIns="0" tIns="0" rIns="0" bIns="0" rtlCol="0" anchor="ctr"/>
          <a:lstStyle/>
          <a:p>
            <a:pPr marL="0" indent="0">
              <a:lnSpc>
                <a:spcPts val="1550"/>
              </a:lnSpc>
              <a:buNone/>
            </a:pPr>
            <a:r>
              <a:rPr lang="en-US" sz="1150" b="1" dirty="0">
                <a:solidFill>
                  <a:srgbClr val="C8553D"/>
                </a:solidFill>
                <a:latin typeface="Calibri" pitchFamily="34" charset="0"/>
                <a:ea typeface="Calibri" pitchFamily="34" charset="-122"/>
                <a:cs typeface="Calibri" pitchFamily="34" charset="-120"/>
              </a:rPr>
              <a:t>The honest formulation: the cap is a real constraint for roughly ten rural institutions and a behavioural influence for more, but it cannot carry a sector-wide barriers argument on its own.</a:t>
            </a:r>
            <a:endParaRPr lang="en-US" sz="1150" dirty="0"/>
          </a:p>
        </p:txBody>
      </p:sp>
      <p:sp>
        <p:nvSpPr>
          <p:cNvPr id="21" name="Shape 19"/>
          <p:cNvSpPr/>
          <p:nvPr/>
        </p:nvSpPr>
        <p:spPr>
          <a:xfrm>
            <a:off x="6263640" y="3611880"/>
            <a:ext cx="5257800" cy="2377440"/>
          </a:xfrm>
          <a:prstGeom prst="roundRect">
            <a:avLst>
              <a:gd name="adj" fmla="val 1923"/>
            </a:avLst>
          </a:prstGeom>
          <a:solidFill>
            <a:srgbClr val="F3F5F4"/>
          </a:solidFill>
          <a:ln/>
        </p:spPr>
        <p:txBody>
          <a:bodyPr/>
          <a:lstStyle/>
          <a:p>
            <a:endParaRPr lang="en-US"/>
          </a:p>
        </p:txBody>
      </p:sp>
      <p:sp>
        <p:nvSpPr>
          <p:cNvPr id="22" name="Text 20"/>
          <p:cNvSpPr/>
          <p:nvPr/>
        </p:nvSpPr>
        <p:spPr>
          <a:xfrm>
            <a:off x="6537960" y="3767328"/>
            <a:ext cx="4663440" cy="256032"/>
          </a:xfrm>
          <a:prstGeom prst="rect">
            <a:avLst/>
          </a:prstGeom>
          <a:noFill/>
          <a:ln/>
        </p:spPr>
        <p:txBody>
          <a:bodyPr wrap="square" lIns="0" tIns="0" rIns="0" bIns="0" rtlCol="0" anchor="ctr"/>
          <a:lstStyle/>
          <a:p>
            <a:pPr marL="0" indent="0">
              <a:buNone/>
            </a:pPr>
            <a:r>
              <a:rPr lang="en-US" sz="1200" b="1" dirty="0">
                <a:solidFill>
                  <a:srgbClr val="0E4C55"/>
                </a:solidFill>
                <a:latin typeface="Calibri" pitchFamily="34" charset="0"/>
                <a:ea typeface="Calibri" pitchFamily="34" charset="-122"/>
                <a:cs typeface="Calibri" pitchFamily="34" charset="-120"/>
              </a:rPr>
              <a:t>What is still to be done here</a:t>
            </a:r>
            <a:endParaRPr lang="en-US" sz="1200" dirty="0"/>
          </a:p>
        </p:txBody>
      </p:sp>
      <p:sp>
        <p:nvSpPr>
          <p:cNvPr id="23" name="Text 21"/>
          <p:cNvSpPr/>
          <p:nvPr/>
        </p:nvSpPr>
        <p:spPr>
          <a:xfrm>
            <a:off x="6537960" y="4069080"/>
            <a:ext cx="4754880" cy="182880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00" dirty="0">
                <a:solidFill>
                  <a:srgbClr val="12202E"/>
                </a:solidFill>
                <a:latin typeface="Calibri" pitchFamily="34" charset="0"/>
                <a:ea typeface="Calibri" pitchFamily="34" charset="-122"/>
                <a:cs typeface="Calibri" pitchFamily="34" charset="-120"/>
              </a:rPr>
              <a:t>A bunching estimator on the Part 723 measure — does the distribution of business lending pile up just below the statutory threshold? Bunching is the cleanest evidence that a cap changes behaviour rather than merely describing it.</a:t>
            </a:r>
            <a:endParaRPr lang="en-US" sz="1100" dirty="0"/>
          </a:p>
          <a:p>
            <a:pPr marL="342900" indent="-342900">
              <a:lnSpc>
                <a:spcPts val="1500"/>
              </a:lnSpc>
              <a:spcAft>
                <a:spcPts val="600"/>
              </a:spcAft>
              <a:buSzPct val="100000"/>
              <a:buChar char="•"/>
            </a:pPr>
            <a:r>
              <a:rPr lang="en-US" sz="1100" dirty="0">
                <a:solidFill>
                  <a:srgbClr val="12202E"/>
                </a:solidFill>
                <a:latin typeface="Calibri" pitchFamily="34" charset="0"/>
                <a:ea typeface="Calibri" pitchFamily="34" charset="-122"/>
                <a:cs typeface="Calibri" pitchFamily="34" charset="-120"/>
              </a:rPr>
              <a:t>That measure is chosen for coverage: it runs the full 2010-2026 window, while the schedule's other business lending fields break at the 2017-18 revision.</a:t>
            </a:r>
            <a:endParaRPr lang="en-US" sz="1100" dirty="0"/>
          </a:p>
        </p:txBody>
      </p:sp>
      <p:sp>
        <p:nvSpPr>
          <p:cNvPr id="24" name="Text 22"/>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Cap measured against the statutory limit at 12 U.S.C. 1757a. Q3 stays “partly answered” until the bunching estimator is run.</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37744"/>
          </a:xfrm>
          <a:prstGeom prst="rect">
            <a:avLst/>
          </a:prstGeom>
          <a:noFill/>
          <a:ln/>
        </p:spPr>
        <p:txBody>
          <a:bodyPr wrap="square" lIns="0" tIns="0" rIns="0" bIns="0" rtlCol="0" anchor="ctr"/>
          <a:lstStyle/>
          <a:p>
            <a:pPr marL="0" indent="0">
              <a:buNone/>
            </a:pPr>
            <a:r>
              <a:rPr lang="en-US" sz="1050" b="1" kern="0" spc="200" dirty="0">
                <a:solidFill>
                  <a:srgbClr val="7FB0AE"/>
                </a:solidFill>
                <a:latin typeface="Calibri" pitchFamily="34" charset="0"/>
                <a:ea typeface="Calibri" pitchFamily="34" charset="-122"/>
                <a:cs typeface="Calibri" pitchFamily="34" charset="-120"/>
              </a:rPr>
              <a:t>6 · CORRECTIONS</a:t>
            </a:r>
            <a:endParaRPr lang="en-US" sz="1050" dirty="0"/>
          </a:p>
        </p:txBody>
      </p:sp>
      <p:sp>
        <p:nvSpPr>
          <p:cNvPr id="3" name="Text 1"/>
          <p:cNvSpPr/>
          <p:nvPr/>
        </p:nvSpPr>
        <p:spPr>
          <a:xfrm>
            <a:off x="640080" y="621792"/>
            <a:ext cx="10881360" cy="56692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Three other things we had to correct along the way</a:t>
            </a:r>
            <a:endParaRPr lang="en-US" sz="2700" dirty="0"/>
          </a:p>
        </p:txBody>
      </p:sp>
      <p:sp>
        <p:nvSpPr>
          <p:cNvPr id="4" name="Text 2"/>
          <p:cNvSpPr/>
          <p:nvPr/>
        </p:nvSpPr>
        <p:spPr>
          <a:xfrm>
            <a:off x="640080" y="1298448"/>
            <a:ext cx="10881360" cy="566928"/>
          </a:xfrm>
          <a:prstGeom prst="rect">
            <a:avLst/>
          </a:prstGeom>
          <a:noFill/>
          <a:ln/>
        </p:spPr>
        <p:txBody>
          <a:bodyPr wrap="square" lIns="0" tIns="0" rIns="0" bIns="0" rtlCol="0" anchor="ctr"/>
          <a:lstStyle/>
          <a:p>
            <a:pPr marL="0" indent="0">
              <a:lnSpc>
                <a:spcPts val="1900"/>
              </a:lnSpc>
              <a:buNone/>
            </a:pPr>
            <a:r>
              <a:rPr lang="en-US" sz="1350" dirty="0">
                <a:solidFill>
                  <a:srgbClr val="5B6B72"/>
                </a:solidFill>
                <a:latin typeface="Calibri" pitchFamily="34" charset="0"/>
                <a:ea typeface="Calibri" pitchFamily="34" charset="-122"/>
                <a:cs typeface="Calibri" pitchFamily="34" charset="-120"/>
              </a:rPr>
              <a:t>Each of these changed a sentence that had already been drafted. They are listed because the same traps will catch anyone reading our exhibits.</a:t>
            </a:r>
            <a:endParaRPr lang="en-US" sz="1350" dirty="0"/>
          </a:p>
        </p:txBody>
      </p:sp>
      <p:sp>
        <p:nvSpPr>
          <p:cNvPr id="5" name="Shape 3"/>
          <p:cNvSpPr/>
          <p:nvPr/>
        </p:nvSpPr>
        <p:spPr>
          <a:xfrm>
            <a:off x="640080" y="2011680"/>
            <a:ext cx="10881360" cy="1207008"/>
          </a:xfrm>
          <a:prstGeom prst="roundRect">
            <a:avLst>
              <a:gd name="adj" fmla="val 3788"/>
            </a:avLst>
          </a:prstGeom>
          <a:solidFill>
            <a:srgbClr val="F3F5F4"/>
          </a:solidFill>
          <a:ln/>
        </p:spPr>
        <p:txBody>
          <a:bodyPr/>
          <a:lstStyle/>
          <a:p>
            <a:endParaRPr lang="en-US"/>
          </a:p>
        </p:txBody>
      </p:sp>
      <p:sp>
        <p:nvSpPr>
          <p:cNvPr id="6" name="Shape 4"/>
          <p:cNvSpPr/>
          <p:nvPr/>
        </p:nvSpPr>
        <p:spPr>
          <a:xfrm>
            <a:off x="896112" y="2423160"/>
            <a:ext cx="365760" cy="365760"/>
          </a:xfrm>
          <a:prstGeom prst="ellipse">
            <a:avLst/>
          </a:prstGeom>
          <a:solidFill>
            <a:srgbClr val="C8553D"/>
          </a:solidFill>
          <a:ln/>
        </p:spPr>
        <p:txBody>
          <a:bodyPr/>
          <a:lstStyle/>
          <a:p>
            <a:endParaRPr lang="en-US"/>
          </a:p>
        </p:txBody>
      </p:sp>
      <p:sp>
        <p:nvSpPr>
          <p:cNvPr id="7" name="Text 5"/>
          <p:cNvSpPr/>
          <p:nvPr/>
        </p:nvSpPr>
        <p:spPr>
          <a:xfrm>
            <a:off x="896112" y="24231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417320" y="2157984"/>
            <a:ext cx="4846320" cy="457200"/>
          </a:xfrm>
          <a:prstGeom prst="rect">
            <a:avLst/>
          </a:prstGeom>
          <a:noFill/>
          <a:ln/>
        </p:spPr>
        <p:txBody>
          <a:bodyPr wrap="square" lIns="0" tIns="0" rIns="0" bIns="0" rtlCol="0" anchor="ctr"/>
          <a:lstStyle/>
          <a:p>
            <a:pPr marL="0" indent="0">
              <a:lnSpc>
                <a:spcPts val="1600"/>
              </a:lnSpc>
              <a:buNone/>
            </a:pPr>
            <a:r>
              <a:rPr lang="en-US" sz="1250" b="1" dirty="0">
                <a:solidFill>
                  <a:srgbClr val="0E4C55"/>
                </a:solidFill>
                <a:latin typeface="Calibri" pitchFamily="34" charset="0"/>
                <a:ea typeface="Calibri" pitchFamily="34" charset="-122"/>
                <a:cs typeface="Calibri" pitchFamily="34" charset="-120"/>
              </a:rPr>
              <a:t>Membership growth reverses under asset weighting</a:t>
            </a:r>
            <a:endParaRPr lang="en-US" sz="1250" dirty="0"/>
          </a:p>
        </p:txBody>
      </p:sp>
      <p:sp>
        <p:nvSpPr>
          <p:cNvPr id="9" name="Text 7"/>
          <p:cNvSpPr/>
          <p:nvPr/>
        </p:nvSpPr>
        <p:spPr>
          <a:xfrm>
            <a:off x="1417320" y="2633472"/>
            <a:ext cx="4846320" cy="457200"/>
          </a:xfrm>
          <a:prstGeom prst="rect">
            <a:avLst/>
          </a:prstGeom>
          <a:noFill/>
          <a:ln/>
        </p:spPr>
        <p:txBody>
          <a:bodyPr wrap="square" lIns="0" tIns="0" rIns="0" bIns="0" rtlCol="0" anchor="ctr"/>
          <a:lstStyle/>
          <a:p>
            <a:pPr marL="0" indent="0">
              <a:lnSpc>
                <a:spcPts val="1350"/>
              </a:lnSpc>
              <a:buNone/>
            </a:pPr>
            <a:r>
              <a:rPr lang="en-US" sz="1050" i="1" dirty="0">
                <a:solidFill>
                  <a:srgbClr val="5B6B72"/>
                </a:solidFill>
                <a:latin typeface="Calibri" pitchFamily="34" charset="0"/>
                <a:ea typeface="Calibri" pitchFamily="34" charset="-122"/>
                <a:cs typeface="Calibri" pitchFamily="34" charset="-120"/>
              </a:rPr>
              <a:t>+0.15% vs -0.58% on medians; 1.96 vs 2.80 weighted by assets.</a:t>
            </a:r>
            <a:endParaRPr lang="en-US" sz="1050" dirty="0"/>
          </a:p>
        </p:txBody>
      </p:sp>
      <p:sp>
        <p:nvSpPr>
          <p:cNvPr id="10" name="Text 8"/>
          <p:cNvSpPr/>
          <p:nvPr/>
        </p:nvSpPr>
        <p:spPr>
          <a:xfrm>
            <a:off x="6583680" y="2194560"/>
            <a:ext cx="4709160" cy="914400"/>
          </a:xfrm>
          <a:prstGeom prst="rect">
            <a:avLst/>
          </a:prstGeom>
          <a:noFill/>
          <a:ln/>
        </p:spPr>
        <p:txBody>
          <a:bodyPr wrap="square" lIns="0" tIns="0" rIns="0" bIns="0" rtlCol="0" anchor="ctr"/>
          <a:lstStyle/>
          <a:p>
            <a:pPr marL="0" indent="0">
              <a:lnSpc>
                <a:spcPts val="1500"/>
              </a:lnSpc>
              <a:buNone/>
            </a:pPr>
            <a:r>
              <a:rPr lang="en-US" sz="1100" dirty="0">
                <a:solidFill>
                  <a:srgbClr val="12202E"/>
                </a:solidFill>
                <a:latin typeface="Calibri" pitchFamily="34" charset="0"/>
                <a:ea typeface="Calibri" pitchFamily="34" charset="-122"/>
                <a:cs typeface="Calibri" pitchFamily="34" charset="-120"/>
              </a:rPr>
              <a:t>A handful of very large non-rural institutions carry their segment. Every membership claim in the report must be explicitly about the ordinary institution, never the aggregate.</a:t>
            </a:r>
            <a:endParaRPr lang="en-US" sz="1100" dirty="0"/>
          </a:p>
        </p:txBody>
      </p:sp>
      <p:sp>
        <p:nvSpPr>
          <p:cNvPr id="11" name="Shape 9"/>
          <p:cNvSpPr/>
          <p:nvPr/>
        </p:nvSpPr>
        <p:spPr>
          <a:xfrm>
            <a:off x="640080" y="3383280"/>
            <a:ext cx="10881360" cy="1207008"/>
          </a:xfrm>
          <a:prstGeom prst="roundRect">
            <a:avLst>
              <a:gd name="adj" fmla="val 3788"/>
            </a:avLst>
          </a:prstGeom>
          <a:solidFill>
            <a:srgbClr val="F3F5F4"/>
          </a:solidFill>
          <a:ln/>
        </p:spPr>
        <p:txBody>
          <a:bodyPr/>
          <a:lstStyle/>
          <a:p>
            <a:endParaRPr lang="en-US"/>
          </a:p>
        </p:txBody>
      </p:sp>
      <p:sp>
        <p:nvSpPr>
          <p:cNvPr id="12" name="Shape 10"/>
          <p:cNvSpPr/>
          <p:nvPr/>
        </p:nvSpPr>
        <p:spPr>
          <a:xfrm>
            <a:off x="896112" y="3794760"/>
            <a:ext cx="365760" cy="365760"/>
          </a:xfrm>
          <a:prstGeom prst="ellipse">
            <a:avLst/>
          </a:prstGeom>
          <a:solidFill>
            <a:srgbClr val="C8553D"/>
          </a:solidFill>
          <a:ln/>
        </p:spPr>
        <p:txBody>
          <a:bodyPr/>
          <a:lstStyle/>
          <a:p>
            <a:endParaRPr lang="en-US"/>
          </a:p>
        </p:txBody>
      </p:sp>
      <p:sp>
        <p:nvSpPr>
          <p:cNvPr id="13" name="Text 11"/>
          <p:cNvSpPr/>
          <p:nvPr/>
        </p:nvSpPr>
        <p:spPr>
          <a:xfrm>
            <a:off x="896112" y="37947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417320" y="3529584"/>
            <a:ext cx="4846320" cy="457200"/>
          </a:xfrm>
          <a:prstGeom prst="rect">
            <a:avLst/>
          </a:prstGeom>
          <a:noFill/>
          <a:ln/>
        </p:spPr>
        <p:txBody>
          <a:bodyPr wrap="square" lIns="0" tIns="0" rIns="0" bIns="0" rtlCol="0" anchor="ctr"/>
          <a:lstStyle/>
          <a:p>
            <a:pPr marL="0" indent="0">
              <a:lnSpc>
                <a:spcPts val="1600"/>
              </a:lnSpc>
              <a:buNone/>
            </a:pPr>
            <a:r>
              <a:rPr lang="en-US" sz="1250" b="1" dirty="0">
                <a:solidFill>
                  <a:srgbClr val="0E4C55"/>
                </a:solidFill>
                <a:latin typeface="Calibri" pitchFamily="34" charset="0"/>
                <a:ea typeface="Calibri" pitchFamily="34" charset="-122"/>
                <a:cs typeface="Calibri" pitchFamily="34" charset="-120"/>
              </a:rPr>
              <a:t>Median assets: current quarter, not pooled panel</a:t>
            </a:r>
            <a:endParaRPr lang="en-US" sz="1250" dirty="0"/>
          </a:p>
        </p:txBody>
      </p:sp>
      <p:sp>
        <p:nvSpPr>
          <p:cNvPr id="15" name="Text 13"/>
          <p:cNvSpPr/>
          <p:nvPr/>
        </p:nvSpPr>
        <p:spPr>
          <a:xfrm>
            <a:off x="1417320" y="4005072"/>
            <a:ext cx="4846320" cy="457200"/>
          </a:xfrm>
          <a:prstGeom prst="rect">
            <a:avLst/>
          </a:prstGeom>
          <a:noFill/>
          <a:ln/>
        </p:spPr>
        <p:txBody>
          <a:bodyPr wrap="square" lIns="0" tIns="0" rIns="0" bIns="0" rtlCol="0" anchor="ctr"/>
          <a:lstStyle/>
          <a:p>
            <a:pPr marL="0" indent="0">
              <a:lnSpc>
                <a:spcPts val="1350"/>
              </a:lnSpc>
              <a:buNone/>
            </a:pPr>
            <a:r>
              <a:rPr lang="en-US" sz="1050" i="1" dirty="0">
                <a:solidFill>
                  <a:srgbClr val="5B6B72"/>
                </a:solidFill>
                <a:latin typeface="Calibri" pitchFamily="34" charset="0"/>
                <a:ea typeface="Calibri" pitchFamily="34" charset="-122"/>
                <a:cs typeface="Calibri" pitchFamily="34" charset="-120"/>
              </a:rPr>
              <a:t>$38m vs $78m current quarter; $21m vs $37m pooled across the panel.</a:t>
            </a:r>
            <a:endParaRPr lang="en-US" sz="1050" dirty="0"/>
          </a:p>
        </p:txBody>
      </p:sp>
      <p:sp>
        <p:nvSpPr>
          <p:cNvPr id="16" name="Text 14"/>
          <p:cNvSpPr/>
          <p:nvPr/>
        </p:nvSpPr>
        <p:spPr>
          <a:xfrm>
            <a:off x="6583680" y="3566160"/>
            <a:ext cx="4709160" cy="914400"/>
          </a:xfrm>
          <a:prstGeom prst="rect">
            <a:avLst/>
          </a:prstGeom>
          <a:noFill/>
          <a:ln/>
        </p:spPr>
        <p:txBody>
          <a:bodyPr wrap="square" lIns="0" tIns="0" rIns="0" bIns="0" rtlCol="0" anchor="ctr"/>
          <a:lstStyle/>
          <a:p>
            <a:pPr marL="0" indent="0">
              <a:lnSpc>
                <a:spcPts val="1500"/>
              </a:lnSpc>
              <a:buNone/>
            </a:pPr>
            <a:r>
              <a:rPr lang="en-US" sz="1100" dirty="0">
                <a:solidFill>
                  <a:srgbClr val="12202E"/>
                </a:solidFill>
                <a:latin typeface="Calibri" pitchFamily="34" charset="0"/>
                <a:ea typeface="Calibri" pitchFamily="34" charset="-122"/>
                <a:cs typeface="Calibri" pitchFamily="34" charset="-120"/>
              </a:rPr>
              <a:t>Pooled-panel medians average sixteen years of a growing system and read as absurdly small in present tense. Present-tense text takes current-quarter figures.</a:t>
            </a:r>
            <a:endParaRPr lang="en-US" sz="1100" dirty="0"/>
          </a:p>
        </p:txBody>
      </p:sp>
      <p:sp>
        <p:nvSpPr>
          <p:cNvPr id="17" name="Shape 15"/>
          <p:cNvSpPr/>
          <p:nvPr/>
        </p:nvSpPr>
        <p:spPr>
          <a:xfrm>
            <a:off x="640080" y="4754880"/>
            <a:ext cx="10881360" cy="1207008"/>
          </a:xfrm>
          <a:prstGeom prst="roundRect">
            <a:avLst>
              <a:gd name="adj" fmla="val 3788"/>
            </a:avLst>
          </a:prstGeom>
          <a:solidFill>
            <a:srgbClr val="F3F5F4"/>
          </a:solidFill>
          <a:ln/>
        </p:spPr>
        <p:txBody>
          <a:bodyPr/>
          <a:lstStyle/>
          <a:p>
            <a:endParaRPr lang="en-US"/>
          </a:p>
        </p:txBody>
      </p:sp>
      <p:sp>
        <p:nvSpPr>
          <p:cNvPr id="18" name="Shape 16"/>
          <p:cNvSpPr/>
          <p:nvPr/>
        </p:nvSpPr>
        <p:spPr>
          <a:xfrm>
            <a:off x="896112" y="5166360"/>
            <a:ext cx="365760" cy="365760"/>
          </a:xfrm>
          <a:prstGeom prst="ellipse">
            <a:avLst/>
          </a:prstGeom>
          <a:solidFill>
            <a:srgbClr val="C8553D"/>
          </a:solidFill>
          <a:ln/>
        </p:spPr>
        <p:txBody>
          <a:bodyPr/>
          <a:lstStyle/>
          <a:p>
            <a:endParaRPr lang="en-US"/>
          </a:p>
        </p:txBody>
      </p:sp>
      <p:sp>
        <p:nvSpPr>
          <p:cNvPr id="19" name="Text 17"/>
          <p:cNvSpPr/>
          <p:nvPr/>
        </p:nvSpPr>
        <p:spPr>
          <a:xfrm>
            <a:off x="896112" y="5166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417320" y="4901184"/>
            <a:ext cx="4846320" cy="457200"/>
          </a:xfrm>
          <a:prstGeom prst="rect">
            <a:avLst/>
          </a:prstGeom>
          <a:noFill/>
          <a:ln/>
        </p:spPr>
        <p:txBody>
          <a:bodyPr wrap="square" lIns="0" tIns="0" rIns="0" bIns="0" rtlCol="0" anchor="ctr"/>
          <a:lstStyle/>
          <a:p>
            <a:pPr marL="0" indent="0">
              <a:lnSpc>
                <a:spcPts val="1600"/>
              </a:lnSpc>
              <a:buNone/>
            </a:pPr>
            <a:r>
              <a:rPr lang="en-US" sz="1250" b="1" dirty="0">
                <a:solidFill>
                  <a:srgbClr val="0E4C55"/>
                </a:solidFill>
                <a:latin typeface="Calibri" pitchFamily="34" charset="0"/>
                <a:ea typeface="Calibri" pitchFamily="34" charset="-122"/>
                <a:cs typeface="Calibri" pitchFamily="34" charset="-120"/>
              </a:rPr>
              <a:t>Branch growth is inflated by merger mechanics</a:t>
            </a:r>
            <a:endParaRPr lang="en-US" sz="1250" dirty="0"/>
          </a:p>
        </p:txBody>
      </p:sp>
      <p:sp>
        <p:nvSpPr>
          <p:cNvPr id="21" name="Text 19"/>
          <p:cNvSpPr/>
          <p:nvPr/>
        </p:nvSpPr>
        <p:spPr>
          <a:xfrm>
            <a:off x="1417320" y="5376672"/>
            <a:ext cx="4846320" cy="457200"/>
          </a:xfrm>
          <a:prstGeom prst="rect">
            <a:avLst/>
          </a:prstGeom>
          <a:noFill/>
          <a:ln/>
        </p:spPr>
        <p:txBody>
          <a:bodyPr wrap="square" lIns="0" tIns="0" rIns="0" bIns="0" rtlCol="0" anchor="ctr"/>
          <a:lstStyle/>
          <a:p>
            <a:pPr marL="0" indent="0">
              <a:lnSpc>
                <a:spcPts val="1350"/>
              </a:lnSpc>
              <a:buNone/>
            </a:pPr>
            <a:r>
              <a:rPr lang="en-US" sz="1050" i="1" dirty="0">
                <a:solidFill>
                  <a:srgbClr val="5B6B72"/>
                </a:solidFill>
                <a:latin typeface="Calibri" pitchFamily="34" charset="0"/>
                <a:ea typeface="Calibri" pitchFamily="34" charset="-122"/>
                <a:cs typeface="Calibri" pitchFamily="34" charset="-120"/>
              </a:rPr>
              <a:t>Rural branches +29.4%, but HQ change plus branch change equals net office change exactly.</a:t>
            </a:r>
            <a:endParaRPr lang="en-US" sz="1050" dirty="0"/>
          </a:p>
        </p:txBody>
      </p:sp>
      <p:sp>
        <p:nvSpPr>
          <p:cNvPr id="22" name="Text 20"/>
          <p:cNvSpPr/>
          <p:nvPr/>
        </p:nvSpPr>
        <p:spPr>
          <a:xfrm>
            <a:off x="6583680" y="4937760"/>
            <a:ext cx="4709160" cy="914400"/>
          </a:xfrm>
          <a:prstGeom prst="rect">
            <a:avLst/>
          </a:prstGeom>
          <a:noFill/>
          <a:ln/>
        </p:spPr>
        <p:txBody>
          <a:bodyPr wrap="square" lIns="0" tIns="0" rIns="0" bIns="0" rtlCol="0" anchor="ctr"/>
          <a:lstStyle/>
          <a:p>
            <a:pPr marL="0" indent="0">
              <a:lnSpc>
                <a:spcPts val="1500"/>
              </a:lnSpc>
              <a:buNone/>
            </a:pPr>
            <a:r>
              <a:rPr lang="en-US" sz="1100" dirty="0">
                <a:solidFill>
                  <a:srgbClr val="12202E"/>
                </a:solidFill>
                <a:latin typeface="Calibri" pitchFamily="34" charset="0"/>
                <a:ea typeface="Calibri" pitchFamily="34" charset="-122"/>
                <a:cs typeface="Calibri" pitchFamily="34" charset="-120"/>
              </a:rPr>
              <a:t>When a credit union is acquired its headquarters is reclassified as a branch. Leading with branch growth would overstate network expansion substantially. Lead with net offices.</a:t>
            </a:r>
            <a:endParaRPr lang="en-US" sz="1100" dirty="0"/>
          </a:p>
        </p:txBody>
      </p:sp>
      <p:sp>
        <p:nvSpPr>
          <p:cNvPr id="23" name="Text 21"/>
          <p:cNvSpPr/>
          <p:nvPr/>
        </p:nvSpPr>
        <p:spPr>
          <a:xfrm>
            <a:off x="640080" y="6345936"/>
            <a:ext cx="10881360" cy="256032"/>
          </a:xfrm>
          <a:prstGeom prst="rect">
            <a:avLst/>
          </a:prstGeom>
          <a:noFill/>
          <a:ln/>
        </p:spPr>
        <p:txBody>
          <a:bodyPr wrap="square" lIns="0" tIns="0" rIns="0" bIns="0" rtlCol="0" anchor="ctr"/>
          <a:lstStyle/>
          <a:p>
            <a:pPr marL="0" indent="0">
              <a:buNone/>
            </a:pPr>
            <a:r>
              <a:rPr lang="en-US" sz="900" i="1" dirty="0">
                <a:solidFill>
                  <a:srgbClr val="5B6B72"/>
                </a:solidFill>
                <a:latin typeface="Calibri" pitchFamily="34" charset="0"/>
                <a:ea typeface="Calibri" pitchFamily="34" charset="-122"/>
                <a:cs typeface="Calibri" pitchFamily="34" charset="-120"/>
              </a:rPr>
              <a:t>Both narrative documents — the plain-language findings note and the Q1 report section — were reissued on 30 July 2026 with all of the above. Anything circulated before that date carries the retracted capital claim.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7075</Words>
  <Application>Microsoft Macintosh PowerPoint</Application>
  <PresentationFormat>Widescreen</PresentationFormat>
  <Paragraphs>692</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Rural Credit Unions Study - Executive Briefing</dc:title>
  <dc:subject>PptxGenJS Presentation</dc:subject>
  <dc:creator>NCUA Office of the Chief Economist</dc:creator>
  <cp:lastModifiedBy>Saurabh Datta</cp:lastModifiedBy>
  <cp:revision>1</cp:revision>
  <dcterms:created xsi:type="dcterms:W3CDTF">2026-08-24T15:19:34Z</dcterms:created>
  <dcterms:modified xsi:type="dcterms:W3CDTF">2026-08-24T15:23:46Z</dcterms:modified>
</cp:coreProperties>
</file>