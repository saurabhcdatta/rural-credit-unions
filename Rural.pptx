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5" d="100"/>
          <a:sy n="125" d="100"/>
        </p:scale>
        <p:origin x="160"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Change over the decade, %</a:t>
            </a:r>
          </a:p>
        </c:rich>
      </c:tx>
      <c:overlay val="0"/>
    </c:title>
    <c:autoTitleDeleted val="0"/>
    <c:plotArea>
      <c:layout/>
      <c:barChart>
        <c:barDir val="col"/>
        <c:grouping val="clustered"/>
        <c:varyColors val="0"/>
        <c:ser>
          <c:idx val="0"/>
          <c:order val="0"/>
          <c:tx>
            <c:strRef>
              <c:f>Sheet1!$B$1</c:f>
              <c:strCache>
                <c:ptCount val="1"/>
                <c:pt idx="0">
                  <c:v>Rural counties</c:v>
                </c:pt>
              </c:strCache>
            </c:strRef>
          </c:tx>
          <c:spPr>
            <a:solidFill>
              <a:srgbClr val="0E4C55"/>
            </a:solidFill>
            <a:effectLst/>
          </c:spPr>
          <c:invertIfNegative val="0"/>
          <c:dLbls>
            <c:numFmt formatCode="\+0.0;\-0.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Offices</c:v>
                </c:pt>
                <c:pt idx="1">
                  <c:v>People</c:v>
                </c:pt>
                <c:pt idx="2">
                  <c:v>Offices per resident</c:v>
                </c:pt>
              </c:strCache>
            </c:strRef>
          </c:cat>
          <c:val>
            <c:numRef>
              <c:f>Sheet1!$B$2:$B$4</c:f>
              <c:numCache>
                <c:formatCode>General</c:formatCode>
                <c:ptCount val="3"/>
                <c:pt idx="0">
                  <c:v>7.2</c:v>
                </c:pt>
                <c:pt idx="1">
                  <c:v>-0.4</c:v>
                </c:pt>
                <c:pt idx="2">
                  <c:v>7.7</c:v>
                </c:pt>
              </c:numCache>
            </c:numRef>
          </c:val>
          <c:extLst>
            <c:ext xmlns:c16="http://schemas.microsoft.com/office/drawing/2014/chart" uri="{C3380CC4-5D6E-409C-BE32-E72D297353CC}">
              <c16:uniqueId val="{00000000-AA66-E54F-9328-AC0C462CF3F7}"/>
            </c:ext>
          </c:extLst>
        </c:ser>
        <c:ser>
          <c:idx val="1"/>
          <c:order val="1"/>
          <c:tx>
            <c:strRef>
              <c:f>Sheet1!$C$1</c:f>
              <c:strCache>
                <c:ptCount val="1"/>
                <c:pt idx="0">
                  <c:v>Non-rural counties</c:v>
                </c:pt>
              </c:strCache>
            </c:strRef>
          </c:tx>
          <c:spPr>
            <a:solidFill>
              <a:srgbClr val="7FB0AE"/>
            </a:solidFill>
            <a:effectLst/>
          </c:spPr>
          <c:invertIfNegative val="0"/>
          <c:dLbls>
            <c:numFmt formatCode="\+0.0;\-0.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Offices</c:v>
                </c:pt>
                <c:pt idx="1">
                  <c:v>People</c:v>
                </c:pt>
                <c:pt idx="2">
                  <c:v>Offices per resident</c:v>
                </c:pt>
              </c:strCache>
            </c:strRef>
          </c:cat>
          <c:val>
            <c:numRef>
              <c:f>Sheet1!$C$2:$C$4</c:f>
              <c:numCache>
                <c:formatCode>General</c:formatCode>
                <c:ptCount val="3"/>
                <c:pt idx="0">
                  <c:v>5.0999999999999996</c:v>
                </c:pt>
                <c:pt idx="1">
                  <c:v>5.9</c:v>
                </c:pt>
                <c:pt idx="2">
                  <c:v>-0.7</c:v>
                </c:pt>
              </c:numCache>
            </c:numRef>
          </c:val>
          <c:extLst>
            <c:ext xmlns:c16="http://schemas.microsoft.com/office/drawing/2014/chart" uri="{C3380CC4-5D6E-409C-BE32-E72D297353CC}">
              <c16:uniqueId val="{00000001-AA66-E54F-9328-AC0C462CF3F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B6B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counties by what happened, 2016 to 2026</a:t>
            </a:r>
          </a:p>
        </c:rich>
      </c:tx>
      <c:overlay val="0"/>
    </c:title>
    <c:autoTitleDeleted val="0"/>
    <c:plotArea>
      <c:layout/>
      <c:barChart>
        <c:barDir val="bar"/>
        <c:grouping val="clustered"/>
        <c:varyColors val="0"/>
        <c:ser>
          <c:idx val="0"/>
          <c:order val="0"/>
          <c:tx>
            <c:strRef>
              <c:f>Sheet1!$B$1</c:f>
              <c:strCache>
                <c:ptCount val="1"/>
                <c:pt idx="0">
                  <c:v>Rural counties</c:v>
                </c:pt>
              </c:strCache>
            </c:strRef>
          </c:tx>
          <c:spPr>
            <a:solidFill>
              <a:srgbClr val="1F6F78"/>
            </a:solidFill>
            <a:effectLst/>
          </c:spPr>
          <c:invertIfNegative val="0"/>
          <c:dLbls>
            <c:numFmt formatCode="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Lost offices, gained people</c:v>
                </c:pt>
                <c:pt idx="1">
                  <c:v>Lost offices, lost people</c:v>
                </c:pt>
                <c:pt idx="2">
                  <c:v>Added offices, gained people</c:v>
                </c:pt>
                <c:pt idx="3">
                  <c:v>Added offices, lost people</c:v>
                </c:pt>
                <c:pt idx="4">
                  <c:v>No change in offices</c:v>
                </c:pt>
                <c:pt idx="5">
                  <c:v>No office in either year</c:v>
                </c:pt>
              </c:strCache>
            </c:strRef>
          </c:cat>
          <c:val>
            <c:numRef>
              <c:f>Sheet1!$B$2:$B$7</c:f>
              <c:numCache>
                <c:formatCode>General</c:formatCode>
                <c:ptCount val="6"/>
                <c:pt idx="0">
                  <c:v>71</c:v>
                </c:pt>
                <c:pt idx="1">
                  <c:v>86</c:v>
                </c:pt>
                <c:pt idx="2">
                  <c:v>125</c:v>
                </c:pt>
                <c:pt idx="3">
                  <c:v>109</c:v>
                </c:pt>
                <c:pt idx="4">
                  <c:v>447</c:v>
                </c:pt>
                <c:pt idx="5">
                  <c:v>717</c:v>
                </c:pt>
              </c:numCache>
            </c:numRef>
          </c:val>
          <c:extLst>
            <c:ext xmlns:c16="http://schemas.microsoft.com/office/drawing/2014/chart" uri="{C3380CC4-5D6E-409C-BE32-E72D297353CC}">
              <c16:uniqueId val="{00000000-25D2-4643-8741-B22339B3D04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800"/>
        </c:scaling>
        <c:delete val="0"/>
        <c:axPos val="b"/>
        <c:majorGridlines>
          <c:spPr>
            <a:ln w="12700" cap="flat">
              <a:solidFill>
                <a:srgbClr val="E6EA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sz="1150" b="0" i="0" u="none" strike="noStrike">
                <a:solidFill>
                  <a:srgbClr val="12202E"/>
                </a:solidFill>
                <a:latin typeface="Calibri"/>
              </a:rPr>
              <a:t>Residents who live in a county with an office, %</a:t>
            </a:r>
          </a:p>
        </c:rich>
      </c:tx>
      <c:overlay val="0"/>
    </c:title>
    <c:autoTitleDeleted val="0"/>
    <c:plotArea>
      <c:layout/>
      <c:barChart>
        <c:barDir val="bar"/>
        <c:grouping val="clustered"/>
        <c:varyColors val="0"/>
        <c:ser>
          <c:idx val="0"/>
          <c:order val="0"/>
          <c:tx>
            <c:strRef>
              <c:f>Sheet1!$B$1</c:f>
              <c:strCache>
                <c:ptCount val="1"/>
                <c:pt idx="0">
                  <c:v>Share of residents in a county with at least one office</c:v>
                </c:pt>
              </c:strCache>
            </c:strRef>
          </c:tx>
          <c:spPr>
            <a:solidFill>
              <a:srgbClr val="0E4C55"/>
            </a:solidFill>
            <a:effectLst/>
          </c:spPr>
          <c:invertIfNegative val="0"/>
          <c:dPt>
            <c:idx val="0"/>
            <c:invertIfNegative val="0"/>
            <c:bubble3D val="0"/>
            <c:extLst>
              <c:ext xmlns:c16="http://schemas.microsoft.com/office/drawing/2014/chart" uri="{C3380CC4-5D6E-409C-BE32-E72D297353CC}">
                <c16:uniqueId val="{00000001-CC6A-2740-BBB1-D34D58B372CD}"/>
              </c:ext>
            </c:extLst>
          </c:dPt>
          <c:dPt>
            <c:idx val="1"/>
            <c:invertIfNegative val="0"/>
            <c:bubble3D val="0"/>
            <c:spPr>
              <a:solidFill>
                <a:srgbClr val="7FB0AE"/>
              </a:solidFill>
              <a:effectLst/>
            </c:spPr>
            <c:extLst>
              <c:ext xmlns:c16="http://schemas.microsoft.com/office/drawing/2014/chart" uri="{C3380CC4-5D6E-409C-BE32-E72D297353CC}">
                <c16:uniqueId val="{00000003-CC6A-2740-BBB1-D34D58B372CD}"/>
              </c:ext>
            </c:extLst>
          </c:dPt>
          <c:dLbls>
            <c:numFmt formatCode="0.0" sourceLinked="0"/>
            <c:spPr>
              <a:noFill/>
              <a:ln>
                <a:noFill/>
              </a:ln>
              <a:effectLst/>
            </c:spPr>
            <c:txPr>
              <a:bodyPr/>
              <a:lstStyle/>
              <a:p>
                <a:pPr>
                  <a:defRPr sz="13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Rural</c:v>
                </c:pt>
                <c:pt idx="1">
                  <c:v>Non-rural</c:v>
                </c:pt>
              </c:strCache>
            </c:strRef>
          </c:cat>
          <c:val>
            <c:numRef>
              <c:f>Sheet1!$B$2:$B$3</c:f>
              <c:numCache>
                <c:formatCode>General</c:formatCode>
                <c:ptCount val="2"/>
                <c:pt idx="0">
                  <c:v>70.8</c:v>
                </c:pt>
                <c:pt idx="1">
                  <c:v>98.4</c:v>
                </c:pt>
              </c:numCache>
            </c:numRef>
          </c:val>
          <c:extLst>
            <c:ext xmlns:c16="http://schemas.microsoft.com/office/drawing/2014/chart" uri="{C3380CC4-5D6E-409C-BE32-E72D297353CC}">
              <c16:uniqueId val="{00000004-CC6A-2740-BBB1-D34D58B372C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E6EA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advantage, percentage points</a:t>
            </a:r>
          </a:p>
        </c:rich>
      </c:tx>
      <c:overlay val="0"/>
    </c:title>
    <c:autoTitleDeleted val="0"/>
    <c:plotArea>
      <c:layout/>
      <c:barChart>
        <c:barDir val="col"/>
        <c:grouping val="clustered"/>
        <c:varyColors val="0"/>
        <c:ser>
          <c:idx val="0"/>
          <c:order val="0"/>
          <c:tx>
            <c:strRef>
              <c:f>Sheet1!$B$1</c:f>
              <c:strCache>
                <c:ptCount val="1"/>
                <c:pt idx="0">
                  <c:v>Raw difference</c:v>
                </c:pt>
              </c:strCache>
            </c:strRef>
          </c:tx>
          <c:spPr>
            <a:solidFill>
              <a:srgbClr val="7FB0AE"/>
            </a:solidFill>
            <a:effectLst/>
          </c:spPr>
          <c:invertIfNegative val="0"/>
          <c:dLbls>
            <c:numFmt formatCode="0.00" sourceLinked="0"/>
            <c:spPr>
              <a:noFill/>
              <a:ln>
                <a:noFill/>
              </a:ln>
              <a:effectLst/>
            </c:spPr>
            <c:txPr>
              <a:bodyPr/>
              <a:lstStyle/>
              <a:p>
                <a:pPr>
                  <a:defRPr sz="9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Asset growth</c:v>
                </c:pt>
                <c:pt idx="1">
                  <c:v>Loan growth</c:v>
                </c:pt>
                <c:pt idx="2">
                  <c:v>Membership growth</c:v>
                </c:pt>
                <c:pt idx="3">
                  <c:v>ROA</c:v>
                </c:pt>
                <c:pt idx="4">
                  <c:v>Net worth</c:v>
                </c:pt>
              </c:strCache>
            </c:strRef>
          </c:cat>
          <c:val>
            <c:numRef>
              <c:f>Sheet1!$B$2:$B$6</c:f>
              <c:numCache>
                <c:formatCode>General</c:formatCode>
                <c:ptCount val="5"/>
                <c:pt idx="0">
                  <c:v>0.86</c:v>
                </c:pt>
                <c:pt idx="1">
                  <c:v>0.83</c:v>
                </c:pt>
                <c:pt idx="2">
                  <c:v>0.6</c:v>
                </c:pt>
                <c:pt idx="3">
                  <c:v>0.14000000000000001</c:v>
                </c:pt>
                <c:pt idx="4">
                  <c:v>0.78</c:v>
                </c:pt>
              </c:numCache>
            </c:numRef>
          </c:val>
          <c:extLst>
            <c:ext xmlns:c16="http://schemas.microsoft.com/office/drawing/2014/chart" uri="{C3380CC4-5D6E-409C-BE32-E72D297353CC}">
              <c16:uniqueId val="{00000000-80A6-BB4F-8CC3-9E9A1A98F736}"/>
            </c:ext>
          </c:extLst>
        </c:ser>
        <c:ser>
          <c:idx val="1"/>
          <c:order val="1"/>
          <c:tx>
            <c:strRef>
              <c:f>Sheet1!$C$1</c:f>
              <c:strCache>
                <c:ptCount val="1"/>
                <c:pt idx="0">
                  <c:v>Like-for-like (same size, state and quarter)</c:v>
                </c:pt>
              </c:strCache>
            </c:strRef>
          </c:tx>
          <c:spPr>
            <a:solidFill>
              <a:srgbClr val="0E4C55"/>
            </a:solidFill>
            <a:effectLst/>
          </c:spPr>
          <c:invertIfNegative val="0"/>
          <c:dLbls>
            <c:numFmt formatCode="0.00" sourceLinked="0"/>
            <c:spPr>
              <a:noFill/>
              <a:ln>
                <a:noFill/>
              </a:ln>
              <a:effectLst/>
            </c:spPr>
            <c:txPr>
              <a:bodyPr/>
              <a:lstStyle/>
              <a:p>
                <a:pPr>
                  <a:defRPr sz="9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Asset growth</c:v>
                </c:pt>
                <c:pt idx="1">
                  <c:v>Loan growth</c:v>
                </c:pt>
                <c:pt idx="2">
                  <c:v>Membership growth</c:v>
                </c:pt>
                <c:pt idx="3">
                  <c:v>ROA</c:v>
                </c:pt>
                <c:pt idx="4">
                  <c:v>Net worth</c:v>
                </c:pt>
              </c:strCache>
            </c:strRef>
          </c:cat>
          <c:val>
            <c:numRef>
              <c:f>Sheet1!$C$2:$C$6</c:f>
              <c:numCache>
                <c:formatCode>General</c:formatCode>
                <c:ptCount val="5"/>
                <c:pt idx="0">
                  <c:v>1.0289999999999999</c:v>
                </c:pt>
                <c:pt idx="1">
                  <c:v>1.069</c:v>
                </c:pt>
                <c:pt idx="2">
                  <c:v>0.88800000000000001</c:v>
                </c:pt>
                <c:pt idx="3">
                  <c:v>0.17299999999999999</c:v>
                </c:pt>
                <c:pt idx="4">
                  <c:v>0.41499999999999998</c:v>
                </c:pt>
              </c:numCache>
            </c:numRef>
          </c:val>
          <c:extLst>
            <c:ext xmlns:c16="http://schemas.microsoft.com/office/drawing/2014/chart" uri="{C3380CC4-5D6E-409C-BE32-E72D297353CC}">
              <c16:uniqueId val="{00000001-80A6-BB4F-8CC3-9E9A1A98F73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2"/>
        <c:crosses val="autoZero"/>
        <c:auto val="1"/>
        <c:lblAlgn val="ctr"/>
        <c:lblOffset val="100"/>
        <c:noMultiLvlLbl val="1"/>
      </c:catAx>
      <c:valAx>
        <c:axId val="2094734552"/>
        <c:scaling>
          <c:orientation val="minMax"/>
          <c:max val="1.4"/>
          <c:min val="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B6B72"/>
              </a:solidFil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charters, 2010Q1 to 2026Q1</a:t>
            </a:r>
          </a:p>
        </c:rich>
      </c:tx>
      <c:overlay val="0"/>
    </c:title>
    <c:autoTitleDeleted val="0"/>
    <c:plotArea>
      <c:layout/>
      <c:barChart>
        <c:barDir val="col"/>
        <c:grouping val="clustered"/>
        <c:varyColors val="0"/>
        <c:ser>
          <c:idx val="0"/>
          <c:order val="0"/>
          <c:tx>
            <c:strRef>
              <c:f>Sheet1!$B$1</c:f>
              <c:strCache>
                <c:ptCount val="1"/>
                <c:pt idx="0">
                  <c:v>Rural charters</c:v>
                </c:pt>
              </c:strCache>
            </c:strRef>
          </c:tx>
          <c:spPr>
            <a:solidFill>
              <a:srgbClr val="C8553D"/>
            </a:solidFill>
            <a:effectLst/>
          </c:spPr>
          <c:invertIfNegative val="0"/>
          <c:dPt>
            <c:idx val="0"/>
            <c:invertIfNegative val="0"/>
            <c:bubble3D val="0"/>
            <c:extLst>
              <c:ext xmlns:c16="http://schemas.microsoft.com/office/drawing/2014/chart" uri="{C3380CC4-5D6E-409C-BE32-E72D297353CC}">
                <c16:uniqueId val="{00000001-BA8B-9F43-A162-7C52BE22E5CC}"/>
              </c:ext>
            </c:extLst>
          </c:dPt>
          <c:dPt>
            <c:idx val="1"/>
            <c:invertIfNegative val="0"/>
            <c:bubble3D val="0"/>
            <c:spPr>
              <a:solidFill>
                <a:srgbClr val="5B6B72"/>
              </a:solidFill>
              <a:effectLst/>
            </c:spPr>
            <c:extLst>
              <c:ext xmlns:c16="http://schemas.microsoft.com/office/drawing/2014/chart" uri="{C3380CC4-5D6E-409C-BE32-E72D297353CC}">
                <c16:uniqueId val="{00000003-BA8B-9F43-A162-7C52BE22E5CC}"/>
              </c:ext>
            </c:extLst>
          </c:dPt>
          <c:dLbls>
            <c:numFmt formatCode="0" sourceLinked="0"/>
            <c:spPr>
              <a:noFill/>
              <a:ln>
                <a:noFill/>
              </a:ln>
              <a:effectLst/>
            </c:spPr>
            <c:txPr>
              <a:bodyPr/>
              <a:lstStyle/>
              <a:p>
                <a:pPr>
                  <a:defRPr sz="13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New entries</c:v>
                </c:pt>
                <c:pt idx="1">
                  <c:v>Exits</c:v>
                </c:pt>
              </c:strCache>
            </c:strRef>
          </c:cat>
          <c:val>
            <c:numRef>
              <c:f>Sheet1!$B$2:$B$3</c:f>
              <c:numCache>
                <c:formatCode>General</c:formatCode>
                <c:ptCount val="2"/>
                <c:pt idx="0">
                  <c:v>47</c:v>
                </c:pt>
                <c:pt idx="1">
                  <c:v>274</c:v>
                </c:pt>
              </c:numCache>
            </c:numRef>
          </c:val>
          <c:extLst>
            <c:ext xmlns:c16="http://schemas.microsoft.com/office/drawing/2014/chart" uri="{C3380CC4-5D6E-409C-BE32-E72D297353CC}">
              <c16:uniqueId val="{00000004-BA8B-9F43-A162-7C52BE22E5C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lang="en-US" sz="1150" b="0" i="0" u="none" strike="noStrike">
                <a:solidFill>
                  <a:srgbClr val="12202E"/>
                </a:solidFill>
                <a:latin typeface="Calibri"/>
              </a:rPr>
              <a:t>Counties with no credit union presence, %</a:t>
            </a:r>
          </a:p>
        </c:rich>
      </c:tx>
      <c:overlay val="0"/>
    </c:title>
    <c:autoTitleDeleted val="0"/>
    <c:plotArea>
      <c:layout/>
      <c:barChart>
        <c:barDir val="col"/>
        <c:grouping val="clustered"/>
        <c:varyColors val="0"/>
        <c:ser>
          <c:idx val="0"/>
          <c:order val="0"/>
          <c:tx>
            <c:strRef>
              <c:f>Sheet1!$B$1</c:f>
              <c:strCache>
                <c:ptCount val="1"/>
                <c:pt idx="0">
                  <c:v>Share of counties</c:v>
                </c:pt>
              </c:strCache>
            </c:strRef>
          </c:tx>
          <c:spPr>
            <a:solidFill>
              <a:srgbClr val="7FB0AE"/>
            </a:solidFill>
            <a:effectLst/>
          </c:spPr>
          <c:invertIfNegative val="0"/>
          <c:dPt>
            <c:idx val="0"/>
            <c:invertIfNegative val="0"/>
            <c:bubble3D val="0"/>
            <c:extLst>
              <c:ext xmlns:c16="http://schemas.microsoft.com/office/drawing/2014/chart" uri="{C3380CC4-5D6E-409C-BE32-E72D297353CC}">
                <c16:uniqueId val="{00000001-01D8-4342-BDDA-2B2C873E1D92}"/>
              </c:ext>
            </c:extLst>
          </c:dPt>
          <c:dPt>
            <c:idx val="1"/>
            <c:invertIfNegative val="0"/>
            <c:bubble3D val="0"/>
            <c:spPr>
              <a:solidFill>
                <a:srgbClr val="0E4C55"/>
              </a:solidFill>
              <a:effectLst/>
            </c:spPr>
            <c:extLst>
              <c:ext xmlns:c16="http://schemas.microsoft.com/office/drawing/2014/chart" uri="{C3380CC4-5D6E-409C-BE32-E72D297353CC}">
                <c16:uniqueId val="{00000003-01D8-4342-BDDA-2B2C873E1D92}"/>
              </c:ext>
            </c:extLst>
          </c:dPt>
          <c:dLbls>
            <c:numFmt formatCode="0&quot;%&quot;" sourceLinked="0"/>
            <c:spPr>
              <a:noFill/>
              <a:ln>
                <a:noFill/>
              </a:ln>
              <a:effectLst/>
            </c:spPr>
            <c:txPr>
              <a:bodyPr/>
              <a:lstStyle/>
              <a:p>
                <a:pPr>
                  <a:defRPr sz="14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 credit union
HEADQUARTERED there</c:v>
                </c:pt>
                <c:pt idx="1">
                  <c:v>No credit union
OFFICE at all</c:v>
                </c:pt>
              </c:strCache>
            </c:strRef>
          </c:cat>
          <c:val>
            <c:numRef>
              <c:f>Sheet1!$B$2:$B$3</c:f>
              <c:numCache>
                <c:formatCode>General</c:formatCode>
                <c:ptCount val="2"/>
                <c:pt idx="0">
                  <c:v>63</c:v>
                </c:pt>
                <c:pt idx="1">
                  <c:v>31</c:v>
                </c:pt>
              </c:numCache>
            </c:numRef>
          </c:val>
          <c:extLst>
            <c:ext xmlns:c16="http://schemas.microsoft.com/office/drawing/2014/chart" uri="{C3380CC4-5D6E-409C-BE32-E72D297353CC}">
              <c16:uniqueId val="{00000004-01D8-4342-BDDA-2B2C873E1D9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7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lang="en-US" sz="1150" b="0" i="0" u="none" strike="noStrike">
                <a:solidFill>
                  <a:srgbClr val="12202E"/>
                </a:solidFill>
                <a:latin typeface="Calibri"/>
              </a:rPr>
              <a:t>… and that empty space is almost all rural, %</a:t>
            </a:r>
          </a:p>
        </c:rich>
      </c:tx>
      <c:overlay val="0"/>
    </c:title>
    <c:autoTitleDeleted val="0"/>
    <c:plotArea>
      <c:layout/>
      <c:barChart>
        <c:barDir val="col"/>
        <c:grouping val="clustered"/>
        <c:varyColors val="0"/>
        <c:ser>
          <c:idx val="0"/>
          <c:order val="0"/>
          <c:tx>
            <c:strRef>
              <c:f>Sheet1!$B$1</c:f>
              <c:strCache>
                <c:ptCount val="1"/>
                <c:pt idx="0">
                  <c:v>Counties with no office</c:v>
                </c:pt>
              </c:strCache>
            </c:strRef>
          </c:tx>
          <c:spPr>
            <a:solidFill>
              <a:srgbClr val="C8553D"/>
            </a:solidFill>
            <a:effectLst/>
          </c:spPr>
          <c:invertIfNegative val="0"/>
          <c:dPt>
            <c:idx val="0"/>
            <c:invertIfNegative val="0"/>
            <c:bubble3D val="0"/>
            <c:extLst>
              <c:ext xmlns:c16="http://schemas.microsoft.com/office/drawing/2014/chart" uri="{C3380CC4-5D6E-409C-BE32-E72D297353CC}">
                <c16:uniqueId val="{00000001-DDC2-F94F-8576-01183577DA52}"/>
              </c:ext>
            </c:extLst>
          </c:dPt>
          <c:dPt>
            <c:idx val="1"/>
            <c:invertIfNegative val="0"/>
            <c:bubble3D val="0"/>
            <c:spPr>
              <a:solidFill>
                <a:srgbClr val="7FB0AE"/>
              </a:solidFill>
              <a:effectLst/>
            </c:spPr>
            <c:extLst>
              <c:ext xmlns:c16="http://schemas.microsoft.com/office/drawing/2014/chart" uri="{C3380CC4-5D6E-409C-BE32-E72D297353CC}">
                <c16:uniqueId val="{00000003-DDC2-F94F-8576-01183577DA52}"/>
              </c:ext>
            </c:extLst>
          </c:dPt>
          <c:dLbls>
            <c:numFmt formatCode="0&quot;%&quot;" sourceLinked="0"/>
            <c:spPr>
              <a:noFill/>
              <a:ln>
                <a:noFill/>
              </a:ln>
              <a:effectLst/>
            </c:spPr>
            <c:txPr>
              <a:bodyPr/>
              <a:lstStyle/>
              <a:p>
                <a:pPr>
                  <a:defRPr sz="14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Rural counties</c:v>
                </c:pt>
                <c:pt idx="1">
                  <c:v>Non-rural counties</c:v>
                </c:pt>
              </c:strCache>
            </c:strRef>
          </c:cat>
          <c:val>
            <c:numRef>
              <c:f>Sheet1!$B$2:$B$3</c:f>
              <c:numCache>
                <c:formatCode>General</c:formatCode>
                <c:ptCount val="2"/>
                <c:pt idx="0">
                  <c:v>49</c:v>
                </c:pt>
                <c:pt idx="1">
                  <c:v>13</c:v>
                </c:pt>
              </c:numCache>
            </c:numRef>
          </c:val>
          <c:extLst>
            <c:ext xmlns:c16="http://schemas.microsoft.com/office/drawing/2014/chart" uri="{C3380CC4-5D6E-409C-BE32-E72D297353CC}">
              <c16:uniqueId val="{00000004-DDC2-F94F-8576-01183577DA5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7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246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briefing on a statutory deliverable. Analysis complete through the first research question and the branch network. All figures exploratory pending re-estimation on the final analytic sample.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to sixty seconds. Assume nobody in the room has read the statute. The essential points: this is a mandated report with a deadline, it is written in the agency's name, and the question it asks is loaded - it presumes rural credit unions are in trouble. The next slide gives away what we found.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slide, take this one. Everything after is evidence for these four numbers.
On survival, if asked how it is measured: we compare institutions that are alike on size, capital, earnings and state, and ask which is more likely to vanish in a given quarter. Rural ones are about a quarter less likely. The raw figures are 37% of rural credit unions gone over the period against 44% elsewhere. This matters because it kills the obvious objection - that rural credit unions look strong only because the weak ones already disappeared. They disappear LESS, and they still outperform.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in rural America, credit unions added offices into shrinking markets. In urban America they added offices but did not keep up with growth. A branch network run purely for profit does the opposite of the first thing. That is the puzzle this study exists to explain.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pushed on the county-level detail: among rural counties that lost people and saw access improve, most improved because the population shrank rather than because an office opened. That is why the national totals, not the county counts, carry the growth claim — a handful of counties adding several offices each moves the national number more than hundreds holding steady.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motivates the study. The system is not retreating from rural America; it never reached half of it. That reframes the statutory question from rescuing weak institutions to why new ones are not being created where none exist.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thirty seconds in the room. It reframes the study from a compliance exercise into a question the agency has institutional standing to answer.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framing: every other question is about the health of institutions. This one asks whether people in these places can actually borrow, and what it costs them when they can. If they are not worse off, we should say so and narrow the report accordingly.
Why the access half matters more than it looks: denial rates are conditional on applying. A county with no active lender generates no applications and therefore no denials - it can look fine on every terms-based measure while having no mortgage market at all. Originations per housing unit and the count of active lenders catch that; denial rates alone do not.
On the data: we use the supervisory HMDA file, not the public modified LAR, so credit score, DTI and CLTV are available as controls. That is what makes the pricing comparison defensible and it is the same residual-gap design as the existing fair-lending pipeline. Consequences: results publish in aggregate, disclosure clearance is required, and the companion interagency study may not be able to see the underlying estimates. What still limits us: most small rural credit unions fall below the reporting threshold; the score is whatever model the lender relied on, so it is a control rather than a clean measure; and the closed-end reporting threshold moved from 100 to 25 loans in 2020.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four beats and land on the rule. The rule is the most defensible thing in the study: we committed to what would change our minds before we looked. Everyone in a hearing room understands why that matters, even if they never look at a coefficient.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to reconcile: 758 of 1,555 rural counties have no office, which is 48.7%. 209 of 1,579 non-rural counties have none, which is 13.2%. Together that is 967 of 3,134, or 30.9% - the right-hand bar on the first chart. So the two charts are the same measure, cut two ways.
The headline point: counting only headquarters, 63% of counties look empty. Counting every office, only 31% are. Branch networks roughly halve the apparent gap - but what is left is overwhelmingly rural, and that is where a new charter would have to go.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An executive who hears the limits stated first stops looking for them, and the two at the top are the ones that could genuinely move the conclusions.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9 September start, two weeks per question for Q1 through Q9, four weeks for Q10 because it needs the supervisory mortgage file and a Census join. That is twenty-two weeks of analysis, closing 10 February 2027. Five months then remain for drafting, internal review and clearance before the 10 July transmittal - which is deliberate slack, because the interagency study and the clearance process are both outside our control.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A study that shows its own retraction is far harder to attack than one that only shows what worked.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E"/>
        </a:solidFill>
        <a:effectLst/>
      </p:bgPr>
    </p:bg>
    <p:spTree>
      <p:nvGrpSpPr>
        <p:cNvPr id="1" name=""/>
        <p:cNvGrpSpPr/>
        <p:nvPr/>
      </p:nvGrpSpPr>
      <p:grpSpPr>
        <a:xfrm>
          <a:off x="0" y="0"/>
          <a:ext cx="0" cy="0"/>
          <a:chOff x="0" y="0"/>
          <a:chExt cx="0" cy="0"/>
        </a:xfrm>
      </p:grpSpPr>
      <p:sp>
        <p:nvSpPr>
          <p:cNvPr id="2" name="Shape 0"/>
          <p:cNvSpPr/>
          <p:nvPr/>
        </p:nvSpPr>
        <p:spPr>
          <a:xfrm>
            <a:off x="0" y="0"/>
            <a:ext cx="4846320" cy="6858000"/>
          </a:xfrm>
          <a:prstGeom prst="rect">
            <a:avLst/>
          </a:prstGeom>
          <a:solidFill>
            <a:srgbClr val="0E4C55"/>
          </a:solidFill>
          <a:ln/>
        </p:spPr>
        <p:txBody>
          <a:bodyPr/>
          <a:lstStyle/>
          <a:p>
            <a:endParaRPr lang="en-US"/>
          </a:p>
        </p:txBody>
      </p:sp>
      <p:sp>
        <p:nvSpPr>
          <p:cNvPr id="3" name="Text 1"/>
          <p:cNvSpPr/>
          <p:nvPr/>
        </p:nvSpPr>
        <p:spPr>
          <a:xfrm>
            <a:off x="685800" y="1691640"/>
            <a:ext cx="3931920" cy="2286000"/>
          </a:xfrm>
          <a:prstGeom prst="rect">
            <a:avLst/>
          </a:prstGeom>
          <a:noFill/>
          <a:ln/>
        </p:spPr>
        <p:txBody>
          <a:bodyPr wrap="square" lIns="0" tIns="0" rIns="0" bIns="0" rtlCol="0" anchor="ctr"/>
          <a:lstStyle/>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Rural</a:t>
            </a:r>
            <a:endParaRPr lang="en-US" sz="3800" dirty="0"/>
          </a:p>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Credit Unions</a:t>
            </a:r>
            <a:endParaRPr lang="en-US" sz="3800" dirty="0"/>
          </a:p>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Study</a:t>
            </a:r>
            <a:endParaRPr lang="en-US" sz="3800" dirty="0"/>
          </a:p>
        </p:txBody>
      </p:sp>
      <p:sp>
        <p:nvSpPr>
          <p:cNvPr id="4" name="Text 2"/>
          <p:cNvSpPr/>
          <p:nvPr/>
        </p:nvSpPr>
        <p:spPr>
          <a:xfrm>
            <a:off x="685800" y="4114800"/>
            <a:ext cx="3931920" cy="640080"/>
          </a:xfrm>
          <a:prstGeom prst="rect">
            <a:avLst/>
          </a:prstGeom>
          <a:noFill/>
          <a:ln/>
        </p:spPr>
        <p:txBody>
          <a:bodyPr wrap="square" lIns="0" tIns="0" rIns="0" bIns="0" rtlCol="0" anchor="ctr"/>
          <a:lstStyle/>
          <a:p>
            <a:pPr marL="0" indent="0">
              <a:lnSpc>
                <a:spcPts val="1800"/>
              </a:lnSpc>
              <a:buNone/>
            </a:pPr>
            <a:r>
              <a:rPr lang="en-US" sz="1350" dirty="0">
                <a:solidFill>
                  <a:srgbClr val="7FB0AE"/>
                </a:solidFill>
                <a:latin typeface="Calibri" pitchFamily="34" charset="0"/>
                <a:ea typeface="Calibri" pitchFamily="34" charset="-122"/>
                <a:cs typeface="Calibri" pitchFamily="34" charset="-120"/>
              </a:rPr>
              <a:t>Executive briefing on a statutory deliverable</a:t>
            </a:r>
            <a:endParaRPr lang="en-US" sz="1350" dirty="0"/>
          </a:p>
        </p:txBody>
      </p:sp>
      <p:sp>
        <p:nvSpPr>
          <p:cNvPr id="5" name="Text 3"/>
          <p:cNvSpPr/>
          <p:nvPr/>
        </p:nvSpPr>
        <p:spPr>
          <a:xfrm>
            <a:off x="5577840" y="1874520"/>
            <a:ext cx="5943600" cy="320040"/>
          </a:xfrm>
          <a:prstGeom prst="rect">
            <a:avLst/>
          </a:prstGeom>
          <a:noFill/>
          <a:ln/>
        </p:spPr>
        <p:txBody>
          <a:bodyPr wrap="square" lIns="0" tIns="0" rIns="0" bIns="0" rtlCol="0" anchor="ctr"/>
          <a:lstStyle/>
          <a:p>
            <a:pPr marL="0" indent="0">
              <a:buNone/>
            </a:pPr>
            <a:r>
              <a:rPr lang="en-US" sz="1400" dirty="0">
                <a:solidFill>
                  <a:srgbClr val="7FB0AE"/>
                </a:solidFill>
                <a:latin typeface="Calibri" pitchFamily="34" charset="0"/>
                <a:ea typeface="Calibri" pitchFamily="34" charset="-122"/>
                <a:cs typeface="Calibri" pitchFamily="34" charset="-120"/>
              </a:rPr>
              <a:t>21st Century ROAD to Housing Act</a:t>
            </a:r>
            <a:endParaRPr lang="en-US" sz="1400" dirty="0"/>
          </a:p>
        </p:txBody>
      </p:sp>
      <p:sp>
        <p:nvSpPr>
          <p:cNvPr id="6" name="Text 4"/>
          <p:cNvSpPr/>
          <p:nvPr/>
        </p:nvSpPr>
        <p:spPr>
          <a:xfrm>
            <a:off x="5577840" y="2267712"/>
            <a:ext cx="5943600" cy="1691640"/>
          </a:xfrm>
          <a:prstGeom prst="rect">
            <a:avLst/>
          </a:prstGeom>
          <a:noFill/>
          <a:ln/>
        </p:spPr>
        <p:txBody>
          <a:bodyPr wrap="square" lIns="0" tIns="0" rIns="0" bIns="0" rtlCol="0" anchor="ctr"/>
          <a:lstStyle/>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Section 909</a:t>
            </a:r>
            <a:endParaRPr lang="en-US" sz="2600" dirty="0"/>
          </a:p>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Rural Depositories</a:t>
            </a:r>
            <a:endParaRPr lang="en-US" sz="2600" dirty="0"/>
          </a:p>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Revitalization Study</a:t>
            </a:r>
            <a:endParaRPr lang="en-US" sz="2600" dirty="0"/>
          </a:p>
        </p:txBody>
      </p:sp>
      <p:sp>
        <p:nvSpPr>
          <p:cNvPr id="7" name="Text 5"/>
          <p:cNvSpPr/>
          <p:nvPr/>
        </p:nvSpPr>
        <p:spPr>
          <a:xfrm>
            <a:off x="5577840" y="4206240"/>
            <a:ext cx="5943600" cy="1280160"/>
          </a:xfrm>
          <a:prstGeom prst="rect">
            <a:avLst/>
          </a:prstGeom>
          <a:noFill/>
          <a:ln/>
        </p:spPr>
        <p:txBody>
          <a:bodyPr wrap="square" lIns="0" tIns="0" rIns="0" bIns="0" rtlCol="0" anchor="ctr"/>
          <a:lstStyle/>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P.L. 119-101  ·  enacted 11 July 2026</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Report to Congress due ~10 July 2027</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Status: pipeline complete through Q1 and the branch network</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Office of the Chief Economist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ORIENTATION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Congress gave the agency a homework assignment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Section 909 is one short passage inside a large housing law. In plain terms, it tells the NCUA to go and find out whether credit unions serving rural America are struggling — and if they are, what is getting in their way.</a:t>
            </a:r>
            <a:endParaRPr lang="en-US" sz="1350" dirty="0"/>
          </a:p>
        </p:txBody>
      </p:sp>
      <p:sp>
        <p:nvSpPr>
          <p:cNvPr id="5" name="Shape 3"/>
          <p:cNvSpPr/>
          <p:nvPr/>
        </p:nvSpPr>
        <p:spPr>
          <a:xfrm>
            <a:off x="640080" y="2011680"/>
            <a:ext cx="3291840" cy="1600200"/>
          </a:xfrm>
          <a:prstGeom prst="roundRect">
            <a:avLst>
              <a:gd name="adj" fmla="val 2857"/>
            </a:avLst>
          </a:prstGeom>
          <a:solidFill>
            <a:srgbClr val="F3F5F4"/>
          </a:solidFill>
          <a:ln/>
        </p:spPr>
        <p:txBody>
          <a:bodyPr/>
          <a:lstStyle/>
          <a:p>
            <a:endParaRPr lang="en-US"/>
          </a:p>
        </p:txBody>
      </p:sp>
      <p:sp>
        <p:nvSpPr>
          <p:cNvPr id="6" name="Text 4"/>
          <p:cNvSpPr/>
          <p:nvPr/>
        </p:nvSpPr>
        <p:spPr>
          <a:xfrm>
            <a:off x="914400" y="2176272"/>
            <a:ext cx="2743200" cy="310896"/>
          </a:xfrm>
          <a:prstGeom prst="rect">
            <a:avLst/>
          </a:prstGeom>
          <a:noFill/>
          <a:ln/>
        </p:spPr>
        <p:txBody>
          <a:bodyPr wrap="square" lIns="0" tIns="0" rIns="0" bIns="0" rtlCol="0" anchor="ctr"/>
          <a:lstStyle/>
          <a:p>
            <a:pPr marL="0" indent="0">
              <a:buNone/>
            </a:pPr>
            <a:r>
              <a:rPr lang="en-US" sz="1600" b="1" dirty="0">
                <a:solidFill>
                  <a:srgbClr val="C8553D"/>
                </a:solidFill>
                <a:latin typeface="Cambria" pitchFamily="34" charset="0"/>
                <a:ea typeface="Cambria" pitchFamily="34" charset="-122"/>
                <a:cs typeface="Cambria" pitchFamily="34" charset="-120"/>
              </a:rPr>
              <a:t>11 July 2026</a:t>
            </a:r>
            <a:endParaRPr lang="en-US" sz="1600" dirty="0"/>
          </a:p>
        </p:txBody>
      </p:sp>
      <p:sp>
        <p:nvSpPr>
          <p:cNvPr id="7" name="Text 5"/>
          <p:cNvSpPr/>
          <p:nvPr/>
        </p:nvSpPr>
        <p:spPr>
          <a:xfrm>
            <a:off x="914400" y="2505456"/>
            <a:ext cx="274320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The law passed</a:t>
            </a:r>
            <a:endParaRPr lang="en-US" sz="1250" dirty="0"/>
          </a:p>
        </p:txBody>
      </p:sp>
      <p:sp>
        <p:nvSpPr>
          <p:cNvPr id="8" name="Text 6"/>
          <p:cNvSpPr/>
          <p:nvPr/>
        </p:nvSpPr>
        <p:spPr>
          <a:xfrm>
            <a:off x="9144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ROAD to Housing Act was enacted. Section 909 sits among nine provisions about community banks and credit unions.</a:t>
            </a:r>
            <a:endParaRPr lang="en-US" sz="1050" dirty="0"/>
          </a:p>
        </p:txBody>
      </p:sp>
      <p:sp>
        <p:nvSpPr>
          <p:cNvPr id="9" name="Text 7"/>
          <p:cNvSpPr/>
          <p:nvPr/>
        </p:nvSpPr>
        <p:spPr>
          <a:xfrm>
            <a:off x="3950208" y="2606040"/>
            <a:ext cx="347472"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297680" y="2011680"/>
            <a:ext cx="3291840" cy="1600200"/>
          </a:xfrm>
          <a:prstGeom prst="roundRect">
            <a:avLst>
              <a:gd name="adj" fmla="val 2857"/>
            </a:avLst>
          </a:prstGeom>
          <a:solidFill>
            <a:srgbClr val="0E4C55"/>
          </a:solidFill>
          <a:ln/>
        </p:spPr>
        <p:txBody>
          <a:bodyPr/>
          <a:lstStyle/>
          <a:p>
            <a:endParaRPr lang="en-US"/>
          </a:p>
        </p:txBody>
      </p:sp>
      <p:sp>
        <p:nvSpPr>
          <p:cNvPr id="11" name="Text 9"/>
          <p:cNvSpPr/>
          <p:nvPr/>
        </p:nvSpPr>
        <p:spPr>
          <a:xfrm>
            <a:off x="4572000" y="2176272"/>
            <a:ext cx="2743200" cy="310896"/>
          </a:xfrm>
          <a:prstGeom prst="rect">
            <a:avLst/>
          </a:prstGeom>
          <a:noFill/>
          <a:ln/>
        </p:spPr>
        <p:txBody>
          <a:bodyPr wrap="square" lIns="0" tIns="0" rIns="0" bIns="0" rtlCol="0" anchor="ctr"/>
          <a:lstStyle/>
          <a:p>
            <a:pPr marL="0" indent="0">
              <a:buNone/>
            </a:pPr>
            <a:r>
              <a:rPr lang="en-US" sz="1600" b="1" dirty="0">
                <a:solidFill>
                  <a:srgbClr val="E8A24A"/>
                </a:solidFill>
                <a:latin typeface="Cambria" pitchFamily="34" charset="0"/>
                <a:ea typeface="Cambria" pitchFamily="34" charset="-122"/>
                <a:cs typeface="Cambria" pitchFamily="34" charset="-120"/>
              </a:rPr>
              <a:t>Today</a:t>
            </a:r>
            <a:endParaRPr lang="en-US" sz="1600" dirty="0"/>
          </a:p>
        </p:txBody>
      </p:sp>
      <p:sp>
        <p:nvSpPr>
          <p:cNvPr id="12" name="Text 10"/>
          <p:cNvSpPr/>
          <p:nvPr/>
        </p:nvSpPr>
        <p:spPr>
          <a:xfrm>
            <a:off x="4572000" y="2505456"/>
            <a:ext cx="2743200"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We are here</a:t>
            </a:r>
            <a:endParaRPr lang="en-US" sz="1250" dirty="0"/>
          </a:p>
        </p:txBody>
      </p:sp>
      <p:sp>
        <p:nvSpPr>
          <p:cNvPr id="13" name="Text 11"/>
          <p:cNvSpPr/>
          <p:nvPr/>
        </p:nvSpPr>
        <p:spPr>
          <a:xfrm>
            <a:off x="45720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DCE6E4"/>
                </a:solidFill>
                <a:latin typeface="Calibri" pitchFamily="34" charset="0"/>
                <a:ea typeface="Calibri" pitchFamily="34" charset="-122"/>
                <a:cs typeface="Calibri" pitchFamily="34" charset="-120"/>
              </a:rPr>
              <a:t>The analysis is largely done. This briefing is about what we have found and what remains.</a:t>
            </a:r>
            <a:endParaRPr lang="en-US" sz="1050" dirty="0"/>
          </a:p>
        </p:txBody>
      </p:sp>
      <p:sp>
        <p:nvSpPr>
          <p:cNvPr id="14" name="Text 12"/>
          <p:cNvSpPr/>
          <p:nvPr/>
        </p:nvSpPr>
        <p:spPr>
          <a:xfrm>
            <a:off x="7607808" y="2606040"/>
            <a:ext cx="347472"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7955280" y="2011680"/>
            <a:ext cx="3291840" cy="1600200"/>
          </a:xfrm>
          <a:prstGeom prst="roundRect">
            <a:avLst>
              <a:gd name="adj" fmla="val 2857"/>
            </a:avLst>
          </a:prstGeom>
          <a:solidFill>
            <a:srgbClr val="F3F5F4"/>
          </a:solidFill>
          <a:ln/>
        </p:spPr>
        <p:txBody>
          <a:bodyPr/>
          <a:lstStyle/>
          <a:p>
            <a:endParaRPr lang="en-US"/>
          </a:p>
        </p:txBody>
      </p:sp>
      <p:sp>
        <p:nvSpPr>
          <p:cNvPr id="16" name="Text 14"/>
          <p:cNvSpPr/>
          <p:nvPr/>
        </p:nvSpPr>
        <p:spPr>
          <a:xfrm>
            <a:off x="8229600" y="2176272"/>
            <a:ext cx="2743200" cy="310896"/>
          </a:xfrm>
          <a:prstGeom prst="rect">
            <a:avLst/>
          </a:prstGeom>
          <a:noFill/>
          <a:ln/>
        </p:spPr>
        <p:txBody>
          <a:bodyPr wrap="square" lIns="0" tIns="0" rIns="0" bIns="0" rtlCol="0" anchor="ctr"/>
          <a:lstStyle/>
          <a:p>
            <a:pPr marL="0" indent="0">
              <a:buNone/>
            </a:pPr>
            <a:r>
              <a:rPr lang="en-US" sz="1600" b="1" dirty="0">
                <a:solidFill>
                  <a:srgbClr val="C8553D"/>
                </a:solidFill>
                <a:latin typeface="Cambria" pitchFamily="34" charset="0"/>
                <a:ea typeface="Cambria" pitchFamily="34" charset="-122"/>
                <a:cs typeface="Cambria" pitchFamily="34" charset="-120"/>
              </a:rPr>
              <a:t>July 2027</a:t>
            </a:r>
            <a:endParaRPr lang="en-US" sz="1600" dirty="0"/>
          </a:p>
        </p:txBody>
      </p:sp>
      <p:sp>
        <p:nvSpPr>
          <p:cNvPr id="17" name="Text 15"/>
          <p:cNvSpPr/>
          <p:nvPr/>
        </p:nvSpPr>
        <p:spPr>
          <a:xfrm>
            <a:off x="8229600" y="2505456"/>
            <a:ext cx="274320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The report is due</a:t>
            </a:r>
            <a:endParaRPr lang="en-US" sz="1250" dirty="0"/>
          </a:p>
        </p:txBody>
      </p:sp>
      <p:sp>
        <p:nvSpPr>
          <p:cNvPr id="18" name="Text 16"/>
          <p:cNvSpPr/>
          <p:nvPr/>
        </p:nvSpPr>
        <p:spPr>
          <a:xfrm>
            <a:off x="82296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A written report to the House Financial Services and Senate Banking Committees, in the agency's name.</a:t>
            </a:r>
            <a:endParaRPr lang="en-US" sz="1050" dirty="0"/>
          </a:p>
        </p:txBody>
      </p:sp>
      <p:sp>
        <p:nvSpPr>
          <p:cNvPr id="19" name="Shape 17"/>
          <p:cNvSpPr/>
          <p:nvPr/>
        </p:nvSpPr>
        <p:spPr>
          <a:xfrm>
            <a:off x="640080" y="3840480"/>
            <a:ext cx="5257800" cy="1600200"/>
          </a:xfrm>
          <a:prstGeom prst="roundRect">
            <a:avLst>
              <a:gd name="adj" fmla="val 2857"/>
            </a:avLst>
          </a:prstGeom>
          <a:solidFill>
            <a:srgbClr val="DCE6E4"/>
          </a:solidFill>
          <a:ln/>
        </p:spPr>
        <p:txBody>
          <a:bodyPr/>
          <a:lstStyle/>
          <a:p>
            <a:endParaRPr lang="en-US"/>
          </a:p>
        </p:txBody>
      </p:sp>
      <p:sp>
        <p:nvSpPr>
          <p:cNvPr id="20" name="Text 18"/>
          <p:cNvSpPr/>
          <p:nvPr/>
        </p:nvSpPr>
        <p:spPr>
          <a:xfrm>
            <a:off x="914400" y="4005072"/>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What it asks us to find out</a:t>
            </a:r>
            <a:endParaRPr lang="en-US" sz="1200" dirty="0"/>
          </a:p>
        </p:txBody>
      </p:sp>
      <p:sp>
        <p:nvSpPr>
          <p:cNvPr id="21" name="Text 19"/>
          <p:cNvSpPr/>
          <p:nvPr/>
        </p:nvSpPr>
        <p:spPr>
          <a:xfrm>
            <a:off x="914400" y="4297680"/>
            <a:ext cx="4754880" cy="105156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100" dirty="0">
                <a:solidFill>
                  <a:srgbClr val="12202E"/>
                </a:solidFill>
                <a:latin typeface="Calibri" pitchFamily="34" charset="0"/>
                <a:ea typeface="Calibri" pitchFamily="34" charset="-122"/>
                <a:cs typeface="Calibri" pitchFamily="34" charset="-120"/>
              </a:rPr>
              <a:t>What would help rural credit unions grow, stay well capitalised and earn enough to sustain themselves</a:t>
            </a:r>
            <a:endParaRPr lang="en-US" sz="1100" dirty="0"/>
          </a:p>
          <a:p>
            <a:pPr marL="342900" indent="-342900">
              <a:lnSpc>
                <a:spcPts val="1450"/>
              </a:lnSpc>
              <a:spcAft>
                <a:spcPts val="500"/>
              </a:spcAft>
              <a:buSzPct val="100000"/>
              <a:buChar char="•"/>
            </a:pPr>
            <a:r>
              <a:rPr lang="en-US" sz="1100" dirty="0">
                <a:solidFill>
                  <a:srgbClr val="12202E"/>
                </a:solidFill>
                <a:latin typeface="Calibri" pitchFamily="34" charset="0"/>
                <a:ea typeface="Calibri" pitchFamily="34" charset="-122"/>
                <a:cs typeface="Calibri" pitchFamily="34" charset="-120"/>
              </a:rPr>
              <a:t>What in federal law or in NCUA's own rules gets in the way — including anything that stops new rural credit unions from being started</a:t>
            </a:r>
            <a:endParaRPr lang="en-US" sz="1100" dirty="0"/>
          </a:p>
        </p:txBody>
      </p:sp>
      <p:sp>
        <p:nvSpPr>
          <p:cNvPr id="22" name="Shape 20"/>
          <p:cNvSpPr/>
          <p:nvPr/>
        </p:nvSpPr>
        <p:spPr>
          <a:xfrm>
            <a:off x="6263640" y="3840480"/>
            <a:ext cx="5257800" cy="1600200"/>
          </a:xfrm>
          <a:prstGeom prst="roundRect">
            <a:avLst>
              <a:gd name="adj" fmla="val 2857"/>
            </a:avLst>
          </a:prstGeom>
          <a:solidFill>
            <a:srgbClr val="F3F5F4"/>
          </a:solidFill>
          <a:ln/>
        </p:spPr>
        <p:txBody>
          <a:bodyPr/>
          <a:lstStyle/>
          <a:p>
            <a:endParaRPr lang="en-US"/>
          </a:p>
        </p:txBody>
      </p:sp>
      <p:sp>
        <p:nvSpPr>
          <p:cNvPr id="23" name="Text 21"/>
          <p:cNvSpPr/>
          <p:nvPr/>
        </p:nvSpPr>
        <p:spPr>
          <a:xfrm>
            <a:off x="6537960" y="4005072"/>
            <a:ext cx="466344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What it means for this office</a:t>
            </a:r>
            <a:endParaRPr lang="en-US" sz="1200" dirty="0"/>
          </a:p>
        </p:txBody>
      </p:sp>
      <p:sp>
        <p:nvSpPr>
          <p:cNvPr id="24" name="Text 22"/>
          <p:cNvSpPr/>
          <p:nvPr/>
        </p:nvSpPr>
        <p:spPr>
          <a:xfrm>
            <a:off x="6537960" y="4297680"/>
            <a:ext cx="4754880" cy="1051560"/>
          </a:xfrm>
          <a:prstGeom prst="rect">
            <a:avLst/>
          </a:prstGeom>
          <a:noFill/>
          <a:ln/>
        </p:spPr>
        <p:txBody>
          <a:bodyPr wrap="square" lIns="0" tIns="0" rIns="0" bIns="0" rtlCol="0" anchor="ctr"/>
          <a:lstStyle/>
          <a:p>
            <a:pPr marL="0" indent="0">
              <a:lnSpc>
                <a:spcPts val="1500"/>
              </a:lnSpc>
              <a:buNone/>
            </a:pPr>
            <a:r>
              <a:rPr lang="en-US" sz="1150" dirty="0">
                <a:solidFill>
                  <a:srgbClr val="12202E"/>
                </a:solidFill>
                <a:latin typeface="Calibri" pitchFamily="34" charset="0"/>
                <a:ea typeface="Calibri" pitchFamily="34" charset="-122"/>
                <a:cs typeface="Calibri" pitchFamily="34" charset="-120"/>
              </a:rPr>
              <a:t>We own the evidence. Whatever the report concludes becomes the agency's public position on rural credit unions, and it will be read by the committees, by the trade associations, and by the other regulators working on a companion study. It has to hold up.</a:t>
            </a:r>
            <a:endParaRPr lang="en-US" sz="1150" dirty="0"/>
          </a:p>
        </p:txBody>
      </p:sp>
      <p:sp>
        <p:nvSpPr>
          <p:cNvPr id="25" name="Shape 23"/>
          <p:cNvSpPr/>
          <p:nvPr/>
        </p:nvSpPr>
        <p:spPr>
          <a:xfrm>
            <a:off x="640080" y="5623560"/>
            <a:ext cx="10881360" cy="621792"/>
          </a:xfrm>
          <a:prstGeom prst="roundRect">
            <a:avLst>
              <a:gd name="adj" fmla="val 7353"/>
            </a:avLst>
          </a:prstGeom>
          <a:solidFill>
            <a:srgbClr val="0E4C55"/>
          </a:solidFill>
          <a:ln/>
        </p:spPr>
        <p:txBody>
          <a:bodyPr/>
          <a:lstStyle/>
          <a:p>
            <a:endParaRPr lang="en-US"/>
          </a:p>
        </p:txBody>
      </p:sp>
      <p:sp>
        <p:nvSpPr>
          <p:cNvPr id="26" name="Text 24"/>
          <p:cNvSpPr/>
          <p:nvPr/>
        </p:nvSpPr>
        <p:spPr>
          <a:xfrm>
            <a:off x="960120" y="5623560"/>
            <a:ext cx="10241280" cy="621792"/>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The one thing to notice: the statute already assumes an answer — that these institutions are underperforming. Our first job was to test that assumption rather than illustrate 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100" b="1" kern="0" spc="200" dirty="0">
                <a:solidFill>
                  <a:srgbClr val="7FB0AE"/>
                </a:solidFill>
                <a:latin typeface="Calibri" pitchFamily="34" charset="0"/>
                <a:ea typeface="Calibri" pitchFamily="34" charset="-122"/>
                <a:cs typeface="Calibri" pitchFamily="34" charset="-120"/>
              </a:rPr>
              <a:t>Bottom line</a:t>
            </a:r>
            <a:endParaRPr lang="en-US" sz="1100" dirty="0"/>
          </a:p>
        </p:txBody>
      </p:sp>
      <p:sp>
        <p:nvSpPr>
          <p:cNvPr id="3" name="Text 1"/>
          <p:cNvSpPr/>
          <p:nvPr/>
        </p:nvSpPr>
        <p:spPr>
          <a:xfrm>
            <a:off x="640080" y="841248"/>
            <a:ext cx="10607040" cy="1280160"/>
          </a:xfrm>
          <a:prstGeom prst="rect">
            <a:avLst/>
          </a:prstGeom>
          <a:noFill/>
          <a:ln/>
        </p:spPr>
        <p:txBody>
          <a:bodyPr wrap="square" lIns="0" tIns="0" rIns="0" bIns="0" rtlCol="0" anchor="ctr"/>
          <a:lstStyle/>
          <a:p>
            <a:pPr marL="0" indent="0">
              <a:lnSpc>
                <a:spcPts val="3900"/>
              </a:lnSpc>
              <a:buNone/>
            </a:pPr>
            <a:r>
              <a:rPr lang="en-US" sz="2700" b="1" dirty="0">
                <a:solidFill>
                  <a:srgbClr val="FFFFFF"/>
                </a:solidFill>
                <a:latin typeface="Cambria" pitchFamily="34" charset="0"/>
                <a:ea typeface="Cambria" pitchFamily="34" charset="-122"/>
                <a:cs typeface="Cambria" pitchFamily="34" charset="-120"/>
              </a:rPr>
              <a:t>The rural credit unions that exist are doing well.</a:t>
            </a:r>
            <a:endParaRPr lang="en-US" sz="2700" dirty="0"/>
          </a:p>
          <a:p>
            <a:pPr marL="0" indent="0">
              <a:lnSpc>
                <a:spcPts val="3900"/>
              </a:lnSpc>
              <a:buNone/>
            </a:pPr>
            <a:r>
              <a:rPr lang="en-US" sz="2700" b="1" dirty="0">
                <a:solidFill>
                  <a:srgbClr val="FFFFFF"/>
                </a:solidFill>
                <a:latin typeface="Cambria" pitchFamily="34" charset="0"/>
                <a:ea typeface="Cambria" pitchFamily="34" charset="-122"/>
                <a:cs typeface="Cambria" pitchFamily="34" charset="-120"/>
              </a:rPr>
              <a:t>The problem is that no new ones are being created.</a:t>
            </a:r>
            <a:endParaRPr lang="en-US" sz="2700" dirty="0"/>
          </a:p>
        </p:txBody>
      </p:sp>
      <p:sp>
        <p:nvSpPr>
          <p:cNvPr id="4" name="Shape 2"/>
          <p:cNvSpPr/>
          <p:nvPr/>
        </p:nvSpPr>
        <p:spPr>
          <a:xfrm>
            <a:off x="640080" y="2395728"/>
            <a:ext cx="2514600" cy="2487168"/>
          </a:xfrm>
          <a:prstGeom prst="roundRect">
            <a:avLst>
              <a:gd name="adj" fmla="val 1838"/>
            </a:avLst>
          </a:prstGeom>
          <a:solidFill>
            <a:srgbClr val="0E4C55"/>
          </a:solidFill>
          <a:ln/>
        </p:spPr>
        <p:txBody>
          <a:bodyPr/>
          <a:lstStyle/>
          <a:p>
            <a:endParaRPr lang="en-US"/>
          </a:p>
        </p:txBody>
      </p:sp>
      <p:sp>
        <p:nvSpPr>
          <p:cNvPr id="5" name="Text 3"/>
          <p:cNvSpPr/>
          <p:nvPr/>
        </p:nvSpPr>
        <p:spPr>
          <a:xfrm>
            <a:off x="868680"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Growth</a:t>
            </a:r>
            <a:endParaRPr lang="en-US" sz="1100" dirty="0"/>
          </a:p>
        </p:txBody>
      </p:sp>
      <p:sp>
        <p:nvSpPr>
          <p:cNvPr id="6" name="Text 4"/>
          <p:cNvSpPr/>
          <p:nvPr/>
        </p:nvSpPr>
        <p:spPr>
          <a:xfrm>
            <a:off x="868680"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+1.03 pp</a:t>
            </a:r>
            <a:endParaRPr lang="en-US" sz="2600" dirty="0"/>
          </a:p>
        </p:txBody>
      </p:sp>
      <p:sp>
        <p:nvSpPr>
          <p:cNvPr id="7" name="Text 5"/>
          <p:cNvSpPr/>
          <p:nvPr/>
        </p:nvSpPr>
        <p:spPr>
          <a:xfrm>
            <a:off x="868680"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faster asset growth than a non-rural credit union of the same size, in the same state and quarter</a:t>
            </a:r>
            <a:endParaRPr lang="en-US" sz="1000" dirty="0"/>
          </a:p>
        </p:txBody>
      </p:sp>
      <p:sp>
        <p:nvSpPr>
          <p:cNvPr id="8" name="Shape 6"/>
          <p:cNvSpPr/>
          <p:nvPr/>
        </p:nvSpPr>
        <p:spPr>
          <a:xfrm>
            <a:off x="3401568" y="2395728"/>
            <a:ext cx="2514600" cy="2487168"/>
          </a:xfrm>
          <a:prstGeom prst="roundRect">
            <a:avLst>
              <a:gd name="adj" fmla="val 1838"/>
            </a:avLst>
          </a:prstGeom>
          <a:solidFill>
            <a:srgbClr val="0E4C55"/>
          </a:solidFill>
          <a:ln/>
        </p:spPr>
        <p:txBody>
          <a:bodyPr/>
          <a:lstStyle/>
          <a:p>
            <a:endParaRPr lang="en-US"/>
          </a:p>
        </p:txBody>
      </p:sp>
      <p:sp>
        <p:nvSpPr>
          <p:cNvPr id="9" name="Text 7"/>
          <p:cNvSpPr/>
          <p:nvPr/>
        </p:nvSpPr>
        <p:spPr>
          <a:xfrm>
            <a:off x="3630168"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Earnings</a:t>
            </a:r>
            <a:endParaRPr lang="en-US" sz="1100" dirty="0"/>
          </a:p>
        </p:txBody>
      </p:sp>
      <p:sp>
        <p:nvSpPr>
          <p:cNvPr id="10" name="Text 8"/>
          <p:cNvSpPr/>
          <p:nvPr/>
        </p:nvSpPr>
        <p:spPr>
          <a:xfrm>
            <a:off x="3630168"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+0.17 pp</a:t>
            </a:r>
            <a:endParaRPr lang="en-US" sz="2600" dirty="0"/>
          </a:p>
        </p:txBody>
      </p:sp>
      <p:sp>
        <p:nvSpPr>
          <p:cNvPr id="11" name="Text 9"/>
          <p:cNvSpPr/>
          <p:nvPr/>
        </p:nvSpPr>
        <p:spPr>
          <a:xfrm>
            <a:off x="3630168"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higher return on assets on that same like-for-like comparison, and +0.23 pp when matched one-to-one on size</a:t>
            </a:r>
            <a:endParaRPr lang="en-US" sz="1000" dirty="0"/>
          </a:p>
        </p:txBody>
      </p:sp>
      <p:sp>
        <p:nvSpPr>
          <p:cNvPr id="12" name="Shape 10"/>
          <p:cNvSpPr/>
          <p:nvPr/>
        </p:nvSpPr>
        <p:spPr>
          <a:xfrm>
            <a:off x="6163056" y="2395728"/>
            <a:ext cx="2514600" cy="2487168"/>
          </a:xfrm>
          <a:prstGeom prst="roundRect">
            <a:avLst>
              <a:gd name="adj" fmla="val 1838"/>
            </a:avLst>
          </a:prstGeom>
          <a:solidFill>
            <a:srgbClr val="1F6F78"/>
          </a:solidFill>
          <a:ln/>
        </p:spPr>
        <p:txBody>
          <a:bodyPr/>
          <a:lstStyle/>
          <a:p>
            <a:endParaRPr lang="en-US"/>
          </a:p>
        </p:txBody>
      </p:sp>
      <p:sp>
        <p:nvSpPr>
          <p:cNvPr id="13" name="Text 11"/>
          <p:cNvSpPr/>
          <p:nvPr/>
        </p:nvSpPr>
        <p:spPr>
          <a:xfrm>
            <a:off x="6391656"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Survival</a:t>
            </a:r>
            <a:endParaRPr lang="en-US" sz="1100" dirty="0"/>
          </a:p>
        </p:txBody>
      </p:sp>
      <p:sp>
        <p:nvSpPr>
          <p:cNvPr id="14" name="Text 12"/>
          <p:cNvSpPr/>
          <p:nvPr/>
        </p:nvSpPr>
        <p:spPr>
          <a:xfrm>
            <a:off x="6391656" y="2834640"/>
            <a:ext cx="2194560" cy="6400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25% less likely</a:t>
            </a:r>
            <a:endParaRPr lang="en-US" sz="1900" dirty="0"/>
          </a:p>
        </p:txBody>
      </p:sp>
      <p:sp>
        <p:nvSpPr>
          <p:cNvPr id="15" name="Text 13"/>
          <p:cNvSpPr/>
          <p:nvPr/>
        </p:nvSpPr>
        <p:spPr>
          <a:xfrm>
            <a:off x="6391656"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to disappear. Over the period 37% of rural credit unions merged away or closed, against 44% elsewhere — and the gap holds after allowing for size and financial condition</a:t>
            </a:r>
            <a:endParaRPr lang="en-US" sz="1000" dirty="0"/>
          </a:p>
        </p:txBody>
      </p:sp>
      <p:sp>
        <p:nvSpPr>
          <p:cNvPr id="16" name="Shape 14"/>
          <p:cNvSpPr/>
          <p:nvPr/>
        </p:nvSpPr>
        <p:spPr>
          <a:xfrm>
            <a:off x="8924544" y="2395728"/>
            <a:ext cx="2514600" cy="2487168"/>
          </a:xfrm>
          <a:prstGeom prst="roundRect">
            <a:avLst>
              <a:gd name="adj" fmla="val 1838"/>
            </a:avLst>
          </a:prstGeom>
          <a:solidFill>
            <a:srgbClr val="C8553D"/>
          </a:solidFill>
          <a:ln/>
        </p:spPr>
        <p:txBody>
          <a:bodyPr/>
          <a:lstStyle/>
          <a:p>
            <a:endParaRPr lang="en-US"/>
          </a:p>
        </p:txBody>
      </p:sp>
      <p:sp>
        <p:nvSpPr>
          <p:cNvPr id="17" name="Text 15"/>
          <p:cNvSpPr/>
          <p:nvPr/>
        </p:nvSpPr>
        <p:spPr>
          <a:xfrm>
            <a:off x="9153144" y="2560320"/>
            <a:ext cx="2103120" cy="274320"/>
          </a:xfrm>
          <a:prstGeom prst="rect">
            <a:avLst/>
          </a:prstGeom>
          <a:noFill/>
          <a:ln/>
        </p:spPr>
        <p:txBody>
          <a:bodyPr wrap="square" lIns="0" tIns="0" rIns="0" bIns="0" rtlCol="0" anchor="ctr"/>
          <a:lstStyle/>
          <a:p>
            <a:pPr marL="0" indent="0">
              <a:buNone/>
            </a:pPr>
            <a:r>
              <a:rPr lang="en-US" sz="1100" b="1" dirty="0">
                <a:solidFill>
                  <a:srgbClr val="FFE8E2"/>
                </a:solidFill>
                <a:latin typeface="Calibri" pitchFamily="34" charset="0"/>
                <a:ea typeface="Calibri" pitchFamily="34" charset="-122"/>
                <a:cs typeface="Calibri" pitchFamily="34" charset="-120"/>
              </a:rPr>
              <a:t>Formation</a:t>
            </a:r>
            <a:endParaRPr lang="en-US" sz="1100" dirty="0"/>
          </a:p>
        </p:txBody>
      </p:sp>
      <p:sp>
        <p:nvSpPr>
          <p:cNvPr id="18" name="Text 16"/>
          <p:cNvSpPr/>
          <p:nvPr/>
        </p:nvSpPr>
        <p:spPr>
          <a:xfrm>
            <a:off x="9153144"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47 : 274</a:t>
            </a:r>
            <a:endParaRPr lang="en-US" sz="2600" dirty="0"/>
          </a:p>
        </p:txBody>
      </p:sp>
      <p:sp>
        <p:nvSpPr>
          <p:cNvPr id="19" name="Text 17"/>
          <p:cNvSpPr/>
          <p:nvPr/>
        </p:nvSpPr>
        <p:spPr>
          <a:xfrm>
            <a:off x="9153144"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FFEDE7"/>
                </a:solidFill>
                <a:latin typeface="Calibri" pitchFamily="34" charset="0"/>
                <a:ea typeface="Calibri" pitchFamily="34" charset="-122"/>
                <a:cs typeface="Calibri" pitchFamily="34" charset="-120"/>
              </a:rPr>
              <a:t>new rural charters against departures since 2010 — about one a year against fifteen</a:t>
            </a:r>
            <a:endParaRPr lang="en-US" sz="1000" dirty="0"/>
          </a:p>
        </p:txBody>
      </p:sp>
      <p:sp>
        <p:nvSpPr>
          <p:cNvPr id="20" name="Shape 18"/>
          <p:cNvSpPr/>
          <p:nvPr/>
        </p:nvSpPr>
        <p:spPr>
          <a:xfrm>
            <a:off x="640080" y="5029200"/>
            <a:ext cx="10881360" cy="1051560"/>
          </a:xfrm>
          <a:prstGeom prst="roundRect">
            <a:avLst>
              <a:gd name="adj" fmla="val 4348"/>
            </a:avLst>
          </a:prstGeom>
          <a:solidFill>
            <a:srgbClr val="1B2C3D"/>
          </a:solidFill>
          <a:ln/>
        </p:spPr>
        <p:txBody>
          <a:bodyPr/>
          <a:lstStyle/>
          <a:p>
            <a:endParaRPr lang="en-US"/>
          </a:p>
        </p:txBody>
      </p:sp>
      <p:sp>
        <p:nvSpPr>
          <p:cNvPr id="21" name="Text 19"/>
          <p:cNvSpPr/>
          <p:nvPr/>
        </p:nvSpPr>
        <p:spPr>
          <a:xfrm>
            <a:off x="960120" y="5166360"/>
            <a:ext cx="10241280" cy="822960"/>
          </a:xfrm>
          <a:prstGeom prst="rect">
            <a:avLst/>
          </a:prstGeom>
          <a:noFill/>
          <a:ln/>
        </p:spPr>
        <p:txBody>
          <a:bodyPr wrap="square" lIns="0" tIns="0" rIns="0" bIns="0" rtlCol="0" anchor="ctr"/>
          <a:lstStyle/>
          <a:p>
            <a:pPr marL="0" indent="0">
              <a:lnSpc>
                <a:spcPts val="1700"/>
              </a:lnSpc>
              <a:buNone/>
            </a:pPr>
            <a:r>
              <a:rPr lang="en-US" sz="1200" dirty="0">
                <a:solidFill>
                  <a:srgbClr val="FFFFFF"/>
                </a:solidFill>
                <a:latin typeface="Calibri" pitchFamily="34" charset="0"/>
                <a:ea typeface="Calibri" pitchFamily="34" charset="-122"/>
                <a:cs typeface="Calibri" pitchFamily="34" charset="-120"/>
              </a:rPr>
              <a:t>Sec. 909 presumes rural credit unions underperform on growth, capital adequacy and profitability — the statute's words for what we would call earnings. On growth and earnings they outperform; on capital they are neither ahead nor behind and are not constrained; they survive better, and their office networks have grown faster. The recommendations therefore belong under the de novo clause — barriers to establishing new rural credit unions.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Rural credit unions opened offices. Urban ones fell behind.</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Over the ten years to 2026, the number of credit union offices in rural counties grew faster than in the rest of the country — while the rural population was shrinking and the urban population was growing.</a:t>
            </a:r>
            <a:endParaRPr lang="en-US" sz="1350" dirty="0"/>
          </a:p>
        </p:txBody>
      </p:sp>
      <p:graphicFrame>
        <p:nvGraphicFramePr>
          <p:cNvPr id="5" name="Chart 0"/>
          <p:cNvGraphicFramePr/>
          <p:nvPr/>
        </p:nvGraphicFramePr>
        <p:xfrm>
          <a:off x="640080" y="1828800"/>
          <a:ext cx="667512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589520" y="1874520"/>
            <a:ext cx="3931920" cy="1170432"/>
          </a:xfrm>
          <a:prstGeom prst="roundRect">
            <a:avLst>
              <a:gd name="adj" fmla="val 3906"/>
            </a:avLst>
          </a:prstGeom>
          <a:solidFill>
            <a:srgbClr val="F3F5F4"/>
          </a:solidFill>
          <a:ln/>
        </p:spPr>
        <p:txBody>
          <a:bodyPr/>
          <a:lstStyle/>
          <a:p>
            <a:endParaRPr lang="en-US"/>
          </a:p>
        </p:txBody>
      </p:sp>
      <p:sp>
        <p:nvSpPr>
          <p:cNvPr id="7" name="Text 4"/>
          <p:cNvSpPr/>
          <p:nvPr/>
        </p:nvSpPr>
        <p:spPr>
          <a:xfrm>
            <a:off x="7845552" y="2020824"/>
            <a:ext cx="3474720" cy="274320"/>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Rural offices grew</a:t>
            </a:r>
            <a:endParaRPr lang="en-US" sz="1200" dirty="0"/>
          </a:p>
        </p:txBody>
      </p:sp>
      <p:sp>
        <p:nvSpPr>
          <p:cNvPr id="8" name="Text 5"/>
          <p:cNvSpPr/>
          <p:nvPr/>
        </p:nvSpPr>
        <p:spPr>
          <a:xfrm>
            <a:off x="7845552" y="231343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1,812 → 1,942. Credit unions kept building in places that were getting smaller.</a:t>
            </a:r>
            <a:endParaRPr lang="en-US" sz="1100" dirty="0"/>
          </a:p>
        </p:txBody>
      </p:sp>
      <p:sp>
        <p:nvSpPr>
          <p:cNvPr id="9" name="Shape 6"/>
          <p:cNvSpPr/>
          <p:nvPr/>
        </p:nvSpPr>
        <p:spPr>
          <a:xfrm>
            <a:off x="7589520" y="3200400"/>
            <a:ext cx="3931920" cy="1170432"/>
          </a:xfrm>
          <a:prstGeom prst="roundRect">
            <a:avLst>
              <a:gd name="adj" fmla="val 3906"/>
            </a:avLst>
          </a:prstGeom>
          <a:solidFill>
            <a:srgbClr val="F3F5F4"/>
          </a:solidFill>
          <a:ln/>
        </p:spPr>
        <p:txBody>
          <a:bodyPr/>
          <a:lstStyle/>
          <a:p>
            <a:endParaRPr lang="en-US"/>
          </a:p>
        </p:txBody>
      </p:sp>
      <p:sp>
        <p:nvSpPr>
          <p:cNvPr id="10" name="Text 7"/>
          <p:cNvSpPr/>
          <p:nvPr/>
        </p:nvSpPr>
        <p:spPr>
          <a:xfrm>
            <a:off x="7845552" y="3346704"/>
            <a:ext cx="3474720" cy="274320"/>
          </a:xfrm>
          <a:prstGeom prst="rect">
            <a:avLst/>
          </a:prstGeom>
          <a:noFill/>
          <a:ln/>
        </p:spPr>
        <p:txBody>
          <a:bodyPr wrap="square" lIns="0" tIns="0" rIns="0" bIns="0" rtlCol="0" anchor="ctr"/>
          <a:lstStyle/>
          <a:p>
            <a:pPr marL="0" indent="0">
              <a:buNone/>
            </a:pPr>
            <a:r>
              <a:rPr lang="en-US" sz="1200" b="1" dirty="0">
                <a:solidFill>
                  <a:srgbClr val="1F6F78"/>
                </a:solidFill>
                <a:latin typeface="Calibri" pitchFamily="34" charset="0"/>
                <a:ea typeface="Calibri" pitchFamily="34" charset="-122"/>
                <a:cs typeface="Calibri" pitchFamily="34" charset="-120"/>
              </a:rPr>
              <a:t>Urban offices grew too</a:t>
            </a:r>
            <a:endParaRPr lang="en-US" sz="1200" dirty="0"/>
          </a:p>
        </p:txBody>
      </p:sp>
      <p:sp>
        <p:nvSpPr>
          <p:cNvPr id="11" name="Text 8"/>
          <p:cNvSpPr/>
          <p:nvPr/>
        </p:nvSpPr>
        <p:spPr>
          <a:xfrm>
            <a:off x="7845552" y="363931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19,127 → 20,101 — but 17 million more people arrived, so access per resident fell.</a:t>
            </a:r>
            <a:endParaRPr lang="en-US" sz="1100" dirty="0"/>
          </a:p>
        </p:txBody>
      </p:sp>
      <p:sp>
        <p:nvSpPr>
          <p:cNvPr id="12" name="Shape 9"/>
          <p:cNvSpPr/>
          <p:nvPr/>
        </p:nvSpPr>
        <p:spPr>
          <a:xfrm>
            <a:off x="7589520" y="4526280"/>
            <a:ext cx="3931920" cy="1170432"/>
          </a:xfrm>
          <a:prstGeom prst="roundRect">
            <a:avLst>
              <a:gd name="adj" fmla="val 3906"/>
            </a:avLst>
          </a:prstGeom>
          <a:solidFill>
            <a:srgbClr val="DCE6E4"/>
          </a:solidFill>
          <a:ln/>
        </p:spPr>
        <p:txBody>
          <a:bodyPr/>
          <a:lstStyle/>
          <a:p>
            <a:endParaRPr lang="en-US"/>
          </a:p>
        </p:txBody>
      </p:sp>
      <p:sp>
        <p:nvSpPr>
          <p:cNvPr id="13" name="Text 10"/>
          <p:cNvSpPr/>
          <p:nvPr/>
        </p:nvSpPr>
        <p:spPr>
          <a:xfrm>
            <a:off x="7845552" y="4672584"/>
            <a:ext cx="3474720" cy="274320"/>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This is not a depopulation story</a:t>
            </a:r>
            <a:endParaRPr lang="en-US" sz="1200" dirty="0"/>
          </a:p>
        </p:txBody>
      </p:sp>
      <p:sp>
        <p:nvSpPr>
          <p:cNvPr id="14" name="Text 11"/>
          <p:cNvSpPr/>
          <p:nvPr/>
        </p:nvSpPr>
        <p:spPr>
          <a:xfrm>
            <a:off x="7845552" y="496519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Almost the whole rural gain came from opening offices, not from losing people.</a:t>
            </a:r>
            <a:endParaRPr lang="en-US" sz="1100" dirty="0"/>
          </a:p>
        </p:txBody>
      </p:sp>
      <p:sp>
        <p:nvSpPr>
          <p:cNvPr id="15"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Offices = headquarters and branches, charter types 1 and 2, 2016Q1 and 2026Q1. Population: Census county estimates, 2016 and 2024. Connecticut, Puerto Rico and the outlying territories excluded.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But most rural counties saw nothing change at all</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national totals are driven by a minority of counties. For the typical rural county, the past decade was stasis — and for nearly half, there was no credit union office to begin with.</a:t>
            </a:r>
            <a:endParaRPr lang="en-US" sz="1350" dirty="0"/>
          </a:p>
        </p:txBody>
      </p:sp>
      <p:graphicFrame>
        <p:nvGraphicFramePr>
          <p:cNvPr id="5" name="Chart 0"/>
          <p:cNvGraphicFramePr/>
          <p:nvPr/>
        </p:nvGraphicFramePr>
        <p:xfrm>
          <a:off x="640080" y="1828800"/>
          <a:ext cx="685800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828800"/>
            <a:ext cx="3749040" cy="1783080"/>
          </a:xfrm>
          <a:prstGeom prst="roundRect">
            <a:avLst>
              <a:gd name="adj" fmla="val 2564"/>
            </a:avLst>
          </a:prstGeom>
          <a:solidFill>
            <a:srgbClr val="0E4C55"/>
          </a:solidFill>
          <a:ln/>
        </p:spPr>
        <p:txBody>
          <a:bodyPr/>
          <a:lstStyle/>
          <a:p>
            <a:endParaRPr lang="en-US"/>
          </a:p>
        </p:txBody>
      </p:sp>
      <p:sp>
        <p:nvSpPr>
          <p:cNvPr id="7" name="Text 4"/>
          <p:cNvSpPr/>
          <p:nvPr/>
        </p:nvSpPr>
        <p:spPr>
          <a:xfrm>
            <a:off x="8028432" y="1993392"/>
            <a:ext cx="329184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The honest headline</a:t>
            </a:r>
            <a:endParaRPr lang="en-US" sz="1200" dirty="0"/>
          </a:p>
        </p:txBody>
      </p:sp>
      <p:sp>
        <p:nvSpPr>
          <p:cNvPr id="8" name="Text 5"/>
          <p:cNvSpPr/>
          <p:nvPr/>
        </p:nvSpPr>
        <p:spPr>
          <a:xfrm>
            <a:off x="8028432" y="2286000"/>
            <a:ext cx="3337560" cy="1188720"/>
          </a:xfrm>
          <a:prstGeom prst="rect">
            <a:avLst/>
          </a:prstGeom>
          <a:noFill/>
          <a:ln/>
        </p:spPr>
        <p:txBody>
          <a:bodyPr wrap="square" lIns="0" tIns="0" rIns="0" bIns="0" rtlCol="0" anchor="ctr"/>
          <a:lstStyle/>
          <a:p>
            <a:pPr marL="0" indent="0">
              <a:lnSpc>
                <a:spcPts val="1600"/>
              </a:lnSpc>
              <a:buNone/>
            </a:pPr>
            <a:r>
              <a:rPr lang="en-US" sz="1200" dirty="0">
                <a:solidFill>
                  <a:srgbClr val="FFFFFF"/>
                </a:solidFill>
                <a:latin typeface="Calibri" pitchFamily="34" charset="0"/>
                <a:ea typeface="Calibri" pitchFamily="34" charset="-122"/>
                <a:cs typeface="Calibri" pitchFamily="34" charset="-120"/>
              </a:rPr>
              <a:t>Stasis, not decline. 447 rural counties ended the decade with exactly the number of offices they started with.</a:t>
            </a:r>
            <a:endParaRPr lang="en-US" sz="1200" dirty="0"/>
          </a:p>
        </p:txBody>
      </p:sp>
      <p:sp>
        <p:nvSpPr>
          <p:cNvPr id="9" name="Shape 6"/>
          <p:cNvSpPr/>
          <p:nvPr/>
        </p:nvSpPr>
        <p:spPr>
          <a:xfrm>
            <a:off x="7772400" y="3749040"/>
            <a:ext cx="3749040" cy="960120"/>
          </a:xfrm>
          <a:prstGeom prst="roundRect">
            <a:avLst>
              <a:gd name="adj" fmla="val 4762"/>
            </a:avLst>
          </a:prstGeom>
          <a:solidFill>
            <a:srgbClr val="DCE6E4"/>
          </a:solidFill>
          <a:ln/>
        </p:spPr>
        <p:txBody>
          <a:bodyPr/>
          <a:lstStyle/>
          <a:p>
            <a:endParaRPr lang="en-US"/>
          </a:p>
        </p:txBody>
      </p:sp>
      <p:sp>
        <p:nvSpPr>
          <p:cNvPr id="10" name="Text 7"/>
          <p:cNvSpPr/>
          <p:nvPr/>
        </p:nvSpPr>
        <p:spPr>
          <a:xfrm>
            <a:off x="8028432" y="3877056"/>
            <a:ext cx="3337560" cy="731520"/>
          </a:xfrm>
          <a:prstGeom prst="rect">
            <a:avLst/>
          </a:prstGeom>
          <a:noFill/>
          <a:ln/>
        </p:spPr>
        <p:txBody>
          <a:bodyPr wrap="square" lIns="0" tIns="0" rIns="0" bIns="0" rtlCol="0" anchor="ctr"/>
          <a:lstStyle/>
          <a:p>
            <a:pPr marL="0" indent="0">
              <a:lnSpc>
                <a:spcPts val="1450"/>
              </a:lnSpc>
              <a:buNone/>
            </a:pPr>
            <a:r>
              <a:rPr lang="en-US" sz="1100" dirty="0">
                <a:solidFill>
                  <a:srgbClr val="12202E"/>
                </a:solidFill>
                <a:latin typeface="Calibri" pitchFamily="34" charset="0"/>
                <a:ea typeface="Calibri" pitchFamily="34" charset="-122"/>
                <a:cs typeface="Calibri" pitchFamily="34" charset="-120"/>
              </a:rPr>
              <a:t>109 rural counties added offices while losing residents — 153 offices, in places that lost 115,000 people between them.</a:t>
            </a:r>
            <a:endParaRPr lang="en-US" sz="1100" dirty="0"/>
          </a:p>
        </p:txBody>
      </p:sp>
      <p:sp>
        <p:nvSpPr>
          <p:cNvPr id="11" name="Shape 8"/>
          <p:cNvSpPr/>
          <p:nvPr/>
        </p:nvSpPr>
        <p:spPr>
          <a:xfrm>
            <a:off x="7772400" y="4846320"/>
            <a:ext cx="3749040" cy="868680"/>
          </a:xfrm>
          <a:prstGeom prst="roundRect">
            <a:avLst>
              <a:gd name="adj" fmla="val 5263"/>
            </a:avLst>
          </a:prstGeom>
          <a:solidFill>
            <a:srgbClr val="F3F5F4"/>
          </a:solidFill>
          <a:ln/>
        </p:spPr>
        <p:txBody>
          <a:bodyPr/>
          <a:lstStyle/>
          <a:p>
            <a:endParaRPr lang="en-US"/>
          </a:p>
        </p:txBody>
      </p:sp>
      <p:sp>
        <p:nvSpPr>
          <p:cNvPr id="12" name="Text 9"/>
          <p:cNvSpPr/>
          <p:nvPr/>
        </p:nvSpPr>
        <p:spPr>
          <a:xfrm>
            <a:off x="8028432" y="4974336"/>
            <a:ext cx="3337560" cy="64008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And 71 lost offices while GAINING residents — so this is not simply demography at work.</a:t>
            </a:r>
            <a:endParaRPr lang="en-US" sz="1100" dirty="0"/>
          </a:p>
        </p:txBody>
      </p:sp>
      <p:sp>
        <p:nvSpPr>
          <p:cNvPr id="13" name="Text 1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1,555 rural counties, 2024 Urban Influence Codes held fixed across both years.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And half of rural America still has no office at all</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Access improved where credit unions already were. The gap is not that rural coverage is shrinking — it is that so much of rural America was never covered.</a:t>
            </a:r>
            <a:endParaRPr lang="en-US" sz="1350" dirty="0"/>
          </a:p>
        </p:txBody>
      </p:sp>
      <p:sp>
        <p:nvSpPr>
          <p:cNvPr id="5" name="Shape 3"/>
          <p:cNvSpPr/>
          <p:nvPr/>
        </p:nvSpPr>
        <p:spPr>
          <a:xfrm>
            <a:off x="640080" y="1920240"/>
            <a:ext cx="2697480" cy="1737360"/>
          </a:xfrm>
          <a:prstGeom prst="roundRect">
            <a:avLst>
              <a:gd name="adj" fmla="val 2632"/>
            </a:avLst>
          </a:prstGeom>
          <a:solidFill>
            <a:srgbClr val="F3F5F4"/>
          </a:solidFill>
          <a:ln/>
        </p:spPr>
        <p:txBody>
          <a:bodyPr/>
          <a:lstStyle/>
          <a:p>
            <a:endParaRPr lang="en-US"/>
          </a:p>
        </p:txBody>
      </p:sp>
      <p:sp>
        <p:nvSpPr>
          <p:cNvPr id="6" name="Text 4"/>
          <p:cNvSpPr/>
          <p:nvPr/>
        </p:nvSpPr>
        <p:spPr>
          <a:xfrm>
            <a:off x="868680" y="2103120"/>
            <a:ext cx="2286000" cy="566928"/>
          </a:xfrm>
          <a:prstGeom prst="rect">
            <a:avLst/>
          </a:prstGeom>
          <a:noFill/>
          <a:ln/>
        </p:spPr>
        <p:txBody>
          <a:bodyPr wrap="square" lIns="0" tIns="0" rIns="0" bIns="0" rtlCol="0" anchor="ctr"/>
          <a:lstStyle/>
          <a:p>
            <a:pPr marL="0" indent="0">
              <a:buNone/>
            </a:pPr>
            <a:r>
              <a:rPr lang="en-US" sz="3000" b="1" dirty="0">
                <a:solidFill>
                  <a:srgbClr val="C8553D"/>
                </a:solidFill>
                <a:latin typeface="Cambria" pitchFamily="34" charset="0"/>
                <a:ea typeface="Cambria" pitchFamily="34" charset="-122"/>
                <a:cs typeface="Cambria" pitchFamily="34" charset="-120"/>
              </a:rPr>
              <a:t>758</a:t>
            </a:r>
            <a:endParaRPr lang="en-US" sz="3000" dirty="0"/>
          </a:p>
        </p:txBody>
      </p:sp>
      <p:sp>
        <p:nvSpPr>
          <p:cNvPr id="7" name="Text 5"/>
          <p:cNvSpPr/>
          <p:nvPr/>
        </p:nvSpPr>
        <p:spPr>
          <a:xfrm>
            <a:off x="868680" y="267004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8" name="Text 6"/>
          <p:cNvSpPr/>
          <p:nvPr/>
        </p:nvSpPr>
        <p:spPr>
          <a:xfrm>
            <a:off x="868680" y="292608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have no credit union office of any kind</a:t>
            </a:r>
            <a:endParaRPr lang="en-US" sz="1050" dirty="0"/>
          </a:p>
        </p:txBody>
      </p:sp>
      <p:sp>
        <p:nvSpPr>
          <p:cNvPr id="9" name="Shape 7"/>
          <p:cNvSpPr/>
          <p:nvPr/>
        </p:nvSpPr>
        <p:spPr>
          <a:xfrm>
            <a:off x="3566160" y="1920240"/>
            <a:ext cx="2697480" cy="1737360"/>
          </a:xfrm>
          <a:prstGeom prst="roundRect">
            <a:avLst>
              <a:gd name="adj" fmla="val 2632"/>
            </a:avLst>
          </a:prstGeom>
          <a:solidFill>
            <a:srgbClr val="F3F5F4"/>
          </a:solidFill>
          <a:ln/>
        </p:spPr>
        <p:txBody>
          <a:bodyPr/>
          <a:lstStyle/>
          <a:p>
            <a:endParaRPr lang="en-US"/>
          </a:p>
        </p:txBody>
      </p:sp>
      <p:sp>
        <p:nvSpPr>
          <p:cNvPr id="10" name="Text 8"/>
          <p:cNvSpPr/>
          <p:nvPr/>
        </p:nvSpPr>
        <p:spPr>
          <a:xfrm>
            <a:off x="3794760" y="2103120"/>
            <a:ext cx="2286000" cy="566928"/>
          </a:xfrm>
          <a:prstGeom prst="rect">
            <a:avLst/>
          </a:prstGeom>
          <a:noFill/>
          <a:ln/>
        </p:spPr>
        <p:txBody>
          <a:bodyPr wrap="square" lIns="0" tIns="0" rIns="0" bIns="0" rtlCol="0" anchor="ctr"/>
          <a:lstStyle/>
          <a:p>
            <a:pPr marL="0" indent="0">
              <a:buNone/>
            </a:pPr>
            <a:r>
              <a:rPr lang="en-US" sz="3000" b="1" dirty="0">
                <a:solidFill>
                  <a:srgbClr val="C8553D"/>
                </a:solidFill>
                <a:latin typeface="Cambria" pitchFamily="34" charset="0"/>
                <a:ea typeface="Cambria" pitchFamily="34" charset="-122"/>
                <a:cs typeface="Cambria" pitchFamily="34" charset="-120"/>
              </a:rPr>
              <a:t>7.7m</a:t>
            </a:r>
            <a:endParaRPr lang="en-US" sz="3000" dirty="0"/>
          </a:p>
        </p:txBody>
      </p:sp>
      <p:sp>
        <p:nvSpPr>
          <p:cNvPr id="11" name="Text 9"/>
          <p:cNvSpPr/>
          <p:nvPr/>
        </p:nvSpPr>
        <p:spPr>
          <a:xfrm>
            <a:off x="3794760" y="267004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residents</a:t>
            </a:r>
            <a:endParaRPr lang="en-US" sz="1200" dirty="0"/>
          </a:p>
        </p:txBody>
      </p:sp>
      <p:sp>
        <p:nvSpPr>
          <p:cNvPr id="12" name="Text 10"/>
          <p:cNvSpPr/>
          <p:nvPr/>
        </p:nvSpPr>
        <p:spPr>
          <a:xfrm>
            <a:off x="3794760" y="292608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live in a county with no office — 29% of rural America</a:t>
            </a:r>
            <a:endParaRPr lang="en-US" sz="1050" dirty="0"/>
          </a:p>
        </p:txBody>
      </p:sp>
      <p:sp>
        <p:nvSpPr>
          <p:cNvPr id="13" name="Shape 11"/>
          <p:cNvSpPr/>
          <p:nvPr/>
        </p:nvSpPr>
        <p:spPr>
          <a:xfrm>
            <a:off x="640080" y="3886200"/>
            <a:ext cx="2697480" cy="1737360"/>
          </a:xfrm>
          <a:prstGeom prst="roundRect">
            <a:avLst>
              <a:gd name="adj" fmla="val 2632"/>
            </a:avLst>
          </a:prstGeom>
          <a:solidFill>
            <a:srgbClr val="DCE6E4"/>
          </a:solidFill>
          <a:ln/>
        </p:spPr>
        <p:txBody>
          <a:bodyPr/>
          <a:lstStyle/>
          <a:p>
            <a:endParaRPr lang="en-US"/>
          </a:p>
        </p:txBody>
      </p:sp>
      <p:sp>
        <p:nvSpPr>
          <p:cNvPr id="14" name="Text 12"/>
          <p:cNvSpPr/>
          <p:nvPr/>
        </p:nvSpPr>
        <p:spPr>
          <a:xfrm>
            <a:off x="868680" y="4069080"/>
            <a:ext cx="2286000" cy="566928"/>
          </a:xfrm>
          <a:prstGeom prst="rect">
            <a:avLst/>
          </a:prstGeom>
          <a:noFill/>
          <a:ln/>
        </p:spPr>
        <p:txBody>
          <a:bodyPr wrap="square" lIns="0" tIns="0" rIns="0" bIns="0" rtlCol="0" anchor="ctr"/>
          <a:lstStyle/>
          <a:p>
            <a:pPr marL="0" indent="0">
              <a:buNone/>
            </a:pPr>
            <a:r>
              <a:rPr lang="en-US" sz="3000" b="1" dirty="0">
                <a:solidFill>
                  <a:srgbClr val="0E4C55"/>
                </a:solidFill>
                <a:latin typeface="Cambria" pitchFamily="34" charset="0"/>
                <a:ea typeface="Cambria" pitchFamily="34" charset="-122"/>
                <a:cs typeface="Cambria" pitchFamily="34" charset="-120"/>
              </a:rPr>
              <a:t>459</a:t>
            </a:r>
            <a:endParaRPr lang="en-US" sz="3000" dirty="0"/>
          </a:p>
        </p:txBody>
      </p:sp>
      <p:sp>
        <p:nvSpPr>
          <p:cNvPr id="15" name="Text 13"/>
          <p:cNvSpPr/>
          <p:nvPr/>
        </p:nvSpPr>
        <p:spPr>
          <a:xfrm>
            <a:off x="868680" y="463600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16" name="Text 14"/>
          <p:cNvSpPr/>
          <p:nvPr/>
        </p:nvSpPr>
        <p:spPr>
          <a:xfrm>
            <a:off x="868680" y="489204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are served by exactly one credit union</a:t>
            </a:r>
            <a:endParaRPr lang="en-US" sz="1050" dirty="0"/>
          </a:p>
        </p:txBody>
      </p:sp>
      <p:sp>
        <p:nvSpPr>
          <p:cNvPr id="17" name="Shape 15"/>
          <p:cNvSpPr/>
          <p:nvPr/>
        </p:nvSpPr>
        <p:spPr>
          <a:xfrm>
            <a:off x="3566160" y="3886200"/>
            <a:ext cx="2697480" cy="1737360"/>
          </a:xfrm>
          <a:prstGeom prst="roundRect">
            <a:avLst>
              <a:gd name="adj" fmla="val 2632"/>
            </a:avLst>
          </a:prstGeom>
          <a:solidFill>
            <a:srgbClr val="DCE6E4"/>
          </a:solidFill>
          <a:ln/>
        </p:spPr>
        <p:txBody>
          <a:bodyPr/>
          <a:lstStyle/>
          <a:p>
            <a:endParaRPr lang="en-US"/>
          </a:p>
        </p:txBody>
      </p:sp>
      <p:sp>
        <p:nvSpPr>
          <p:cNvPr id="18" name="Text 16"/>
          <p:cNvSpPr/>
          <p:nvPr/>
        </p:nvSpPr>
        <p:spPr>
          <a:xfrm>
            <a:off x="3794760" y="4069080"/>
            <a:ext cx="2286000" cy="566928"/>
          </a:xfrm>
          <a:prstGeom prst="rect">
            <a:avLst/>
          </a:prstGeom>
          <a:noFill/>
          <a:ln/>
        </p:spPr>
        <p:txBody>
          <a:bodyPr wrap="square" lIns="0" tIns="0" rIns="0" bIns="0" rtlCol="0" anchor="ctr"/>
          <a:lstStyle/>
          <a:p>
            <a:pPr marL="0" indent="0">
              <a:buNone/>
            </a:pPr>
            <a:r>
              <a:rPr lang="en-US" sz="3000" b="1" dirty="0">
                <a:solidFill>
                  <a:srgbClr val="0E4C55"/>
                </a:solidFill>
                <a:latin typeface="Cambria" pitchFamily="34" charset="0"/>
                <a:ea typeface="Cambria" pitchFamily="34" charset="-122"/>
                <a:cs typeface="Cambria" pitchFamily="34" charset="-120"/>
              </a:rPr>
              <a:t>7.9m</a:t>
            </a:r>
            <a:endParaRPr lang="en-US" sz="3000" dirty="0"/>
          </a:p>
        </p:txBody>
      </p:sp>
      <p:sp>
        <p:nvSpPr>
          <p:cNvPr id="19" name="Text 17"/>
          <p:cNvSpPr/>
          <p:nvPr/>
        </p:nvSpPr>
        <p:spPr>
          <a:xfrm>
            <a:off x="3794760" y="463600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residents</a:t>
            </a:r>
            <a:endParaRPr lang="en-US" sz="1200" dirty="0"/>
          </a:p>
        </p:txBody>
      </p:sp>
      <p:sp>
        <p:nvSpPr>
          <p:cNvPr id="20" name="Text 18"/>
          <p:cNvSpPr/>
          <p:nvPr/>
        </p:nvSpPr>
        <p:spPr>
          <a:xfrm>
            <a:off x="3794760" y="489204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depend on that one institution — if it merges away, the alternative is not another credit union</a:t>
            </a:r>
            <a:endParaRPr lang="en-US" sz="1050" dirty="0"/>
          </a:p>
        </p:txBody>
      </p:sp>
      <p:graphicFrame>
        <p:nvGraphicFramePr>
          <p:cNvPr id="21" name="Chart 0"/>
          <p:cNvGraphicFramePr/>
          <p:nvPr/>
        </p:nvGraphicFramePr>
        <p:xfrm>
          <a:off x="6446520" y="1920240"/>
          <a:ext cx="507492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22" name="Shape 19"/>
          <p:cNvSpPr/>
          <p:nvPr/>
        </p:nvSpPr>
        <p:spPr>
          <a:xfrm>
            <a:off x="6446520" y="4434840"/>
            <a:ext cx="5074920" cy="1280160"/>
          </a:xfrm>
          <a:prstGeom prst="roundRect">
            <a:avLst>
              <a:gd name="adj" fmla="val 3571"/>
            </a:avLst>
          </a:prstGeom>
          <a:solidFill>
            <a:srgbClr val="0E4C55"/>
          </a:solidFill>
          <a:ln/>
        </p:spPr>
        <p:txBody>
          <a:bodyPr/>
          <a:lstStyle/>
          <a:p>
            <a:endParaRPr lang="en-US"/>
          </a:p>
        </p:txBody>
      </p:sp>
      <p:sp>
        <p:nvSpPr>
          <p:cNvPr id="23" name="Text 20"/>
          <p:cNvSpPr/>
          <p:nvPr/>
        </p:nvSpPr>
        <p:spPr>
          <a:xfrm>
            <a:off x="6702552" y="4572000"/>
            <a:ext cx="448056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Coverage widened, slightly</a:t>
            </a:r>
            <a:endParaRPr lang="en-US" sz="1200" dirty="0"/>
          </a:p>
        </p:txBody>
      </p:sp>
      <p:sp>
        <p:nvSpPr>
          <p:cNvPr id="24" name="Text 21"/>
          <p:cNvSpPr/>
          <p:nvPr/>
        </p:nvSpPr>
        <p:spPr>
          <a:xfrm>
            <a:off x="6702552" y="4864608"/>
            <a:ext cx="4572000" cy="777240"/>
          </a:xfrm>
          <a:prstGeom prst="rect">
            <a:avLst/>
          </a:prstGeom>
          <a:noFill/>
          <a:ln/>
        </p:spPr>
        <p:txBody>
          <a:bodyPr wrap="square" lIns="0" tIns="0" rIns="0" bIns="0" rtlCol="0" anchor="ctr"/>
          <a:lstStyle/>
          <a:p>
            <a:pPr marL="0" indent="0">
              <a:lnSpc>
                <a:spcPts val="1500"/>
              </a:lnSpc>
              <a:buNone/>
            </a:pPr>
            <a:r>
              <a:rPr lang="en-US" sz="1150" dirty="0">
                <a:solidFill>
                  <a:srgbClr val="FFFFFF"/>
                </a:solidFill>
                <a:latin typeface="Calibri" pitchFamily="34" charset="0"/>
                <a:ea typeface="Calibri" pitchFamily="34" charset="-122"/>
                <a:cs typeface="Calibri" pitchFamily="34" charset="-120"/>
              </a:rPr>
              <a:t>68 rural counties gained their first credit union office over the decade; 41 lost their last. A net 27 more rural counties have access today than in 2016.</a:t>
            </a:r>
            <a:endParaRPr lang="en-US" sz="1150" dirty="0"/>
          </a:p>
        </p:txBody>
      </p:sp>
      <p:sp>
        <p:nvSpPr>
          <p:cNvPr id="25"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offices against 2024 population. A county is “covered” if any federally insured credit union operates an office in it — not a measure of travel distance.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WHY IT MATTERS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sector the statute is about is small, and geographically vast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468 rural credit unions serve a ninth of the institutions, a fortieth of the assets, and half the counties in the country.</a:t>
            </a:r>
            <a:endParaRPr lang="en-US" sz="1350" dirty="0"/>
          </a:p>
        </p:txBody>
      </p:sp>
      <p:sp>
        <p:nvSpPr>
          <p:cNvPr id="5" name="Shape 3"/>
          <p:cNvSpPr/>
          <p:nvPr/>
        </p:nvSpPr>
        <p:spPr>
          <a:xfrm>
            <a:off x="640080" y="1965960"/>
            <a:ext cx="2514600" cy="1371600"/>
          </a:xfrm>
          <a:prstGeom prst="roundRect">
            <a:avLst>
              <a:gd name="adj" fmla="val 3333"/>
            </a:avLst>
          </a:prstGeom>
          <a:solidFill>
            <a:srgbClr val="F3F5F4"/>
          </a:solidFill>
          <a:ln/>
        </p:spPr>
        <p:txBody>
          <a:bodyPr/>
          <a:lstStyle/>
          <a:p>
            <a:endParaRPr lang="en-US"/>
          </a:p>
        </p:txBody>
      </p:sp>
      <p:sp>
        <p:nvSpPr>
          <p:cNvPr id="6" name="Text 4"/>
          <p:cNvSpPr/>
          <p:nvPr/>
        </p:nvSpPr>
        <p:spPr>
          <a:xfrm>
            <a:off x="868680"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468</a:t>
            </a:r>
            <a:endParaRPr lang="en-US" sz="2500" dirty="0"/>
          </a:p>
        </p:txBody>
      </p:sp>
      <p:sp>
        <p:nvSpPr>
          <p:cNvPr id="7" name="Text 5"/>
          <p:cNvSpPr/>
          <p:nvPr/>
        </p:nvSpPr>
        <p:spPr>
          <a:xfrm>
            <a:off x="868680"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credit unions</a:t>
            </a:r>
            <a:endParaRPr lang="en-US" sz="1200" dirty="0"/>
          </a:p>
        </p:txBody>
      </p:sp>
      <p:sp>
        <p:nvSpPr>
          <p:cNvPr id="8" name="Text 6"/>
          <p:cNvSpPr/>
          <p:nvPr/>
        </p:nvSpPr>
        <p:spPr>
          <a:xfrm>
            <a:off x="868680"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11.1% of all institutions</a:t>
            </a:r>
            <a:endParaRPr lang="en-US" sz="1050" dirty="0"/>
          </a:p>
        </p:txBody>
      </p:sp>
      <p:sp>
        <p:nvSpPr>
          <p:cNvPr id="9" name="Shape 7"/>
          <p:cNvSpPr/>
          <p:nvPr/>
        </p:nvSpPr>
        <p:spPr>
          <a:xfrm>
            <a:off x="3401568" y="1965960"/>
            <a:ext cx="2514600" cy="1371600"/>
          </a:xfrm>
          <a:prstGeom prst="roundRect">
            <a:avLst>
              <a:gd name="adj" fmla="val 3333"/>
            </a:avLst>
          </a:prstGeom>
          <a:solidFill>
            <a:srgbClr val="F3F5F4"/>
          </a:solidFill>
          <a:ln/>
        </p:spPr>
        <p:txBody>
          <a:bodyPr/>
          <a:lstStyle/>
          <a:p>
            <a:endParaRPr lang="en-US"/>
          </a:p>
        </p:txBody>
      </p:sp>
      <p:sp>
        <p:nvSpPr>
          <p:cNvPr id="10" name="Text 8"/>
          <p:cNvSpPr/>
          <p:nvPr/>
        </p:nvSpPr>
        <p:spPr>
          <a:xfrm>
            <a:off x="3630168"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3.83m</a:t>
            </a:r>
            <a:endParaRPr lang="en-US" sz="2500" dirty="0"/>
          </a:p>
        </p:txBody>
      </p:sp>
      <p:sp>
        <p:nvSpPr>
          <p:cNvPr id="11" name="Text 9"/>
          <p:cNvSpPr/>
          <p:nvPr/>
        </p:nvSpPr>
        <p:spPr>
          <a:xfrm>
            <a:off x="3630168"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members</a:t>
            </a:r>
            <a:endParaRPr lang="en-US" sz="1200" dirty="0"/>
          </a:p>
        </p:txBody>
      </p:sp>
      <p:sp>
        <p:nvSpPr>
          <p:cNvPr id="12" name="Text 10"/>
          <p:cNvSpPr/>
          <p:nvPr/>
        </p:nvSpPr>
        <p:spPr>
          <a:xfrm>
            <a:off x="3630168"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2.6% of the system</a:t>
            </a:r>
            <a:endParaRPr lang="en-US" sz="1050" dirty="0"/>
          </a:p>
        </p:txBody>
      </p:sp>
      <p:sp>
        <p:nvSpPr>
          <p:cNvPr id="13" name="Shape 11"/>
          <p:cNvSpPr/>
          <p:nvPr/>
        </p:nvSpPr>
        <p:spPr>
          <a:xfrm>
            <a:off x="6163056" y="1965960"/>
            <a:ext cx="2514600" cy="1371600"/>
          </a:xfrm>
          <a:prstGeom prst="roundRect">
            <a:avLst>
              <a:gd name="adj" fmla="val 3333"/>
            </a:avLst>
          </a:prstGeom>
          <a:solidFill>
            <a:srgbClr val="F3F5F4"/>
          </a:solidFill>
          <a:ln/>
        </p:spPr>
        <p:txBody>
          <a:bodyPr/>
          <a:lstStyle/>
          <a:p>
            <a:endParaRPr lang="en-US"/>
          </a:p>
        </p:txBody>
      </p:sp>
      <p:sp>
        <p:nvSpPr>
          <p:cNvPr id="14" name="Text 12"/>
          <p:cNvSpPr/>
          <p:nvPr/>
        </p:nvSpPr>
        <p:spPr>
          <a:xfrm>
            <a:off x="6391656"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$63.1bn</a:t>
            </a:r>
            <a:endParaRPr lang="en-US" sz="2500" dirty="0"/>
          </a:p>
        </p:txBody>
      </p:sp>
      <p:sp>
        <p:nvSpPr>
          <p:cNvPr id="15" name="Text 13"/>
          <p:cNvSpPr/>
          <p:nvPr/>
        </p:nvSpPr>
        <p:spPr>
          <a:xfrm>
            <a:off x="6391656"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assets</a:t>
            </a:r>
            <a:endParaRPr lang="en-US" sz="1200" dirty="0"/>
          </a:p>
        </p:txBody>
      </p:sp>
      <p:sp>
        <p:nvSpPr>
          <p:cNvPr id="16" name="Text 14"/>
          <p:cNvSpPr/>
          <p:nvPr/>
        </p:nvSpPr>
        <p:spPr>
          <a:xfrm>
            <a:off x="6391656"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2.5% of the system</a:t>
            </a:r>
            <a:endParaRPr lang="en-US" sz="1050" dirty="0"/>
          </a:p>
        </p:txBody>
      </p:sp>
      <p:sp>
        <p:nvSpPr>
          <p:cNvPr id="17" name="Shape 15"/>
          <p:cNvSpPr/>
          <p:nvPr/>
        </p:nvSpPr>
        <p:spPr>
          <a:xfrm>
            <a:off x="8924544" y="1965960"/>
            <a:ext cx="2514600" cy="1371600"/>
          </a:xfrm>
          <a:prstGeom prst="roundRect">
            <a:avLst>
              <a:gd name="adj" fmla="val 3333"/>
            </a:avLst>
          </a:prstGeom>
          <a:solidFill>
            <a:srgbClr val="F3F5F4"/>
          </a:solidFill>
          <a:ln/>
        </p:spPr>
        <p:txBody>
          <a:bodyPr/>
          <a:lstStyle/>
          <a:p>
            <a:endParaRPr lang="en-US"/>
          </a:p>
        </p:txBody>
      </p:sp>
      <p:sp>
        <p:nvSpPr>
          <p:cNvPr id="18" name="Text 16"/>
          <p:cNvSpPr/>
          <p:nvPr/>
        </p:nvSpPr>
        <p:spPr>
          <a:xfrm>
            <a:off x="9153144"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1,556</a:t>
            </a:r>
            <a:endParaRPr lang="en-US" sz="2500" dirty="0"/>
          </a:p>
        </p:txBody>
      </p:sp>
      <p:sp>
        <p:nvSpPr>
          <p:cNvPr id="19" name="Text 17"/>
          <p:cNvSpPr/>
          <p:nvPr/>
        </p:nvSpPr>
        <p:spPr>
          <a:xfrm>
            <a:off x="9153144"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20" name="Text 18"/>
          <p:cNvSpPr/>
          <p:nvPr/>
        </p:nvSpPr>
        <p:spPr>
          <a:xfrm>
            <a:off x="9153144"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49.5% of counties, 7.9% of people</a:t>
            </a:r>
            <a:endParaRPr lang="en-US" sz="1050" dirty="0"/>
          </a:p>
        </p:txBody>
      </p:sp>
      <p:sp>
        <p:nvSpPr>
          <p:cNvPr id="21" name="Text 19"/>
          <p:cNvSpPr/>
          <p:nvPr/>
        </p:nvSpPr>
        <p:spPr>
          <a:xfrm>
            <a:off x="640080" y="3474720"/>
            <a:ext cx="512064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Rural credit unions are not one population</a:t>
            </a:r>
            <a:endParaRPr lang="en-US" sz="1300" dirty="0"/>
          </a:p>
        </p:txBody>
      </p:sp>
      <p:sp>
        <p:nvSpPr>
          <p:cNvPr id="22" name="Text 20"/>
          <p:cNvSpPr/>
          <p:nvPr/>
        </p:nvSpPr>
        <p:spPr>
          <a:xfrm>
            <a:off x="640080" y="3730752"/>
            <a:ext cx="5120640" cy="27432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The states holding the most rural credit union assets are not the states that are most rural.</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4041648"/>
          <a:ext cx="51206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242316">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State</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Rural CUs</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Share of state</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Rural assets</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Michigan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$6.4bn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Wisconsin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$5.9bn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Hawaii</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$4.3bn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Montana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$3.9bn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Iowa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$2.5bn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Texas</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43</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$1.7bn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South Dakota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61%</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$1.6bn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7"/>
                  </a:ext>
                </a:extLst>
              </a:tr>
            </a:tbl>
          </a:graphicData>
        </a:graphic>
      </p:graphicFrame>
      <p:sp>
        <p:nvSpPr>
          <p:cNvPr id="24" name="Text 21"/>
          <p:cNvSpPr/>
          <p:nvPr/>
        </p:nvSpPr>
        <p:spPr>
          <a:xfrm>
            <a:off x="640080" y="5870448"/>
            <a:ext cx="5120640" cy="411480"/>
          </a:xfrm>
          <a:prstGeom prst="rect">
            <a:avLst/>
          </a:prstGeom>
          <a:noFill/>
          <a:ln/>
        </p:spPr>
        <p:txBody>
          <a:bodyPr wrap="square" lIns="0" tIns="0" rIns="0" bIns="0" rtlCol="0" anchor="ctr"/>
          <a:lstStyle/>
          <a:p>
            <a:pPr marL="0" indent="0">
              <a:lnSpc>
                <a:spcPts val="1200"/>
              </a:lnSpc>
              <a:buNone/>
            </a:pPr>
            <a:r>
              <a:rPr lang="en-US" sz="900" i="1" dirty="0">
                <a:solidFill>
                  <a:srgbClr val="12202E"/>
                </a:solidFill>
                <a:latin typeface="Calibri" pitchFamily="34" charset="0"/>
                <a:ea typeface="Calibri" pitchFamily="34" charset="-122"/>
                <a:cs typeface="Calibri" pitchFamily="34" charset="-120"/>
              </a:rPr>
              <a:t>Michigan holds the largest rural book on a 19% rural share; Montana is 65% rural and holds a fifth as much. Texas has more rural credit unions than any state — 43 — at 12%.</a:t>
            </a:r>
            <a:endParaRPr lang="en-US" sz="900" dirty="0"/>
          </a:p>
        </p:txBody>
      </p:sp>
      <p:sp>
        <p:nvSpPr>
          <p:cNvPr id="25" name="Shape 22"/>
          <p:cNvSpPr/>
          <p:nvPr/>
        </p:nvSpPr>
        <p:spPr>
          <a:xfrm>
            <a:off x="6035040" y="3520440"/>
            <a:ext cx="5486400" cy="2514600"/>
          </a:xfrm>
          <a:prstGeom prst="roundRect">
            <a:avLst>
              <a:gd name="adj" fmla="val 1818"/>
            </a:avLst>
          </a:prstGeom>
          <a:solidFill>
            <a:srgbClr val="F3F5F4"/>
          </a:solidFill>
          <a:ln/>
        </p:spPr>
        <p:txBody>
          <a:bodyPr/>
          <a:lstStyle/>
          <a:p>
            <a:endParaRPr lang="en-US"/>
          </a:p>
        </p:txBody>
      </p:sp>
      <p:sp>
        <p:nvSpPr>
          <p:cNvPr id="26" name="Text 23"/>
          <p:cNvSpPr/>
          <p:nvPr/>
        </p:nvSpPr>
        <p:spPr>
          <a:xfrm>
            <a:off x="6309360" y="3703320"/>
            <a:ext cx="493776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Why the asymmetry matters</a:t>
            </a:r>
            <a:endParaRPr lang="en-US" sz="1200" dirty="0"/>
          </a:p>
        </p:txBody>
      </p:sp>
      <p:sp>
        <p:nvSpPr>
          <p:cNvPr id="27" name="Text 24"/>
          <p:cNvSpPr/>
          <p:nvPr/>
        </p:nvSpPr>
        <p:spPr>
          <a:xfrm>
            <a:off x="6309360" y="4023360"/>
            <a:ext cx="4937760" cy="187452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Half the country's counties hold a fourteenth of its people. Rural institutions are small because their markets are small — not, on this evidence, because they are badly run.</a:t>
            </a:r>
            <a:endParaRPr lang="en-US" sz="1150" dirty="0"/>
          </a:p>
          <a:p>
            <a:pPr marL="0" indent="0">
              <a:lnSpc>
                <a:spcPts val="1550"/>
              </a:lnSpc>
              <a:buNone/>
            </a:pPr>
            <a:endParaRPr lang="en-US" sz="1150" dirty="0"/>
          </a:p>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56% of rural credit unions hold under $50m in assets, against 41% of non-rural. The band above $1bn contains only ten rural institutions in the entire country.</a:t>
            </a:r>
            <a:endParaRPr lang="en-US" sz="1150" dirty="0"/>
          </a:p>
          <a:p>
            <a:pPr marL="0" indent="0">
              <a:lnSpc>
                <a:spcPts val="1550"/>
              </a:lnSpc>
              <a:buNone/>
            </a:pPr>
            <a:endParaRPr lang="en-US" sz="1150" dirty="0"/>
          </a:p>
          <a:p>
            <a:pPr marL="0" indent="0">
              <a:lnSpc>
                <a:spcPts val="1550"/>
              </a:lnSpc>
              <a:buNone/>
            </a:pPr>
            <a:r>
              <a:rPr lang="en-US" sz="1150" b="1" dirty="0">
                <a:solidFill>
                  <a:srgbClr val="12202E"/>
                </a:solidFill>
                <a:latin typeface="Calibri" pitchFamily="34" charset="0"/>
                <a:ea typeface="Calibri" pitchFamily="34" charset="-122"/>
                <a:cs typeface="Calibri" pitchFamily="34" charset="-120"/>
              </a:rPr>
              <a:t>Any recommendation that requires scale to implement will reach almost none of this sector.</a:t>
            </a:r>
            <a:endParaRPr lang="en-US" sz="1150" dirty="0"/>
          </a:p>
        </p:txBody>
      </p:sp>
      <p:sp>
        <p:nvSpPr>
          <p:cNvPr id="28"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charter types 1 and 2. Median assets $38m rural against $78m non-rural. States ranked by total rural credit union assets.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THE MANDATE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Section 909 actually requires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Two duties, one deadline, and a definition we do not get to choose.</a:t>
            </a:r>
            <a:endParaRPr lang="en-US" sz="1350" dirty="0"/>
          </a:p>
        </p:txBody>
      </p:sp>
      <p:sp>
        <p:nvSpPr>
          <p:cNvPr id="5" name="Shape 3"/>
          <p:cNvSpPr/>
          <p:nvPr/>
        </p:nvSpPr>
        <p:spPr>
          <a:xfrm>
            <a:off x="640080" y="1874520"/>
            <a:ext cx="5257800" cy="2194560"/>
          </a:xfrm>
          <a:prstGeom prst="roundRect">
            <a:avLst>
              <a:gd name="adj" fmla="val 2083"/>
            </a:avLst>
          </a:prstGeom>
          <a:solidFill>
            <a:srgbClr val="F3F5F4"/>
          </a:solidFill>
          <a:ln/>
        </p:spPr>
        <p:txBody>
          <a:bodyPr/>
          <a:lstStyle/>
          <a:p>
            <a:endParaRPr lang="en-US"/>
          </a:p>
        </p:txBody>
      </p:sp>
      <p:sp>
        <p:nvSpPr>
          <p:cNvPr id="6" name="Text 4"/>
          <p:cNvSpPr/>
          <p:nvPr/>
        </p:nvSpPr>
        <p:spPr>
          <a:xfrm>
            <a:off x="932688" y="2057400"/>
            <a:ext cx="4572000" cy="256032"/>
          </a:xfrm>
          <a:prstGeom prst="rect">
            <a:avLst/>
          </a:prstGeom>
          <a:noFill/>
          <a:ln/>
        </p:spPr>
        <p:txBody>
          <a:bodyPr wrap="square" lIns="0" tIns="0" rIns="0" bIns="0" rtlCol="0" anchor="ctr"/>
          <a:lstStyle/>
          <a:p>
            <a:pPr marL="0" indent="0">
              <a:buNone/>
            </a:pPr>
            <a:r>
              <a:rPr lang="en-US" sz="1150" b="1" kern="0" spc="100" dirty="0">
                <a:solidFill>
                  <a:srgbClr val="C8553D"/>
                </a:solidFill>
                <a:latin typeface="Calibri" pitchFamily="34" charset="0"/>
                <a:ea typeface="Calibri" pitchFamily="34" charset="-122"/>
                <a:cs typeface="Calibri" pitchFamily="34" charset="-120"/>
              </a:rPr>
              <a:t>METHODS</a:t>
            </a:r>
            <a:endParaRPr lang="en-US" sz="1150" dirty="0"/>
          </a:p>
        </p:txBody>
      </p:sp>
      <p:sp>
        <p:nvSpPr>
          <p:cNvPr id="7" name="Text 5"/>
          <p:cNvSpPr/>
          <p:nvPr/>
        </p:nvSpPr>
        <p:spPr>
          <a:xfrm>
            <a:off x="932688" y="2359152"/>
            <a:ext cx="4709160" cy="731520"/>
          </a:xfrm>
          <a:prstGeom prst="rect">
            <a:avLst/>
          </a:prstGeom>
          <a:noFill/>
          <a:ln/>
        </p:spPr>
        <p:txBody>
          <a:bodyPr wrap="square" lIns="0" tIns="0" rIns="0" bIns="0" rtlCol="0" anchor="ctr"/>
          <a:lstStyle/>
          <a:p>
            <a:pPr marL="0" indent="0">
              <a:lnSpc>
                <a:spcPts val="1800"/>
              </a:lnSpc>
              <a:buNone/>
            </a:pPr>
            <a:r>
              <a:rPr lang="en-US" sz="1300" dirty="0">
                <a:solidFill>
                  <a:srgbClr val="12202E"/>
                </a:solidFill>
                <a:latin typeface="Calibri" pitchFamily="34" charset="0"/>
                <a:ea typeface="Calibri" pitchFamily="34" charset="-122"/>
                <a:cs typeface="Calibri" pitchFamily="34" charset="-120"/>
              </a:rPr>
              <a:t>Identify methods to improve the growth, capital adequacy and profitability of credit unions that primarily serve rural areas.</a:t>
            </a:r>
            <a:endParaRPr lang="en-US" sz="1300" dirty="0"/>
          </a:p>
        </p:txBody>
      </p:sp>
      <p:sp>
        <p:nvSpPr>
          <p:cNvPr id="8" name="Text 6"/>
          <p:cNvSpPr/>
          <p:nvPr/>
        </p:nvSpPr>
        <p:spPr>
          <a:xfrm>
            <a:off x="932688" y="3072384"/>
            <a:ext cx="4709160" cy="566928"/>
          </a:xfrm>
          <a:prstGeom prst="rect">
            <a:avLst/>
          </a:prstGeom>
          <a:noFill/>
          <a:ln/>
        </p:spPr>
        <p:txBody>
          <a:bodyPr wrap="square" lIns="0" tIns="0" rIns="0" bIns="0" rtlCol="0" anchor="ctr"/>
          <a:lstStyle/>
          <a:p>
            <a:pPr marL="0" indent="0">
              <a:lnSpc>
                <a:spcPts val="1300"/>
              </a:lnSpc>
              <a:buNone/>
            </a:pPr>
            <a:r>
              <a:rPr lang="en-US" sz="1000" i="1" dirty="0">
                <a:solidFill>
                  <a:srgbClr val="C8553D"/>
                </a:solidFill>
                <a:latin typeface="Calibri" pitchFamily="34" charset="0"/>
                <a:ea typeface="Calibri" pitchFamily="34" charset="-122"/>
                <a:cs typeface="Calibri" pitchFamily="34" charset="-120"/>
              </a:rPr>
              <a:t>“Profitability” is the statute’s word. For a member-owned cooperative the measure is earnings — return on assets — and that is the language the report uses outside direct quotation.</a:t>
            </a:r>
            <a:endParaRPr lang="en-US" sz="1000" dirty="0"/>
          </a:p>
        </p:txBody>
      </p:sp>
      <p:sp>
        <p:nvSpPr>
          <p:cNvPr id="9" name="Text 7"/>
          <p:cNvSpPr/>
          <p:nvPr/>
        </p:nvSpPr>
        <p:spPr>
          <a:xfrm>
            <a:off x="932688" y="3639312"/>
            <a:ext cx="4709160" cy="365760"/>
          </a:xfrm>
          <a:prstGeom prst="rect">
            <a:avLst/>
          </a:prstGeom>
          <a:noFill/>
          <a:ln/>
        </p:spPr>
        <p:txBody>
          <a:bodyPr wrap="square" lIns="0" tIns="0" rIns="0" bIns="0" rtlCol="0" anchor="ctr"/>
          <a:lstStyle/>
          <a:p>
            <a:pPr marL="0" indent="0">
              <a:lnSpc>
                <a:spcPts val="1400"/>
              </a:lnSpc>
              <a:buNone/>
            </a:pPr>
            <a:r>
              <a:rPr lang="en-US" sz="1050" i="1" dirty="0">
                <a:solidFill>
                  <a:srgbClr val="5B6B72"/>
                </a:solidFill>
                <a:latin typeface="Calibri" pitchFamily="34" charset="0"/>
                <a:ea typeface="Calibri" pitchFamily="34" charset="-122"/>
                <a:cs typeface="Calibri" pitchFamily="34" charset="-120"/>
              </a:rPr>
              <a:t>Our findings weaken this branch: the institutions are not underperforming.</a:t>
            </a:r>
            <a:endParaRPr lang="en-US" sz="1050" dirty="0"/>
          </a:p>
        </p:txBody>
      </p:sp>
      <p:sp>
        <p:nvSpPr>
          <p:cNvPr id="10" name="Shape 8"/>
          <p:cNvSpPr/>
          <p:nvPr/>
        </p:nvSpPr>
        <p:spPr>
          <a:xfrm>
            <a:off x="6263640" y="1874520"/>
            <a:ext cx="5257800" cy="2194560"/>
          </a:xfrm>
          <a:prstGeom prst="roundRect">
            <a:avLst>
              <a:gd name="adj" fmla="val 2083"/>
            </a:avLst>
          </a:prstGeom>
          <a:solidFill>
            <a:srgbClr val="DCE6E4"/>
          </a:solidFill>
          <a:ln/>
        </p:spPr>
        <p:txBody>
          <a:bodyPr/>
          <a:lstStyle/>
          <a:p>
            <a:endParaRPr lang="en-US"/>
          </a:p>
        </p:txBody>
      </p:sp>
      <p:sp>
        <p:nvSpPr>
          <p:cNvPr id="11" name="Text 9"/>
          <p:cNvSpPr/>
          <p:nvPr/>
        </p:nvSpPr>
        <p:spPr>
          <a:xfrm>
            <a:off x="6556248" y="2057400"/>
            <a:ext cx="4572000" cy="256032"/>
          </a:xfrm>
          <a:prstGeom prst="rect">
            <a:avLst/>
          </a:prstGeom>
          <a:noFill/>
          <a:ln/>
        </p:spPr>
        <p:txBody>
          <a:bodyPr wrap="square" lIns="0" tIns="0" rIns="0" bIns="0" rtlCol="0" anchor="ctr"/>
          <a:lstStyle/>
          <a:p>
            <a:pPr marL="0" indent="0">
              <a:buNone/>
            </a:pPr>
            <a:r>
              <a:rPr lang="en-US" sz="1150" b="1" kern="0" spc="100" dirty="0">
                <a:solidFill>
                  <a:srgbClr val="C8553D"/>
                </a:solidFill>
                <a:latin typeface="Calibri" pitchFamily="34" charset="0"/>
                <a:ea typeface="Calibri" pitchFamily="34" charset="-122"/>
                <a:cs typeface="Calibri" pitchFamily="34" charset="-120"/>
              </a:rPr>
              <a:t>BARRIERS</a:t>
            </a:r>
            <a:endParaRPr lang="en-US" sz="1150" dirty="0"/>
          </a:p>
        </p:txBody>
      </p:sp>
      <p:sp>
        <p:nvSpPr>
          <p:cNvPr id="12" name="Text 10"/>
          <p:cNvSpPr/>
          <p:nvPr/>
        </p:nvSpPr>
        <p:spPr>
          <a:xfrm>
            <a:off x="6556248" y="2359152"/>
            <a:ext cx="4709160" cy="731520"/>
          </a:xfrm>
          <a:prstGeom prst="rect">
            <a:avLst/>
          </a:prstGeom>
          <a:noFill/>
          <a:ln/>
        </p:spPr>
        <p:txBody>
          <a:bodyPr wrap="square" lIns="0" tIns="0" rIns="0" bIns="0" rtlCol="0" anchor="ctr"/>
          <a:lstStyle/>
          <a:p>
            <a:pPr marL="0" indent="0">
              <a:lnSpc>
                <a:spcPts val="1800"/>
              </a:lnSpc>
              <a:buNone/>
            </a:pPr>
            <a:r>
              <a:rPr lang="en-US" sz="1300" dirty="0">
                <a:solidFill>
                  <a:srgbClr val="12202E"/>
                </a:solidFill>
                <a:latin typeface="Calibri" pitchFamily="34" charset="0"/>
                <a:ea typeface="Calibri" pitchFamily="34" charset="-122"/>
                <a:cs typeface="Calibri" pitchFamily="34" charset="-120"/>
              </a:rPr>
              <a:t>Identify federal statutes or NCUA regulations that limit those methods — or that limit the establishment of de novo credit unions in rural areas.</a:t>
            </a:r>
            <a:endParaRPr lang="en-US" sz="1300" dirty="0"/>
          </a:p>
        </p:txBody>
      </p:sp>
      <p:sp>
        <p:nvSpPr>
          <p:cNvPr id="13" name="Text 11"/>
          <p:cNvSpPr/>
          <p:nvPr/>
        </p:nvSpPr>
        <p:spPr>
          <a:xfrm>
            <a:off x="6556248" y="3639312"/>
            <a:ext cx="4709160" cy="365760"/>
          </a:xfrm>
          <a:prstGeom prst="rect">
            <a:avLst/>
          </a:prstGeom>
          <a:noFill/>
          <a:ln/>
        </p:spPr>
        <p:txBody>
          <a:bodyPr wrap="square" lIns="0" tIns="0" rIns="0" bIns="0" rtlCol="0" anchor="ctr"/>
          <a:lstStyle/>
          <a:p>
            <a:pPr marL="0" indent="0">
              <a:lnSpc>
                <a:spcPts val="1400"/>
              </a:lnSpc>
              <a:buNone/>
            </a:pPr>
            <a:r>
              <a:rPr lang="en-US" sz="1050" b="1" i="1" dirty="0">
                <a:solidFill>
                  <a:srgbClr val="0E4C55"/>
                </a:solidFill>
                <a:latin typeface="Calibri" pitchFamily="34" charset="0"/>
                <a:ea typeface="Calibri" pitchFamily="34" charset="-122"/>
                <a:cs typeface="Calibri" pitchFamily="34" charset="-120"/>
              </a:rPr>
              <a:t>Our findings put nearly all the weight here, on the de novo clause.</a:t>
            </a:r>
            <a:endParaRPr lang="en-US" sz="1050" dirty="0"/>
          </a:p>
        </p:txBody>
      </p:sp>
      <p:sp>
        <p:nvSpPr>
          <p:cNvPr id="14" name="Shape 12"/>
          <p:cNvSpPr/>
          <p:nvPr/>
        </p:nvSpPr>
        <p:spPr>
          <a:xfrm>
            <a:off x="640080" y="4224528"/>
            <a:ext cx="3291840" cy="1828800"/>
          </a:xfrm>
          <a:prstGeom prst="roundRect">
            <a:avLst>
              <a:gd name="adj" fmla="val 2500"/>
            </a:avLst>
          </a:prstGeom>
          <a:solidFill>
            <a:srgbClr val="F3F5F4"/>
          </a:solidFill>
          <a:ln/>
        </p:spPr>
        <p:txBody>
          <a:bodyPr/>
          <a:lstStyle/>
          <a:p>
            <a:endParaRPr lang="en-US"/>
          </a:p>
        </p:txBody>
      </p:sp>
      <p:sp>
        <p:nvSpPr>
          <p:cNvPr id="15" name="Text 13"/>
          <p:cNvSpPr/>
          <p:nvPr/>
        </p:nvSpPr>
        <p:spPr>
          <a:xfrm>
            <a:off x="8961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DEFINITION</a:t>
            </a:r>
            <a:endParaRPr lang="en-US" sz="1000" dirty="0"/>
          </a:p>
        </p:txBody>
      </p:sp>
      <p:sp>
        <p:nvSpPr>
          <p:cNvPr id="16" name="Text 14"/>
          <p:cNvSpPr/>
          <p:nvPr/>
        </p:nvSpPr>
        <p:spPr>
          <a:xfrm>
            <a:off x="8961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Imported, not chosen</a:t>
            </a:r>
            <a:endParaRPr lang="en-US" sz="1250" dirty="0"/>
          </a:p>
        </p:txBody>
      </p:sp>
      <p:sp>
        <p:nvSpPr>
          <p:cNvPr id="17" name="Text 15"/>
          <p:cNvSpPr/>
          <p:nvPr/>
        </p:nvSpPr>
        <p:spPr>
          <a:xfrm>
            <a:off x="8961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statute adopts 12 CFR 1026.35(b)(2)(iv)(A) — a county neither in a metropolitan statistical area nor in a micropolitan area adjacent to one. We operationalise it through USDA-ERS Urban Influence Codes.</a:t>
            </a:r>
            <a:endParaRPr lang="en-US" sz="1050" dirty="0"/>
          </a:p>
        </p:txBody>
      </p:sp>
      <p:sp>
        <p:nvSpPr>
          <p:cNvPr id="18" name="Shape 16"/>
          <p:cNvSpPr/>
          <p:nvPr/>
        </p:nvSpPr>
        <p:spPr>
          <a:xfrm>
            <a:off x="4297680" y="4224528"/>
            <a:ext cx="3291840" cy="1828800"/>
          </a:xfrm>
          <a:prstGeom prst="roundRect">
            <a:avLst>
              <a:gd name="adj" fmla="val 2500"/>
            </a:avLst>
          </a:prstGeom>
          <a:solidFill>
            <a:srgbClr val="F3F5F4"/>
          </a:solidFill>
          <a:ln/>
        </p:spPr>
        <p:txBody>
          <a:bodyPr/>
          <a:lstStyle/>
          <a:p>
            <a:endParaRPr lang="en-US"/>
          </a:p>
        </p:txBody>
      </p:sp>
      <p:sp>
        <p:nvSpPr>
          <p:cNvPr id="19" name="Text 17"/>
          <p:cNvSpPr/>
          <p:nvPr/>
        </p:nvSpPr>
        <p:spPr>
          <a:xfrm>
            <a:off x="45537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DEADLINE</a:t>
            </a:r>
            <a:endParaRPr lang="en-US" sz="1000" dirty="0"/>
          </a:p>
        </p:txBody>
      </p:sp>
      <p:sp>
        <p:nvSpPr>
          <p:cNvPr id="20" name="Text 18"/>
          <p:cNvSpPr/>
          <p:nvPr/>
        </p:nvSpPr>
        <p:spPr>
          <a:xfrm>
            <a:off x="45537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One year from enactment</a:t>
            </a:r>
            <a:endParaRPr lang="en-US" sz="1250" dirty="0"/>
          </a:p>
        </p:txBody>
      </p:sp>
      <p:sp>
        <p:nvSpPr>
          <p:cNvPr id="21" name="Text 19"/>
          <p:cNvSpPr/>
          <p:nvPr/>
        </p:nvSpPr>
        <p:spPr>
          <a:xfrm>
            <a:off x="45537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Act took effect 11 July 2026. The report is due to House Financial Services and Senate Banking in July 2027, leaving roughly eleven months of production time.</a:t>
            </a:r>
            <a:endParaRPr lang="en-US" sz="1050" dirty="0"/>
          </a:p>
        </p:txBody>
      </p:sp>
      <p:sp>
        <p:nvSpPr>
          <p:cNvPr id="22" name="Shape 20"/>
          <p:cNvSpPr/>
          <p:nvPr/>
        </p:nvSpPr>
        <p:spPr>
          <a:xfrm>
            <a:off x="7955280" y="4224528"/>
            <a:ext cx="3291840" cy="1828800"/>
          </a:xfrm>
          <a:prstGeom prst="roundRect">
            <a:avLst>
              <a:gd name="adj" fmla="val 2500"/>
            </a:avLst>
          </a:prstGeom>
          <a:solidFill>
            <a:srgbClr val="F3F5F4"/>
          </a:solidFill>
          <a:ln/>
        </p:spPr>
        <p:txBody>
          <a:bodyPr/>
          <a:lstStyle/>
          <a:p>
            <a:endParaRPr lang="en-US"/>
          </a:p>
        </p:txBody>
      </p:sp>
      <p:sp>
        <p:nvSpPr>
          <p:cNvPr id="23" name="Text 21"/>
          <p:cNvSpPr/>
          <p:nvPr/>
        </p:nvSpPr>
        <p:spPr>
          <a:xfrm>
            <a:off x="82113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STANDARD OF PROOF</a:t>
            </a:r>
            <a:endParaRPr lang="en-US" sz="1000" dirty="0"/>
          </a:p>
        </p:txBody>
      </p:sp>
      <p:sp>
        <p:nvSpPr>
          <p:cNvPr id="24" name="Text 22"/>
          <p:cNvSpPr/>
          <p:nvPr/>
        </p:nvSpPr>
        <p:spPr>
          <a:xfrm>
            <a:off x="82113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A committee report</a:t>
            </a:r>
            <a:endParaRPr lang="en-US" sz="1250" dirty="0"/>
          </a:p>
        </p:txBody>
      </p:sp>
      <p:sp>
        <p:nvSpPr>
          <p:cNvPr id="25" name="Text 23"/>
          <p:cNvSpPr/>
          <p:nvPr/>
        </p:nvSpPr>
        <p:spPr>
          <a:xfrm>
            <a:off x="82113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Not a working paper. Every claim must survive a hostile reading by a trade association, a member's staff, or a peer regulator in the interagency joint study.</a:t>
            </a:r>
            <a:endParaRPr lang="en-US" sz="1050" dirty="0"/>
          </a:p>
        </p:txBody>
      </p:sp>
      <p:sp>
        <p:nvSpPr>
          <p:cNvPr id="26" name="Text 24"/>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Sec. 909 sits among the nine community banking provisions carried in the ROAD to Housing Act. Subsection lettering to be confirmed against the enrolled text.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3 · HISTORICAL SIGNIFICANCE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rural mandate is the original mandate</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Federal credit union supervision began inside the farm credit agency. Section 909 is not a new question being asked of the NCUA — it is the founding question, asked again.</a:t>
            </a:r>
            <a:endParaRPr lang="en-US" sz="1350" dirty="0"/>
          </a:p>
        </p:txBody>
      </p:sp>
      <p:sp>
        <p:nvSpPr>
          <p:cNvPr id="5" name="Shape 3"/>
          <p:cNvSpPr/>
          <p:nvPr/>
        </p:nvSpPr>
        <p:spPr>
          <a:xfrm>
            <a:off x="640080" y="2011680"/>
            <a:ext cx="2011680" cy="2788920"/>
          </a:xfrm>
          <a:prstGeom prst="roundRect">
            <a:avLst>
              <a:gd name="adj" fmla="val 2273"/>
            </a:avLst>
          </a:prstGeom>
          <a:solidFill>
            <a:srgbClr val="F3F5F4"/>
          </a:solidFill>
          <a:ln/>
        </p:spPr>
        <p:txBody>
          <a:bodyPr/>
          <a:lstStyle/>
          <a:p>
            <a:endParaRPr lang="en-US"/>
          </a:p>
        </p:txBody>
      </p:sp>
      <p:sp>
        <p:nvSpPr>
          <p:cNvPr id="6" name="Text 4"/>
          <p:cNvSpPr/>
          <p:nvPr/>
        </p:nvSpPr>
        <p:spPr>
          <a:xfrm>
            <a:off x="841248"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1934</a:t>
            </a:r>
            <a:endParaRPr lang="en-US" sz="1800" dirty="0"/>
          </a:p>
        </p:txBody>
      </p:sp>
      <p:sp>
        <p:nvSpPr>
          <p:cNvPr id="7" name="Text 5"/>
          <p:cNvSpPr/>
          <p:nvPr/>
        </p:nvSpPr>
        <p:spPr>
          <a:xfrm>
            <a:off x="841248"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Federal Credit Union Act</a:t>
            </a:r>
            <a:endParaRPr lang="en-US" sz="1150" dirty="0"/>
          </a:p>
        </p:txBody>
      </p:sp>
      <p:sp>
        <p:nvSpPr>
          <p:cNvPr id="8" name="Text 6"/>
          <p:cNvSpPr/>
          <p:nvPr/>
        </p:nvSpPr>
        <p:spPr>
          <a:xfrm>
            <a:off x="841248"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Signed 26 June, at the depth of the Depression, to make credit available to people of small means through a national system of cooperative credit.</a:t>
            </a:r>
            <a:endParaRPr lang="en-US" sz="1000" dirty="0"/>
          </a:p>
        </p:txBody>
      </p:sp>
      <p:sp>
        <p:nvSpPr>
          <p:cNvPr id="9" name="Shape 7"/>
          <p:cNvSpPr/>
          <p:nvPr/>
        </p:nvSpPr>
        <p:spPr>
          <a:xfrm>
            <a:off x="2862072" y="2011680"/>
            <a:ext cx="2011680" cy="2788920"/>
          </a:xfrm>
          <a:prstGeom prst="roundRect">
            <a:avLst>
              <a:gd name="adj" fmla="val 2273"/>
            </a:avLst>
          </a:prstGeom>
          <a:solidFill>
            <a:srgbClr val="F3F5F4"/>
          </a:solidFill>
          <a:ln/>
        </p:spPr>
        <p:txBody>
          <a:bodyPr/>
          <a:lstStyle/>
          <a:p>
            <a:endParaRPr lang="en-US"/>
          </a:p>
        </p:txBody>
      </p:sp>
      <p:sp>
        <p:nvSpPr>
          <p:cNvPr id="10" name="Text 8"/>
          <p:cNvSpPr/>
          <p:nvPr/>
        </p:nvSpPr>
        <p:spPr>
          <a:xfrm>
            <a:off x="3063240"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1934</a:t>
            </a:r>
            <a:endParaRPr lang="en-US" sz="1800" dirty="0"/>
          </a:p>
        </p:txBody>
      </p:sp>
      <p:sp>
        <p:nvSpPr>
          <p:cNvPr id="11" name="Text 9"/>
          <p:cNvSpPr/>
          <p:nvPr/>
        </p:nvSpPr>
        <p:spPr>
          <a:xfrm>
            <a:off x="3063240"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Housed in the Farm Credit Administration</a:t>
            </a:r>
            <a:endParaRPr lang="en-US" sz="1150" dirty="0"/>
          </a:p>
        </p:txBody>
      </p:sp>
      <p:sp>
        <p:nvSpPr>
          <p:cNvPr id="12" name="Text 10"/>
          <p:cNvSpPr/>
          <p:nvPr/>
        </p:nvSpPr>
        <p:spPr>
          <a:xfrm>
            <a:off x="3063240"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The Federal Reserve and Treasury both declined the assignment. The FCA took it — the agency responsible for the financial problems of rural America.</a:t>
            </a:r>
            <a:endParaRPr lang="en-US" sz="1000" dirty="0"/>
          </a:p>
        </p:txBody>
      </p:sp>
      <p:sp>
        <p:nvSpPr>
          <p:cNvPr id="13" name="Shape 11"/>
          <p:cNvSpPr/>
          <p:nvPr/>
        </p:nvSpPr>
        <p:spPr>
          <a:xfrm>
            <a:off x="5084064" y="2011680"/>
            <a:ext cx="2011680" cy="2788920"/>
          </a:xfrm>
          <a:prstGeom prst="roundRect">
            <a:avLst>
              <a:gd name="adj" fmla="val 2273"/>
            </a:avLst>
          </a:prstGeom>
          <a:solidFill>
            <a:srgbClr val="0E4C55"/>
          </a:solidFill>
          <a:ln/>
        </p:spPr>
        <p:txBody>
          <a:bodyPr/>
          <a:lstStyle/>
          <a:p>
            <a:endParaRPr lang="en-US"/>
          </a:p>
        </p:txBody>
      </p:sp>
      <p:sp>
        <p:nvSpPr>
          <p:cNvPr id="14" name="Text 12"/>
          <p:cNvSpPr/>
          <p:nvPr/>
        </p:nvSpPr>
        <p:spPr>
          <a:xfrm>
            <a:off x="5285232" y="2176272"/>
            <a:ext cx="1737360" cy="384048"/>
          </a:xfrm>
          <a:prstGeom prst="rect">
            <a:avLst/>
          </a:prstGeom>
          <a:noFill/>
          <a:ln/>
        </p:spPr>
        <p:txBody>
          <a:bodyPr wrap="square" lIns="0" tIns="0" rIns="0" bIns="0" rtlCol="0" anchor="ctr"/>
          <a:lstStyle/>
          <a:p>
            <a:pPr marL="0" indent="0">
              <a:buNone/>
            </a:pPr>
            <a:r>
              <a:rPr lang="en-US" sz="1800" b="1" dirty="0">
                <a:solidFill>
                  <a:srgbClr val="E8A24A"/>
                </a:solidFill>
                <a:latin typeface="Cambria" pitchFamily="34" charset="0"/>
                <a:ea typeface="Cambria" pitchFamily="34" charset="-122"/>
                <a:cs typeface="Cambria" pitchFamily="34" charset="-120"/>
              </a:rPr>
              <a:t>1934</a:t>
            </a:r>
            <a:endParaRPr lang="en-US" sz="1800" dirty="0"/>
          </a:p>
        </p:txBody>
      </p:sp>
      <p:sp>
        <p:nvSpPr>
          <p:cNvPr id="15" name="Text 13"/>
          <p:cNvSpPr/>
          <p:nvPr/>
        </p:nvSpPr>
        <p:spPr>
          <a:xfrm>
            <a:off x="5285232"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FFFFFF"/>
                </a:solidFill>
                <a:latin typeface="Calibri" pitchFamily="34" charset="0"/>
                <a:ea typeface="Calibri" pitchFamily="34" charset="-122"/>
                <a:cs typeface="Calibri" pitchFamily="34" charset="-120"/>
              </a:rPr>
              <a:t>Charter No. 1 is rural</a:t>
            </a:r>
            <a:endParaRPr lang="en-US" sz="1150" dirty="0"/>
          </a:p>
        </p:txBody>
      </p:sp>
      <p:sp>
        <p:nvSpPr>
          <p:cNvPr id="16" name="Text 14"/>
          <p:cNvSpPr/>
          <p:nvPr/>
        </p:nvSpPr>
        <p:spPr>
          <a:xfrm>
            <a:off x="5285232"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DCE6E4"/>
                </a:solidFill>
                <a:latin typeface="Calibri" pitchFamily="34" charset="0"/>
                <a:ea typeface="Calibri" pitchFamily="34" charset="-122"/>
                <a:cs typeface="Calibri" pitchFamily="34" charset="-120"/>
              </a:rPr>
              <a:t>Morris Sheppard FCU, Texarkana, Texas, chartered 1 October and named for the Act's Senate sponsor. It is still charter 1 in our 2026Q1 file.</a:t>
            </a:r>
            <a:endParaRPr lang="en-US" sz="1000" dirty="0"/>
          </a:p>
        </p:txBody>
      </p:sp>
      <p:sp>
        <p:nvSpPr>
          <p:cNvPr id="17" name="Shape 15"/>
          <p:cNvSpPr/>
          <p:nvPr/>
        </p:nvSpPr>
        <p:spPr>
          <a:xfrm>
            <a:off x="7306056" y="2011680"/>
            <a:ext cx="2011680" cy="2788920"/>
          </a:xfrm>
          <a:prstGeom prst="roundRect">
            <a:avLst>
              <a:gd name="adj" fmla="val 2273"/>
            </a:avLst>
          </a:prstGeom>
          <a:solidFill>
            <a:srgbClr val="F3F5F4"/>
          </a:solidFill>
          <a:ln/>
        </p:spPr>
        <p:txBody>
          <a:bodyPr/>
          <a:lstStyle/>
          <a:p>
            <a:endParaRPr lang="en-US"/>
          </a:p>
        </p:txBody>
      </p:sp>
      <p:sp>
        <p:nvSpPr>
          <p:cNvPr id="18" name="Text 16"/>
          <p:cNvSpPr/>
          <p:nvPr/>
        </p:nvSpPr>
        <p:spPr>
          <a:xfrm>
            <a:off x="7507224"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1942-53</a:t>
            </a:r>
            <a:endParaRPr lang="en-US" sz="1800" dirty="0"/>
          </a:p>
        </p:txBody>
      </p:sp>
      <p:sp>
        <p:nvSpPr>
          <p:cNvPr id="19" name="Text 17"/>
          <p:cNvSpPr/>
          <p:nvPr/>
        </p:nvSpPr>
        <p:spPr>
          <a:xfrm>
            <a:off x="7507224"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Passed between agencies</a:t>
            </a:r>
            <a:endParaRPr lang="en-US" sz="1150" dirty="0"/>
          </a:p>
        </p:txBody>
      </p:sp>
      <p:sp>
        <p:nvSpPr>
          <p:cNvPr id="20" name="Text 18"/>
          <p:cNvSpPr/>
          <p:nvPr/>
        </p:nvSpPr>
        <p:spPr>
          <a:xfrm>
            <a:off x="7507224"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To the FDIC in 1942, then the Federal Security Agency, then Health, Education and Welfare — none of them a financial regulator.</a:t>
            </a:r>
            <a:endParaRPr lang="en-US" sz="1000" dirty="0"/>
          </a:p>
        </p:txBody>
      </p:sp>
      <p:sp>
        <p:nvSpPr>
          <p:cNvPr id="21" name="Shape 19"/>
          <p:cNvSpPr/>
          <p:nvPr/>
        </p:nvSpPr>
        <p:spPr>
          <a:xfrm>
            <a:off x="9528048" y="2011680"/>
            <a:ext cx="2011680" cy="2788920"/>
          </a:xfrm>
          <a:prstGeom prst="roundRect">
            <a:avLst>
              <a:gd name="adj" fmla="val 2273"/>
            </a:avLst>
          </a:prstGeom>
          <a:solidFill>
            <a:srgbClr val="F3F5F4"/>
          </a:solidFill>
          <a:ln/>
        </p:spPr>
        <p:txBody>
          <a:bodyPr/>
          <a:lstStyle/>
          <a:p>
            <a:endParaRPr lang="en-US"/>
          </a:p>
        </p:txBody>
      </p:sp>
      <p:sp>
        <p:nvSpPr>
          <p:cNvPr id="22" name="Text 20"/>
          <p:cNvSpPr/>
          <p:nvPr/>
        </p:nvSpPr>
        <p:spPr>
          <a:xfrm>
            <a:off x="9729216"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1970</a:t>
            </a:r>
            <a:endParaRPr lang="en-US" sz="1800" dirty="0"/>
          </a:p>
        </p:txBody>
      </p:sp>
      <p:sp>
        <p:nvSpPr>
          <p:cNvPr id="23" name="Text 21"/>
          <p:cNvSpPr/>
          <p:nvPr/>
        </p:nvSpPr>
        <p:spPr>
          <a:xfrm>
            <a:off x="9729216"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NCUA becomes independent</a:t>
            </a:r>
            <a:endParaRPr lang="en-US" sz="1150" dirty="0"/>
          </a:p>
        </p:txBody>
      </p:sp>
      <p:sp>
        <p:nvSpPr>
          <p:cNvPr id="24" name="Text 22"/>
          <p:cNvSpPr/>
          <p:nvPr/>
        </p:nvSpPr>
        <p:spPr>
          <a:xfrm>
            <a:off x="9729216"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 standalone regulator, with share insurance created the same year. 1970 closed with 12,977 federal credit unions.</a:t>
            </a:r>
            <a:endParaRPr lang="en-US" sz="1000" dirty="0"/>
          </a:p>
        </p:txBody>
      </p:sp>
      <p:sp>
        <p:nvSpPr>
          <p:cNvPr id="25" name="Shape 23"/>
          <p:cNvSpPr/>
          <p:nvPr/>
        </p:nvSpPr>
        <p:spPr>
          <a:xfrm>
            <a:off x="640080" y="5029200"/>
            <a:ext cx="10881360" cy="1051560"/>
          </a:xfrm>
          <a:prstGeom prst="roundRect">
            <a:avLst>
              <a:gd name="adj" fmla="val 4348"/>
            </a:avLst>
          </a:prstGeom>
          <a:solidFill>
            <a:srgbClr val="0E4C55"/>
          </a:solidFill>
          <a:ln/>
        </p:spPr>
        <p:txBody>
          <a:bodyPr/>
          <a:lstStyle/>
          <a:p>
            <a:endParaRPr lang="en-US"/>
          </a:p>
        </p:txBody>
      </p:sp>
      <p:sp>
        <p:nvSpPr>
          <p:cNvPr id="26" name="Text 24"/>
          <p:cNvSpPr/>
          <p:nvPr/>
        </p:nvSpPr>
        <p:spPr>
          <a:xfrm>
            <a:off x="960120" y="5138928"/>
            <a:ext cx="4114800" cy="292608"/>
          </a:xfrm>
          <a:prstGeom prst="rect">
            <a:avLst/>
          </a:prstGeom>
          <a:noFill/>
          <a:ln/>
        </p:spPr>
        <p:txBody>
          <a:bodyPr wrap="square" lIns="0" tIns="0" rIns="0" bIns="0" rtlCol="0" anchor="ctr"/>
          <a:lstStyle/>
          <a:p>
            <a:pPr marL="0" indent="0">
              <a:buNone/>
            </a:pPr>
            <a:r>
              <a:rPr lang="en-US" sz="1300" b="1" dirty="0">
                <a:solidFill>
                  <a:srgbClr val="E8A24A"/>
                </a:solidFill>
                <a:latin typeface="Calibri" pitchFamily="34" charset="0"/>
                <a:ea typeface="Calibri" pitchFamily="34" charset="-122"/>
                <a:cs typeface="Calibri" pitchFamily="34" charset="-120"/>
              </a:rPr>
              <a:t>Formation used to be the easy part.</a:t>
            </a:r>
            <a:endParaRPr lang="en-US" sz="1300" dirty="0"/>
          </a:p>
        </p:txBody>
      </p:sp>
      <p:sp>
        <p:nvSpPr>
          <p:cNvPr id="27" name="Text 25"/>
          <p:cNvSpPr/>
          <p:nvPr/>
        </p:nvSpPr>
        <p:spPr>
          <a:xfrm>
            <a:off x="960120" y="5431536"/>
            <a:ext cx="10241280" cy="566928"/>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39 credit unions existed in 1934. By 1970 there were 12,977 federal charters alone. Today the federally insured system holds 4,243 charters of types 1 and 2, and rural formation has effectively stopped. The founding-era problem was how to charter fast enough; the current problem is that almost nobody charters at all.</a:t>
            </a:r>
            <a:endParaRPr lang="en-US" sz="1150" dirty="0"/>
          </a:p>
        </p:txBody>
      </p:sp>
      <p:sp>
        <p:nvSpPr>
          <p:cNvPr id="28" name="Text 26"/>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Source: NCUA historical timeline; 2026Q1 FOICU file.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ten questions, in plain language</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41148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388620">
                <a:tc>
                  <a:txBody>
                    <a:bodyPr/>
                    <a:lstStyle/>
                    <a:p>
                      <a:pPr marL="0" indent="0" algn="l">
                        <a:buNone/>
                      </a:pP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QUESTION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WHAT WE ARE SEEING</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Q1</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different because they are rural, or just because they are small?</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the report is about rural barriers or about the difficulty of being a small institution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Rural, not size</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Q2</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disappearing faster than credit unions everywhere else?</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“rural decline” is an honest description of what is happening</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Falling more slowly</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Q3</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Does the cap on business lending actually restrict rural credit unions?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the barrier most often cited in this debate is a real one</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Partial</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Binds about ten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Q4</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short of capital, or short of customers?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easing capital rules could plausibly help them</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Not capital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Q5</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Does it matter which official definition of “rural” we use?</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How much of the report has to be spent defending the definition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Moves counts, not trends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Q6</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How many credit unions actually lend to farms and ranches?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agriculture deserves a chapter or a paragraph</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C8553D"/>
                          </a:solidFill>
                          <a:latin typeface="Calibri" pitchFamily="34" charset="0"/>
                          <a:ea typeface="Calibri" pitchFamily="34" charset="-122"/>
                          <a:cs typeface="Calibri" pitchFamily="34" charset="-120"/>
                        </a:rPr>
                        <a:t>Not started</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Q7</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anyone still starting new credit unions in rural areas?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we are explaining a decline or explaining a standstill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Almost nobody</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7"/>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Q8</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it getting harder to find a credit union office in rural areas?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members are losing access, or simply changing who serves them</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Offices have held up</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8"/>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Q9</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How far back does the record let us look?</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Which long-run trends we can responsibly put in front of Congress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2010 charters, 2013 offices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9"/>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Q10</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mortgage credit harder to get and costlier in rural areas — and does a local credit union help?</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new rural charters would make a difference members could feel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C8553D"/>
                          </a:solidFill>
                          <a:latin typeface="Calibri" pitchFamily="34" charset="0"/>
                          <a:ea typeface="Calibri" pitchFamily="34" charset="-122"/>
                          <a:cs typeface="Calibri" pitchFamily="34" charset="-120"/>
                        </a:rPr>
                        <a:t>New</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10"/>
                  </a:ext>
                </a:extLst>
              </a:tr>
            </a:tbl>
          </a:graphicData>
        </a:graphic>
      </p:graphicFrame>
      <p:sp>
        <p:nvSpPr>
          <p:cNvPr id="5" name="Text 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EVERYTHING HERE IS PRELIMINARY. “Early findings” means a first pass has been run and has held up so far — nothing has been re-estimated on the final analytic sample, and any figure in this briefing may move. Q1-Q3 shape the thesis, Q4-Q6 and Q10 the recommendations, Q7-Q9 what we can responsibly show.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Q10 — can rural households get a mortgage, and on what terms?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Every other question measures institutions. This one measures the households they serve — and it is what tells Congress whether a new rural charter would deliver anything a member would notice.</a:t>
            </a:r>
            <a:endParaRPr lang="en-US" sz="1350" dirty="0"/>
          </a:p>
        </p:txBody>
      </p:sp>
      <p:sp>
        <p:nvSpPr>
          <p:cNvPr id="5" name="Shape 3"/>
          <p:cNvSpPr/>
          <p:nvPr/>
        </p:nvSpPr>
        <p:spPr>
          <a:xfrm>
            <a:off x="640080" y="1810512"/>
            <a:ext cx="10881360" cy="1005840"/>
          </a:xfrm>
          <a:prstGeom prst="roundRect">
            <a:avLst>
              <a:gd name="adj" fmla="val 4545"/>
            </a:avLst>
          </a:prstGeom>
          <a:solidFill>
            <a:srgbClr val="0E4C55"/>
          </a:solidFill>
          <a:ln/>
        </p:spPr>
        <p:txBody>
          <a:bodyPr/>
          <a:lstStyle/>
          <a:p>
            <a:endParaRPr lang="en-US"/>
          </a:p>
        </p:txBody>
      </p:sp>
      <p:sp>
        <p:nvSpPr>
          <p:cNvPr id="6" name="Text 4"/>
          <p:cNvSpPr/>
          <p:nvPr/>
        </p:nvSpPr>
        <p:spPr>
          <a:xfrm>
            <a:off x="960120" y="1901952"/>
            <a:ext cx="1014984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The question, as we would put it in the report</a:t>
            </a:r>
            <a:endParaRPr lang="en-US" sz="1150" dirty="0"/>
          </a:p>
        </p:txBody>
      </p:sp>
      <p:sp>
        <p:nvSpPr>
          <p:cNvPr id="7" name="Text 5"/>
          <p:cNvSpPr/>
          <p:nvPr/>
        </p:nvSpPr>
        <p:spPr>
          <a:xfrm>
            <a:off x="960120" y="2176272"/>
            <a:ext cx="10149840" cy="548640"/>
          </a:xfrm>
          <a:prstGeom prst="rect">
            <a:avLst/>
          </a:prstGeom>
          <a:noFill/>
          <a:ln/>
        </p:spPr>
        <p:txBody>
          <a:bodyPr wrap="square" lIns="0" tIns="0" rIns="0" bIns="0" rtlCol="0" anchor="ctr"/>
          <a:lstStyle/>
          <a:p>
            <a:pPr marL="0" indent="0">
              <a:lnSpc>
                <a:spcPts val="1900"/>
              </a:lnSpc>
              <a:buNone/>
            </a:pPr>
            <a:r>
              <a:rPr lang="en-US" sz="1350" b="1" dirty="0">
                <a:solidFill>
                  <a:srgbClr val="FFFFFF"/>
                </a:solidFill>
                <a:latin typeface="Cambria" pitchFamily="34" charset="0"/>
                <a:ea typeface="Cambria" pitchFamily="34" charset="-122"/>
                <a:cs typeface="Cambria" pitchFamily="34" charset="-120"/>
              </a:rPr>
              <a:t>“Is mortgage credit harder to obtain and more costly in rural counties than for comparable households elsewhere — and does the presence of a local credit union narrow the gap?”</a:t>
            </a:r>
            <a:endParaRPr lang="en-US" sz="1350" dirty="0"/>
          </a:p>
        </p:txBody>
      </p:sp>
      <p:sp>
        <p:nvSpPr>
          <p:cNvPr id="8" name="Shape 6"/>
          <p:cNvSpPr/>
          <p:nvPr/>
        </p:nvSpPr>
        <p:spPr>
          <a:xfrm>
            <a:off x="640080" y="2971800"/>
            <a:ext cx="2514600" cy="2377440"/>
          </a:xfrm>
          <a:prstGeom prst="roundRect">
            <a:avLst>
              <a:gd name="adj" fmla="val 1923"/>
            </a:avLst>
          </a:prstGeom>
          <a:solidFill>
            <a:srgbClr val="F3F5F4"/>
          </a:solidFill>
          <a:ln/>
        </p:spPr>
        <p:txBody>
          <a:bodyPr/>
          <a:lstStyle/>
          <a:p>
            <a:endParaRPr lang="en-US"/>
          </a:p>
        </p:txBody>
      </p:sp>
      <p:sp>
        <p:nvSpPr>
          <p:cNvPr id="9" name="Text 7"/>
          <p:cNvSpPr/>
          <p:nvPr/>
        </p:nvSpPr>
        <p:spPr>
          <a:xfrm>
            <a:off x="859536"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Why it belongs here</a:t>
            </a:r>
            <a:endParaRPr lang="en-US" sz="1150" dirty="0"/>
          </a:p>
        </p:txBody>
      </p:sp>
      <p:sp>
        <p:nvSpPr>
          <p:cNvPr id="10" name="Text 8"/>
          <p:cNvSpPr/>
          <p:nvPr/>
        </p:nvSpPr>
        <p:spPr>
          <a:xfrm>
            <a:off x="859536"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Sec. 909 asks what would help rural credit unions and what stops new ones forming. Neither means much unless rural households are measurably worse served. This is the consumer-side evidence that a new charter would have work to do.</a:t>
            </a:r>
            <a:endParaRPr lang="en-US" sz="950" dirty="0"/>
          </a:p>
        </p:txBody>
      </p:sp>
      <p:sp>
        <p:nvSpPr>
          <p:cNvPr id="11" name="Shape 9"/>
          <p:cNvSpPr/>
          <p:nvPr/>
        </p:nvSpPr>
        <p:spPr>
          <a:xfrm>
            <a:off x="3374136" y="2971800"/>
            <a:ext cx="2514600" cy="2377440"/>
          </a:xfrm>
          <a:prstGeom prst="roundRect">
            <a:avLst>
              <a:gd name="adj" fmla="val 1923"/>
            </a:avLst>
          </a:prstGeom>
          <a:solidFill>
            <a:srgbClr val="F3F5F4"/>
          </a:solidFill>
          <a:ln/>
        </p:spPr>
        <p:txBody>
          <a:bodyPr/>
          <a:lstStyle/>
          <a:p>
            <a:endParaRPr lang="en-US"/>
          </a:p>
        </p:txBody>
      </p:sp>
      <p:sp>
        <p:nvSpPr>
          <p:cNvPr id="12" name="Text 10"/>
          <p:cNvSpPr/>
          <p:nvPr/>
        </p:nvSpPr>
        <p:spPr>
          <a:xfrm>
            <a:off x="3593592"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1F6F78"/>
                </a:solidFill>
                <a:latin typeface="Calibri" pitchFamily="34" charset="0"/>
                <a:ea typeface="Calibri" pitchFamily="34" charset="-122"/>
                <a:cs typeface="Calibri" pitchFamily="34" charset="-120"/>
              </a:rPr>
              <a:t>Is credit available at all?</a:t>
            </a:r>
            <a:endParaRPr lang="en-US" sz="1150" dirty="0"/>
          </a:p>
        </p:txBody>
      </p:sp>
      <p:sp>
        <p:nvSpPr>
          <p:cNvPr id="13" name="Text 11"/>
          <p:cNvSpPr/>
          <p:nvPr/>
        </p:nvSpPr>
        <p:spPr>
          <a:xfrm>
            <a:off x="3593592"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How many mortgages are made per thousand homes in the county. How many different lenders actually operate there. How many rural counties are served by only a handful. This is the access half, and it is the half that has been missing.</a:t>
            </a:r>
            <a:endParaRPr lang="en-US" sz="950" dirty="0"/>
          </a:p>
        </p:txBody>
      </p:sp>
      <p:sp>
        <p:nvSpPr>
          <p:cNvPr id="14" name="Shape 12"/>
          <p:cNvSpPr/>
          <p:nvPr/>
        </p:nvSpPr>
        <p:spPr>
          <a:xfrm>
            <a:off x="6108192" y="2971800"/>
            <a:ext cx="2514600" cy="2377440"/>
          </a:xfrm>
          <a:prstGeom prst="roundRect">
            <a:avLst>
              <a:gd name="adj" fmla="val 1923"/>
            </a:avLst>
          </a:prstGeom>
          <a:solidFill>
            <a:srgbClr val="F3F5F4"/>
          </a:solidFill>
          <a:ln/>
        </p:spPr>
        <p:txBody>
          <a:bodyPr/>
          <a:lstStyle/>
          <a:p>
            <a:endParaRPr lang="en-US"/>
          </a:p>
        </p:txBody>
      </p:sp>
      <p:sp>
        <p:nvSpPr>
          <p:cNvPr id="15" name="Text 13"/>
          <p:cNvSpPr/>
          <p:nvPr/>
        </p:nvSpPr>
        <p:spPr>
          <a:xfrm>
            <a:off x="6327648"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1F6F78"/>
                </a:solidFill>
                <a:latin typeface="Calibri" pitchFamily="34" charset="0"/>
                <a:ea typeface="Calibri" pitchFamily="34" charset="-122"/>
                <a:cs typeface="Calibri" pitchFamily="34" charset="-120"/>
              </a:rPr>
              <a:t>And on what terms?</a:t>
            </a:r>
            <a:endParaRPr lang="en-US" sz="1150" dirty="0"/>
          </a:p>
        </p:txBody>
      </p:sp>
      <p:sp>
        <p:nvSpPr>
          <p:cNvPr id="16" name="Text 14"/>
          <p:cNvSpPr/>
          <p:nvPr/>
        </p:nvSpPr>
        <p:spPr>
          <a:xfrm>
            <a:off x="6327648"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How often applications are denied or simply abandoned. The interest rate spread on loans that close. How much small-dollar and manufactured-home lending happens — the segments mainstream lenders often will not touch, and disproportionately rural.</a:t>
            </a:r>
            <a:endParaRPr lang="en-US" sz="950" dirty="0"/>
          </a:p>
        </p:txBody>
      </p:sp>
      <p:sp>
        <p:nvSpPr>
          <p:cNvPr id="17" name="Shape 15"/>
          <p:cNvSpPr/>
          <p:nvPr/>
        </p:nvSpPr>
        <p:spPr>
          <a:xfrm>
            <a:off x="8842248" y="2971800"/>
            <a:ext cx="2514600" cy="2377440"/>
          </a:xfrm>
          <a:prstGeom prst="roundRect">
            <a:avLst>
              <a:gd name="adj" fmla="val 1923"/>
            </a:avLst>
          </a:prstGeom>
          <a:solidFill>
            <a:srgbClr val="DCE6E4"/>
          </a:solidFill>
          <a:ln/>
        </p:spPr>
        <p:txBody>
          <a:bodyPr/>
          <a:lstStyle/>
          <a:p>
            <a:endParaRPr lang="en-US"/>
          </a:p>
        </p:txBody>
      </p:sp>
      <p:sp>
        <p:nvSpPr>
          <p:cNvPr id="18" name="Text 16"/>
          <p:cNvSpPr/>
          <p:nvPr/>
        </p:nvSpPr>
        <p:spPr>
          <a:xfrm>
            <a:off x="9061704"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C8553D"/>
                </a:solidFill>
                <a:latin typeface="Calibri" pitchFamily="34" charset="0"/>
                <a:ea typeface="Calibri" pitchFamily="34" charset="-122"/>
                <a:cs typeface="Calibri" pitchFamily="34" charset="-120"/>
              </a:rPr>
              <a:t>Why we can do this properly</a:t>
            </a:r>
            <a:endParaRPr lang="en-US" sz="1150" dirty="0"/>
          </a:p>
        </p:txBody>
      </p:sp>
      <p:sp>
        <p:nvSpPr>
          <p:cNvPr id="19" name="Text 17"/>
          <p:cNvSpPr/>
          <p:nvPr/>
        </p:nvSpPr>
        <p:spPr>
          <a:xfrm>
            <a:off x="9061704"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As the regulator we hold the supervisory file, which carries credit score, debt-to-income and loan-to-value. So we can compare a rural applicant with an identical applicant elsewhere — same score, same income, same equity. That is a real like-for-like comparison, not a crude one.</a:t>
            </a:r>
            <a:endParaRPr lang="en-US" sz="950" dirty="0"/>
          </a:p>
        </p:txBody>
      </p:sp>
      <p:sp>
        <p:nvSpPr>
          <p:cNvPr id="20" name="Shape 18"/>
          <p:cNvSpPr/>
          <p:nvPr/>
        </p:nvSpPr>
        <p:spPr>
          <a:xfrm>
            <a:off x="640080" y="5532120"/>
            <a:ext cx="10881360" cy="731520"/>
          </a:xfrm>
          <a:prstGeom prst="roundRect">
            <a:avLst>
              <a:gd name="adj" fmla="val 6250"/>
            </a:avLst>
          </a:prstGeom>
          <a:solidFill>
            <a:srgbClr val="C8553D"/>
          </a:solidFill>
          <a:ln/>
        </p:spPr>
        <p:txBody>
          <a:bodyPr/>
          <a:lstStyle/>
          <a:p>
            <a:endParaRPr lang="en-US"/>
          </a:p>
        </p:txBody>
      </p:sp>
      <p:sp>
        <p:nvSpPr>
          <p:cNvPr id="21" name="Text 19"/>
          <p:cNvSpPr/>
          <p:nvPr/>
        </p:nvSpPr>
        <p:spPr>
          <a:xfrm>
            <a:off x="960120" y="5532120"/>
            <a:ext cx="10241280" cy="731520"/>
          </a:xfrm>
          <a:prstGeom prst="rect">
            <a:avLst/>
          </a:prstGeom>
          <a:noFill/>
          <a:ln/>
        </p:spPr>
        <p:txBody>
          <a:bodyPr wrap="square" lIns="0" tIns="0" rIns="0" bIns="0" rtlCol="0" anchor="ctr"/>
          <a:lstStyle/>
          <a:p>
            <a:pPr marL="0" indent="0">
              <a:lnSpc>
                <a:spcPts val="1500"/>
              </a:lnSpc>
              <a:buNone/>
            </a:pPr>
            <a:r>
              <a:rPr lang="en-US" sz="1150" dirty="0">
                <a:solidFill>
                  <a:srgbClr val="FFFFFF"/>
                </a:solidFill>
                <a:latin typeface="Calibri" pitchFamily="34" charset="0"/>
                <a:ea typeface="Calibri" pitchFamily="34" charset="-122"/>
                <a:cs typeface="Calibri" pitchFamily="34" charset="-120"/>
              </a:rPr>
              <a:t>The trap this avoids: a denial rate only counts people who applied. Where no lender operates, nobody applies, and the county looks untroubled. Measuring availability alongside terms is what stops the answer coming out wrong in the flattering direction.</a:t>
            </a:r>
            <a:endParaRPr lang="en-US" sz="1150" dirty="0"/>
          </a:p>
        </p:txBody>
      </p:sp>
      <p:sp>
        <p:nvSpPr>
          <p:cNvPr id="22" name="Text 2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Supervisory mortgage application records, 2019-2025, with housing-unit counts from the Census as the denominator. Confidential fields mean results publish in aggregate and need disclosure clearance. Most small rural credit unions sit below the reporting threshold, so this measures what rural HOUSEHOLDS experience rather than what small rural credit unions do. A reporting-threshold change in 2020 moves small lenders in and out of the panel.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question the whole study turns on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How we got from a suspicion to a test we could not argue our way out of.</a:t>
            </a:r>
            <a:endParaRPr lang="en-US" sz="1350" dirty="0"/>
          </a:p>
        </p:txBody>
      </p:sp>
      <p:sp>
        <p:nvSpPr>
          <p:cNvPr id="5" name="Shape 3"/>
          <p:cNvSpPr/>
          <p:nvPr/>
        </p:nvSpPr>
        <p:spPr>
          <a:xfrm>
            <a:off x="640080" y="1874520"/>
            <a:ext cx="2542032" cy="2240280"/>
          </a:xfrm>
          <a:prstGeom prst="roundRect">
            <a:avLst>
              <a:gd name="adj" fmla="val 2041"/>
            </a:avLst>
          </a:prstGeom>
          <a:solidFill>
            <a:srgbClr val="F3F5F4"/>
          </a:solidFill>
          <a:ln/>
        </p:spPr>
        <p:txBody>
          <a:bodyPr/>
          <a:lstStyle/>
          <a:p>
            <a:endParaRPr lang="en-US"/>
          </a:p>
        </p:txBody>
      </p:sp>
      <p:sp>
        <p:nvSpPr>
          <p:cNvPr id="6" name="Shape 4"/>
          <p:cNvSpPr/>
          <p:nvPr/>
        </p:nvSpPr>
        <p:spPr>
          <a:xfrm>
            <a:off x="877824" y="2048256"/>
            <a:ext cx="365760" cy="365760"/>
          </a:xfrm>
          <a:prstGeom prst="ellipse">
            <a:avLst/>
          </a:prstGeom>
          <a:solidFill>
            <a:srgbClr val="0E4C55"/>
          </a:solidFill>
          <a:ln/>
        </p:spPr>
        <p:txBody>
          <a:bodyPr/>
          <a:lstStyle/>
          <a:p>
            <a:endParaRPr lang="en-US"/>
          </a:p>
        </p:txBody>
      </p:sp>
      <p:sp>
        <p:nvSpPr>
          <p:cNvPr id="7" name="Text 5"/>
          <p:cNvSpPr/>
          <p:nvPr/>
        </p:nvSpPr>
        <p:spPr>
          <a:xfrm>
            <a:off x="877824"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353312"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What we saw</a:t>
            </a:r>
            <a:endParaRPr lang="en-US" sz="1250" dirty="0"/>
          </a:p>
        </p:txBody>
      </p:sp>
      <p:sp>
        <p:nvSpPr>
          <p:cNvPr id="9" name="Text 7"/>
          <p:cNvSpPr/>
          <p:nvPr/>
        </p:nvSpPr>
        <p:spPr>
          <a:xfrm>
            <a:off x="877824"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credit unions look weaker than the rest of the system on the headline numbers. That is where the statute starts, and it is why Congress asked the question.</a:t>
            </a:r>
            <a:endParaRPr lang="en-US" sz="1000" dirty="0"/>
          </a:p>
        </p:txBody>
      </p:sp>
      <p:sp>
        <p:nvSpPr>
          <p:cNvPr id="10" name="Text 8"/>
          <p:cNvSpPr/>
          <p:nvPr/>
        </p:nvSpPr>
        <p:spPr>
          <a:xfrm>
            <a:off x="3200400"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01568" y="1874520"/>
            <a:ext cx="2542032" cy="2240280"/>
          </a:xfrm>
          <a:prstGeom prst="roundRect">
            <a:avLst>
              <a:gd name="adj" fmla="val 2041"/>
            </a:avLst>
          </a:prstGeom>
          <a:solidFill>
            <a:srgbClr val="F3F5F4"/>
          </a:solidFill>
          <a:ln/>
        </p:spPr>
        <p:txBody>
          <a:bodyPr/>
          <a:lstStyle/>
          <a:p>
            <a:endParaRPr lang="en-US"/>
          </a:p>
        </p:txBody>
      </p:sp>
      <p:sp>
        <p:nvSpPr>
          <p:cNvPr id="12" name="Shape 10"/>
          <p:cNvSpPr/>
          <p:nvPr/>
        </p:nvSpPr>
        <p:spPr>
          <a:xfrm>
            <a:off x="3639312" y="2048256"/>
            <a:ext cx="365760" cy="365760"/>
          </a:xfrm>
          <a:prstGeom prst="ellipse">
            <a:avLst/>
          </a:prstGeom>
          <a:solidFill>
            <a:srgbClr val="0E4C55"/>
          </a:solidFill>
          <a:ln/>
        </p:spPr>
        <p:txBody>
          <a:bodyPr/>
          <a:lstStyle/>
          <a:p>
            <a:endParaRPr lang="en-US"/>
          </a:p>
        </p:txBody>
      </p:sp>
      <p:sp>
        <p:nvSpPr>
          <p:cNvPr id="13" name="Text 11"/>
          <p:cNvSpPr/>
          <p:nvPr/>
        </p:nvSpPr>
        <p:spPr>
          <a:xfrm>
            <a:off x="3639312"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4114800"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The problem with that</a:t>
            </a:r>
            <a:endParaRPr lang="en-US" sz="1250" dirty="0"/>
          </a:p>
        </p:txBody>
      </p:sp>
      <p:sp>
        <p:nvSpPr>
          <p:cNvPr id="15" name="Text 13"/>
          <p:cNvSpPr/>
          <p:nvPr/>
        </p:nvSpPr>
        <p:spPr>
          <a:xfrm>
            <a:off x="3639312"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credit unions are also much smaller — $38m in assets against $78m. Small institutions of every kind struggle with the same fixed costs. So which is it: rural, or small?</a:t>
            </a:r>
            <a:endParaRPr lang="en-US" sz="1000" dirty="0"/>
          </a:p>
        </p:txBody>
      </p:sp>
      <p:sp>
        <p:nvSpPr>
          <p:cNvPr id="16" name="Text 14"/>
          <p:cNvSpPr/>
          <p:nvPr/>
        </p:nvSpPr>
        <p:spPr>
          <a:xfrm>
            <a:off x="5961888"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163056" y="1874520"/>
            <a:ext cx="2542032" cy="2240280"/>
          </a:xfrm>
          <a:prstGeom prst="roundRect">
            <a:avLst>
              <a:gd name="adj" fmla="val 2041"/>
            </a:avLst>
          </a:prstGeom>
          <a:solidFill>
            <a:srgbClr val="F3F5F4"/>
          </a:solidFill>
          <a:ln/>
        </p:spPr>
        <p:txBody>
          <a:bodyPr/>
          <a:lstStyle/>
          <a:p>
            <a:endParaRPr lang="en-US"/>
          </a:p>
        </p:txBody>
      </p:sp>
      <p:sp>
        <p:nvSpPr>
          <p:cNvPr id="18" name="Shape 16"/>
          <p:cNvSpPr/>
          <p:nvPr/>
        </p:nvSpPr>
        <p:spPr>
          <a:xfrm>
            <a:off x="6400800" y="2048256"/>
            <a:ext cx="365760" cy="365760"/>
          </a:xfrm>
          <a:prstGeom prst="ellipse">
            <a:avLst/>
          </a:prstGeom>
          <a:solidFill>
            <a:srgbClr val="0E4C55"/>
          </a:solidFill>
          <a:ln/>
        </p:spPr>
        <p:txBody>
          <a:bodyPr/>
          <a:lstStyle/>
          <a:p>
            <a:endParaRPr lang="en-US"/>
          </a:p>
        </p:txBody>
      </p:sp>
      <p:sp>
        <p:nvSpPr>
          <p:cNvPr id="19" name="Text 17"/>
          <p:cNvSpPr/>
          <p:nvPr/>
        </p:nvSpPr>
        <p:spPr>
          <a:xfrm>
            <a:off x="6400800"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6876288"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Why it matters</a:t>
            </a:r>
            <a:endParaRPr lang="en-US" sz="1250" dirty="0"/>
          </a:p>
        </p:txBody>
      </p:sp>
      <p:sp>
        <p:nvSpPr>
          <p:cNvPr id="21" name="Text 19"/>
          <p:cNvSpPr/>
          <p:nvPr/>
        </p:nvSpPr>
        <p:spPr>
          <a:xfrm>
            <a:off x="6400800"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The two answers lead to opposite reports. If it is size, this becomes a small-institution report and rural-specific relief is the wrong tool. If it is rurality, Sec. 909's premise is the right frame.</a:t>
            </a:r>
            <a:endParaRPr lang="en-US" sz="1000" dirty="0"/>
          </a:p>
        </p:txBody>
      </p:sp>
      <p:sp>
        <p:nvSpPr>
          <p:cNvPr id="22" name="Text 20"/>
          <p:cNvSpPr/>
          <p:nvPr/>
        </p:nvSpPr>
        <p:spPr>
          <a:xfrm>
            <a:off x="8723376"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8924544" y="1874520"/>
            <a:ext cx="2542032" cy="2240280"/>
          </a:xfrm>
          <a:prstGeom prst="roundRect">
            <a:avLst>
              <a:gd name="adj" fmla="val 2041"/>
            </a:avLst>
          </a:prstGeom>
          <a:solidFill>
            <a:srgbClr val="DCE6E4"/>
          </a:solidFill>
          <a:ln/>
        </p:spPr>
        <p:txBody>
          <a:bodyPr/>
          <a:lstStyle/>
          <a:p>
            <a:endParaRPr lang="en-US"/>
          </a:p>
        </p:txBody>
      </p:sp>
      <p:sp>
        <p:nvSpPr>
          <p:cNvPr id="24" name="Shape 22"/>
          <p:cNvSpPr/>
          <p:nvPr/>
        </p:nvSpPr>
        <p:spPr>
          <a:xfrm>
            <a:off x="9162288" y="2048256"/>
            <a:ext cx="365760" cy="365760"/>
          </a:xfrm>
          <a:prstGeom prst="ellipse">
            <a:avLst/>
          </a:prstGeom>
          <a:solidFill>
            <a:srgbClr val="C8553D"/>
          </a:solidFill>
          <a:ln/>
        </p:spPr>
        <p:txBody>
          <a:bodyPr/>
          <a:lstStyle/>
          <a:p>
            <a:endParaRPr lang="en-US"/>
          </a:p>
        </p:txBody>
      </p:sp>
      <p:sp>
        <p:nvSpPr>
          <p:cNvPr id="25" name="Text 23"/>
          <p:cNvSpPr/>
          <p:nvPr/>
        </p:nvSpPr>
        <p:spPr>
          <a:xfrm>
            <a:off x="9162288"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9637776" y="2084832"/>
            <a:ext cx="1691640" cy="292608"/>
          </a:xfrm>
          <a:prstGeom prst="rect">
            <a:avLst/>
          </a:prstGeom>
          <a:noFill/>
          <a:ln/>
        </p:spPr>
        <p:txBody>
          <a:bodyPr wrap="square" lIns="0" tIns="0" rIns="0" bIns="0" rtlCol="0" anchor="ctr"/>
          <a:lstStyle/>
          <a:p>
            <a:pPr marL="0" indent="0">
              <a:buNone/>
            </a:pPr>
            <a:r>
              <a:rPr lang="en-US" sz="1250" b="1" dirty="0">
                <a:solidFill>
                  <a:srgbClr val="C8553D"/>
                </a:solidFill>
                <a:latin typeface="Calibri" pitchFamily="34" charset="0"/>
                <a:ea typeface="Calibri" pitchFamily="34" charset="-122"/>
                <a:cs typeface="Calibri" pitchFamily="34" charset="-120"/>
              </a:rPr>
              <a:t>What we did</a:t>
            </a:r>
            <a:endParaRPr lang="en-US" sz="1250" dirty="0"/>
          </a:p>
        </p:txBody>
      </p:sp>
      <p:sp>
        <p:nvSpPr>
          <p:cNvPr id="27" name="Text 25"/>
          <p:cNvSpPr/>
          <p:nvPr/>
        </p:nvSpPr>
        <p:spPr>
          <a:xfrm>
            <a:off x="9162288"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We wrote down the rule for deciding BEFORE running anything — so we could not look at the answer and then choose the interpretation that suited us.</a:t>
            </a:r>
            <a:endParaRPr lang="en-US" sz="1000" dirty="0"/>
          </a:p>
        </p:txBody>
      </p:sp>
      <p:sp>
        <p:nvSpPr>
          <p:cNvPr id="28" name="Shape 26"/>
          <p:cNvSpPr/>
          <p:nvPr/>
        </p:nvSpPr>
        <p:spPr>
          <a:xfrm>
            <a:off x="640080" y="4315968"/>
            <a:ext cx="10881360" cy="1234440"/>
          </a:xfrm>
          <a:prstGeom prst="roundRect">
            <a:avLst>
              <a:gd name="adj" fmla="val 3704"/>
            </a:avLst>
          </a:prstGeom>
          <a:solidFill>
            <a:srgbClr val="0E4C55"/>
          </a:solidFill>
          <a:ln/>
        </p:spPr>
        <p:txBody>
          <a:bodyPr/>
          <a:lstStyle/>
          <a:p>
            <a:endParaRPr lang="en-US"/>
          </a:p>
        </p:txBody>
      </p:sp>
      <p:sp>
        <p:nvSpPr>
          <p:cNvPr id="29" name="Text 27"/>
          <p:cNvSpPr/>
          <p:nvPr/>
        </p:nvSpPr>
        <p:spPr>
          <a:xfrm>
            <a:off x="960120" y="4443984"/>
            <a:ext cx="1014984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The rule, written down in advance</a:t>
            </a:r>
            <a:endParaRPr lang="en-US" sz="1200" dirty="0"/>
          </a:p>
        </p:txBody>
      </p:sp>
      <p:sp>
        <p:nvSpPr>
          <p:cNvPr id="30" name="Text 28"/>
          <p:cNvSpPr/>
          <p:nvPr/>
        </p:nvSpPr>
        <p:spPr>
          <a:xfrm>
            <a:off x="960120" y="4736592"/>
            <a:ext cx="10149840" cy="32004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“If the gap largely disappears once we account for size, we conclude that size is what matters and we reorient the report.”</a:t>
            </a:r>
            <a:endParaRPr lang="en-US" sz="1400" dirty="0"/>
          </a:p>
        </p:txBody>
      </p:sp>
      <p:sp>
        <p:nvSpPr>
          <p:cNvPr id="31" name="Text 29"/>
          <p:cNvSpPr/>
          <p:nvPr/>
        </p:nvSpPr>
        <p:spPr>
          <a:xfrm>
            <a:off x="960120" y="5084064"/>
            <a:ext cx="10149840" cy="365760"/>
          </a:xfrm>
          <a:prstGeom prst="rect">
            <a:avLst/>
          </a:prstGeom>
          <a:noFill/>
          <a:ln/>
        </p:spPr>
        <p:txBody>
          <a:bodyPr wrap="square" lIns="0" tIns="0" rIns="0" bIns="0" rtlCol="0" anchor="ctr"/>
          <a:lstStyle/>
          <a:p>
            <a:pPr marL="0" indent="0">
              <a:lnSpc>
                <a:spcPts val="1400"/>
              </a:lnSpc>
              <a:buNone/>
            </a:pPr>
            <a:r>
              <a:rPr lang="en-US" sz="1100" dirty="0">
                <a:solidFill>
                  <a:srgbClr val="DCE6E4"/>
                </a:solidFill>
                <a:latin typeface="Calibri" pitchFamily="34" charset="0"/>
                <a:ea typeface="Calibri" pitchFamily="34" charset="-122"/>
                <a:cs typeface="Calibri" pitchFamily="34" charset="-120"/>
              </a:rPr>
              <a:t>Agreeing what counts as a win before the game is the difference between a finding and a rationalisation — and it is the first thing a skeptical reader will look for.</a:t>
            </a:r>
            <a:endParaRPr lang="en-US" sz="1100" dirty="0"/>
          </a:p>
        </p:txBody>
      </p:sp>
      <p:sp>
        <p:nvSpPr>
          <p:cNvPr id="32" name="Shape 30"/>
          <p:cNvSpPr/>
          <p:nvPr/>
        </p:nvSpPr>
        <p:spPr>
          <a:xfrm>
            <a:off x="640080" y="5715000"/>
            <a:ext cx="10881360" cy="566928"/>
          </a:xfrm>
          <a:prstGeom prst="roundRect">
            <a:avLst>
              <a:gd name="adj" fmla="val 8065"/>
            </a:avLst>
          </a:prstGeom>
          <a:solidFill>
            <a:srgbClr val="DCE6E4"/>
          </a:solidFill>
          <a:ln/>
        </p:spPr>
        <p:txBody>
          <a:bodyPr/>
          <a:lstStyle/>
          <a:p>
            <a:endParaRPr lang="en-US"/>
          </a:p>
        </p:txBody>
      </p:sp>
      <p:sp>
        <p:nvSpPr>
          <p:cNvPr id="33" name="Text 31"/>
          <p:cNvSpPr/>
          <p:nvPr/>
        </p:nvSpPr>
        <p:spPr>
          <a:xfrm>
            <a:off x="960120" y="5715000"/>
            <a:ext cx="10241280" cy="566928"/>
          </a:xfrm>
          <a:prstGeom prst="rect">
            <a:avLst/>
          </a:prstGeom>
          <a:noFill/>
          <a:ln/>
        </p:spPr>
        <p:txBody>
          <a:bodyPr wrap="square" lIns="0" tIns="0" rIns="0" bIns="0" rtlCol="0" anchor="ctr"/>
          <a:lstStyle/>
          <a:p>
            <a:pPr marL="0" indent="0">
              <a:buNone/>
            </a:pPr>
            <a:r>
              <a:rPr lang="en-US" sz="1250" b="1" dirty="0">
                <a:solidFill>
                  <a:srgbClr val="C8553D"/>
                </a:solidFill>
                <a:latin typeface="Calibri" pitchFamily="34" charset="0"/>
                <a:ea typeface="Calibri" pitchFamily="34" charset="-122"/>
                <a:cs typeface="Calibri" pitchFamily="34" charset="-120"/>
              </a:rPr>
              <a:t>The gap did not disappear. It got bigger. By our own rule, that makes this a rural report, not a small-institution report.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It did not disappear. It got stronger.</a:t>
            </a:r>
            <a:endParaRPr lang="en-US" sz="2700" dirty="0"/>
          </a:p>
        </p:txBody>
      </p:sp>
      <p:sp>
        <p:nvSpPr>
          <p:cNvPr id="4" name="Text 2"/>
          <p:cNvSpPr/>
          <p:nvPr/>
        </p:nvSpPr>
        <p:spPr>
          <a:xfrm>
            <a:off x="640080" y="1243584"/>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Larger credit unions grow faster, and rural ones are smaller. So comparing them with everybody understates the rural advantage — it does not inflate it.</a:t>
            </a:r>
            <a:endParaRPr lang="en-US" sz="1350" dirty="0"/>
          </a:p>
        </p:txBody>
      </p:sp>
      <p:graphicFrame>
        <p:nvGraphicFramePr>
          <p:cNvPr id="5" name="Chart 0"/>
          <p:cNvGraphicFramePr/>
          <p:nvPr/>
        </p:nvGraphicFramePr>
        <p:xfrm>
          <a:off x="640080" y="1874520"/>
          <a:ext cx="6583680" cy="3246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1965960"/>
          <a:ext cx="402336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Outcome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Raw</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Like-for-like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 of gap left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Asset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0.86</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1.029</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Loan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1.069</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128.1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Membership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0.888</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147.1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ROA</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0.173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120.3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Net worth ratio</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0.78</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0.415</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5"/>
                  </a:ext>
                </a:extLst>
              </a:tr>
            </a:tbl>
          </a:graphicData>
        </a:graphic>
      </p:graphicFrame>
      <p:sp>
        <p:nvSpPr>
          <p:cNvPr id="7" name="Shape 3"/>
          <p:cNvSpPr/>
          <p:nvPr/>
        </p:nvSpPr>
        <p:spPr>
          <a:xfrm>
            <a:off x="7498080" y="4069080"/>
            <a:ext cx="4023360" cy="1920240"/>
          </a:xfrm>
          <a:prstGeom prst="roundRect">
            <a:avLst>
              <a:gd name="adj" fmla="val 2381"/>
            </a:avLst>
          </a:prstGeom>
          <a:solidFill>
            <a:srgbClr val="DCE6E4"/>
          </a:solidFill>
          <a:ln/>
        </p:spPr>
        <p:txBody>
          <a:bodyPr/>
          <a:lstStyle/>
          <a:p>
            <a:endParaRPr lang="en-US"/>
          </a:p>
        </p:txBody>
      </p:sp>
      <p:sp>
        <p:nvSpPr>
          <p:cNvPr id="8" name="Text 4"/>
          <p:cNvSpPr/>
          <p:nvPr/>
        </p:nvSpPr>
        <p:spPr>
          <a:xfrm>
            <a:off x="7726680" y="4206240"/>
            <a:ext cx="356616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How to read the table</a:t>
            </a:r>
            <a:endParaRPr lang="en-US" sz="1150" dirty="0"/>
          </a:p>
        </p:txBody>
      </p:sp>
      <p:sp>
        <p:nvSpPr>
          <p:cNvPr id="9" name="Text 5"/>
          <p:cNvSpPr/>
          <p:nvPr/>
        </p:nvSpPr>
        <p:spPr>
          <a:xfrm>
            <a:off x="7726680" y="4480560"/>
            <a:ext cx="3611880" cy="1463040"/>
          </a:xfrm>
          <a:prstGeom prst="rect">
            <a:avLst/>
          </a:prstGeom>
          <a:noFill/>
          <a:ln/>
        </p:spPr>
        <p:txBody>
          <a:bodyPr wrap="square" lIns="0" tIns="0" rIns="0" bIns="0" rtlCol="0" anchor="ctr"/>
          <a:lstStyle/>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RAW compares rural credit unions with all the others, small size and all.</a:t>
            </a:r>
            <a:endParaRPr lang="en-US" sz="950" dirty="0"/>
          </a:p>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LIKE-FOR-LIKE compares each one with institutions of the same size, in the same state, in the same quarter.</a:t>
            </a:r>
            <a:endParaRPr lang="en-US" sz="950" dirty="0"/>
          </a:p>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The last column asks how much of the original difference is still there afterwards. Above 100% means the gap grew: being small had been hiding the rural advantage.</a:t>
            </a:r>
            <a:endParaRPr lang="en-US" sz="950" dirty="0"/>
          </a:p>
        </p:txBody>
      </p:sp>
      <p:sp>
        <p:nvSpPr>
          <p:cNvPr id="10" name="Text 6"/>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313,650 credit-union quarters, 2010Q1-2026Q1. State × quarter fixed effects, standard errors clustered by institution. Common support 98.9%.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PERFORMANCE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On the statute's own measures, the ordinary rural institution leads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typical rural credit union, compared with the typical credit union elsewhere. Trailing four quarters.</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65836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Non-rural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Gap</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Statutory outcome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Asset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4.04%</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2.67%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+1.37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Loan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1.63%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Membership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-0.58%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Return on assets</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0.92%</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Earnings</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Net worth ratio</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13.36</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12.18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Capital adequacy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Delinquency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-0.04</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(risk, not statutory)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7498080" y="1965960"/>
            <a:ext cx="4023360" cy="2148840"/>
          </a:xfrm>
          <a:prstGeom prst="roundRect">
            <a:avLst>
              <a:gd name="adj" fmla="val 2128"/>
            </a:avLst>
          </a:prstGeom>
          <a:solidFill>
            <a:srgbClr val="F3F5F4"/>
          </a:solidFill>
          <a:ln/>
        </p:spPr>
        <p:txBody>
          <a:bodyPr/>
          <a:lstStyle/>
          <a:p>
            <a:endParaRPr lang="en-US"/>
          </a:p>
        </p:txBody>
      </p:sp>
      <p:sp>
        <p:nvSpPr>
          <p:cNvPr id="7" name="Text 4"/>
          <p:cNvSpPr/>
          <p:nvPr/>
        </p:nvSpPr>
        <p:spPr>
          <a:xfrm>
            <a:off x="7726680" y="2121408"/>
            <a:ext cx="356616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Designations tell us little</a:t>
            </a:r>
            <a:endParaRPr lang="en-US" sz="1150" dirty="0"/>
          </a:p>
        </p:txBody>
      </p:sp>
      <p:sp>
        <p:nvSpPr>
          <p:cNvPr id="8" name="Text 5"/>
          <p:cNvSpPr/>
          <p:nvPr/>
        </p:nvSpPr>
        <p:spPr>
          <a:xfrm>
            <a:off x="7726680" y="2404872"/>
            <a:ext cx="3611880" cy="160020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2202E"/>
                </a:solidFill>
                <a:latin typeface="Calibri" pitchFamily="34" charset="0"/>
                <a:ea typeface="Calibri" pitchFamily="34" charset="-122"/>
                <a:cs typeface="Calibri" pitchFamily="34" charset="-120"/>
              </a:rPr>
              <a:t>Low-income designation: 55.1% rural vs 55.0% non-rural — indistinguishable.</a:t>
            </a:r>
            <a:endParaRPr lang="en-US" sz="1050" dirty="0"/>
          </a:p>
          <a:p>
            <a:pPr marL="342900" indent="-342900">
              <a:lnSpc>
                <a:spcPts val="1400"/>
              </a:lnSpc>
              <a:spcAft>
                <a:spcPts val="600"/>
              </a:spcAft>
              <a:buSzPct val="100000"/>
              <a:buChar char="•"/>
            </a:pPr>
            <a:r>
              <a:rPr lang="en-US" sz="1050" dirty="0">
                <a:solidFill>
                  <a:srgbClr val="12202E"/>
                </a:solidFill>
                <a:latin typeface="Calibri" pitchFamily="34" charset="0"/>
                <a:ea typeface="Calibri" pitchFamily="34" charset="-122"/>
                <a:cs typeface="Calibri" pitchFamily="34" charset="-120"/>
              </a:rPr>
              <a:t>Minority depository institutions: 7.9% rural vs 9.2% non-rural, which is counterintuitive and may be an artifact of recording MDI status by minority category rather than as a flag.</a:t>
            </a:r>
            <a:endParaRPr lang="en-US" sz="1050" dirty="0"/>
          </a:p>
        </p:txBody>
      </p:sp>
      <p:sp>
        <p:nvSpPr>
          <p:cNvPr id="9" name="Shape 6"/>
          <p:cNvSpPr/>
          <p:nvPr/>
        </p:nvSpPr>
        <p:spPr>
          <a:xfrm>
            <a:off x="640080" y="4617720"/>
            <a:ext cx="6583680" cy="1371600"/>
          </a:xfrm>
          <a:prstGeom prst="roundRect">
            <a:avLst>
              <a:gd name="adj" fmla="val 3333"/>
            </a:avLst>
          </a:prstGeom>
          <a:solidFill>
            <a:srgbClr val="0E4C55"/>
          </a:solidFill>
          <a:ln/>
        </p:spPr>
        <p:txBody>
          <a:bodyPr/>
          <a:lstStyle/>
          <a:p>
            <a:endParaRPr lang="en-US"/>
          </a:p>
        </p:txBody>
      </p:sp>
      <p:sp>
        <p:nvSpPr>
          <p:cNvPr id="10" name="Text 7"/>
          <p:cNvSpPr/>
          <p:nvPr/>
        </p:nvSpPr>
        <p:spPr>
          <a:xfrm>
            <a:off x="914400" y="4754880"/>
            <a:ext cx="603504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And the trend runs the same way</a:t>
            </a:r>
            <a:endParaRPr lang="en-US" sz="1150" dirty="0"/>
          </a:p>
        </p:txBody>
      </p:sp>
      <p:sp>
        <p:nvSpPr>
          <p:cNvPr id="11" name="Text 8"/>
          <p:cNvSpPr/>
          <p:nvPr/>
        </p:nvSpPr>
        <p:spPr>
          <a:xfrm>
            <a:off x="914400" y="5047488"/>
            <a:ext cx="6080760" cy="822960"/>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Charter count indexed to 2010 = 100 stands at 67.7 rural against 60.2 non-rural. Rural institutions are declining more slowly than the system — which is why “rural decline” is not, on its own, an honest headline for this report.</a:t>
            </a:r>
            <a:endParaRPr lang="en-US" sz="1150" dirty="0"/>
          </a:p>
        </p:txBody>
      </p:sp>
      <p:sp>
        <p:nvSpPr>
          <p:cNvPr id="12" name="Text 9"/>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Median assets $38m rural against $78m non-rural; present-tense text uses current-quarter figures, not pooled-panel values.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Q2</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Are we losing rural credit unions, or just losing credit unions?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Charter counts have fallen everywhere for decades. Rural is only a distinct problem if rural charters fall faster — and the obvious objection to the whole study runs the wrong way.</a:t>
            </a:r>
            <a:endParaRPr lang="en-US" sz="1350" dirty="0"/>
          </a:p>
        </p:txBody>
      </p:sp>
      <p:sp>
        <p:nvSpPr>
          <p:cNvPr id="5" name="Shape 3"/>
          <p:cNvSpPr/>
          <p:nvPr/>
        </p:nvSpPr>
        <p:spPr>
          <a:xfrm>
            <a:off x="640080" y="1965960"/>
            <a:ext cx="2514600" cy="1508760"/>
          </a:xfrm>
          <a:prstGeom prst="roundRect">
            <a:avLst>
              <a:gd name="adj" fmla="val 3030"/>
            </a:avLst>
          </a:prstGeom>
          <a:solidFill>
            <a:srgbClr val="F3F5F4"/>
          </a:solidFill>
          <a:ln/>
        </p:spPr>
        <p:txBody>
          <a:bodyPr/>
          <a:lstStyle/>
          <a:p>
            <a:endParaRPr lang="en-US"/>
          </a:p>
        </p:txBody>
      </p:sp>
      <p:sp>
        <p:nvSpPr>
          <p:cNvPr id="6" name="Text 4"/>
          <p:cNvSpPr/>
          <p:nvPr/>
        </p:nvSpPr>
        <p:spPr>
          <a:xfrm>
            <a:off x="868680"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67.7</a:t>
            </a:r>
            <a:endParaRPr lang="en-US" sz="2500" dirty="0"/>
          </a:p>
        </p:txBody>
      </p:sp>
      <p:sp>
        <p:nvSpPr>
          <p:cNvPr id="7" name="Text 5"/>
          <p:cNvSpPr/>
          <p:nvPr/>
        </p:nvSpPr>
        <p:spPr>
          <a:xfrm>
            <a:off x="868680"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rural charter index, 2010 = 100</a:t>
            </a:r>
            <a:endParaRPr lang="en-US" sz="1100" dirty="0"/>
          </a:p>
        </p:txBody>
      </p:sp>
      <p:sp>
        <p:nvSpPr>
          <p:cNvPr id="8" name="Text 6"/>
          <p:cNvSpPr/>
          <p:nvPr/>
        </p:nvSpPr>
        <p:spPr>
          <a:xfrm>
            <a:off x="868680"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against 60.2 non-rural</a:t>
            </a:r>
            <a:endParaRPr lang="en-US" sz="1000" dirty="0"/>
          </a:p>
        </p:txBody>
      </p:sp>
      <p:sp>
        <p:nvSpPr>
          <p:cNvPr id="9" name="Shape 7"/>
          <p:cNvSpPr/>
          <p:nvPr/>
        </p:nvSpPr>
        <p:spPr>
          <a:xfrm>
            <a:off x="3401568" y="1965960"/>
            <a:ext cx="2514600" cy="1508760"/>
          </a:xfrm>
          <a:prstGeom prst="roundRect">
            <a:avLst>
              <a:gd name="adj" fmla="val 3030"/>
            </a:avLst>
          </a:prstGeom>
          <a:solidFill>
            <a:srgbClr val="F3F5F4"/>
          </a:solidFill>
          <a:ln/>
        </p:spPr>
        <p:txBody>
          <a:bodyPr/>
          <a:lstStyle/>
          <a:p>
            <a:endParaRPr lang="en-US"/>
          </a:p>
        </p:txBody>
      </p:sp>
      <p:sp>
        <p:nvSpPr>
          <p:cNvPr id="10" name="Text 8"/>
          <p:cNvSpPr/>
          <p:nvPr/>
        </p:nvSpPr>
        <p:spPr>
          <a:xfrm>
            <a:off x="3630168"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36.9%</a:t>
            </a:r>
            <a:endParaRPr lang="en-US" sz="2500" dirty="0"/>
          </a:p>
        </p:txBody>
      </p:sp>
      <p:sp>
        <p:nvSpPr>
          <p:cNvPr id="11" name="Text 9"/>
          <p:cNvSpPr/>
          <p:nvPr/>
        </p:nvSpPr>
        <p:spPr>
          <a:xfrm>
            <a:off x="3630168"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rural exit rate over the panel</a:t>
            </a:r>
            <a:endParaRPr lang="en-US" sz="1100" dirty="0"/>
          </a:p>
        </p:txBody>
      </p:sp>
      <p:sp>
        <p:nvSpPr>
          <p:cNvPr id="12" name="Text 10"/>
          <p:cNvSpPr/>
          <p:nvPr/>
        </p:nvSpPr>
        <p:spPr>
          <a:xfrm>
            <a:off x="3630168"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against 44.1% non-rural</a:t>
            </a:r>
            <a:endParaRPr lang="en-US" sz="1000" dirty="0"/>
          </a:p>
        </p:txBody>
      </p:sp>
      <p:sp>
        <p:nvSpPr>
          <p:cNvPr id="13" name="Shape 11"/>
          <p:cNvSpPr/>
          <p:nvPr/>
        </p:nvSpPr>
        <p:spPr>
          <a:xfrm>
            <a:off x="6163056" y="1965960"/>
            <a:ext cx="2514600" cy="1508760"/>
          </a:xfrm>
          <a:prstGeom prst="roundRect">
            <a:avLst>
              <a:gd name="adj" fmla="val 3030"/>
            </a:avLst>
          </a:prstGeom>
          <a:solidFill>
            <a:srgbClr val="DCE6E4"/>
          </a:solidFill>
          <a:ln/>
        </p:spPr>
        <p:txBody>
          <a:bodyPr/>
          <a:lstStyle/>
          <a:p>
            <a:endParaRPr lang="en-US"/>
          </a:p>
        </p:txBody>
      </p:sp>
      <p:sp>
        <p:nvSpPr>
          <p:cNvPr id="14" name="Text 12"/>
          <p:cNvSpPr/>
          <p:nvPr/>
        </p:nvSpPr>
        <p:spPr>
          <a:xfrm>
            <a:off x="6391656"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25%</a:t>
            </a:r>
            <a:endParaRPr lang="en-US" sz="2500" dirty="0"/>
          </a:p>
        </p:txBody>
      </p:sp>
      <p:sp>
        <p:nvSpPr>
          <p:cNvPr id="15" name="Text 13"/>
          <p:cNvSpPr/>
          <p:nvPr/>
        </p:nvSpPr>
        <p:spPr>
          <a:xfrm>
            <a:off x="6391656"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less likely to disappear</a:t>
            </a:r>
            <a:endParaRPr lang="en-US" sz="1100" dirty="0"/>
          </a:p>
        </p:txBody>
      </p:sp>
      <p:sp>
        <p:nvSpPr>
          <p:cNvPr id="16" name="Text 14"/>
          <p:cNvSpPr/>
          <p:nvPr/>
        </p:nvSpPr>
        <p:spPr>
          <a:xfrm>
            <a:off x="6391656"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comparing institutions of the same size and condition</a:t>
            </a:r>
            <a:endParaRPr lang="en-US" sz="1000" dirty="0"/>
          </a:p>
        </p:txBody>
      </p:sp>
      <p:sp>
        <p:nvSpPr>
          <p:cNvPr id="17" name="Shape 15"/>
          <p:cNvSpPr/>
          <p:nvPr/>
        </p:nvSpPr>
        <p:spPr>
          <a:xfrm>
            <a:off x="8924544" y="1965960"/>
            <a:ext cx="2514600" cy="1508760"/>
          </a:xfrm>
          <a:prstGeom prst="roundRect">
            <a:avLst>
              <a:gd name="adj" fmla="val 3030"/>
            </a:avLst>
          </a:prstGeom>
          <a:solidFill>
            <a:srgbClr val="F3F5F4"/>
          </a:solidFill>
          <a:ln/>
        </p:spPr>
        <p:txBody>
          <a:bodyPr/>
          <a:lstStyle/>
          <a:p>
            <a:endParaRPr lang="en-US"/>
          </a:p>
        </p:txBody>
      </p:sp>
      <p:sp>
        <p:nvSpPr>
          <p:cNvPr id="18" name="Text 16"/>
          <p:cNvSpPr/>
          <p:nvPr/>
        </p:nvSpPr>
        <p:spPr>
          <a:xfrm>
            <a:off x="9153144"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~80%</a:t>
            </a:r>
            <a:endParaRPr lang="en-US" sz="2500" dirty="0"/>
          </a:p>
        </p:txBody>
      </p:sp>
      <p:sp>
        <p:nvSpPr>
          <p:cNvPr id="19" name="Text 17"/>
          <p:cNvSpPr/>
          <p:nvPr/>
        </p:nvSpPr>
        <p:spPr>
          <a:xfrm>
            <a:off x="9153144"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of the advantage survives</a:t>
            </a:r>
            <a:endParaRPr lang="en-US" sz="1100" dirty="0"/>
          </a:p>
        </p:txBody>
      </p:sp>
      <p:sp>
        <p:nvSpPr>
          <p:cNvPr id="20" name="Text 18"/>
          <p:cNvSpPr/>
          <p:nvPr/>
        </p:nvSpPr>
        <p:spPr>
          <a:xfrm>
            <a:off x="9153144"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on a fully balanced panel</a:t>
            </a:r>
            <a:endParaRPr lang="en-US" sz="1000" dirty="0"/>
          </a:p>
        </p:txBody>
      </p:sp>
      <p:sp>
        <p:nvSpPr>
          <p:cNvPr id="21" name="Shape 19"/>
          <p:cNvSpPr/>
          <p:nvPr/>
        </p:nvSpPr>
        <p:spPr>
          <a:xfrm>
            <a:off x="640080" y="3639312"/>
            <a:ext cx="5257800" cy="2377440"/>
          </a:xfrm>
          <a:prstGeom prst="roundRect">
            <a:avLst>
              <a:gd name="adj" fmla="val 1923"/>
            </a:avLst>
          </a:prstGeom>
          <a:solidFill>
            <a:srgbClr val="F3F5F4"/>
          </a:solidFill>
          <a:ln/>
        </p:spPr>
        <p:txBody>
          <a:bodyPr/>
          <a:lstStyle/>
          <a:p>
            <a:endParaRPr lang="en-US"/>
          </a:p>
        </p:txBody>
      </p:sp>
      <p:sp>
        <p:nvSpPr>
          <p:cNvPr id="22" name="Text 20"/>
          <p:cNvSpPr/>
          <p:nvPr/>
        </p:nvSpPr>
        <p:spPr>
          <a:xfrm>
            <a:off x="914400" y="3794760"/>
            <a:ext cx="466344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The objection we had to answer</a:t>
            </a:r>
            <a:endParaRPr lang="en-US" sz="1200" dirty="0"/>
          </a:p>
        </p:txBody>
      </p:sp>
      <p:sp>
        <p:nvSpPr>
          <p:cNvPr id="23" name="Text 21"/>
          <p:cNvSpPr/>
          <p:nvPr/>
        </p:nvSpPr>
        <p:spPr>
          <a:xfrm>
            <a:off x="914400" y="4096512"/>
            <a:ext cx="4709160" cy="77724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A third of the 2010 rural cohort is gone. If the weakest rural institutions were the ones that disappeared, the survivors would look strong for a trivial reason and the entire Q1 finding would be selection.</a:t>
            </a:r>
            <a:endParaRPr lang="en-US" sz="1150" dirty="0"/>
          </a:p>
        </p:txBody>
      </p:sp>
      <p:sp>
        <p:nvSpPr>
          <p:cNvPr id="24" name="Text 22"/>
          <p:cNvSpPr/>
          <p:nvPr/>
        </p:nvSpPr>
        <p:spPr>
          <a:xfrm>
            <a:off x="914400" y="4892040"/>
            <a:ext cx="4709160" cy="96012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It is not. Rural institutions disappear LESS often. And if we look only at credit unions that survived the whole period — so no exits at all — the rural advantage is still about four fifths as large. They keep their weaker members and still come out ahead.</a:t>
            </a:r>
            <a:endParaRPr lang="en-US" sz="1150" dirty="0"/>
          </a:p>
        </p:txBody>
      </p:sp>
      <p:sp>
        <p:nvSpPr>
          <p:cNvPr id="25" name="Shape 23"/>
          <p:cNvSpPr/>
          <p:nvPr/>
        </p:nvSpPr>
        <p:spPr>
          <a:xfrm>
            <a:off x="6263640" y="3639312"/>
            <a:ext cx="5257800" cy="2377440"/>
          </a:xfrm>
          <a:prstGeom prst="roundRect">
            <a:avLst>
              <a:gd name="adj" fmla="val 1923"/>
            </a:avLst>
          </a:prstGeom>
          <a:solidFill>
            <a:srgbClr val="0E4C55"/>
          </a:solidFill>
          <a:ln/>
        </p:spPr>
        <p:txBody>
          <a:bodyPr/>
          <a:lstStyle/>
          <a:p>
            <a:endParaRPr lang="en-US"/>
          </a:p>
        </p:txBody>
      </p:sp>
      <p:sp>
        <p:nvSpPr>
          <p:cNvPr id="26" name="Text 24"/>
          <p:cNvSpPr/>
          <p:nvPr/>
        </p:nvSpPr>
        <p:spPr>
          <a:xfrm>
            <a:off x="6537960" y="3794760"/>
            <a:ext cx="4663440" cy="256032"/>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What still needs verifying</a:t>
            </a:r>
            <a:endParaRPr lang="en-US" sz="1200" dirty="0"/>
          </a:p>
        </p:txBody>
      </p:sp>
      <p:sp>
        <p:nvSpPr>
          <p:cNvPr id="27" name="Text 25"/>
          <p:cNvSpPr/>
          <p:nvPr/>
        </p:nvSpPr>
        <p:spPr>
          <a:xfrm>
            <a:off x="6537960" y="4096512"/>
            <a:ext cx="4709160" cy="594360"/>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One outcome code carries 220 of 274 rural exits (80%) and 2,445 of 2,945 urban exits (83%). Rural reason code 7 carries 171 of 274.</a:t>
            </a:r>
            <a:endParaRPr lang="en-US" sz="1150" dirty="0"/>
          </a:p>
        </p:txBody>
      </p:sp>
      <p:sp>
        <p:nvSpPr>
          <p:cNvPr id="28" name="Text 26"/>
          <p:cNvSpPr/>
          <p:nvPr/>
        </p:nvSpPr>
        <p:spPr>
          <a:xfrm>
            <a:off x="6537960" y="4754880"/>
            <a:ext cx="4709160" cy="1097280"/>
          </a:xfrm>
          <a:prstGeom prst="rect">
            <a:avLst/>
          </a:prstGeom>
          <a:noFill/>
          <a:ln/>
        </p:spPr>
        <p:txBody>
          <a:bodyPr wrap="square" lIns="0" tIns="0" rIns="0" bIns="0" rtlCol="0" anchor="ctr"/>
          <a:lstStyle/>
          <a:p>
            <a:pPr marL="0" indent="0">
              <a:lnSpc>
                <a:spcPts val="1550"/>
              </a:lnSpc>
              <a:buNone/>
            </a:pPr>
            <a:r>
              <a:rPr lang="en-US" sz="1150" dirty="0">
                <a:solidFill>
                  <a:srgbClr val="DCE6E4"/>
                </a:solidFill>
                <a:latin typeface="Calibri" pitchFamily="34" charset="0"/>
                <a:ea typeface="Calibri" pitchFamily="34" charset="-122"/>
                <a:cs typeface="Calibri" pitchFamily="34" charset="-120"/>
              </a:rPr>
              <a:t>The code meanings have not been confirmed against the NCUA data dictionary. “220 mergers” and “220 failures” are different sentences, and two drafted report sections currently rest on which it is. This is the top blocking item on the work plan.</a:t>
            </a:r>
            <a:endParaRPr lang="en-US" sz="1150" dirty="0"/>
          </a:p>
        </p:txBody>
      </p:sp>
      <p:sp>
        <p:nvSpPr>
          <p:cNvPr id="29" name="Text 27"/>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Survival analysis on exits, comparing institutions alike on size, capital, earnings and state. All differences highly statistically significant.</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Q7 FORMATION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one thing that is genuinely broken</a:t>
            </a:r>
            <a:endParaRPr lang="en-US" sz="2700" dirty="0"/>
          </a:p>
        </p:txBody>
      </p:sp>
      <p:graphicFrame>
        <p:nvGraphicFramePr>
          <p:cNvPr id="4" name="Chart 0"/>
          <p:cNvGraphicFramePr/>
          <p:nvPr/>
        </p:nvGraphicFramePr>
        <p:xfrm>
          <a:off x="640080" y="1371600"/>
          <a:ext cx="475488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760720" y="1371600"/>
            <a:ext cx="5760720" cy="731520"/>
          </a:xfrm>
          <a:prstGeom prst="rect">
            <a:avLst/>
          </a:prstGeom>
          <a:noFill/>
          <a:ln/>
        </p:spPr>
        <p:txBody>
          <a:bodyPr wrap="square" lIns="0" tIns="0" rIns="0" bIns="0" rtlCol="0" anchor="ctr"/>
          <a:lstStyle/>
          <a:p>
            <a:pPr marL="0" indent="0">
              <a:lnSpc>
                <a:spcPts val="2600"/>
              </a:lnSpc>
              <a:buNone/>
            </a:pPr>
            <a:r>
              <a:rPr lang="en-US" sz="2000" b="1" dirty="0">
                <a:solidFill>
                  <a:srgbClr val="12202E"/>
                </a:solidFill>
                <a:latin typeface="Cambria" pitchFamily="34" charset="0"/>
                <a:ea typeface="Cambria" pitchFamily="34" charset="-122"/>
                <a:cs typeface="Cambria" pitchFamily="34" charset="-120"/>
              </a:rPr>
              <a:t>Roughly one new rural credit union a year, against fifteen departures.</a:t>
            </a:r>
            <a:endParaRPr lang="en-US" sz="2000" dirty="0"/>
          </a:p>
        </p:txBody>
      </p:sp>
      <p:sp>
        <p:nvSpPr>
          <p:cNvPr id="6" name="Text 3"/>
          <p:cNvSpPr/>
          <p:nvPr/>
        </p:nvSpPr>
        <p:spPr>
          <a:xfrm>
            <a:off x="5760720" y="2212848"/>
            <a:ext cx="5760720" cy="256032"/>
          </a:xfrm>
          <a:prstGeom prst="rect">
            <a:avLst/>
          </a:prstGeom>
          <a:noFill/>
          <a:ln/>
        </p:spPr>
        <p:txBody>
          <a:bodyPr wrap="square" lIns="0" tIns="0" rIns="0" bIns="0" rtlCol="0" anchor="ctr"/>
          <a:lstStyle/>
          <a:p>
            <a:pPr marL="0" indent="0">
              <a:buNone/>
            </a:pPr>
            <a:r>
              <a:rPr lang="en-US" sz="1100" b="1" dirty="0">
                <a:solidFill>
                  <a:srgbClr val="5B6B72"/>
                </a:solidFill>
                <a:latin typeface="Calibri" pitchFamily="34" charset="0"/>
                <a:ea typeface="Calibri" pitchFamily="34" charset="-122"/>
                <a:cs typeface="Calibri" pitchFamily="34" charset="-120"/>
              </a:rPr>
              <a:t>Rural entries by year, 2022 to 2026</a:t>
            </a:r>
            <a:endParaRPr lang="en-US" sz="1100" dirty="0"/>
          </a:p>
        </p:txBody>
      </p:sp>
      <p:sp>
        <p:nvSpPr>
          <p:cNvPr id="7" name="Shape 4"/>
          <p:cNvSpPr/>
          <p:nvPr/>
        </p:nvSpPr>
        <p:spPr>
          <a:xfrm>
            <a:off x="5760720" y="2514600"/>
            <a:ext cx="566928" cy="566928"/>
          </a:xfrm>
          <a:prstGeom prst="roundRect">
            <a:avLst>
              <a:gd name="adj" fmla="val 16129"/>
            </a:avLst>
          </a:prstGeom>
          <a:solidFill>
            <a:srgbClr val="DCE6E4"/>
          </a:solidFill>
          <a:ln/>
        </p:spPr>
        <p:txBody>
          <a:bodyPr/>
          <a:lstStyle/>
          <a:p>
            <a:endParaRPr lang="en-US"/>
          </a:p>
        </p:txBody>
      </p:sp>
      <p:sp>
        <p:nvSpPr>
          <p:cNvPr id="8" name="Text 5"/>
          <p:cNvSpPr/>
          <p:nvPr/>
        </p:nvSpPr>
        <p:spPr>
          <a:xfrm>
            <a:off x="5760720" y="2514600"/>
            <a:ext cx="566928" cy="566928"/>
          </a:xfrm>
          <a:prstGeom prst="rect">
            <a:avLst/>
          </a:prstGeom>
          <a:noFill/>
          <a:ln/>
        </p:spPr>
        <p:txBody>
          <a:bodyPr wrap="square" lIns="0" tIns="0" rIns="0" bIns="0" rtlCol="0" anchor="ctr"/>
          <a:lstStyle/>
          <a:p>
            <a:pPr marL="0" indent="0" algn="ctr">
              <a:buNone/>
            </a:pPr>
            <a:r>
              <a:rPr lang="en-US" sz="1700" b="1" dirty="0">
                <a:solidFill>
                  <a:srgbClr val="5B6B72"/>
                </a:solidFill>
                <a:latin typeface="Cambria" pitchFamily="34" charset="0"/>
                <a:ea typeface="Cambria" pitchFamily="34" charset="-122"/>
                <a:cs typeface="Cambria" pitchFamily="34" charset="-120"/>
              </a:rPr>
              <a:t>0</a:t>
            </a:r>
            <a:endParaRPr lang="en-US" sz="1700" dirty="0"/>
          </a:p>
        </p:txBody>
      </p:sp>
      <p:sp>
        <p:nvSpPr>
          <p:cNvPr id="9" name="Shape 6"/>
          <p:cNvSpPr/>
          <p:nvPr/>
        </p:nvSpPr>
        <p:spPr>
          <a:xfrm>
            <a:off x="6446520" y="2514600"/>
            <a:ext cx="566928" cy="566928"/>
          </a:xfrm>
          <a:prstGeom prst="roundRect">
            <a:avLst>
              <a:gd name="adj" fmla="val 16129"/>
            </a:avLst>
          </a:prstGeom>
          <a:solidFill>
            <a:srgbClr val="C8553D"/>
          </a:solidFill>
          <a:ln/>
        </p:spPr>
        <p:txBody>
          <a:bodyPr/>
          <a:lstStyle/>
          <a:p>
            <a:endParaRPr lang="en-US"/>
          </a:p>
        </p:txBody>
      </p:sp>
      <p:sp>
        <p:nvSpPr>
          <p:cNvPr id="10" name="Text 7"/>
          <p:cNvSpPr/>
          <p:nvPr/>
        </p:nvSpPr>
        <p:spPr>
          <a:xfrm>
            <a:off x="64465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1" name="Shape 8"/>
          <p:cNvSpPr/>
          <p:nvPr/>
        </p:nvSpPr>
        <p:spPr>
          <a:xfrm>
            <a:off x="7132320" y="2514600"/>
            <a:ext cx="566928" cy="566928"/>
          </a:xfrm>
          <a:prstGeom prst="roundRect">
            <a:avLst>
              <a:gd name="adj" fmla="val 16129"/>
            </a:avLst>
          </a:prstGeom>
          <a:solidFill>
            <a:srgbClr val="C8553D"/>
          </a:solidFill>
          <a:ln/>
        </p:spPr>
        <p:txBody>
          <a:bodyPr/>
          <a:lstStyle/>
          <a:p>
            <a:endParaRPr lang="en-US"/>
          </a:p>
        </p:txBody>
      </p:sp>
      <p:sp>
        <p:nvSpPr>
          <p:cNvPr id="12" name="Text 9"/>
          <p:cNvSpPr/>
          <p:nvPr/>
        </p:nvSpPr>
        <p:spPr>
          <a:xfrm>
            <a:off x="71323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3" name="Shape 10"/>
          <p:cNvSpPr/>
          <p:nvPr/>
        </p:nvSpPr>
        <p:spPr>
          <a:xfrm>
            <a:off x="7818120" y="2514600"/>
            <a:ext cx="566928" cy="566928"/>
          </a:xfrm>
          <a:prstGeom prst="roundRect">
            <a:avLst>
              <a:gd name="adj" fmla="val 16129"/>
            </a:avLst>
          </a:prstGeom>
          <a:solidFill>
            <a:srgbClr val="C8553D"/>
          </a:solidFill>
          <a:ln/>
        </p:spPr>
        <p:txBody>
          <a:bodyPr/>
          <a:lstStyle/>
          <a:p>
            <a:endParaRPr lang="en-US"/>
          </a:p>
        </p:txBody>
      </p:sp>
      <p:sp>
        <p:nvSpPr>
          <p:cNvPr id="14" name="Text 11"/>
          <p:cNvSpPr/>
          <p:nvPr/>
        </p:nvSpPr>
        <p:spPr>
          <a:xfrm>
            <a:off x="78181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Shape 12"/>
          <p:cNvSpPr/>
          <p:nvPr/>
        </p:nvSpPr>
        <p:spPr>
          <a:xfrm>
            <a:off x="8503920" y="2514600"/>
            <a:ext cx="566928" cy="566928"/>
          </a:xfrm>
          <a:prstGeom prst="roundRect">
            <a:avLst>
              <a:gd name="adj" fmla="val 16129"/>
            </a:avLst>
          </a:prstGeom>
          <a:solidFill>
            <a:srgbClr val="DCE6E4"/>
          </a:solidFill>
          <a:ln/>
        </p:spPr>
        <p:txBody>
          <a:bodyPr/>
          <a:lstStyle/>
          <a:p>
            <a:endParaRPr lang="en-US"/>
          </a:p>
        </p:txBody>
      </p:sp>
      <p:sp>
        <p:nvSpPr>
          <p:cNvPr id="16" name="Text 13"/>
          <p:cNvSpPr/>
          <p:nvPr/>
        </p:nvSpPr>
        <p:spPr>
          <a:xfrm>
            <a:off x="8503920" y="2514600"/>
            <a:ext cx="566928" cy="566928"/>
          </a:xfrm>
          <a:prstGeom prst="rect">
            <a:avLst/>
          </a:prstGeom>
          <a:noFill/>
          <a:ln/>
        </p:spPr>
        <p:txBody>
          <a:bodyPr wrap="square" lIns="0" tIns="0" rIns="0" bIns="0" rtlCol="0" anchor="ctr"/>
          <a:lstStyle/>
          <a:p>
            <a:pPr marL="0" indent="0" algn="ctr">
              <a:buNone/>
            </a:pPr>
            <a:r>
              <a:rPr lang="en-US" sz="1700" b="1" dirty="0">
                <a:solidFill>
                  <a:srgbClr val="5B6B72"/>
                </a:solidFill>
                <a:latin typeface="Cambria" pitchFamily="34" charset="0"/>
                <a:ea typeface="Cambria" pitchFamily="34" charset="-122"/>
                <a:cs typeface="Cambria" pitchFamily="34" charset="-120"/>
              </a:rPr>
              <a:t>0</a:t>
            </a:r>
            <a:endParaRPr lang="en-US" sz="1700" dirty="0"/>
          </a:p>
        </p:txBody>
      </p:sp>
      <p:sp>
        <p:nvSpPr>
          <p:cNvPr id="17" name="Text 14"/>
          <p:cNvSpPr/>
          <p:nvPr/>
        </p:nvSpPr>
        <p:spPr>
          <a:xfrm>
            <a:off x="5760720" y="3291840"/>
            <a:ext cx="5760720" cy="137160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“Entries” includes charter conversions, so genuine de novo formation is lower still — the honest number is below one a year.</a:t>
            </a:r>
            <a:endParaRPr lang="en-US" sz="1150" dirty="0"/>
          </a:p>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This is the direct answer to the de novo clause of Sec. 909, and the strongest single finding in the study.</a:t>
            </a:r>
            <a:endParaRPr lang="en-US" sz="1150" dirty="0"/>
          </a:p>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It is also the finding least addressed by the existing regulatory relief agenda, which is aimed at institutions that already exist.</a:t>
            </a:r>
            <a:endParaRPr lang="en-US" sz="1150" dirty="0"/>
          </a:p>
        </p:txBody>
      </p:sp>
      <p:sp>
        <p:nvSpPr>
          <p:cNvPr id="18" name="Shape 15"/>
          <p:cNvSpPr/>
          <p:nvPr/>
        </p:nvSpPr>
        <p:spPr>
          <a:xfrm>
            <a:off x="640080" y="4800600"/>
            <a:ext cx="10881360" cy="1234440"/>
          </a:xfrm>
          <a:prstGeom prst="roundRect">
            <a:avLst>
              <a:gd name="adj" fmla="val 3704"/>
            </a:avLst>
          </a:prstGeom>
          <a:solidFill>
            <a:srgbClr val="0E4C55"/>
          </a:solidFill>
          <a:ln/>
        </p:spPr>
        <p:txBody>
          <a:bodyPr/>
          <a:lstStyle/>
          <a:p>
            <a:endParaRPr lang="en-US"/>
          </a:p>
        </p:txBody>
      </p:sp>
      <p:sp>
        <p:nvSpPr>
          <p:cNvPr id="19" name="Text 16"/>
          <p:cNvSpPr/>
          <p:nvPr/>
        </p:nvSpPr>
        <p:spPr>
          <a:xfrm>
            <a:off x="960120" y="4937760"/>
            <a:ext cx="5029200" cy="256032"/>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Replacement rates make the asymmetry concrete</a:t>
            </a:r>
            <a:endParaRPr lang="en-US" sz="1200" dirty="0"/>
          </a:p>
        </p:txBody>
      </p:sp>
      <p:sp>
        <p:nvSpPr>
          <p:cNvPr id="20" name="Text 17"/>
          <p:cNvSpPr/>
          <p:nvPr/>
        </p:nvSpPr>
        <p:spPr>
          <a:xfrm>
            <a:off x="960120" y="5230368"/>
            <a:ext cx="2377440" cy="384048"/>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~17%</a:t>
            </a:r>
            <a:endParaRPr lang="en-US" sz="1900" dirty="0"/>
          </a:p>
        </p:txBody>
      </p:sp>
      <p:sp>
        <p:nvSpPr>
          <p:cNvPr id="21" name="Text 18"/>
          <p:cNvSpPr/>
          <p:nvPr/>
        </p:nvSpPr>
        <p:spPr>
          <a:xfrm>
            <a:off x="96012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Rural institutions</a:t>
            </a:r>
            <a:endParaRPr lang="en-US" sz="1050" dirty="0"/>
          </a:p>
        </p:txBody>
      </p:sp>
      <p:sp>
        <p:nvSpPr>
          <p:cNvPr id="22" name="Text 19"/>
          <p:cNvSpPr/>
          <p:nvPr/>
        </p:nvSpPr>
        <p:spPr>
          <a:xfrm>
            <a:off x="3611880" y="5230368"/>
            <a:ext cx="2377440" cy="384048"/>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~12%</a:t>
            </a:r>
            <a:endParaRPr lang="en-US" sz="1900" dirty="0"/>
          </a:p>
        </p:txBody>
      </p:sp>
      <p:sp>
        <p:nvSpPr>
          <p:cNvPr id="23" name="Text 20"/>
          <p:cNvSpPr/>
          <p:nvPr/>
        </p:nvSpPr>
        <p:spPr>
          <a:xfrm>
            <a:off x="361188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Urban institutions</a:t>
            </a:r>
            <a:endParaRPr lang="en-US" sz="1050" dirty="0"/>
          </a:p>
        </p:txBody>
      </p:sp>
      <p:sp>
        <p:nvSpPr>
          <p:cNvPr id="24" name="Text 21"/>
          <p:cNvSpPr/>
          <p:nvPr/>
        </p:nvSpPr>
        <p:spPr>
          <a:xfrm>
            <a:off x="6263640" y="5230368"/>
            <a:ext cx="2377440" cy="384048"/>
          </a:xfrm>
          <a:prstGeom prst="rect">
            <a:avLst/>
          </a:prstGeom>
          <a:noFill/>
          <a:ln/>
        </p:spPr>
        <p:txBody>
          <a:bodyPr wrap="square" lIns="0" tIns="0" rIns="0" bIns="0" rtlCol="0" anchor="ctr"/>
          <a:lstStyle/>
          <a:p>
            <a:pPr marL="0" indent="0">
              <a:buNone/>
            </a:pPr>
            <a:r>
              <a:rPr lang="en-US" sz="1900" b="1" dirty="0">
                <a:solidFill>
                  <a:srgbClr val="7FB0AE"/>
                </a:solidFill>
                <a:latin typeface="Cambria" pitchFamily="34" charset="0"/>
                <a:ea typeface="Cambria" pitchFamily="34" charset="-122"/>
                <a:cs typeface="Cambria" pitchFamily="34" charset="-120"/>
              </a:rPr>
              <a:t>104.8%</a:t>
            </a:r>
            <a:endParaRPr lang="en-US" sz="1900" dirty="0"/>
          </a:p>
        </p:txBody>
      </p:sp>
      <p:sp>
        <p:nvSpPr>
          <p:cNvPr id="25" name="Text 22"/>
          <p:cNvSpPr/>
          <p:nvPr/>
        </p:nvSpPr>
        <p:spPr>
          <a:xfrm>
            <a:off x="626364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Rural offices</a:t>
            </a:r>
            <a:endParaRPr lang="en-US" sz="1050" dirty="0"/>
          </a:p>
        </p:txBody>
      </p:sp>
      <p:sp>
        <p:nvSpPr>
          <p:cNvPr id="26" name="Text 23"/>
          <p:cNvSpPr/>
          <p:nvPr/>
        </p:nvSpPr>
        <p:spPr>
          <a:xfrm>
            <a:off x="8915400" y="5230368"/>
            <a:ext cx="2377440" cy="384048"/>
          </a:xfrm>
          <a:prstGeom prst="rect">
            <a:avLst/>
          </a:prstGeom>
          <a:noFill/>
          <a:ln/>
        </p:spPr>
        <p:txBody>
          <a:bodyPr wrap="square" lIns="0" tIns="0" rIns="0" bIns="0" rtlCol="0" anchor="ctr"/>
          <a:lstStyle/>
          <a:p>
            <a:pPr marL="0" indent="0">
              <a:buNone/>
            </a:pPr>
            <a:r>
              <a:rPr lang="en-US" sz="1900" b="1" dirty="0">
                <a:solidFill>
                  <a:srgbClr val="7FB0AE"/>
                </a:solidFill>
                <a:latin typeface="Cambria" pitchFamily="34" charset="0"/>
                <a:ea typeface="Cambria" pitchFamily="34" charset="-122"/>
                <a:cs typeface="Cambria" pitchFamily="34" charset="-120"/>
              </a:rPr>
              <a:t>97.2%</a:t>
            </a:r>
            <a:endParaRPr lang="en-US" sz="1900" dirty="0"/>
          </a:p>
        </p:txBody>
      </p:sp>
      <p:sp>
        <p:nvSpPr>
          <p:cNvPr id="27" name="Text 24"/>
          <p:cNvSpPr/>
          <p:nvPr/>
        </p:nvSpPr>
        <p:spPr>
          <a:xfrm>
            <a:off x="891540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Urban offices</a:t>
            </a:r>
            <a:endParaRPr lang="en-US" sz="1050" dirty="0"/>
          </a:p>
        </p:txBody>
      </p:sp>
      <p:sp>
        <p:nvSpPr>
          <p:cNvPr id="28"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Charters are not being replaced anywhere in the system — but in rural areas formation has effectively stopped, while rural offices are more than replaced.</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REACH</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Branches reach further than headquarters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Counting only where credit unions are headquartered overstates the empty space badly. Counting every office halves it. But the gap that remains falls almost entirely on rural counties.</a:t>
            </a:r>
            <a:endParaRPr lang="en-US" sz="1350" dirty="0"/>
          </a:p>
        </p:txBody>
      </p:sp>
      <p:graphicFrame>
        <p:nvGraphicFramePr>
          <p:cNvPr id="5" name="Chart 0"/>
          <p:cNvGraphicFramePr/>
          <p:nvPr/>
        </p:nvGraphicFramePr>
        <p:xfrm>
          <a:off x="640080" y="1874520"/>
          <a:ext cx="525780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6309360" y="1874520"/>
          <a:ext cx="5212080" cy="3200400"/>
        </p:xfrm>
        <a:graphic>
          <a:graphicData uri="http://schemas.openxmlformats.org/drawingml/2006/chart">
            <c:chart xmlns:c="http://schemas.openxmlformats.org/drawingml/2006/chart" xmlns:r="http://schemas.openxmlformats.org/officeDocument/2006/relationships" r:id="rId4"/>
          </a:graphicData>
        </a:graphic>
      </p:graphicFrame>
      <p:sp>
        <p:nvSpPr>
          <p:cNvPr id="7" name="Shape 3"/>
          <p:cNvSpPr/>
          <p:nvPr/>
        </p:nvSpPr>
        <p:spPr>
          <a:xfrm>
            <a:off x="640080" y="5212080"/>
            <a:ext cx="3291840" cy="914400"/>
          </a:xfrm>
          <a:prstGeom prst="roundRect">
            <a:avLst>
              <a:gd name="adj" fmla="val 5000"/>
            </a:avLst>
          </a:prstGeom>
          <a:solidFill>
            <a:srgbClr val="F3F5F4"/>
          </a:solidFill>
          <a:ln/>
        </p:spPr>
        <p:txBody>
          <a:bodyPr/>
          <a:lstStyle/>
          <a:p>
            <a:endParaRPr lang="en-US"/>
          </a:p>
        </p:txBody>
      </p:sp>
      <p:sp>
        <p:nvSpPr>
          <p:cNvPr id="8" name="Text 4"/>
          <p:cNvSpPr/>
          <p:nvPr/>
        </p:nvSpPr>
        <p:spPr>
          <a:xfrm>
            <a:off x="896112" y="5285232"/>
            <a:ext cx="1188720" cy="502920"/>
          </a:xfrm>
          <a:prstGeom prst="rect">
            <a:avLst/>
          </a:prstGeom>
          <a:noFill/>
          <a:ln/>
        </p:spPr>
        <p:txBody>
          <a:bodyPr wrap="square" lIns="0" tIns="0" rIns="0" bIns="0" rtlCol="0" anchor="ctr"/>
          <a:lstStyle/>
          <a:p>
            <a:pPr marL="0" indent="0">
              <a:buNone/>
            </a:pPr>
            <a:r>
              <a:rPr lang="en-US" sz="2200" b="1" dirty="0">
                <a:solidFill>
                  <a:srgbClr val="7FB0AE"/>
                </a:solidFill>
                <a:latin typeface="Cambria" pitchFamily="34" charset="0"/>
                <a:ea typeface="Cambria" pitchFamily="34" charset="-122"/>
                <a:cs typeface="Cambria" pitchFamily="34" charset="-120"/>
              </a:rPr>
              <a:t>2,036</a:t>
            </a:r>
            <a:endParaRPr lang="en-US" sz="2200" dirty="0"/>
          </a:p>
        </p:txBody>
      </p:sp>
      <p:sp>
        <p:nvSpPr>
          <p:cNvPr id="9" name="Text 5"/>
          <p:cNvSpPr/>
          <p:nvPr/>
        </p:nvSpPr>
        <p:spPr>
          <a:xfrm>
            <a:off x="20116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counties have no credit union headquartered in them</a:t>
            </a:r>
            <a:endParaRPr lang="en-US" sz="1000" dirty="0"/>
          </a:p>
        </p:txBody>
      </p:sp>
      <p:sp>
        <p:nvSpPr>
          <p:cNvPr id="10" name="Shape 6"/>
          <p:cNvSpPr/>
          <p:nvPr/>
        </p:nvSpPr>
        <p:spPr>
          <a:xfrm>
            <a:off x="4297680" y="5212080"/>
            <a:ext cx="3291840" cy="914400"/>
          </a:xfrm>
          <a:prstGeom prst="roundRect">
            <a:avLst>
              <a:gd name="adj" fmla="val 5000"/>
            </a:avLst>
          </a:prstGeom>
          <a:solidFill>
            <a:srgbClr val="F3F5F4"/>
          </a:solidFill>
          <a:ln/>
        </p:spPr>
        <p:txBody>
          <a:bodyPr/>
          <a:lstStyle/>
          <a:p>
            <a:endParaRPr lang="en-US"/>
          </a:p>
        </p:txBody>
      </p:sp>
      <p:sp>
        <p:nvSpPr>
          <p:cNvPr id="11" name="Text 7"/>
          <p:cNvSpPr/>
          <p:nvPr/>
        </p:nvSpPr>
        <p:spPr>
          <a:xfrm>
            <a:off x="4553712" y="5285232"/>
            <a:ext cx="1188720" cy="502920"/>
          </a:xfrm>
          <a:prstGeom prst="rect">
            <a:avLst/>
          </a:prstGeom>
          <a:noFill/>
          <a:ln/>
        </p:spPr>
        <p:txBody>
          <a:bodyPr wrap="square" lIns="0" tIns="0" rIns="0" bIns="0" rtlCol="0" anchor="ctr"/>
          <a:lstStyle/>
          <a:p>
            <a:pPr marL="0" indent="0">
              <a:buNone/>
            </a:pPr>
            <a:r>
              <a:rPr lang="en-US" sz="2200" b="1" dirty="0">
                <a:solidFill>
                  <a:srgbClr val="0E4C55"/>
                </a:solidFill>
                <a:latin typeface="Cambria" pitchFamily="34" charset="0"/>
                <a:ea typeface="Cambria" pitchFamily="34" charset="-122"/>
                <a:cs typeface="Cambria" pitchFamily="34" charset="-120"/>
              </a:rPr>
              <a:t>967</a:t>
            </a:r>
            <a:endParaRPr lang="en-US" sz="2200" dirty="0"/>
          </a:p>
        </p:txBody>
      </p:sp>
      <p:sp>
        <p:nvSpPr>
          <p:cNvPr id="12" name="Text 8"/>
          <p:cNvSpPr/>
          <p:nvPr/>
        </p:nvSpPr>
        <p:spPr>
          <a:xfrm>
            <a:off x="56692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still have no credit union office of any kind</a:t>
            </a:r>
            <a:endParaRPr lang="en-US" sz="1000" dirty="0"/>
          </a:p>
        </p:txBody>
      </p:sp>
      <p:sp>
        <p:nvSpPr>
          <p:cNvPr id="13" name="Shape 9"/>
          <p:cNvSpPr/>
          <p:nvPr/>
        </p:nvSpPr>
        <p:spPr>
          <a:xfrm>
            <a:off x="7955280" y="5212080"/>
            <a:ext cx="3291840" cy="914400"/>
          </a:xfrm>
          <a:prstGeom prst="roundRect">
            <a:avLst>
              <a:gd name="adj" fmla="val 5000"/>
            </a:avLst>
          </a:prstGeom>
          <a:solidFill>
            <a:srgbClr val="DCE6E4"/>
          </a:solidFill>
          <a:ln/>
        </p:spPr>
        <p:txBody>
          <a:bodyPr/>
          <a:lstStyle/>
          <a:p>
            <a:endParaRPr lang="en-US"/>
          </a:p>
        </p:txBody>
      </p:sp>
      <p:sp>
        <p:nvSpPr>
          <p:cNvPr id="14" name="Text 10"/>
          <p:cNvSpPr/>
          <p:nvPr/>
        </p:nvSpPr>
        <p:spPr>
          <a:xfrm>
            <a:off x="8211312" y="5285232"/>
            <a:ext cx="1188720" cy="502920"/>
          </a:xfrm>
          <a:prstGeom prst="rect">
            <a:avLst/>
          </a:prstGeom>
          <a:noFill/>
          <a:ln/>
        </p:spPr>
        <p:txBody>
          <a:bodyPr wrap="square" lIns="0" tIns="0" rIns="0" bIns="0" rtlCol="0" anchor="ctr"/>
          <a:lstStyle/>
          <a:p>
            <a:pPr marL="0" indent="0">
              <a:buNone/>
            </a:pPr>
            <a:r>
              <a:rPr lang="en-US" sz="2200" b="1" dirty="0">
                <a:solidFill>
                  <a:srgbClr val="C8553D"/>
                </a:solidFill>
                <a:latin typeface="Cambria" pitchFamily="34" charset="0"/>
                <a:ea typeface="Cambria" pitchFamily="34" charset="-122"/>
                <a:cs typeface="Cambria" pitchFamily="34" charset="-120"/>
              </a:rPr>
              <a:t>758</a:t>
            </a:r>
            <a:endParaRPr lang="en-US" sz="2200" dirty="0"/>
          </a:p>
        </p:txBody>
      </p:sp>
      <p:sp>
        <p:nvSpPr>
          <p:cNvPr id="15" name="Text 11"/>
          <p:cNvSpPr/>
          <p:nvPr/>
        </p:nvSpPr>
        <p:spPr>
          <a:xfrm>
            <a:off x="93268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of those 967 are rural — nearly four fifths</a:t>
            </a:r>
            <a:endParaRPr lang="en-US" sz="1000" dirty="0"/>
          </a:p>
        </p:txBody>
      </p:sp>
      <p:sp>
        <p:nvSpPr>
          <p:cNvPr id="16"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charter types 1 and 2. A rural county is nearly four times as likely to have no credit union office as a non-rural one. Headquarters counted across all 3,222 counties; offices across the 3,134 counties in the change panel, which excludes Connecticut, Puerto Rico and the outlying territories.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LIMITATIONS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this work cannot tell you yet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Said plainly, and early. Naming the limits is what makes the rest of it worth believing — and every one of these is a question someone will eventually ask.</a:t>
            </a:r>
            <a:endParaRPr lang="en-US" sz="1350" dirty="0"/>
          </a:p>
        </p:txBody>
      </p:sp>
      <p:sp>
        <p:nvSpPr>
          <p:cNvPr id="5" name="Shape 3"/>
          <p:cNvSpPr/>
          <p:nvPr/>
        </p:nvSpPr>
        <p:spPr>
          <a:xfrm>
            <a:off x="640080" y="1920240"/>
            <a:ext cx="5303520" cy="1325880"/>
          </a:xfrm>
          <a:prstGeom prst="roundRect">
            <a:avLst>
              <a:gd name="adj" fmla="val 3448"/>
            </a:avLst>
          </a:prstGeom>
          <a:solidFill>
            <a:srgbClr val="DCE6E4"/>
          </a:solidFill>
          <a:ln/>
        </p:spPr>
        <p:txBody>
          <a:bodyPr/>
          <a:lstStyle/>
          <a:p>
            <a:endParaRPr lang="en-US"/>
          </a:p>
        </p:txBody>
      </p:sp>
      <p:sp>
        <p:nvSpPr>
          <p:cNvPr id="6" name="Text 4"/>
          <p:cNvSpPr/>
          <p:nvPr/>
        </p:nvSpPr>
        <p:spPr>
          <a:xfrm>
            <a:off x="914400" y="2048256"/>
            <a:ext cx="4754880" cy="292608"/>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We know rural credit unions do better. We do not know why.</a:t>
            </a:r>
            <a:endParaRPr lang="en-US" sz="1200" dirty="0"/>
          </a:p>
        </p:txBody>
      </p:sp>
      <p:sp>
        <p:nvSpPr>
          <p:cNvPr id="7" name="Text 5"/>
          <p:cNvSpPr/>
          <p:nvPr/>
        </p:nvSpPr>
        <p:spPr>
          <a:xfrm>
            <a:off x="914400" y="2359152"/>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Being rural bundles several things together — less competition nearby, a different membership, different rules about who can join, a different local economy. We have not separated them. The report should say so rather than imply a cause we have not tested.</a:t>
            </a:r>
            <a:endParaRPr lang="en-US" sz="1000" dirty="0"/>
          </a:p>
        </p:txBody>
      </p:sp>
      <p:sp>
        <p:nvSpPr>
          <p:cNvPr id="8" name="Shape 6"/>
          <p:cNvSpPr/>
          <p:nvPr/>
        </p:nvSpPr>
        <p:spPr>
          <a:xfrm>
            <a:off x="6172200" y="1920240"/>
            <a:ext cx="5303520" cy="1325880"/>
          </a:xfrm>
          <a:prstGeom prst="roundRect">
            <a:avLst>
              <a:gd name="adj" fmla="val 3448"/>
            </a:avLst>
          </a:prstGeom>
          <a:solidFill>
            <a:srgbClr val="DCE6E4"/>
          </a:solidFill>
          <a:ln/>
        </p:spPr>
        <p:txBody>
          <a:bodyPr/>
          <a:lstStyle/>
          <a:p>
            <a:endParaRPr lang="en-US"/>
          </a:p>
        </p:txBody>
      </p:sp>
      <p:sp>
        <p:nvSpPr>
          <p:cNvPr id="9" name="Text 7"/>
          <p:cNvSpPr/>
          <p:nvPr/>
        </p:nvSpPr>
        <p:spPr>
          <a:xfrm>
            <a:off x="6446520" y="2048256"/>
            <a:ext cx="4754880" cy="292608"/>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We have not checked what banks did over the same period.</a:t>
            </a:r>
            <a:endParaRPr lang="en-US" sz="1200" dirty="0"/>
          </a:p>
        </p:txBody>
      </p:sp>
      <p:sp>
        <p:nvSpPr>
          <p:cNvPr id="10" name="Text 8"/>
          <p:cNvSpPr/>
          <p:nvPr/>
        </p:nvSpPr>
        <p:spPr>
          <a:xfrm>
            <a:off x="6446520" y="2359152"/>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counties gained credit union offices. Whether they lost bank branches at the same time decides whether this is a credit union story or a story about rural banking generally. Until we look, we cannot say which.</a:t>
            </a:r>
            <a:endParaRPr lang="en-US" sz="1000" dirty="0"/>
          </a:p>
        </p:txBody>
      </p:sp>
      <p:sp>
        <p:nvSpPr>
          <p:cNvPr id="11" name="Shape 9"/>
          <p:cNvSpPr/>
          <p:nvPr/>
        </p:nvSpPr>
        <p:spPr>
          <a:xfrm>
            <a:off x="640080" y="3401568"/>
            <a:ext cx="5303520" cy="1325880"/>
          </a:xfrm>
          <a:prstGeom prst="roundRect">
            <a:avLst>
              <a:gd name="adj" fmla="val 3448"/>
            </a:avLst>
          </a:prstGeom>
          <a:solidFill>
            <a:srgbClr val="F3F5F4"/>
          </a:solidFill>
          <a:ln/>
        </p:spPr>
        <p:txBody>
          <a:bodyPr/>
          <a:lstStyle/>
          <a:p>
            <a:endParaRPr lang="en-US"/>
          </a:p>
        </p:txBody>
      </p:sp>
      <p:sp>
        <p:nvSpPr>
          <p:cNvPr id="12" name="Text 10"/>
          <p:cNvSpPr/>
          <p:nvPr/>
        </p:nvSpPr>
        <p:spPr>
          <a:xfrm>
            <a:off x="914400" y="3529584"/>
            <a:ext cx="4754880" cy="292608"/>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We cannot yet say why credit unions disappeared.</a:t>
            </a:r>
            <a:endParaRPr lang="en-US" sz="1200" dirty="0"/>
          </a:p>
        </p:txBody>
      </p:sp>
      <p:sp>
        <p:nvSpPr>
          <p:cNvPr id="13" name="Text 11"/>
          <p:cNvSpPr/>
          <p:nvPr/>
        </p:nvSpPr>
        <p:spPr>
          <a:xfrm>
            <a:off x="914400" y="3840480"/>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Four fifths of rural exits carry a single code in the data. Whether that code means an orderly merger or a failure changes the sentence completely, and we have not confirmed which it is.</a:t>
            </a:r>
            <a:endParaRPr lang="en-US" sz="1000" dirty="0"/>
          </a:p>
        </p:txBody>
      </p:sp>
      <p:sp>
        <p:nvSpPr>
          <p:cNvPr id="14" name="Shape 12"/>
          <p:cNvSpPr/>
          <p:nvPr/>
        </p:nvSpPr>
        <p:spPr>
          <a:xfrm>
            <a:off x="6172200" y="3401568"/>
            <a:ext cx="5303520" cy="1325880"/>
          </a:xfrm>
          <a:prstGeom prst="roundRect">
            <a:avLst>
              <a:gd name="adj" fmla="val 3448"/>
            </a:avLst>
          </a:prstGeom>
          <a:solidFill>
            <a:srgbClr val="F3F5F4"/>
          </a:solidFill>
          <a:ln/>
        </p:spPr>
        <p:txBody>
          <a:bodyPr/>
          <a:lstStyle/>
          <a:p>
            <a:endParaRPr lang="en-US"/>
          </a:p>
        </p:txBody>
      </p:sp>
      <p:sp>
        <p:nvSpPr>
          <p:cNvPr id="15" name="Text 13"/>
          <p:cNvSpPr/>
          <p:nvPr/>
        </p:nvSpPr>
        <p:spPr>
          <a:xfrm>
            <a:off x="6446520" y="3529584"/>
            <a:ext cx="4754880" cy="292608"/>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Population sets a ceiling nothing can lift.</a:t>
            </a:r>
            <a:endParaRPr lang="en-US" sz="1200" dirty="0"/>
          </a:p>
        </p:txBody>
      </p:sp>
      <p:sp>
        <p:nvSpPr>
          <p:cNvPr id="16" name="Text 14"/>
          <p:cNvSpPr/>
          <p:nvPr/>
        </p:nvSpPr>
        <p:spPr>
          <a:xfrm>
            <a:off x="6446520" y="3840480"/>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No change to any rule makes people appear in a county that is emptying out. Rural counties hold half the country's land and a fourteenth of its people. The report should not promise growth that policy cannot deliver.</a:t>
            </a:r>
            <a:endParaRPr lang="en-US" sz="1000" dirty="0"/>
          </a:p>
        </p:txBody>
      </p:sp>
      <p:sp>
        <p:nvSpPr>
          <p:cNvPr id="17" name="Shape 15"/>
          <p:cNvSpPr/>
          <p:nvPr/>
        </p:nvSpPr>
        <p:spPr>
          <a:xfrm>
            <a:off x="640080" y="4882896"/>
            <a:ext cx="5303520" cy="1325880"/>
          </a:xfrm>
          <a:prstGeom prst="roundRect">
            <a:avLst>
              <a:gd name="adj" fmla="val 3448"/>
            </a:avLst>
          </a:prstGeom>
          <a:solidFill>
            <a:srgbClr val="F3F5F4"/>
          </a:solidFill>
          <a:ln/>
        </p:spPr>
        <p:txBody>
          <a:bodyPr/>
          <a:lstStyle/>
          <a:p>
            <a:endParaRPr lang="en-US"/>
          </a:p>
        </p:txBody>
      </p:sp>
      <p:sp>
        <p:nvSpPr>
          <p:cNvPr id="18" name="Text 16"/>
          <p:cNvSpPr/>
          <p:nvPr/>
        </p:nvSpPr>
        <p:spPr>
          <a:xfrm>
            <a:off x="914400" y="5010912"/>
            <a:ext cx="4754880" cy="292608"/>
          </a:xfrm>
          <a:prstGeom prst="rect">
            <a:avLst/>
          </a:prstGeom>
          <a:noFill/>
          <a:ln/>
        </p:spPr>
        <p:txBody>
          <a:bodyPr wrap="square" lIns="0" tIns="0" rIns="0" bIns="0" rtlCol="0" anchor="ctr"/>
          <a:lstStyle/>
          <a:p>
            <a:pPr marL="0" indent="0">
              <a:buNone/>
            </a:pPr>
            <a:r>
              <a:rPr lang="en-US" sz="1200" b="1" dirty="0">
                <a:solidFill>
                  <a:srgbClr val="1F6F78"/>
                </a:solidFill>
                <a:latin typeface="Calibri" pitchFamily="34" charset="0"/>
                <a:ea typeface="Calibri" pitchFamily="34" charset="-122"/>
                <a:cs typeface="Calibri" pitchFamily="34" charset="-120"/>
              </a:rPr>
              <a:t>The sector is small, so a few institutions move the numbers.</a:t>
            </a:r>
            <a:endParaRPr lang="en-US" sz="1200" dirty="0"/>
          </a:p>
        </p:txBody>
      </p:sp>
      <p:sp>
        <p:nvSpPr>
          <p:cNvPr id="19" name="Text 17"/>
          <p:cNvSpPr/>
          <p:nvPr/>
        </p:nvSpPr>
        <p:spPr>
          <a:xfrm>
            <a:off x="914400" y="5321808"/>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468 rural credit unions and 2.5% of system assets. Only ten hold more than a billion dollars, so any statement about large rural credit unions is a statement about ten firms.</a:t>
            </a:r>
            <a:endParaRPr lang="en-US" sz="1000" dirty="0"/>
          </a:p>
        </p:txBody>
      </p:sp>
      <p:sp>
        <p:nvSpPr>
          <p:cNvPr id="20" name="Shape 18"/>
          <p:cNvSpPr/>
          <p:nvPr/>
        </p:nvSpPr>
        <p:spPr>
          <a:xfrm>
            <a:off x="6172200" y="4882896"/>
            <a:ext cx="5303520" cy="1325880"/>
          </a:xfrm>
          <a:prstGeom prst="roundRect">
            <a:avLst>
              <a:gd name="adj" fmla="val 3448"/>
            </a:avLst>
          </a:prstGeom>
          <a:solidFill>
            <a:srgbClr val="F3F5F4"/>
          </a:solidFill>
          <a:ln/>
        </p:spPr>
        <p:txBody>
          <a:bodyPr/>
          <a:lstStyle/>
          <a:p>
            <a:endParaRPr lang="en-US"/>
          </a:p>
        </p:txBody>
      </p:sp>
      <p:sp>
        <p:nvSpPr>
          <p:cNvPr id="21" name="Text 19"/>
          <p:cNvSpPr/>
          <p:nvPr/>
        </p:nvSpPr>
        <p:spPr>
          <a:xfrm>
            <a:off x="6446520" y="5010912"/>
            <a:ext cx="4754880" cy="292608"/>
          </a:xfrm>
          <a:prstGeom prst="rect">
            <a:avLst/>
          </a:prstGeom>
          <a:noFill/>
          <a:ln/>
        </p:spPr>
        <p:txBody>
          <a:bodyPr wrap="square" lIns="0" tIns="0" rIns="0" bIns="0" rtlCol="0" anchor="ctr"/>
          <a:lstStyle/>
          <a:p>
            <a:pPr marL="0" indent="0">
              <a:buNone/>
            </a:pPr>
            <a:r>
              <a:rPr lang="en-US" sz="1200" b="1" dirty="0">
                <a:solidFill>
                  <a:srgbClr val="1F6F78"/>
                </a:solidFill>
                <a:latin typeface="Calibri" pitchFamily="34" charset="0"/>
                <a:ea typeface="Calibri" pitchFamily="34" charset="-122"/>
                <a:cs typeface="Calibri" pitchFamily="34" charset="-120"/>
              </a:rPr>
              <a:t>Everything here is a first pass.</a:t>
            </a:r>
            <a:endParaRPr lang="en-US" sz="1200" dirty="0"/>
          </a:p>
        </p:txBody>
      </p:sp>
      <p:sp>
        <p:nvSpPr>
          <p:cNvPr id="22" name="Text 20"/>
          <p:cNvSpPr/>
          <p:nvPr/>
        </p:nvSpPr>
        <p:spPr>
          <a:xfrm>
            <a:off x="6446520" y="5321808"/>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Nothing has been re-run on the final sample. Figures will move. Two classification questions — how Hawaii's island counties should be treated, and whether minority-designated institutions are undercounted — are still open.</a:t>
            </a:r>
            <a:endParaRPr lang="en-US" sz="1000" dirty="0"/>
          </a:p>
        </p:txBody>
      </p:sp>
      <p:sp>
        <p:nvSpPr>
          <p:cNvPr id="23" name="Text 21"/>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The first two are the ones that would change what the report recommends. The rest change how confidently it can be written.</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7 · WORK PLAN TO TRANSMITTAL</a:t>
            </a:r>
            <a:endParaRPr lang="en-US" sz="1050" dirty="0"/>
          </a:p>
        </p:txBody>
      </p:sp>
      <p:sp>
        <p:nvSpPr>
          <p:cNvPr id="3" name="Text 1"/>
          <p:cNvSpPr/>
          <p:nvPr/>
        </p:nvSpPr>
        <p:spPr>
          <a:xfrm>
            <a:off x="640080" y="658368"/>
            <a:ext cx="10881360" cy="438912"/>
          </a:xfrm>
          <a:prstGeom prst="rect">
            <a:avLst/>
          </a:prstGeom>
          <a:noFill/>
          <a:ln/>
        </p:spPr>
        <p:txBody>
          <a:bodyPr wrap="square" lIns="0" tIns="0" rIns="0" bIns="0" rtlCol="0" anchor="ctr"/>
          <a:lstStyle/>
          <a:p>
            <a:pPr marL="0" indent="0">
              <a:buNone/>
            </a:pPr>
            <a:r>
              <a:rPr lang="en-US" sz="2500" b="1" dirty="0">
                <a:solidFill>
                  <a:srgbClr val="FFFFFF"/>
                </a:solidFill>
                <a:latin typeface="Cambria" pitchFamily="34" charset="0"/>
                <a:ea typeface="Cambria" pitchFamily="34" charset="-122"/>
                <a:cs typeface="Cambria" pitchFamily="34" charset="-120"/>
              </a:rPr>
              <a:t>One research question every two weeks, then five months to write</a:t>
            </a:r>
            <a:endParaRPr lang="en-US" sz="2500" dirty="0"/>
          </a:p>
        </p:txBody>
      </p:sp>
      <p:sp>
        <p:nvSpPr>
          <p:cNvPr id="4" name="Text 2"/>
          <p:cNvSpPr/>
          <p:nvPr/>
        </p:nvSpPr>
        <p:spPr>
          <a:xfrm>
            <a:off x="640080" y="1115568"/>
            <a:ext cx="10881360" cy="365760"/>
          </a:xfrm>
          <a:prstGeom prst="rect">
            <a:avLst/>
          </a:prstGeom>
          <a:noFill/>
          <a:ln/>
        </p:spPr>
        <p:txBody>
          <a:bodyPr wrap="square" lIns="0" tIns="0" rIns="0" bIns="0" rtlCol="0" anchor="ctr"/>
          <a:lstStyle/>
          <a:p>
            <a:pPr marL="0" indent="0">
              <a:lnSpc>
                <a:spcPts val="1500"/>
              </a:lnSpc>
              <a:buNone/>
            </a:pPr>
            <a:r>
              <a:rPr lang="en-US" sz="1150" dirty="0">
                <a:solidFill>
                  <a:srgbClr val="DCE6E4"/>
                </a:solidFill>
                <a:latin typeface="Calibri" pitchFamily="34" charset="0"/>
                <a:ea typeface="Calibri" pitchFamily="34" charset="-122"/>
                <a:cs typeface="Calibri" pitchFamily="34" charset="-120"/>
              </a:rPr>
              <a:t>Detailed analysis begins 9 September. Q1 to Q9 take two weeks each — eighteen weeks. Q10 takes a month. Analysis closes 10 February 2027, leaving five months for drafting, review and clearance.</a:t>
            </a:r>
            <a:endParaRPr lang="en-US" sz="1150" dirty="0"/>
          </a:p>
        </p:txBody>
      </p:sp>
      <p:sp>
        <p:nvSpPr>
          <p:cNvPr id="5" name="Shape 3"/>
          <p:cNvSpPr/>
          <p:nvPr/>
        </p:nvSpPr>
        <p:spPr>
          <a:xfrm>
            <a:off x="2880360" y="1792224"/>
            <a:ext cx="10973" cy="3332988"/>
          </a:xfrm>
          <a:prstGeom prst="rect">
            <a:avLst/>
          </a:prstGeom>
          <a:solidFill>
            <a:srgbClr val="23384A"/>
          </a:solidFill>
          <a:ln/>
        </p:spPr>
        <p:txBody>
          <a:bodyPr/>
          <a:lstStyle/>
          <a:p>
            <a:endParaRPr lang="en-US"/>
          </a:p>
        </p:txBody>
      </p:sp>
      <p:sp>
        <p:nvSpPr>
          <p:cNvPr id="6" name="Text 4"/>
          <p:cNvSpPr/>
          <p:nvPr/>
        </p:nvSpPr>
        <p:spPr>
          <a:xfrm>
            <a:off x="2624328"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Sep</a:t>
            </a:r>
            <a:endParaRPr lang="en-US" sz="900" dirty="0"/>
          </a:p>
        </p:txBody>
      </p:sp>
      <p:sp>
        <p:nvSpPr>
          <p:cNvPr id="7" name="Shape 5"/>
          <p:cNvSpPr/>
          <p:nvPr/>
        </p:nvSpPr>
        <p:spPr>
          <a:xfrm>
            <a:off x="3499084" y="1792224"/>
            <a:ext cx="10973" cy="3332988"/>
          </a:xfrm>
          <a:prstGeom prst="rect">
            <a:avLst/>
          </a:prstGeom>
          <a:solidFill>
            <a:srgbClr val="23384A"/>
          </a:solidFill>
          <a:ln/>
        </p:spPr>
        <p:txBody>
          <a:bodyPr/>
          <a:lstStyle/>
          <a:p>
            <a:endParaRPr lang="en-US"/>
          </a:p>
        </p:txBody>
      </p:sp>
      <p:sp>
        <p:nvSpPr>
          <p:cNvPr id="8" name="Text 6"/>
          <p:cNvSpPr/>
          <p:nvPr/>
        </p:nvSpPr>
        <p:spPr>
          <a:xfrm>
            <a:off x="3243052"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Oct</a:t>
            </a:r>
            <a:endParaRPr lang="en-US" sz="900" dirty="0"/>
          </a:p>
        </p:txBody>
      </p:sp>
      <p:sp>
        <p:nvSpPr>
          <p:cNvPr id="9" name="Shape 7"/>
          <p:cNvSpPr/>
          <p:nvPr/>
        </p:nvSpPr>
        <p:spPr>
          <a:xfrm>
            <a:off x="4370922" y="1792224"/>
            <a:ext cx="10973" cy="3332988"/>
          </a:xfrm>
          <a:prstGeom prst="rect">
            <a:avLst/>
          </a:prstGeom>
          <a:solidFill>
            <a:srgbClr val="23384A"/>
          </a:solidFill>
          <a:ln/>
        </p:spPr>
        <p:txBody>
          <a:bodyPr/>
          <a:lstStyle/>
          <a:p>
            <a:endParaRPr lang="en-US"/>
          </a:p>
        </p:txBody>
      </p:sp>
      <p:sp>
        <p:nvSpPr>
          <p:cNvPr id="10" name="Text 8"/>
          <p:cNvSpPr/>
          <p:nvPr/>
        </p:nvSpPr>
        <p:spPr>
          <a:xfrm>
            <a:off x="4114890"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Nov</a:t>
            </a:r>
            <a:endParaRPr lang="en-US" sz="900" dirty="0"/>
          </a:p>
        </p:txBody>
      </p:sp>
      <p:sp>
        <p:nvSpPr>
          <p:cNvPr id="11" name="Shape 9"/>
          <p:cNvSpPr/>
          <p:nvPr/>
        </p:nvSpPr>
        <p:spPr>
          <a:xfrm>
            <a:off x="5214637" y="1792224"/>
            <a:ext cx="10973" cy="3332988"/>
          </a:xfrm>
          <a:prstGeom prst="rect">
            <a:avLst/>
          </a:prstGeom>
          <a:solidFill>
            <a:srgbClr val="23384A"/>
          </a:solidFill>
          <a:ln/>
        </p:spPr>
        <p:txBody>
          <a:bodyPr/>
          <a:lstStyle/>
          <a:p>
            <a:endParaRPr lang="en-US"/>
          </a:p>
        </p:txBody>
      </p:sp>
      <p:sp>
        <p:nvSpPr>
          <p:cNvPr id="12" name="Text 10"/>
          <p:cNvSpPr/>
          <p:nvPr/>
        </p:nvSpPr>
        <p:spPr>
          <a:xfrm>
            <a:off x="4958605"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Dec</a:t>
            </a:r>
            <a:endParaRPr lang="en-US" sz="900" dirty="0"/>
          </a:p>
        </p:txBody>
      </p:sp>
      <p:sp>
        <p:nvSpPr>
          <p:cNvPr id="13" name="Shape 11"/>
          <p:cNvSpPr/>
          <p:nvPr/>
        </p:nvSpPr>
        <p:spPr>
          <a:xfrm>
            <a:off x="6086475" y="1792224"/>
            <a:ext cx="10973" cy="3332988"/>
          </a:xfrm>
          <a:prstGeom prst="rect">
            <a:avLst/>
          </a:prstGeom>
          <a:solidFill>
            <a:srgbClr val="23384A"/>
          </a:solidFill>
          <a:ln/>
        </p:spPr>
        <p:txBody>
          <a:bodyPr/>
          <a:lstStyle/>
          <a:p>
            <a:endParaRPr lang="en-US"/>
          </a:p>
        </p:txBody>
      </p:sp>
      <p:sp>
        <p:nvSpPr>
          <p:cNvPr id="14" name="Text 12"/>
          <p:cNvSpPr/>
          <p:nvPr/>
        </p:nvSpPr>
        <p:spPr>
          <a:xfrm>
            <a:off x="5830443"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Jan</a:t>
            </a:r>
            <a:endParaRPr lang="en-US" sz="900" dirty="0"/>
          </a:p>
        </p:txBody>
      </p:sp>
      <p:sp>
        <p:nvSpPr>
          <p:cNvPr id="15" name="Shape 13"/>
          <p:cNvSpPr/>
          <p:nvPr/>
        </p:nvSpPr>
        <p:spPr>
          <a:xfrm>
            <a:off x="6958313" y="1792224"/>
            <a:ext cx="10973" cy="3332988"/>
          </a:xfrm>
          <a:prstGeom prst="rect">
            <a:avLst/>
          </a:prstGeom>
          <a:solidFill>
            <a:srgbClr val="23384A"/>
          </a:solidFill>
          <a:ln/>
        </p:spPr>
        <p:txBody>
          <a:bodyPr/>
          <a:lstStyle/>
          <a:p>
            <a:endParaRPr lang="en-US"/>
          </a:p>
        </p:txBody>
      </p:sp>
      <p:sp>
        <p:nvSpPr>
          <p:cNvPr id="16" name="Text 14"/>
          <p:cNvSpPr/>
          <p:nvPr/>
        </p:nvSpPr>
        <p:spPr>
          <a:xfrm>
            <a:off x="6702281"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Feb</a:t>
            </a:r>
            <a:endParaRPr lang="en-US" sz="900" dirty="0"/>
          </a:p>
        </p:txBody>
      </p:sp>
      <p:sp>
        <p:nvSpPr>
          <p:cNvPr id="17" name="Shape 15"/>
          <p:cNvSpPr/>
          <p:nvPr/>
        </p:nvSpPr>
        <p:spPr>
          <a:xfrm>
            <a:off x="7745780" y="1792224"/>
            <a:ext cx="10973" cy="3332988"/>
          </a:xfrm>
          <a:prstGeom prst="rect">
            <a:avLst/>
          </a:prstGeom>
          <a:solidFill>
            <a:srgbClr val="23384A"/>
          </a:solidFill>
          <a:ln/>
        </p:spPr>
        <p:txBody>
          <a:bodyPr/>
          <a:lstStyle/>
          <a:p>
            <a:endParaRPr lang="en-US"/>
          </a:p>
        </p:txBody>
      </p:sp>
      <p:sp>
        <p:nvSpPr>
          <p:cNvPr id="18" name="Text 16"/>
          <p:cNvSpPr/>
          <p:nvPr/>
        </p:nvSpPr>
        <p:spPr>
          <a:xfrm>
            <a:off x="7489748"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Mar</a:t>
            </a:r>
            <a:endParaRPr lang="en-US" sz="900" dirty="0"/>
          </a:p>
        </p:txBody>
      </p:sp>
      <p:sp>
        <p:nvSpPr>
          <p:cNvPr id="19" name="Shape 17"/>
          <p:cNvSpPr/>
          <p:nvPr/>
        </p:nvSpPr>
        <p:spPr>
          <a:xfrm>
            <a:off x="8617618" y="1792224"/>
            <a:ext cx="10973" cy="3332988"/>
          </a:xfrm>
          <a:prstGeom prst="rect">
            <a:avLst/>
          </a:prstGeom>
          <a:solidFill>
            <a:srgbClr val="23384A"/>
          </a:solidFill>
          <a:ln/>
        </p:spPr>
        <p:txBody>
          <a:bodyPr/>
          <a:lstStyle/>
          <a:p>
            <a:endParaRPr lang="en-US"/>
          </a:p>
        </p:txBody>
      </p:sp>
      <p:sp>
        <p:nvSpPr>
          <p:cNvPr id="20" name="Text 18"/>
          <p:cNvSpPr/>
          <p:nvPr/>
        </p:nvSpPr>
        <p:spPr>
          <a:xfrm>
            <a:off x="8361586"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Apr</a:t>
            </a:r>
            <a:endParaRPr lang="en-US" sz="900" dirty="0"/>
          </a:p>
        </p:txBody>
      </p:sp>
      <p:sp>
        <p:nvSpPr>
          <p:cNvPr id="21" name="Shape 19"/>
          <p:cNvSpPr/>
          <p:nvPr/>
        </p:nvSpPr>
        <p:spPr>
          <a:xfrm>
            <a:off x="9461333" y="1792224"/>
            <a:ext cx="10973" cy="3332988"/>
          </a:xfrm>
          <a:prstGeom prst="rect">
            <a:avLst/>
          </a:prstGeom>
          <a:solidFill>
            <a:srgbClr val="23384A"/>
          </a:solidFill>
          <a:ln/>
        </p:spPr>
        <p:txBody>
          <a:bodyPr/>
          <a:lstStyle/>
          <a:p>
            <a:endParaRPr lang="en-US"/>
          </a:p>
        </p:txBody>
      </p:sp>
      <p:sp>
        <p:nvSpPr>
          <p:cNvPr id="22" name="Text 20"/>
          <p:cNvSpPr/>
          <p:nvPr/>
        </p:nvSpPr>
        <p:spPr>
          <a:xfrm>
            <a:off x="9205301"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May</a:t>
            </a:r>
            <a:endParaRPr lang="en-US" sz="900" dirty="0"/>
          </a:p>
        </p:txBody>
      </p:sp>
      <p:sp>
        <p:nvSpPr>
          <p:cNvPr id="23" name="Shape 21"/>
          <p:cNvSpPr/>
          <p:nvPr/>
        </p:nvSpPr>
        <p:spPr>
          <a:xfrm>
            <a:off x="10333171" y="1792224"/>
            <a:ext cx="10973" cy="3332988"/>
          </a:xfrm>
          <a:prstGeom prst="rect">
            <a:avLst/>
          </a:prstGeom>
          <a:solidFill>
            <a:srgbClr val="23384A"/>
          </a:solidFill>
          <a:ln/>
        </p:spPr>
        <p:txBody>
          <a:bodyPr/>
          <a:lstStyle/>
          <a:p>
            <a:endParaRPr lang="en-US"/>
          </a:p>
        </p:txBody>
      </p:sp>
      <p:sp>
        <p:nvSpPr>
          <p:cNvPr id="24" name="Text 22"/>
          <p:cNvSpPr/>
          <p:nvPr/>
        </p:nvSpPr>
        <p:spPr>
          <a:xfrm>
            <a:off x="10077139"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Jun</a:t>
            </a:r>
            <a:endParaRPr lang="en-US" sz="900" dirty="0"/>
          </a:p>
        </p:txBody>
      </p:sp>
      <p:sp>
        <p:nvSpPr>
          <p:cNvPr id="25" name="Shape 23"/>
          <p:cNvSpPr/>
          <p:nvPr/>
        </p:nvSpPr>
        <p:spPr>
          <a:xfrm>
            <a:off x="11176886" y="1792224"/>
            <a:ext cx="10973" cy="3332988"/>
          </a:xfrm>
          <a:prstGeom prst="rect">
            <a:avLst/>
          </a:prstGeom>
          <a:solidFill>
            <a:srgbClr val="23384A"/>
          </a:solidFill>
          <a:ln/>
        </p:spPr>
        <p:txBody>
          <a:bodyPr/>
          <a:lstStyle/>
          <a:p>
            <a:endParaRPr lang="en-US"/>
          </a:p>
        </p:txBody>
      </p:sp>
      <p:sp>
        <p:nvSpPr>
          <p:cNvPr id="26" name="Text 24"/>
          <p:cNvSpPr/>
          <p:nvPr/>
        </p:nvSpPr>
        <p:spPr>
          <a:xfrm>
            <a:off x="10920854"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Jul</a:t>
            </a:r>
            <a:endParaRPr lang="en-US" sz="900" dirty="0"/>
          </a:p>
        </p:txBody>
      </p:sp>
      <p:sp>
        <p:nvSpPr>
          <p:cNvPr id="27" name="Text 25"/>
          <p:cNvSpPr/>
          <p:nvPr/>
        </p:nvSpPr>
        <p:spPr>
          <a:xfrm>
            <a:off x="640080" y="1828800"/>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Q1</a:t>
            </a:r>
            <a:endParaRPr lang="en-US" sz="1000" dirty="0"/>
          </a:p>
        </p:txBody>
      </p:sp>
      <p:sp>
        <p:nvSpPr>
          <p:cNvPr id="28" name="Text 26"/>
          <p:cNvSpPr/>
          <p:nvPr/>
        </p:nvSpPr>
        <p:spPr>
          <a:xfrm>
            <a:off x="1097280" y="1828800"/>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Rural, or just small?</a:t>
            </a:r>
            <a:endParaRPr lang="en-US" sz="950" dirty="0"/>
          </a:p>
        </p:txBody>
      </p:sp>
      <p:sp>
        <p:nvSpPr>
          <p:cNvPr id="29" name="Shape 27"/>
          <p:cNvSpPr/>
          <p:nvPr/>
        </p:nvSpPr>
        <p:spPr>
          <a:xfrm>
            <a:off x="2880360" y="1847088"/>
            <a:ext cx="393733" cy="182880"/>
          </a:xfrm>
          <a:prstGeom prst="roundRect">
            <a:avLst>
              <a:gd name="adj" fmla="val 200000"/>
            </a:avLst>
          </a:prstGeom>
          <a:solidFill>
            <a:srgbClr val="0E4C55"/>
          </a:solidFill>
          <a:ln/>
        </p:spPr>
        <p:txBody>
          <a:bodyPr/>
          <a:lstStyle/>
          <a:p>
            <a:endParaRPr lang="en-US"/>
          </a:p>
        </p:txBody>
      </p:sp>
      <p:sp>
        <p:nvSpPr>
          <p:cNvPr id="30" name="Text 28"/>
          <p:cNvSpPr/>
          <p:nvPr/>
        </p:nvSpPr>
        <p:spPr>
          <a:xfrm>
            <a:off x="640080" y="2116836"/>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Q2</a:t>
            </a:r>
            <a:endParaRPr lang="en-US" sz="1000" dirty="0"/>
          </a:p>
        </p:txBody>
      </p:sp>
      <p:sp>
        <p:nvSpPr>
          <p:cNvPr id="31" name="Text 29"/>
          <p:cNvSpPr/>
          <p:nvPr/>
        </p:nvSpPr>
        <p:spPr>
          <a:xfrm>
            <a:off x="1097280" y="2116836"/>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Disappearing faster than others?</a:t>
            </a:r>
            <a:endParaRPr lang="en-US" sz="950" dirty="0"/>
          </a:p>
        </p:txBody>
      </p:sp>
      <p:sp>
        <p:nvSpPr>
          <p:cNvPr id="32" name="Shape 30"/>
          <p:cNvSpPr/>
          <p:nvPr/>
        </p:nvSpPr>
        <p:spPr>
          <a:xfrm>
            <a:off x="3274093" y="2135124"/>
            <a:ext cx="393733" cy="182880"/>
          </a:xfrm>
          <a:prstGeom prst="roundRect">
            <a:avLst>
              <a:gd name="adj" fmla="val 200000"/>
            </a:avLst>
          </a:prstGeom>
          <a:solidFill>
            <a:srgbClr val="1F6F78"/>
          </a:solidFill>
          <a:ln/>
        </p:spPr>
        <p:txBody>
          <a:bodyPr/>
          <a:lstStyle/>
          <a:p>
            <a:endParaRPr lang="en-US"/>
          </a:p>
        </p:txBody>
      </p:sp>
      <p:sp>
        <p:nvSpPr>
          <p:cNvPr id="33" name="Text 31"/>
          <p:cNvSpPr/>
          <p:nvPr/>
        </p:nvSpPr>
        <p:spPr>
          <a:xfrm>
            <a:off x="640080" y="2404872"/>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Q3</a:t>
            </a:r>
            <a:endParaRPr lang="en-US" sz="1000" dirty="0"/>
          </a:p>
        </p:txBody>
      </p:sp>
      <p:sp>
        <p:nvSpPr>
          <p:cNvPr id="34" name="Text 32"/>
          <p:cNvSpPr/>
          <p:nvPr/>
        </p:nvSpPr>
        <p:spPr>
          <a:xfrm>
            <a:off x="1097280" y="2404872"/>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Does the lending cap bind?</a:t>
            </a:r>
            <a:endParaRPr lang="en-US" sz="950" dirty="0"/>
          </a:p>
        </p:txBody>
      </p:sp>
      <p:sp>
        <p:nvSpPr>
          <p:cNvPr id="35" name="Shape 33"/>
          <p:cNvSpPr/>
          <p:nvPr/>
        </p:nvSpPr>
        <p:spPr>
          <a:xfrm>
            <a:off x="3667827" y="2423160"/>
            <a:ext cx="393733" cy="182880"/>
          </a:xfrm>
          <a:prstGeom prst="roundRect">
            <a:avLst>
              <a:gd name="adj" fmla="val 200000"/>
            </a:avLst>
          </a:prstGeom>
          <a:solidFill>
            <a:srgbClr val="0E4C55"/>
          </a:solidFill>
          <a:ln/>
        </p:spPr>
        <p:txBody>
          <a:bodyPr/>
          <a:lstStyle/>
          <a:p>
            <a:endParaRPr lang="en-US"/>
          </a:p>
        </p:txBody>
      </p:sp>
      <p:sp>
        <p:nvSpPr>
          <p:cNvPr id="36" name="Text 34"/>
          <p:cNvSpPr/>
          <p:nvPr/>
        </p:nvSpPr>
        <p:spPr>
          <a:xfrm>
            <a:off x="640080" y="2692908"/>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Q4</a:t>
            </a:r>
            <a:endParaRPr lang="en-US" sz="1000" dirty="0"/>
          </a:p>
        </p:txBody>
      </p:sp>
      <p:sp>
        <p:nvSpPr>
          <p:cNvPr id="37" name="Text 35"/>
          <p:cNvSpPr/>
          <p:nvPr/>
        </p:nvSpPr>
        <p:spPr>
          <a:xfrm>
            <a:off x="1097280" y="2692908"/>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Short of capital or of customers?</a:t>
            </a:r>
            <a:endParaRPr lang="en-US" sz="950" dirty="0"/>
          </a:p>
        </p:txBody>
      </p:sp>
      <p:sp>
        <p:nvSpPr>
          <p:cNvPr id="38" name="Shape 36"/>
          <p:cNvSpPr/>
          <p:nvPr/>
        </p:nvSpPr>
        <p:spPr>
          <a:xfrm>
            <a:off x="4061560" y="2711196"/>
            <a:ext cx="393733" cy="182880"/>
          </a:xfrm>
          <a:prstGeom prst="roundRect">
            <a:avLst>
              <a:gd name="adj" fmla="val 200000"/>
            </a:avLst>
          </a:prstGeom>
          <a:solidFill>
            <a:srgbClr val="1F6F78"/>
          </a:solidFill>
          <a:ln/>
        </p:spPr>
        <p:txBody>
          <a:bodyPr/>
          <a:lstStyle/>
          <a:p>
            <a:endParaRPr lang="en-US"/>
          </a:p>
        </p:txBody>
      </p:sp>
      <p:sp>
        <p:nvSpPr>
          <p:cNvPr id="39" name="Text 37"/>
          <p:cNvSpPr/>
          <p:nvPr/>
        </p:nvSpPr>
        <p:spPr>
          <a:xfrm>
            <a:off x="640080" y="2980944"/>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Q5</a:t>
            </a:r>
            <a:endParaRPr lang="en-US" sz="1000" dirty="0"/>
          </a:p>
        </p:txBody>
      </p:sp>
      <p:sp>
        <p:nvSpPr>
          <p:cNvPr id="40" name="Text 38"/>
          <p:cNvSpPr/>
          <p:nvPr/>
        </p:nvSpPr>
        <p:spPr>
          <a:xfrm>
            <a:off x="1097280" y="2980944"/>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Does the definition change it?</a:t>
            </a:r>
            <a:endParaRPr lang="en-US" sz="950" dirty="0"/>
          </a:p>
        </p:txBody>
      </p:sp>
      <p:sp>
        <p:nvSpPr>
          <p:cNvPr id="41" name="Shape 39"/>
          <p:cNvSpPr/>
          <p:nvPr/>
        </p:nvSpPr>
        <p:spPr>
          <a:xfrm>
            <a:off x="4455294" y="2999232"/>
            <a:ext cx="393733" cy="182880"/>
          </a:xfrm>
          <a:prstGeom prst="roundRect">
            <a:avLst>
              <a:gd name="adj" fmla="val 200000"/>
            </a:avLst>
          </a:prstGeom>
          <a:solidFill>
            <a:srgbClr val="0E4C55"/>
          </a:solidFill>
          <a:ln/>
        </p:spPr>
        <p:txBody>
          <a:bodyPr/>
          <a:lstStyle/>
          <a:p>
            <a:endParaRPr lang="en-US"/>
          </a:p>
        </p:txBody>
      </p:sp>
      <p:sp>
        <p:nvSpPr>
          <p:cNvPr id="42" name="Text 40"/>
          <p:cNvSpPr/>
          <p:nvPr/>
        </p:nvSpPr>
        <p:spPr>
          <a:xfrm>
            <a:off x="640080" y="3268980"/>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Q6</a:t>
            </a:r>
            <a:endParaRPr lang="en-US" sz="1000" dirty="0"/>
          </a:p>
        </p:txBody>
      </p:sp>
      <p:sp>
        <p:nvSpPr>
          <p:cNvPr id="43" name="Text 41"/>
          <p:cNvSpPr/>
          <p:nvPr/>
        </p:nvSpPr>
        <p:spPr>
          <a:xfrm>
            <a:off x="1097280" y="3268980"/>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Who actually lends to farms?</a:t>
            </a:r>
            <a:endParaRPr lang="en-US" sz="950" dirty="0"/>
          </a:p>
        </p:txBody>
      </p:sp>
      <p:sp>
        <p:nvSpPr>
          <p:cNvPr id="44" name="Shape 42"/>
          <p:cNvSpPr/>
          <p:nvPr/>
        </p:nvSpPr>
        <p:spPr>
          <a:xfrm>
            <a:off x="4849027" y="3287268"/>
            <a:ext cx="393733" cy="182880"/>
          </a:xfrm>
          <a:prstGeom prst="roundRect">
            <a:avLst>
              <a:gd name="adj" fmla="val 200000"/>
            </a:avLst>
          </a:prstGeom>
          <a:solidFill>
            <a:srgbClr val="1F6F78"/>
          </a:solidFill>
          <a:ln/>
        </p:spPr>
        <p:txBody>
          <a:bodyPr/>
          <a:lstStyle/>
          <a:p>
            <a:endParaRPr lang="en-US"/>
          </a:p>
        </p:txBody>
      </p:sp>
      <p:sp>
        <p:nvSpPr>
          <p:cNvPr id="45" name="Text 43"/>
          <p:cNvSpPr/>
          <p:nvPr/>
        </p:nvSpPr>
        <p:spPr>
          <a:xfrm>
            <a:off x="640080" y="3557016"/>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Q7</a:t>
            </a:r>
            <a:endParaRPr lang="en-US" sz="1000" dirty="0"/>
          </a:p>
        </p:txBody>
      </p:sp>
      <p:sp>
        <p:nvSpPr>
          <p:cNvPr id="46" name="Text 44"/>
          <p:cNvSpPr/>
          <p:nvPr/>
        </p:nvSpPr>
        <p:spPr>
          <a:xfrm>
            <a:off x="1097280" y="3557016"/>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Is anyone starting new ones?</a:t>
            </a:r>
            <a:endParaRPr lang="en-US" sz="950" dirty="0"/>
          </a:p>
        </p:txBody>
      </p:sp>
      <p:sp>
        <p:nvSpPr>
          <p:cNvPr id="47" name="Shape 45"/>
          <p:cNvSpPr/>
          <p:nvPr/>
        </p:nvSpPr>
        <p:spPr>
          <a:xfrm>
            <a:off x="5242761" y="3575304"/>
            <a:ext cx="393733" cy="182880"/>
          </a:xfrm>
          <a:prstGeom prst="roundRect">
            <a:avLst>
              <a:gd name="adj" fmla="val 200000"/>
            </a:avLst>
          </a:prstGeom>
          <a:solidFill>
            <a:srgbClr val="0E4C55"/>
          </a:solidFill>
          <a:ln/>
        </p:spPr>
        <p:txBody>
          <a:bodyPr/>
          <a:lstStyle/>
          <a:p>
            <a:endParaRPr lang="en-US"/>
          </a:p>
        </p:txBody>
      </p:sp>
      <p:sp>
        <p:nvSpPr>
          <p:cNvPr id="48" name="Text 46"/>
          <p:cNvSpPr/>
          <p:nvPr/>
        </p:nvSpPr>
        <p:spPr>
          <a:xfrm>
            <a:off x="640080" y="3845052"/>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Q8</a:t>
            </a:r>
            <a:endParaRPr lang="en-US" sz="1000" dirty="0"/>
          </a:p>
        </p:txBody>
      </p:sp>
      <p:sp>
        <p:nvSpPr>
          <p:cNvPr id="49" name="Text 47"/>
          <p:cNvSpPr/>
          <p:nvPr/>
        </p:nvSpPr>
        <p:spPr>
          <a:xfrm>
            <a:off x="1097280" y="3845052"/>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Is an office harder to find?</a:t>
            </a:r>
            <a:endParaRPr lang="en-US" sz="950" dirty="0"/>
          </a:p>
        </p:txBody>
      </p:sp>
      <p:sp>
        <p:nvSpPr>
          <p:cNvPr id="50" name="Shape 48"/>
          <p:cNvSpPr/>
          <p:nvPr/>
        </p:nvSpPr>
        <p:spPr>
          <a:xfrm>
            <a:off x="5636494" y="3863340"/>
            <a:ext cx="393733" cy="182880"/>
          </a:xfrm>
          <a:prstGeom prst="roundRect">
            <a:avLst>
              <a:gd name="adj" fmla="val 200000"/>
            </a:avLst>
          </a:prstGeom>
          <a:solidFill>
            <a:srgbClr val="1F6F78"/>
          </a:solidFill>
          <a:ln/>
        </p:spPr>
        <p:txBody>
          <a:bodyPr/>
          <a:lstStyle/>
          <a:p>
            <a:endParaRPr lang="en-US"/>
          </a:p>
        </p:txBody>
      </p:sp>
      <p:sp>
        <p:nvSpPr>
          <p:cNvPr id="51" name="Text 49"/>
          <p:cNvSpPr/>
          <p:nvPr/>
        </p:nvSpPr>
        <p:spPr>
          <a:xfrm>
            <a:off x="640080" y="4133088"/>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Q9</a:t>
            </a:r>
            <a:endParaRPr lang="en-US" sz="1000" dirty="0"/>
          </a:p>
        </p:txBody>
      </p:sp>
      <p:sp>
        <p:nvSpPr>
          <p:cNvPr id="52" name="Text 50"/>
          <p:cNvSpPr/>
          <p:nvPr/>
        </p:nvSpPr>
        <p:spPr>
          <a:xfrm>
            <a:off x="1097280" y="4133088"/>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How far back can we look?</a:t>
            </a:r>
            <a:endParaRPr lang="en-US" sz="950" dirty="0"/>
          </a:p>
        </p:txBody>
      </p:sp>
      <p:sp>
        <p:nvSpPr>
          <p:cNvPr id="53" name="Shape 51"/>
          <p:cNvSpPr/>
          <p:nvPr/>
        </p:nvSpPr>
        <p:spPr>
          <a:xfrm>
            <a:off x="6030227" y="4151376"/>
            <a:ext cx="393733" cy="182880"/>
          </a:xfrm>
          <a:prstGeom prst="roundRect">
            <a:avLst>
              <a:gd name="adj" fmla="val 200000"/>
            </a:avLst>
          </a:prstGeom>
          <a:solidFill>
            <a:srgbClr val="0E4C55"/>
          </a:solidFill>
          <a:ln/>
        </p:spPr>
        <p:txBody>
          <a:bodyPr/>
          <a:lstStyle/>
          <a:p>
            <a:endParaRPr lang="en-US"/>
          </a:p>
        </p:txBody>
      </p:sp>
      <p:sp>
        <p:nvSpPr>
          <p:cNvPr id="54" name="Text 52"/>
          <p:cNvSpPr/>
          <p:nvPr/>
        </p:nvSpPr>
        <p:spPr>
          <a:xfrm>
            <a:off x="640080" y="4421124"/>
            <a:ext cx="411480" cy="237744"/>
          </a:xfrm>
          <a:prstGeom prst="rect">
            <a:avLst/>
          </a:prstGeom>
          <a:noFill/>
          <a:ln/>
        </p:spPr>
        <p:txBody>
          <a:bodyPr wrap="square" lIns="0" tIns="0" rIns="0" bIns="0" rtlCol="0" anchor="ctr"/>
          <a:lstStyle/>
          <a:p>
            <a:pPr marL="0" indent="0">
              <a:buNone/>
            </a:pPr>
            <a:r>
              <a:rPr lang="en-US" sz="1000" b="1" dirty="0">
                <a:solidFill>
                  <a:srgbClr val="C8553D"/>
                </a:solidFill>
                <a:latin typeface="Calibri" pitchFamily="34" charset="0"/>
                <a:ea typeface="Calibri" pitchFamily="34" charset="-122"/>
                <a:cs typeface="Calibri" pitchFamily="34" charset="-120"/>
              </a:rPr>
              <a:t>Q10</a:t>
            </a:r>
            <a:endParaRPr lang="en-US" sz="1000" dirty="0"/>
          </a:p>
        </p:txBody>
      </p:sp>
      <p:sp>
        <p:nvSpPr>
          <p:cNvPr id="55" name="Text 53"/>
          <p:cNvSpPr/>
          <p:nvPr/>
        </p:nvSpPr>
        <p:spPr>
          <a:xfrm>
            <a:off x="1097280" y="4421124"/>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Mortgage access and cost</a:t>
            </a:r>
            <a:endParaRPr lang="en-US" sz="950" dirty="0"/>
          </a:p>
        </p:txBody>
      </p:sp>
      <p:sp>
        <p:nvSpPr>
          <p:cNvPr id="56" name="Shape 54"/>
          <p:cNvSpPr/>
          <p:nvPr/>
        </p:nvSpPr>
        <p:spPr>
          <a:xfrm>
            <a:off x="6423961" y="4439412"/>
            <a:ext cx="787467" cy="182880"/>
          </a:xfrm>
          <a:prstGeom prst="roundRect">
            <a:avLst>
              <a:gd name="adj" fmla="val 200000"/>
            </a:avLst>
          </a:prstGeom>
          <a:solidFill>
            <a:srgbClr val="C8553D"/>
          </a:solidFill>
          <a:ln/>
        </p:spPr>
        <p:txBody>
          <a:bodyPr/>
          <a:lstStyle/>
          <a:p>
            <a:endParaRPr lang="en-US"/>
          </a:p>
        </p:txBody>
      </p:sp>
      <p:sp>
        <p:nvSpPr>
          <p:cNvPr id="57" name="Text 55"/>
          <p:cNvSpPr/>
          <p:nvPr/>
        </p:nvSpPr>
        <p:spPr>
          <a:xfrm>
            <a:off x="640080" y="4709160"/>
            <a:ext cx="457200" cy="237744"/>
          </a:xfrm>
          <a:prstGeom prst="rect">
            <a:avLst/>
          </a:prstGeom>
          <a:noFill/>
          <a:ln/>
        </p:spPr>
        <p:txBody>
          <a:bodyPr wrap="square" lIns="0" tIns="0" rIns="0" bIns="0" rtlCol="0" anchor="ctr"/>
          <a:lstStyle/>
          <a:p>
            <a:pPr marL="0" indent="0">
              <a:buNone/>
            </a:pPr>
            <a:r>
              <a:rPr lang="en-US" sz="1000" b="1" dirty="0">
                <a:solidFill>
                  <a:srgbClr val="7FB0AE"/>
                </a:solidFill>
                <a:latin typeface="Calibri" pitchFamily="34" charset="0"/>
                <a:ea typeface="Calibri" pitchFamily="34" charset="-122"/>
                <a:cs typeface="Calibri" pitchFamily="34" charset="-120"/>
              </a:rPr>
              <a:t>Then</a:t>
            </a:r>
            <a:endParaRPr lang="en-US" sz="1000" dirty="0"/>
          </a:p>
        </p:txBody>
      </p:sp>
      <p:sp>
        <p:nvSpPr>
          <p:cNvPr id="58" name="Text 56"/>
          <p:cNvSpPr/>
          <p:nvPr/>
        </p:nvSpPr>
        <p:spPr>
          <a:xfrm>
            <a:off x="1097280" y="4709160"/>
            <a:ext cx="210312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Draft, internal review, clearance</a:t>
            </a:r>
            <a:endParaRPr lang="en-US" sz="950" dirty="0"/>
          </a:p>
        </p:txBody>
      </p:sp>
      <p:sp>
        <p:nvSpPr>
          <p:cNvPr id="59" name="Shape 57"/>
          <p:cNvSpPr/>
          <p:nvPr/>
        </p:nvSpPr>
        <p:spPr>
          <a:xfrm>
            <a:off x="7211428" y="4727448"/>
            <a:ext cx="4218572" cy="182880"/>
          </a:xfrm>
          <a:prstGeom prst="roundRect">
            <a:avLst>
              <a:gd name="adj" fmla="val 200000"/>
            </a:avLst>
          </a:prstGeom>
          <a:solidFill>
            <a:srgbClr val="2E4A63"/>
          </a:solidFill>
          <a:ln/>
        </p:spPr>
        <p:txBody>
          <a:bodyPr/>
          <a:lstStyle/>
          <a:p>
            <a:endParaRPr lang="en-US"/>
          </a:p>
        </p:txBody>
      </p:sp>
      <p:sp>
        <p:nvSpPr>
          <p:cNvPr id="60" name="Shape 58"/>
          <p:cNvSpPr/>
          <p:nvPr/>
        </p:nvSpPr>
        <p:spPr>
          <a:xfrm>
            <a:off x="2816352" y="1682496"/>
            <a:ext cx="128016" cy="128016"/>
          </a:xfrm>
          <a:prstGeom prst="ellipse">
            <a:avLst/>
          </a:prstGeom>
          <a:solidFill>
            <a:srgbClr val="E8A24A"/>
          </a:solidFill>
          <a:ln/>
        </p:spPr>
        <p:txBody>
          <a:bodyPr/>
          <a:lstStyle/>
          <a:p>
            <a:endParaRPr lang="en-US"/>
          </a:p>
        </p:txBody>
      </p:sp>
      <p:sp>
        <p:nvSpPr>
          <p:cNvPr id="61" name="Shape 59"/>
          <p:cNvSpPr/>
          <p:nvPr/>
        </p:nvSpPr>
        <p:spPr>
          <a:xfrm>
            <a:off x="7147420" y="1682496"/>
            <a:ext cx="128016" cy="128016"/>
          </a:xfrm>
          <a:prstGeom prst="ellipse">
            <a:avLst/>
          </a:prstGeom>
          <a:solidFill>
            <a:srgbClr val="E8A24A"/>
          </a:solidFill>
          <a:ln/>
        </p:spPr>
        <p:txBody>
          <a:bodyPr/>
          <a:lstStyle/>
          <a:p>
            <a:endParaRPr lang="en-US"/>
          </a:p>
        </p:txBody>
      </p:sp>
      <p:sp>
        <p:nvSpPr>
          <p:cNvPr id="62" name="Shape 60"/>
          <p:cNvSpPr/>
          <p:nvPr/>
        </p:nvSpPr>
        <p:spPr>
          <a:xfrm rot="5400000">
            <a:off x="11311128" y="4745736"/>
            <a:ext cx="256032" cy="219456"/>
          </a:xfrm>
          <a:prstGeom prst="triangle">
            <a:avLst/>
          </a:prstGeom>
          <a:solidFill>
            <a:srgbClr val="E8A24A"/>
          </a:solidFill>
          <a:ln/>
        </p:spPr>
        <p:txBody>
          <a:bodyPr/>
          <a:lstStyle/>
          <a:p>
            <a:endParaRPr lang="en-US"/>
          </a:p>
        </p:txBody>
      </p:sp>
      <p:sp>
        <p:nvSpPr>
          <p:cNvPr id="63" name="Text 61"/>
          <p:cNvSpPr/>
          <p:nvPr/>
        </p:nvSpPr>
        <p:spPr>
          <a:xfrm>
            <a:off x="1874520"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9 Sep 2026  ·  analysis begins</a:t>
            </a:r>
            <a:endParaRPr lang="en-US" sz="950" dirty="0"/>
          </a:p>
        </p:txBody>
      </p:sp>
      <p:sp>
        <p:nvSpPr>
          <p:cNvPr id="64" name="Text 62"/>
          <p:cNvSpPr/>
          <p:nvPr/>
        </p:nvSpPr>
        <p:spPr>
          <a:xfrm>
            <a:off x="6205588"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10 Feb 2027  ·  analysis closes</a:t>
            </a:r>
            <a:endParaRPr lang="en-US" sz="950" dirty="0"/>
          </a:p>
        </p:txBody>
      </p:sp>
      <p:sp>
        <p:nvSpPr>
          <p:cNvPr id="65" name="Text 63"/>
          <p:cNvSpPr/>
          <p:nvPr/>
        </p:nvSpPr>
        <p:spPr>
          <a:xfrm>
            <a:off x="9875520"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10 Jul 2027  ·  report due</a:t>
            </a:r>
            <a:endParaRPr lang="en-US" sz="950" dirty="0"/>
          </a:p>
        </p:txBody>
      </p:sp>
      <p:sp>
        <p:nvSpPr>
          <p:cNvPr id="66" name="Shape 64"/>
          <p:cNvSpPr/>
          <p:nvPr/>
        </p:nvSpPr>
        <p:spPr>
          <a:xfrm>
            <a:off x="640080" y="5413248"/>
            <a:ext cx="3291840" cy="868680"/>
          </a:xfrm>
          <a:prstGeom prst="roundRect">
            <a:avLst>
              <a:gd name="adj" fmla="val 5263"/>
            </a:avLst>
          </a:prstGeom>
          <a:solidFill>
            <a:srgbClr val="1B2C3D"/>
          </a:solidFill>
          <a:ln/>
        </p:spPr>
        <p:txBody>
          <a:bodyPr/>
          <a:lstStyle/>
          <a:p>
            <a:endParaRPr lang="en-US"/>
          </a:p>
        </p:txBody>
      </p:sp>
      <p:sp>
        <p:nvSpPr>
          <p:cNvPr id="67" name="Text 65"/>
          <p:cNvSpPr/>
          <p:nvPr/>
        </p:nvSpPr>
        <p:spPr>
          <a:xfrm>
            <a:off x="8778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Point the recommendations at formation</a:t>
            </a:r>
            <a:endParaRPr lang="en-US" sz="1050" dirty="0"/>
          </a:p>
        </p:txBody>
      </p:sp>
      <p:sp>
        <p:nvSpPr>
          <p:cNvPr id="68" name="Text 66"/>
          <p:cNvSpPr/>
          <p:nvPr/>
        </p:nvSpPr>
        <p:spPr>
          <a:xfrm>
            <a:off x="8778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Toward the chartering pathway, initial capital and the rules for new entrants — not at fixing institutions the evidence says are not broken.</a:t>
            </a:r>
            <a:endParaRPr lang="en-US" sz="850" dirty="0"/>
          </a:p>
        </p:txBody>
      </p:sp>
      <p:sp>
        <p:nvSpPr>
          <p:cNvPr id="69" name="Shape 67"/>
          <p:cNvSpPr/>
          <p:nvPr/>
        </p:nvSpPr>
        <p:spPr>
          <a:xfrm>
            <a:off x="4297680" y="5413248"/>
            <a:ext cx="3291840" cy="868680"/>
          </a:xfrm>
          <a:prstGeom prst="roundRect">
            <a:avLst>
              <a:gd name="adj" fmla="val 5263"/>
            </a:avLst>
          </a:prstGeom>
          <a:solidFill>
            <a:srgbClr val="1B2C3D"/>
          </a:solidFill>
          <a:ln/>
        </p:spPr>
        <p:txBody>
          <a:bodyPr/>
          <a:lstStyle/>
          <a:p>
            <a:endParaRPr lang="en-US"/>
          </a:p>
        </p:txBody>
      </p:sp>
      <p:sp>
        <p:nvSpPr>
          <p:cNvPr id="70" name="Text 68"/>
          <p:cNvSpPr/>
          <p:nvPr/>
        </p:nvSpPr>
        <p:spPr>
          <a:xfrm>
            <a:off x="45354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Report access alongside formation</a:t>
            </a:r>
            <a:endParaRPr lang="en-US" sz="1050" dirty="0"/>
          </a:p>
        </p:txBody>
      </p:sp>
      <p:sp>
        <p:nvSpPr>
          <p:cNvPr id="71" name="Text 69"/>
          <p:cNvSpPr/>
          <p:nvPr/>
        </p:nvSpPr>
        <p:spPr>
          <a:xfrm>
            <a:off x="45354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Rural offices grew and are more than replaced when they close. Leaving that out would overstate the harm and invite a correction.</a:t>
            </a:r>
            <a:endParaRPr lang="en-US" sz="850" dirty="0"/>
          </a:p>
        </p:txBody>
      </p:sp>
      <p:sp>
        <p:nvSpPr>
          <p:cNvPr id="72" name="Shape 70"/>
          <p:cNvSpPr/>
          <p:nvPr/>
        </p:nvSpPr>
        <p:spPr>
          <a:xfrm>
            <a:off x="7955280" y="5413248"/>
            <a:ext cx="3291840" cy="868680"/>
          </a:xfrm>
          <a:prstGeom prst="roundRect">
            <a:avLst>
              <a:gd name="adj" fmla="val 5263"/>
            </a:avLst>
          </a:prstGeom>
          <a:solidFill>
            <a:srgbClr val="1B2C3D"/>
          </a:solidFill>
          <a:ln/>
        </p:spPr>
        <p:txBody>
          <a:bodyPr/>
          <a:lstStyle/>
          <a:p>
            <a:endParaRPr lang="en-US"/>
          </a:p>
        </p:txBody>
      </p:sp>
      <p:sp>
        <p:nvSpPr>
          <p:cNvPr id="73" name="Text 71"/>
          <p:cNvSpPr/>
          <p:nvPr/>
        </p:nvSpPr>
        <p:spPr>
          <a:xfrm>
            <a:off x="81930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Promise only what policy can deliver</a:t>
            </a:r>
            <a:endParaRPr lang="en-US" sz="1050" dirty="0"/>
          </a:p>
        </p:txBody>
      </p:sp>
      <p:sp>
        <p:nvSpPr>
          <p:cNvPr id="74" name="Text 72"/>
          <p:cNvSpPr/>
          <p:nvPr/>
        </p:nvSpPr>
        <p:spPr>
          <a:xfrm>
            <a:off x="81930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Demography sets a ceiling. The honest offer is a better path to a new charter and a real number for what one costs.</a:t>
            </a:r>
            <a:endParaRPr lang="en-US" sz="850" dirty="0"/>
          </a:p>
        </p:txBody>
      </p:sp>
      <p:sp>
        <p:nvSpPr>
          <p:cNvPr id="75" name="Text 73"/>
          <p:cNvSpPr/>
          <p:nvPr/>
        </p:nvSpPr>
        <p:spPr>
          <a:xfrm>
            <a:off x="640080" y="6382512"/>
            <a:ext cx="10881360" cy="237744"/>
          </a:xfrm>
          <a:prstGeom prst="rect">
            <a:avLst/>
          </a:prstGeom>
          <a:noFill/>
          <a:ln/>
        </p:spPr>
        <p:txBody>
          <a:bodyPr wrap="square" lIns="0" tIns="0" rIns="0" bIns="0" rtlCol="0" anchor="ctr"/>
          <a:lstStyle/>
          <a:p>
            <a:pPr marL="0" indent="0">
              <a:buNone/>
            </a:pPr>
            <a:r>
              <a:rPr lang="en-US" sz="900" dirty="0">
                <a:solidFill>
                  <a:srgbClr val="5B6B72"/>
                </a:solidFill>
                <a:latin typeface="Calibri" pitchFamily="34" charset="0"/>
                <a:ea typeface="Calibri" pitchFamily="34" charset="-122"/>
                <a:cs typeface="Calibri" pitchFamily="34" charset="-120"/>
              </a:rPr>
              <a:t>NCUA Office of the Chief Economist  ·  ROAD Act Sec. 909  ·  August 2026  ·  All findings preliminary</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2377440"/>
            <a:ext cx="1088136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p:nvPr/>
        </p:nvSpPr>
        <p:spPr>
          <a:xfrm>
            <a:off x="640080" y="3291840"/>
            <a:ext cx="8686800" cy="822960"/>
          </a:xfrm>
          <a:prstGeom prst="rect">
            <a:avLst/>
          </a:prstGeom>
          <a:noFill/>
          <a:ln/>
        </p:spPr>
        <p:txBody>
          <a:bodyPr wrap="square" lIns="0" tIns="0" rIns="0" bIns="0" rtlCol="0" anchor="ctr"/>
          <a:lstStyle/>
          <a:p>
            <a:pPr marL="0" indent="0">
              <a:lnSpc>
                <a:spcPts val="2100"/>
              </a:lnSpc>
              <a:buNone/>
            </a:pPr>
            <a:r>
              <a:rPr lang="en-US" sz="1400" dirty="0">
                <a:solidFill>
                  <a:srgbClr val="DCE6E4"/>
                </a:solidFill>
                <a:latin typeface="Calibri" pitchFamily="34" charset="0"/>
                <a:ea typeface="Calibri" pitchFamily="34" charset="-122"/>
                <a:cs typeface="Calibri" pitchFamily="34" charset="-120"/>
              </a:rPr>
              <a:t>Held back from the main briefing for time. Each of these answers a question that is likely to be asked, and any one can be turned to directly.</a:t>
            </a:r>
            <a:endParaRPr lang="en-US" sz="1400" dirty="0"/>
          </a:p>
        </p:txBody>
      </p:sp>
      <p:sp>
        <p:nvSpPr>
          <p:cNvPr id="4" name="Text 2"/>
          <p:cNvSpPr/>
          <p:nvPr/>
        </p:nvSpPr>
        <p:spPr>
          <a:xfrm>
            <a:off x="640080" y="43434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capital-ceiling claim we tested and withdrew</a:t>
            </a:r>
            <a:endParaRPr lang="en-US" sz="1200" dirty="0"/>
          </a:p>
        </p:txBody>
      </p:sp>
      <p:sp>
        <p:nvSpPr>
          <p:cNvPr id="5" name="Text 3"/>
          <p:cNvSpPr/>
          <p:nvPr/>
        </p:nvSpPr>
        <p:spPr>
          <a:xfrm>
            <a:off x="6126480" y="43434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Why the question is worth the effort</a:t>
            </a:r>
            <a:endParaRPr lang="en-US" sz="1200" dirty="0"/>
          </a:p>
        </p:txBody>
      </p:sp>
      <p:sp>
        <p:nvSpPr>
          <p:cNvPr id="6" name="Text 4"/>
          <p:cNvSpPr/>
          <p:nvPr/>
        </p:nvSpPr>
        <p:spPr>
          <a:xfrm>
            <a:off x="640080" y="48006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How the ten questions were tiered</a:t>
            </a:r>
            <a:endParaRPr lang="en-US" sz="1200" dirty="0"/>
          </a:p>
        </p:txBody>
      </p:sp>
      <p:sp>
        <p:nvSpPr>
          <p:cNvPr id="7" name="Text 5"/>
          <p:cNvSpPr/>
          <p:nvPr/>
        </p:nvSpPr>
        <p:spPr>
          <a:xfrm>
            <a:off x="6126480" y="48006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What the findings are built on</a:t>
            </a:r>
            <a:endParaRPr lang="en-US" sz="1200" dirty="0"/>
          </a:p>
        </p:txBody>
      </p:sp>
      <p:sp>
        <p:nvSpPr>
          <p:cNvPr id="8" name="Text 6"/>
          <p:cNvSpPr/>
          <p:nvPr/>
        </p:nvSpPr>
        <p:spPr>
          <a:xfrm>
            <a:off x="640080" y="52578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How much the definition of “rural” moves the answers</a:t>
            </a:r>
            <a:endParaRPr lang="en-US" sz="1200" dirty="0"/>
          </a:p>
        </p:txBody>
      </p:sp>
      <p:sp>
        <p:nvSpPr>
          <p:cNvPr id="9" name="Text 7"/>
          <p:cNvSpPr/>
          <p:nvPr/>
        </p:nvSpPr>
        <p:spPr>
          <a:xfrm>
            <a:off x="6126480" y="52578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Four more ways of testing the Q1 finding</a:t>
            </a:r>
            <a:endParaRPr lang="en-US" sz="1200" dirty="0"/>
          </a:p>
        </p:txBody>
      </p:sp>
      <p:sp>
        <p:nvSpPr>
          <p:cNvPr id="10" name="Text 8"/>
          <p:cNvSpPr/>
          <p:nvPr/>
        </p:nvSpPr>
        <p:spPr>
          <a:xfrm>
            <a:off x="640080" y="57150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office network, 2013 to 2026</a:t>
            </a:r>
            <a:endParaRPr lang="en-US" sz="1200" dirty="0"/>
          </a:p>
        </p:txBody>
      </p:sp>
      <p:sp>
        <p:nvSpPr>
          <p:cNvPr id="11" name="Text 9"/>
          <p:cNvSpPr/>
          <p:nvPr/>
        </p:nvSpPr>
        <p:spPr>
          <a:xfrm>
            <a:off x="6126480" y="57150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business lending cap</a:t>
            </a:r>
            <a:endParaRPr lang="en-US" sz="1200" dirty="0"/>
          </a:p>
        </p:txBody>
      </p:sp>
      <p:sp>
        <p:nvSpPr>
          <p:cNvPr id="12" name="Text 10"/>
          <p:cNvSpPr/>
          <p:nvPr/>
        </p:nvSpPr>
        <p:spPr>
          <a:xfrm>
            <a:off x="640080" y="61722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Three other corrections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CORRECTIONS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we tested and had to withdraw</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An earlier draft argued that rural credit unions were growing into a capital ceiling. We tested it against internal capital generation. It is not supported, and it has been removed from both drafted sections.</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667512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6576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Group</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Actual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Sustainable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Headroom</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 above sustainable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4.04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6.76</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+2.72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5.47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30.7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 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4.26</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7.54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31.7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 non-LID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6.12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+2.34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 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2.93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5.53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+2.60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 non-LID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28.7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7498080" y="2103120"/>
            <a:ext cx="4023360" cy="1325880"/>
          </a:xfrm>
          <a:prstGeom prst="roundRect">
            <a:avLst>
              <a:gd name="adj" fmla="val 3448"/>
            </a:avLst>
          </a:prstGeom>
          <a:solidFill>
            <a:srgbClr val="F3F5F4"/>
          </a:solidFill>
          <a:ln/>
        </p:spPr>
        <p:txBody>
          <a:bodyPr/>
          <a:lstStyle/>
          <a:p>
            <a:endParaRPr lang="en-US"/>
          </a:p>
        </p:txBody>
      </p:sp>
      <p:sp>
        <p:nvSpPr>
          <p:cNvPr id="7" name="Text 4"/>
          <p:cNvSpPr/>
          <p:nvPr/>
        </p:nvSpPr>
        <p:spPr>
          <a:xfrm>
            <a:off x="7726680" y="2240280"/>
            <a:ext cx="3566160" cy="237744"/>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What survives</a:t>
            </a:r>
            <a:endParaRPr lang="en-US" sz="1150" dirty="0"/>
          </a:p>
        </p:txBody>
      </p:sp>
      <p:sp>
        <p:nvSpPr>
          <p:cNvPr id="8" name="Text 5"/>
          <p:cNvSpPr/>
          <p:nvPr/>
        </p:nvSpPr>
        <p:spPr>
          <a:xfrm>
            <a:off x="7726680" y="2505456"/>
            <a:ext cx="3611880" cy="868680"/>
          </a:xfrm>
          <a:prstGeom prst="rect">
            <a:avLst/>
          </a:prstGeom>
          <a:noFill/>
          <a:ln/>
        </p:spPr>
        <p:txBody>
          <a:bodyPr wrap="square" lIns="0" tIns="0" rIns="0" bIns="0" rtlCol="0" anchor="ctr"/>
          <a:lstStyle/>
          <a:p>
            <a:pPr marL="0" indent="0">
              <a:lnSpc>
                <a:spcPts val="1400"/>
              </a:lnSpc>
              <a:buNone/>
            </a:pPr>
            <a:r>
              <a:rPr lang="en-US" sz="1050" dirty="0">
                <a:solidFill>
                  <a:srgbClr val="12202E"/>
                </a:solidFill>
                <a:latin typeface="Calibri" pitchFamily="34" charset="0"/>
                <a:ea typeface="Calibri" pitchFamily="34" charset="-122"/>
                <a:cs typeface="Calibri" pitchFamily="34" charset="-120"/>
              </a:rPr>
              <a:t>Rural credit unions have no capital ADVANTAGE once size is accounted for — 0.16 pp on a base of 13.3 in matched pairs: detectable, and economically negligible.</a:t>
            </a:r>
            <a:endParaRPr lang="en-US" sz="1050" dirty="0"/>
          </a:p>
        </p:txBody>
      </p:sp>
      <p:sp>
        <p:nvSpPr>
          <p:cNvPr id="9" name="Shape 6"/>
          <p:cNvSpPr/>
          <p:nvPr/>
        </p:nvSpPr>
        <p:spPr>
          <a:xfrm>
            <a:off x="7498080" y="3566160"/>
            <a:ext cx="4023360" cy="1371600"/>
          </a:xfrm>
          <a:prstGeom prst="roundRect">
            <a:avLst>
              <a:gd name="adj" fmla="val 3333"/>
            </a:avLst>
          </a:prstGeom>
          <a:solidFill>
            <a:srgbClr val="C8553D"/>
          </a:solidFill>
          <a:ln/>
        </p:spPr>
        <p:txBody>
          <a:bodyPr/>
          <a:lstStyle/>
          <a:p>
            <a:endParaRPr lang="en-US"/>
          </a:p>
        </p:txBody>
      </p:sp>
      <p:sp>
        <p:nvSpPr>
          <p:cNvPr id="10" name="Text 7"/>
          <p:cNvSpPr/>
          <p:nvPr/>
        </p:nvSpPr>
        <p:spPr>
          <a:xfrm>
            <a:off x="7726680" y="3703320"/>
            <a:ext cx="3566160" cy="237744"/>
          </a:xfrm>
          <a:prstGeom prst="rect">
            <a:avLst/>
          </a:prstGeom>
          <a:noFill/>
          <a:ln/>
        </p:spPr>
        <p:txBody>
          <a:bodyPr wrap="square" lIns="0" tIns="0" rIns="0" bIns="0" rtlCol="0" anchor="ctr"/>
          <a:lstStyle/>
          <a:p>
            <a:pPr marL="0" indent="0">
              <a:buNone/>
            </a:pPr>
            <a:r>
              <a:rPr lang="en-US" sz="1150" b="1" dirty="0">
                <a:solidFill>
                  <a:srgbClr val="FFE8E2"/>
                </a:solidFill>
                <a:latin typeface="Calibri" pitchFamily="34" charset="0"/>
                <a:ea typeface="Calibri" pitchFamily="34" charset="-122"/>
                <a:cs typeface="Calibri" pitchFamily="34" charset="-120"/>
              </a:rPr>
              <a:t>What does not</a:t>
            </a:r>
            <a:endParaRPr lang="en-US" sz="1150" dirty="0"/>
          </a:p>
        </p:txBody>
      </p:sp>
      <p:sp>
        <p:nvSpPr>
          <p:cNvPr id="11" name="Text 8"/>
          <p:cNvSpPr/>
          <p:nvPr/>
        </p:nvSpPr>
        <p:spPr>
          <a:xfrm>
            <a:off x="7726680" y="3968496"/>
            <a:ext cx="3611880" cy="914400"/>
          </a:xfrm>
          <a:prstGeom prst="rect">
            <a:avLst/>
          </a:prstGeom>
          <a:noFill/>
          <a:ln/>
        </p:spPr>
        <p:txBody>
          <a:bodyPr wrap="square" lIns="0" tIns="0" rIns="0" bIns="0" rtlCol="0" anchor="ctr"/>
          <a:lstStyle/>
          <a:p>
            <a:pPr marL="0" indent="0">
              <a:lnSpc>
                <a:spcPts val="1400"/>
              </a:lnSpc>
              <a:buNone/>
            </a:pPr>
            <a:r>
              <a:rPr lang="en-US" sz="1050" dirty="0">
                <a:solidFill>
                  <a:srgbClr val="FFFFFF"/>
                </a:solidFill>
                <a:latin typeface="Calibri" pitchFamily="34" charset="0"/>
                <a:ea typeface="Calibri" pitchFamily="34" charset="-122"/>
                <a:cs typeface="Calibri" pitchFamily="34" charset="-120"/>
              </a:rPr>
              <a:t>The inference that capital limits their growth. The typical rural institution has 2.7 points of headroom, essentially identical to urban, and the LID split — which proxies secondary capital access — makes no difference anywhere.</a:t>
            </a:r>
            <a:endParaRPr lang="en-US" sz="1050" dirty="0"/>
          </a:p>
        </p:txBody>
      </p:sp>
      <p:sp>
        <p:nvSpPr>
          <p:cNvPr id="12" name="Shape 9"/>
          <p:cNvSpPr/>
          <p:nvPr/>
        </p:nvSpPr>
        <p:spPr>
          <a:xfrm>
            <a:off x="640080" y="4773168"/>
            <a:ext cx="6675120" cy="1280160"/>
          </a:xfrm>
          <a:prstGeom prst="roundRect">
            <a:avLst>
              <a:gd name="adj" fmla="val 3571"/>
            </a:avLst>
          </a:prstGeom>
          <a:solidFill>
            <a:srgbClr val="0E4C55"/>
          </a:solidFill>
          <a:ln/>
        </p:spPr>
        <p:txBody>
          <a:bodyPr/>
          <a:lstStyle/>
          <a:p>
            <a:endParaRPr lang="en-US"/>
          </a:p>
        </p:txBody>
      </p:sp>
      <p:sp>
        <p:nvSpPr>
          <p:cNvPr id="13" name="Text 10"/>
          <p:cNvSpPr/>
          <p:nvPr/>
        </p:nvSpPr>
        <p:spPr>
          <a:xfrm>
            <a:off x="914400" y="4882896"/>
            <a:ext cx="612648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The distinction to preserve</a:t>
            </a:r>
            <a:endParaRPr lang="en-US" sz="1150" dirty="0"/>
          </a:p>
        </p:txBody>
      </p:sp>
      <p:sp>
        <p:nvSpPr>
          <p:cNvPr id="14" name="Text 11"/>
          <p:cNvSpPr/>
          <p:nvPr/>
        </p:nvSpPr>
        <p:spPr>
          <a:xfrm>
            <a:off x="914400" y="5157216"/>
            <a:ext cx="6172200" cy="822960"/>
          </a:xfrm>
          <a:prstGeom prst="rect">
            <a:avLst/>
          </a:prstGeom>
          <a:noFill/>
          <a:ln/>
        </p:spPr>
        <p:txBody>
          <a:bodyPr wrap="square" lIns="0" tIns="0" rIns="0" bIns="0" rtlCol="0" anchor="ctr"/>
          <a:lstStyle/>
          <a:p>
            <a:pPr marL="0" indent="0">
              <a:lnSpc>
                <a:spcPts val="1500"/>
              </a:lnSpc>
              <a:buNone/>
            </a:pPr>
            <a:r>
              <a:rPr lang="en-US" sz="1100" dirty="0">
                <a:solidFill>
                  <a:srgbClr val="FFFFFF"/>
                </a:solidFill>
                <a:latin typeface="Calibri" pitchFamily="34" charset="0"/>
                <a:ea typeface="Calibri" pitchFamily="34" charset="-122"/>
                <a:cs typeface="Calibri" pitchFamily="34" charset="-120"/>
              </a:rPr>
              <a:t>This tests whether capital constrains EXISTING rural credit unions. It does not. Whether initial capital requirements deter the FORMATION of new ones is a different mechanism — a de novo needs capital before it has any earnings to retain — and remains untested. Losing the first claim does not cost us the second.</a:t>
            </a:r>
            <a:endParaRPr lang="en-US" sz="1100" dirty="0"/>
          </a:p>
        </p:txBody>
      </p:sp>
      <p:sp>
        <p:nvSpPr>
          <p:cNvPr id="15" name="Shape 12"/>
          <p:cNvSpPr/>
          <p:nvPr/>
        </p:nvSpPr>
        <p:spPr>
          <a:xfrm>
            <a:off x="7498080" y="5074920"/>
            <a:ext cx="4023360" cy="914400"/>
          </a:xfrm>
          <a:prstGeom prst="roundRect">
            <a:avLst>
              <a:gd name="adj" fmla="val 5000"/>
            </a:avLst>
          </a:prstGeom>
          <a:solidFill>
            <a:srgbClr val="DCE6E4"/>
          </a:solidFill>
          <a:ln/>
        </p:spPr>
        <p:txBody>
          <a:bodyPr/>
          <a:lstStyle/>
          <a:p>
            <a:endParaRPr lang="en-US"/>
          </a:p>
        </p:txBody>
      </p:sp>
      <p:sp>
        <p:nvSpPr>
          <p:cNvPr id="16" name="Text 13"/>
          <p:cNvSpPr/>
          <p:nvPr/>
        </p:nvSpPr>
        <p:spPr>
          <a:xfrm>
            <a:off x="7726680" y="5212080"/>
            <a:ext cx="3611880" cy="685800"/>
          </a:xfrm>
          <a:prstGeom prst="rect">
            <a:avLst/>
          </a:prstGeom>
          <a:noFill/>
          <a:ln/>
        </p:spPr>
        <p:txBody>
          <a:bodyPr wrap="square" lIns="0" tIns="0" rIns="0" bIns="0" rtlCol="0" anchor="ctr"/>
          <a:lstStyle/>
          <a:p>
            <a:pPr marL="0" indent="0">
              <a:lnSpc>
                <a:spcPts val="1400"/>
              </a:lnSpc>
              <a:buNone/>
            </a:pPr>
            <a:r>
              <a:rPr lang="en-US" sz="1050" dirty="0">
                <a:solidFill>
                  <a:srgbClr val="12202E"/>
                </a:solidFill>
                <a:latin typeface="Calibri" pitchFamily="34" charset="0"/>
                <a:ea typeface="Calibri" pitchFamily="34" charset="-122"/>
                <a:cs typeface="Calibri" pitchFamily="34" charset="-120"/>
              </a:rPr>
              <a:t>Consequence: the case for capital-access recommendations is much weaker than drafted, and the report's centre of gravity moves to formation.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WHY IT MATTERS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Congress asked us to fix something it assumed was broken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Section 909 is written on a premise. Our first obligation was to test it rather than illustrate it.</a:t>
            </a:r>
            <a:endParaRPr lang="en-US" sz="1350" dirty="0"/>
          </a:p>
        </p:txBody>
      </p:sp>
      <p:sp>
        <p:nvSpPr>
          <p:cNvPr id="5" name="Shape 3"/>
          <p:cNvSpPr/>
          <p:nvPr/>
        </p:nvSpPr>
        <p:spPr>
          <a:xfrm>
            <a:off x="640080" y="1965960"/>
            <a:ext cx="5257800" cy="1371600"/>
          </a:xfrm>
          <a:prstGeom prst="roundRect">
            <a:avLst>
              <a:gd name="adj" fmla="val 3333"/>
            </a:avLst>
          </a:prstGeom>
          <a:solidFill>
            <a:srgbClr val="DCE6E4"/>
          </a:solidFill>
          <a:ln/>
        </p:spPr>
        <p:txBody>
          <a:bodyPr/>
          <a:lstStyle/>
          <a:p>
            <a:endParaRPr lang="en-US"/>
          </a:p>
        </p:txBody>
      </p:sp>
      <p:sp>
        <p:nvSpPr>
          <p:cNvPr id="6" name="Text 4"/>
          <p:cNvSpPr/>
          <p:nvPr/>
        </p:nvSpPr>
        <p:spPr>
          <a:xfrm>
            <a:off x="914400" y="2121408"/>
            <a:ext cx="466344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What the statute assumes</a:t>
            </a:r>
            <a:endParaRPr lang="en-US" sz="1150" dirty="0"/>
          </a:p>
        </p:txBody>
      </p:sp>
      <p:sp>
        <p:nvSpPr>
          <p:cNvPr id="7" name="Text 5"/>
          <p:cNvSpPr/>
          <p:nvPr/>
        </p:nvSpPr>
        <p:spPr>
          <a:xfrm>
            <a:off x="914400" y="2395728"/>
            <a:ext cx="4709160" cy="868680"/>
          </a:xfrm>
          <a:prstGeom prst="rect">
            <a:avLst/>
          </a:prstGeom>
          <a:noFill/>
          <a:ln/>
        </p:spPr>
        <p:txBody>
          <a:bodyPr wrap="square" lIns="0" tIns="0" rIns="0" bIns="0" rtlCol="0" anchor="ctr"/>
          <a:lstStyle/>
          <a:p>
            <a:pPr marL="0" indent="0">
              <a:lnSpc>
                <a:spcPts val="1600"/>
              </a:lnSpc>
              <a:buNone/>
            </a:pPr>
            <a:r>
              <a:rPr lang="en-US" sz="1200" dirty="0">
                <a:solidFill>
                  <a:srgbClr val="12202E"/>
                </a:solidFill>
                <a:latin typeface="Calibri" pitchFamily="34" charset="0"/>
                <a:ea typeface="Calibri" pitchFamily="34" charset="-122"/>
                <a:cs typeface="Calibri" pitchFamily="34" charset="-120"/>
              </a:rPr>
              <a:t>That credit unions primarily serving rural areas are underperforming on growth, capital adequacy and profitability, and that federal statute or NCUA regulation is limiting the remedies.</a:t>
            </a:r>
            <a:endParaRPr lang="en-US" sz="1200" dirty="0"/>
          </a:p>
        </p:txBody>
      </p:sp>
      <p:sp>
        <p:nvSpPr>
          <p:cNvPr id="8" name="Shape 6"/>
          <p:cNvSpPr/>
          <p:nvPr/>
        </p:nvSpPr>
        <p:spPr>
          <a:xfrm>
            <a:off x="6263640" y="1965960"/>
            <a:ext cx="5257800" cy="1371600"/>
          </a:xfrm>
          <a:prstGeom prst="roundRect">
            <a:avLst>
              <a:gd name="adj" fmla="val 3333"/>
            </a:avLst>
          </a:prstGeom>
          <a:solidFill>
            <a:srgbClr val="F3F5F4"/>
          </a:solidFill>
          <a:ln/>
        </p:spPr>
        <p:txBody>
          <a:bodyPr/>
          <a:lstStyle/>
          <a:p>
            <a:endParaRPr lang="en-US"/>
          </a:p>
        </p:txBody>
      </p:sp>
      <p:sp>
        <p:nvSpPr>
          <p:cNvPr id="9" name="Text 7"/>
          <p:cNvSpPr/>
          <p:nvPr/>
        </p:nvSpPr>
        <p:spPr>
          <a:xfrm>
            <a:off x="6537960" y="2121408"/>
            <a:ext cx="466344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Why it looked true</a:t>
            </a:r>
            <a:endParaRPr lang="en-US" sz="1150" dirty="0"/>
          </a:p>
        </p:txBody>
      </p:sp>
      <p:sp>
        <p:nvSpPr>
          <p:cNvPr id="10" name="Text 8"/>
          <p:cNvSpPr/>
          <p:nvPr/>
        </p:nvSpPr>
        <p:spPr>
          <a:xfrm>
            <a:off x="6537960" y="2395728"/>
            <a:ext cx="4709160" cy="868680"/>
          </a:xfrm>
          <a:prstGeom prst="rect">
            <a:avLst/>
          </a:prstGeom>
          <a:noFill/>
          <a:ln/>
        </p:spPr>
        <p:txBody>
          <a:bodyPr wrap="square" lIns="0" tIns="0" rIns="0" bIns="0" rtlCol="0" anchor="ctr"/>
          <a:lstStyle/>
          <a:p>
            <a:pPr marL="0" indent="0">
              <a:lnSpc>
                <a:spcPts val="1600"/>
              </a:lnSpc>
              <a:buNone/>
            </a:pPr>
            <a:r>
              <a:rPr lang="en-US" sz="1200" dirty="0">
                <a:solidFill>
                  <a:srgbClr val="12202E"/>
                </a:solidFill>
                <a:latin typeface="Calibri" pitchFamily="34" charset="0"/>
                <a:ea typeface="Calibri" pitchFamily="34" charset="-122"/>
                <a:cs typeface="Calibri" pitchFamily="34" charset="-120"/>
              </a:rPr>
              <a:t>Rural credit unions are small, and small institutions of every kind spread compliance, technology and staffing costs over a smaller base. Aggregate rural figures do look weak.</a:t>
            </a:r>
            <a:endParaRPr lang="en-US" sz="1200" dirty="0"/>
          </a:p>
        </p:txBody>
      </p:sp>
      <p:sp>
        <p:nvSpPr>
          <p:cNvPr id="11" name="Text 9"/>
          <p:cNvSpPr/>
          <p:nvPr/>
        </p:nvSpPr>
        <p:spPr>
          <a:xfrm>
            <a:off x="640080" y="352044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Three reasons the question is worth real analytical effort</a:t>
            </a:r>
            <a:endParaRPr lang="en-US" sz="1300" dirty="0"/>
          </a:p>
        </p:txBody>
      </p:sp>
      <p:sp>
        <p:nvSpPr>
          <p:cNvPr id="12" name="Shape 10"/>
          <p:cNvSpPr/>
          <p:nvPr/>
        </p:nvSpPr>
        <p:spPr>
          <a:xfrm>
            <a:off x="640080" y="3931920"/>
            <a:ext cx="329184" cy="329184"/>
          </a:xfrm>
          <a:prstGeom prst="ellipse">
            <a:avLst/>
          </a:prstGeom>
          <a:solidFill>
            <a:srgbClr val="0E4C55"/>
          </a:solidFill>
          <a:ln/>
        </p:spPr>
        <p:txBody>
          <a:bodyPr/>
          <a:lstStyle/>
          <a:p>
            <a:endParaRPr lang="en-US"/>
          </a:p>
        </p:txBody>
      </p:sp>
      <p:sp>
        <p:nvSpPr>
          <p:cNvPr id="13" name="Text 11"/>
          <p:cNvSpPr/>
          <p:nvPr/>
        </p:nvSpPr>
        <p:spPr>
          <a:xfrm>
            <a:off x="640080" y="393192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p:nvPr/>
        </p:nvSpPr>
        <p:spPr>
          <a:xfrm>
            <a:off x="1170432" y="388620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Rural America is losing depositories</a:t>
            </a:r>
            <a:endParaRPr lang="en-US" sz="1300" dirty="0"/>
          </a:p>
        </p:txBody>
      </p:sp>
      <p:sp>
        <p:nvSpPr>
          <p:cNvPr id="15" name="Text 13"/>
          <p:cNvSpPr/>
          <p:nvPr/>
        </p:nvSpPr>
        <p:spPr>
          <a:xfrm>
            <a:off x="1170432" y="414223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Charter counts have fallen for decades across the whole system. Where a rural county loses its last locally controlled institution, credit decisions move to a distant underwriting desk. That is a different outcome from losing one competitor among many.</a:t>
            </a:r>
            <a:endParaRPr lang="en-US" sz="1100" dirty="0"/>
          </a:p>
        </p:txBody>
      </p:sp>
      <p:sp>
        <p:nvSpPr>
          <p:cNvPr id="16" name="Shape 14"/>
          <p:cNvSpPr/>
          <p:nvPr/>
        </p:nvSpPr>
        <p:spPr>
          <a:xfrm>
            <a:off x="640080" y="4709160"/>
            <a:ext cx="329184" cy="329184"/>
          </a:xfrm>
          <a:prstGeom prst="ellipse">
            <a:avLst/>
          </a:prstGeom>
          <a:solidFill>
            <a:srgbClr val="0E4C55"/>
          </a:solidFill>
          <a:ln/>
        </p:spPr>
        <p:txBody>
          <a:bodyPr/>
          <a:lstStyle/>
          <a:p>
            <a:endParaRPr lang="en-US"/>
          </a:p>
        </p:txBody>
      </p:sp>
      <p:sp>
        <p:nvSpPr>
          <p:cNvPr id="17" name="Text 15"/>
          <p:cNvSpPr/>
          <p:nvPr/>
        </p:nvSpPr>
        <p:spPr>
          <a:xfrm>
            <a:off x="640080" y="47091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1170432" y="466344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Credit unions are often the residual provider</a:t>
            </a:r>
            <a:endParaRPr lang="en-US" sz="1300" dirty="0"/>
          </a:p>
        </p:txBody>
      </p:sp>
      <p:sp>
        <p:nvSpPr>
          <p:cNvPr id="19" name="Text 17"/>
          <p:cNvSpPr/>
          <p:nvPr/>
        </p:nvSpPr>
        <p:spPr>
          <a:xfrm>
            <a:off x="1170432" y="491947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Rural counties are 49.5% of all US counties but hold only 7.9% of the population. In much of that geography the credit union is the only member-owned depository left, and the alternative to it is not another credit union.</a:t>
            </a:r>
            <a:endParaRPr lang="en-US" sz="1100" dirty="0"/>
          </a:p>
        </p:txBody>
      </p:sp>
      <p:sp>
        <p:nvSpPr>
          <p:cNvPr id="20" name="Shape 18"/>
          <p:cNvSpPr/>
          <p:nvPr/>
        </p:nvSpPr>
        <p:spPr>
          <a:xfrm>
            <a:off x="640080" y="5486400"/>
            <a:ext cx="329184" cy="329184"/>
          </a:xfrm>
          <a:prstGeom prst="ellipse">
            <a:avLst/>
          </a:prstGeom>
          <a:solidFill>
            <a:srgbClr val="0E4C55"/>
          </a:solidFill>
          <a:ln/>
        </p:spPr>
        <p:txBody>
          <a:bodyPr/>
          <a:lstStyle/>
          <a:p>
            <a:endParaRPr lang="en-US"/>
          </a:p>
        </p:txBody>
      </p:sp>
      <p:sp>
        <p:nvSpPr>
          <p:cNvPr id="21" name="Text 19"/>
          <p:cNvSpPr/>
          <p:nvPr/>
        </p:nvSpPr>
        <p:spPr>
          <a:xfrm>
            <a:off x="640080" y="54864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p:nvPr/>
        </p:nvSpPr>
        <p:spPr>
          <a:xfrm>
            <a:off x="1170432" y="544068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The premise had never been separated from scale</a:t>
            </a:r>
            <a:endParaRPr lang="en-US" sz="1300" dirty="0"/>
          </a:p>
        </p:txBody>
      </p:sp>
      <p:sp>
        <p:nvSpPr>
          <p:cNvPr id="23" name="Text 21"/>
          <p:cNvSpPr/>
          <p:nvPr/>
        </p:nvSpPr>
        <p:spPr>
          <a:xfrm>
            <a:off x="1170432" y="569671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Rural and small are entangled: median rural assets are $38m against $78m non-rural. Rurality and size imply opposite policy responses, and no prior work had told them apart.</a:t>
            </a:r>
            <a:endParaRPr lang="en-US" sz="1100" dirty="0"/>
          </a:p>
        </p:txBody>
      </p:sp>
      <p:sp>
        <p:nvSpPr>
          <p:cNvPr id="24"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An agency that tests the premise it was handed produces a more useful report than one that assumes it.</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We turned a two-sentence mandate into ten answerable questions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 statute asks whether rural credit unions are underperforming. That cannot be tested directly — it bundles at least ten separate empirical claims. Each question below was written so that the answer changes what the report says.</a:t>
            </a:r>
            <a:endParaRPr lang="en-US" sz="1350" dirty="0"/>
          </a:p>
        </p:txBody>
      </p:sp>
      <p:sp>
        <p:nvSpPr>
          <p:cNvPr id="5" name="Shape 3"/>
          <p:cNvSpPr/>
          <p:nvPr/>
        </p:nvSpPr>
        <p:spPr>
          <a:xfrm>
            <a:off x="640080" y="2148840"/>
            <a:ext cx="2377440" cy="868680"/>
          </a:xfrm>
          <a:prstGeom prst="roundRect">
            <a:avLst>
              <a:gd name="adj" fmla="val 5263"/>
            </a:avLst>
          </a:prstGeom>
          <a:solidFill>
            <a:srgbClr val="0E4C55"/>
          </a:solidFill>
          <a:ln/>
        </p:spPr>
        <p:txBody>
          <a:bodyPr/>
          <a:lstStyle/>
          <a:p>
            <a:endParaRPr lang="en-US"/>
          </a:p>
        </p:txBody>
      </p:sp>
      <p:sp>
        <p:nvSpPr>
          <p:cNvPr id="6" name="Text 4"/>
          <p:cNvSpPr/>
          <p:nvPr/>
        </p:nvSpPr>
        <p:spPr>
          <a:xfrm>
            <a:off x="822960" y="224028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Q1 Q2 Q3</a:t>
            </a:r>
            <a:endParaRPr lang="en-US" sz="1700" dirty="0"/>
          </a:p>
        </p:txBody>
      </p:sp>
      <p:sp>
        <p:nvSpPr>
          <p:cNvPr id="7" name="Text 5"/>
          <p:cNvSpPr/>
          <p:nvPr/>
        </p:nvSpPr>
        <p:spPr>
          <a:xfrm>
            <a:off x="822960" y="2624328"/>
            <a:ext cx="2148840" cy="292608"/>
          </a:xfrm>
          <a:prstGeom prst="rect">
            <a:avLst/>
          </a:prstGeom>
          <a:noFill/>
          <a:ln/>
        </p:spPr>
        <p:txBody>
          <a:bodyPr wrap="square" lIns="0" tIns="0" rIns="0" bIns="0" rtlCol="0" anchor="ctr"/>
          <a:lstStyle/>
          <a:p>
            <a:pPr marL="0" indent="0">
              <a:buNone/>
            </a:pPr>
            <a:r>
              <a:rPr lang="en-US" sz="1000" dirty="0">
                <a:solidFill>
                  <a:srgbClr val="DCE6E4"/>
                </a:solidFill>
                <a:latin typeface="Calibri" pitchFamily="34" charset="0"/>
                <a:ea typeface="Calibri" pitchFamily="34" charset="-122"/>
                <a:cs typeface="Calibri" pitchFamily="34" charset="-120"/>
              </a:rPr>
              <a:t>Determines the thesis</a:t>
            </a:r>
            <a:endParaRPr lang="en-US" sz="1000" dirty="0"/>
          </a:p>
        </p:txBody>
      </p:sp>
      <p:sp>
        <p:nvSpPr>
          <p:cNvPr id="8" name="Text 6"/>
          <p:cNvSpPr/>
          <p:nvPr/>
        </p:nvSpPr>
        <p:spPr>
          <a:xfrm>
            <a:off x="3337560" y="225856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the report is about rural barriers or about scale; whether “rural decline” is the honest headline; whether our most-cited barrier is real.</a:t>
            </a:r>
            <a:endParaRPr lang="en-US" sz="1200" dirty="0"/>
          </a:p>
        </p:txBody>
      </p:sp>
      <p:sp>
        <p:nvSpPr>
          <p:cNvPr id="9" name="Shape 7"/>
          <p:cNvSpPr/>
          <p:nvPr/>
        </p:nvSpPr>
        <p:spPr>
          <a:xfrm>
            <a:off x="640080" y="3200400"/>
            <a:ext cx="2377440" cy="868680"/>
          </a:xfrm>
          <a:prstGeom prst="roundRect">
            <a:avLst>
              <a:gd name="adj" fmla="val 5263"/>
            </a:avLst>
          </a:prstGeom>
          <a:solidFill>
            <a:srgbClr val="1F6F78"/>
          </a:solidFill>
          <a:ln/>
        </p:spPr>
        <p:txBody>
          <a:bodyPr/>
          <a:lstStyle/>
          <a:p>
            <a:endParaRPr lang="en-US"/>
          </a:p>
        </p:txBody>
      </p:sp>
      <p:sp>
        <p:nvSpPr>
          <p:cNvPr id="10" name="Text 8"/>
          <p:cNvSpPr/>
          <p:nvPr/>
        </p:nvSpPr>
        <p:spPr>
          <a:xfrm>
            <a:off x="822960" y="329184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Q4 Q5 Q6 Q10</a:t>
            </a:r>
            <a:endParaRPr lang="en-US" sz="1700" dirty="0"/>
          </a:p>
        </p:txBody>
      </p:sp>
      <p:sp>
        <p:nvSpPr>
          <p:cNvPr id="11" name="Text 9"/>
          <p:cNvSpPr/>
          <p:nvPr/>
        </p:nvSpPr>
        <p:spPr>
          <a:xfrm>
            <a:off x="822960" y="3675888"/>
            <a:ext cx="2148840" cy="292608"/>
          </a:xfrm>
          <a:prstGeom prst="rect">
            <a:avLst/>
          </a:prstGeom>
          <a:noFill/>
          <a:ln/>
        </p:spPr>
        <p:txBody>
          <a:bodyPr wrap="square" lIns="0" tIns="0" rIns="0" bIns="0" rtlCol="0" anchor="ctr"/>
          <a:lstStyle/>
          <a:p>
            <a:pPr marL="0" indent="0">
              <a:buNone/>
            </a:pPr>
            <a:r>
              <a:rPr lang="en-US" sz="1000" dirty="0">
                <a:solidFill>
                  <a:srgbClr val="DCE6E4"/>
                </a:solidFill>
                <a:latin typeface="Calibri" pitchFamily="34" charset="0"/>
                <a:ea typeface="Calibri" pitchFamily="34" charset="-122"/>
                <a:cs typeface="Calibri" pitchFamily="34" charset="-120"/>
              </a:rPr>
              <a:t>Determines the remedies</a:t>
            </a:r>
            <a:endParaRPr lang="en-US" sz="1000" dirty="0"/>
          </a:p>
        </p:txBody>
      </p:sp>
      <p:sp>
        <p:nvSpPr>
          <p:cNvPr id="12" name="Text 10"/>
          <p:cNvSpPr/>
          <p:nvPr/>
        </p:nvSpPr>
        <p:spPr>
          <a:xfrm>
            <a:off x="3337560" y="331012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regulatory relief can plausibly help; how much of the report must address definitions; whether agriculture is a chapter or a sidebar; whether rural borrowers are actually worse off.</a:t>
            </a:r>
            <a:endParaRPr lang="en-US" sz="1200" dirty="0"/>
          </a:p>
        </p:txBody>
      </p:sp>
      <p:sp>
        <p:nvSpPr>
          <p:cNvPr id="13" name="Shape 11"/>
          <p:cNvSpPr/>
          <p:nvPr/>
        </p:nvSpPr>
        <p:spPr>
          <a:xfrm>
            <a:off x="640080" y="4251960"/>
            <a:ext cx="2377440" cy="868680"/>
          </a:xfrm>
          <a:prstGeom prst="roundRect">
            <a:avLst>
              <a:gd name="adj" fmla="val 5263"/>
            </a:avLst>
          </a:prstGeom>
          <a:solidFill>
            <a:srgbClr val="7FB0AE"/>
          </a:solidFill>
          <a:ln/>
        </p:spPr>
        <p:txBody>
          <a:bodyPr/>
          <a:lstStyle/>
          <a:p>
            <a:endParaRPr lang="en-US"/>
          </a:p>
        </p:txBody>
      </p:sp>
      <p:sp>
        <p:nvSpPr>
          <p:cNvPr id="14" name="Text 12"/>
          <p:cNvSpPr/>
          <p:nvPr/>
        </p:nvSpPr>
        <p:spPr>
          <a:xfrm>
            <a:off x="822960" y="434340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Q7 Q8 Q9</a:t>
            </a:r>
            <a:endParaRPr lang="en-US" sz="1700" dirty="0"/>
          </a:p>
        </p:txBody>
      </p:sp>
      <p:sp>
        <p:nvSpPr>
          <p:cNvPr id="15" name="Text 13"/>
          <p:cNvSpPr/>
          <p:nvPr/>
        </p:nvSpPr>
        <p:spPr>
          <a:xfrm>
            <a:off x="822960" y="4727448"/>
            <a:ext cx="214884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Determines what we can show</a:t>
            </a:r>
            <a:endParaRPr lang="en-US" sz="1000" dirty="0"/>
          </a:p>
        </p:txBody>
      </p:sp>
      <p:sp>
        <p:nvSpPr>
          <p:cNvPr id="16" name="Text 14"/>
          <p:cNvSpPr/>
          <p:nvPr/>
        </p:nvSpPr>
        <p:spPr>
          <a:xfrm>
            <a:off x="3337560" y="436168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we explain a pattern or explain a zero; whether the access story is decline or substitution; which trends the data honestly support.</a:t>
            </a:r>
            <a:endParaRPr lang="en-US" sz="1200" dirty="0"/>
          </a:p>
        </p:txBody>
      </p:sp>
      <p:sp>
        <p:nvSpPr>
          <p:cNvPr id="17" name="Shape 15"/>
          <p:cNvSpPr/>
          <p:nvPr/>
        </p:nvSpPr>
        <p:spPr>
          <a:xfrm>
            <a:off x="640080" y="5394960"/>
            <a:ext cx="10881360" cy="777240"/>
          </a:xfrm>
          <a:prstGeom prst="roundRect">
            <a:avLst>
              <a:gd name="adj" fmla="val 5882"/>
            </a:avLst>
          </a:prstGeom>
          <a:solidFill>
            <a:srgbClr val="F3F5F4"/>
          </a:solidFill>
          <a:ln/>
        </p:spPr>
        <p:txBody>
          <a:bodyPr/>
          <a:lstStyle/>
          <a:p>
            <a:endParaRPr lang="en-US"/>
          </a:p>
        </p:txBody>
      </p:sp>
      <p:sp>
        <p:nvSpPr>
          <p:cNvPr id="18" name="Text 16"/>
          <p:cNvSpPr/>
          <p:nvPr/>
        </p:nvSpPr>
        <p:spPr>
          <a:xfrm>
            <a:off x="932688" y="5504688"/>
            <a:ext cx="265176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Two disciplines fixed in advance:</a:t>
            </a:r>
            <a:endParaRPr lang="en-US" sz="1150" dirty="0"/>
          </a:p>
        </p:txBody>
      </p:sp>
      <p:sp>
        <p:nvSpPr>
          <p:cNvPr id="19" name="Text 17"/>
          <p:cNvSpPr/>
          <p:nvPr/>
        </p:nvSpPr>
        <p:spPr>
          <a:xfrm>
            <a:off x="3657600" y="5486400"/>
            <a:ext cx="7589520" cy="594360"/>
          </a:xfrm>
          <a:prstGeom prst="rect">
            <a:avLst/>
          </a:prstGeom>
          <a:noFill/>
          <a:ln/>
        </p:spPr>
        <p:txBody>
          <a:bodyPr wrap="square" lIns="0" tIns="0" rIns="0" bIns="0" rtlCol="0" anchor="ctr"/>
          <a:lstStyle/>
          <a:p>
            <a:pPr marL="0" indent="0">
              <a:lnSpc>
                <a:spcPts val="1500"/>
              </a:lnSpc>
              <a:buNone/>
            </a:pPr>
            <a:r>
              <a:rPr lang="en-US" sz="1150" dirty="0">
                <a:solidFill>
                  <a:srgbClr val="12202E"/>
                </a:solidFill>
                <a:latin typeface="Calibri" pitchFamily="34" charset="0"/>
                <a:ea typeface="Calibri" pitchFamily="34" charset="-122"/>
                <a:cs typeface="Calibri" pitchFamily="34" charset="-120"/>
              </a:rPr>
              <a:t>the tiering was set before any estimation, so no question could be promoted after we saw its answer; and every finding from this phase is labelled exploratory, to be re-tested on the final analytic sample. Mixing the two stages is how studies lose credibility.</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the findings are built on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Two panels, both constructed in-house from NCUA filings, plus the USDA-ERS county classification.</a:t>
            </a:r>
            <a:endParaRPr lang="en-US" sz="1350" dirty="0"/>
          </a:p>
        </p:txBody>
      </p:sp>
      <p:sp>
        <p:nvSpPr>
          <p:cNvPr id="5" name="Shape 3"/>
          <p:cNvSpPr/>
          <p:nvPr/>
        </p:nvSpPr>
        <p:spPr>
          <a:xfrm>
            <a:off x="640080" y="1920240"/>
            <a:ext cx="5257800" cy="1783080"/>
          </a:xfrm>
          <a:prstGeom prst="roundRect">
            <a:avLst>
              <a:gd name="adj" fmla="val 2564"/>
            </a:avLst>
          </a:prstGeom>
          <a:solidFill>
            <a:srgbClr val="F3F5F4"/>
          </a:solidFill>
          <a:ln/>
        </p:spPr>
        <p:txBody>
          <a:bodyPr/>
          <a:lstStyle/>
          <a:p>
            <a:endParaRPr lang="en-US"/>
          </a:p>
        </p:txBody>
      </p:sp>
      <p:sp>
        <p:nvSpPr>
          <p:cNvPr id="6" name="Text 4"/>
          <p:cNvSpPr/>
          <p:nvPr/>
        </p:nvSpPr>
        <p:spPr>
          <a:xfrm>
            <a:off x="914400" y="2084832"/>
            <a:ext cx="4663440" cy="256032"/>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Call Report panel</a:t>
            </a:r>
            <a:endParaRPr lang="en-US" sz="1250" dirty="0"/>
          </a:p>
        </p:txBody>
      </p:sp>
      <p:sp>
        <p:nvSpPr>
          <p:cNvPr id="7" name="Text 5"/>
          <p:cNvSpPr/>
          <p:nvPr/>
        </p:nvSpPr>
        <p:spPr>
          <a:xfrm>
            <a:off x="914400" y="2377440"/>
            <a:ext cx="4754880" cy="1234440"/>
          </a:xfrm>
          <a:prstGeom prst="rect">
            <a:avLst/>
          </a:prstGeom>
          <a:noFill/>
          <a:ln/>
        </p:spPr>
        <p:txBody>
          <a:bodyPr wrap="square" lIns="0" tIns="0" rIns="0" bIns="0" rtlCol="0" anchor="ctr"/>
          <a:lstStyle/>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5300 filings, 2010Q1 to 2026Q1 — 105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11,327 credit unions, 701,351 credit-union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~275 fields each; headquarters in 1,819 distinct county FIPS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Q1 estimation sample: 313,650 quarters, 7,180 CUs, 765 rural</a:t>
            </a:r>
            <a:endParaRPr lang="en-US" sz="1100" dirty="0"/>
          </a:p>
        </p:txBody>
      </p:sp>
      <p:sp>
        <p:nvSpPr>
          <p:cNvPr id="8" name="Shape 6"/>
          <p:cNvSpPr/>
          <p:nvPr/>
        </p:nvSpPr>
        <p:spPr>
          <a:xfrm>
            <a:off x="6217920" y="1920240"/>
            <a:ext cx="5257800" cy="1783080"/>
          </a:xfrm>
          <a:prstGeom prst="roundRect">
            <a:avLst>
              <a:gd name="adj" fmla="val 2564"/>
            </a:avLst>
          </a:prstGeom>
          <a:solidFill>
            <a:srgbClr val="F3F5F4"/>
          </a:solidFill>
          <a:ln/>
        </p:spPr>
        <p:txBody>
          <a:bodyPr/>
          <a:lstStyle/>
          <a:p>
            <a:endParaRPr lang="en-US"/>
          </a:p>
        </p:txBody>
      </p:sp>
      <p:sp>
        <p:nvSpPr>
          <p:cNvPr id="9" name="Text 7"/>
          <p:cNvSpPr/>
          <p:nvPr/>
        </p:nvSpPr>
        <p:spPr>
          <a:xfrm>
            <a:off x="6492240" y="2084832"/>
            <a:ext cx="4663440" cy="256032"/>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Branch panel</a:t>
            </a:r>
            <a:endParaRPr lang="en-US" sz="1250" dirty="0"/>
          </a:p>
        </p:txBody>
      </p:sp>
      <p:sp>
        <p:nvSpPr>
          <p:cNvPr id="10" name="Text 8"/>
          <p:cNvSpPr/>
          <p:nvPr/>
        </p:nvSpPr>
        <p:spPr>
          <a:xfrm>
            <a:off x="6492240" y="2377440"/>
            <a:ext cx="4754880" cy="1234440"/>
          </a:xfrm>
          <a:prstGeom prst="rect">
            <a:avLst/>
          </a:prstGeom>
          <a:noFill/>
          <a:ln/>
        </p:spPr>
        <p:txBody>
          <a:bodyPr wrap="square" lIns="0" tIns="0" rIns="0" bIns="0" rtlCol="0" anchor="ctr"/>
          <a:lstStyle/>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63 quarterly office files, 2010Q3 to 2026Q1</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1,347,744 site-quarters across 37,811 distinct sites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Site identifiers are stable — 29,829 of 36,493 appear in 10+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Event analysis starts 2013Q1, once table coverage has filled</a:t>
            </a:r>
            <a:endParaRPr lang="en-US" sz="1100" dirty="0"/>
          </a:p>
        </p:txBody>
      </p:sp>
      <p:sp>
        <p:nvSpPr>
          <p:cNvPr id="11" name="Text 9"/>
          <p:cNvSpPr/>
          <p:nvPr/>
        </p:nvSpPr>
        <p:spPr>
          <a:xfrm>
            <a:off x="640080" y="388620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Five methods, chosen so that they fail independently</a:t>
            </a:r>
            <a:endParaRPr lang="en-US" sz="1300" dirty="0"/>
          </a:p>
        </p:txBody>
      </p:sp>
      <p:sp>
        <p:nvSpPr>
          <p:cNvPr id="12" name="Shape 10"/>
          <p:cNvSpPr/>
          <p:nvPr/>
        </p:nvSpPr>
        <p:spPr>
          <a:xfrm>
            <a:off x="640080" y="4251960"/>
            <a:ext cx="2011680" cy="1783080"/>
          </a:xfrm>
          <a:prstGeom prst="roundRect">
            <a:avLst>
              <a:gd name="adj" fmla="val 2564"/>
            </a:avLst>
          </a:prstGeom>
          <a:solidFill>
            <a:srgbClr val="DCE6E4"/>
          </a:solidFill>
          <a:ln/>
        </p:spPr>
        <p:txBody>
          <a:bodyPr/>
          <a:lstStyle/>
          <a:p>
            <a:endParaRPr lang="en-US"/>
          </a:p>
        </p:txBody>
      </p:sp>
      <p:sp>
        <p:nvSpPr>
          <p:cNvPr id="13" name="Text 11"/>
          <p:cNvSpPr/>
          <p:nvPr/>
        </p:nvSpPr>
        <p:spPr>
          <a:xfrm>
            <a:off x="822960"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Fixed-effects regression</a:t>
            </a:r>
            <a:endParaRPr lang="en-US" sz="1150" dirty="0"/>
          </a:p>
        </p:txBody>
      </p:sp>
      <p:sp>
        <p:nvSpPr>
          <p:cNvPr id="14" name="Text 12"/>
          <p:cNvSpPr/>
          <p:nvPr/>
        </p:nvSpPr>
        <p:spPr>
          <a:xfrm>
            <a:off x="822960"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State × quarter effects, clustered errors. Removes local-economy and macro timing.</a:t>
            </a:r>
            <a:endParaRPr lang="en-US" sz="1000" dirty="0"/>
          </a:p>
        </p:txBody>
      </p:sp>
      <p:sp>
        <p:nvSpPr>
          <p:cNvPr id="15" name="Shape 13"/>
          <p:cNvSpPr/>
          <p:nvPr/>
        </p:nvSpPr>
        <p:spPr>
          <a:xfrm>
            <a:off x="2862072" y="4251960"/>
            <a:ext cx="2011680" cy="1783080"/>
          </a:xfrm>
          <a:prstGeom prst="roundRect">
            <a:avLst>
              <a:gd name="adj" fmla="val 2564"/>
            </a:avLst>
          </a:prstGeom>
          <a:solidFill>
            <a:srgbClr val="DCE6E4"/>
          </a:solidFill>
          <a:ln/>
        </p:spPr>
        <p:txBody>
          <a:bodyPr/>
          <a:lstStyle/>
          <a:p>
            <a:endParaRPr lang="en-US"/>
          </a:p>
        </p:txBody>
      </p:sp>
      <p:sp>
        <p:nvSpPr>
          <p:cNvPr id="16" name="Text 14"/>
          <p:cNvSpPr/>
          <p:nvPr/>
        </p:nvSpPr>
        <p:spPr>
          <a:xfrm>
            <a:off x="3044952"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Size-band comparison</a:t>
            </a:r>
            <a:endParaRPr lang="en-US" sz="1150" dirty="0"/>
          </a:p>
        </p:txBody>
      </p:sp>
      <p:sp>
        <p:nvSpPr>
          <p:cNvPr id="17" name="Text 15"/>
          <p:cNvSpPr/>
          <p:nvPr/>
        </p:nvSpPr>
        <p:spPr>
          <a:xfrm>
            <a:off x="3044952"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Six asset bands, compared within band. Removes functional-form risk.</a:t>
            </a:r>
            <a:endParaRPr lang="en-US" sz="1000" dirty="0"/>
          </a:p>
        </p:txBody>
      </p:sp>
      <p:sp>
        <p:nvSpPr>
          <p:cNvPr id="18" name="Shape 16"/>
          <p:cNvSpPr/>
          <p:nvPr/>
        </p:nvSpPr>
        <p:spPr>
          <a:xfrm>
            <a:off x="5084064" y="4251960"/>
            <a:ext cx="2011680" cy="1783080"/>
          </a:xfrm>
          <a:prstGeom prst="roundRect">
            <a:avLst>
              <a:gd name="adj" fmla="val 2564"/>
            </a:avLst>
          </a:prstGeom>
          <a:solidFill>
            <a:srgbClr val="DCE6E4"/>
          </a:solidFill>
          <a:ln/>
        </p:spPr>
        <p:txBody>
          <a:bodyPr/>
          <a:lstStyle/>
          <a:p>
            <a:endParaRPr lang="en-US"/>
          </a:p>
        </p:txBody>
      </p:sp>
      <p:sp>
        <p:nvSpPr>
          <p:cNvPr id="19" name="Text 17"/>
          <p:cNvSpPr/>
          <p:nvPr/>
        </p:nvSpPr>
        <p:spPr>
          <a:xfrm>
            <a:off x="5266944"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Size-matched pairs</a:t>
            </a:r>
            <a:endParaRPr lang="en-US" sz="1150" dirty="0"/>
          </a:p>
        </p:txBody>
      </p:sp>
      <p:sp>
        <p:nvSpPr>
          <p:cNvPr id="20" name="Text 18"/>
          <p:cNvSpPr/>
          <p:nvPr/>
        </p:nvSpPr>
        <p:spPr>
          <a:xfrm>
            <a:off x="5266944"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33,403 rural quarters matched within 10% on assets, same quarter.</a:t>
            </a:r>
            <a:endParaRPr lang="en-US" sz="1000" dirty="0"/>
          </a:p>
        </p:txBody>
      </p:sp>
      <p:sp>
        <p:nvSpPr>
          <p:cNvPr id="21" name="Shape 19"/>
          <p:cNvSpPr/>
          <p:nvPr/>
        </p:nvSpPr>
        <p:spPr>
          <a:xfrm>
            <a:off x="7306056" y="4251960"/>
            <a:ext cx="2011680" cy="1783080"/>
          </a:xfrm>
          <a:prstGeom prst="roundRect">
            <a:avLst>
              <a:gd name="adj" fmla="val 2564"/>
            </a:avLst>
          </a:prstGeom>
          <a:solidFill>
            <a:srgbClr val="DCE6E4"/>
          </a:solidFill>
          <a:ln/>
        </p:spPr>
        <p:txBody>
          <a:bodyPr/>
          <a:lstStyle/>
          <a:p>
            <a:endParaRPr lang="en-US"/>
          </a:p>
        </p:txBody>
      </p:sp>
      <p:sp>
        <p:nvSpPr>
          <p:cNvPr id="22" name="Text 20"/>
          <p:cNvSpPr/>
          <p:nvPr/>
        </p:nvSpPr>
        <p:spPr>
          <a:xfrm>
            <a:off x="7488936"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Oaxaca decomposition</a:t>
            </a:r>
            <a:endParaRPr lang="en-US" sz="1150" dirty="0"/>
          </a:p>
        </p:txBody>
      </p:sp>
      <p:sp>
        <p:nvSpPr>
          <p:cNvPr id="23" name="Text 21"/>
          <p:cNvSpPr/>
          <p:nvPr/>
        </p:nvSpPr>
        <p:spPr>
          <a:xfrm>
            <a:off x="7488936"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Splits the raw gap into explained and unexplained components.</a:t>
            </a:r>
            <a:endParaRPr lang="en-US" sz="1000" dirty="0"/>
          </a:p>
        </p:txBody>
      </p:sp>
      <p:sp>
        <p:nvSpPr>
          <p:cNvPr id="24" name="Shape 22"/>
          <p:cNvSpPr/>
          <p:nvPr/>
        </p:nvSpPr>
        <p:spPr>
          <a:xfrm>
            <a:off x="9528048" y="4251960"/>
            <a:ext cx="2011680" cy="1783080"/>
          </a:xfrm>
          <a:prstGeom prst="roundRect">
            <a:avLst>
              <a:gd name="adj" fmla="val 2564"/>
            </a:avLst>
          </a:prstGeom>
          <a:solidFill>
            <a:srgbClr val="DCE6E4"/>
          </a:solidFill>
          <a:ln/>
        </p:spPr>
        <p:txBody>
          <a:bodyPr/>
          <a:lstStyle/>
          <a:p>
            <a:endParaRPr lang="en-US"/>
          </a:p>
        </p:txBody>
      </p:sp>
      <p:sp>
        <p:nvSpPr>
          <p:cNvPr id="25" name="Text 23"/>
          <p:cNvSpPr/>
          <p:nvPr/>
        </p:nvSpPr>
        <p:spPr>
          <a:xfrm>
            <a:off x="9710928"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Survival analysis</a:t>
            </a:r>
            <a:endParaRPr lang="en-US" sz="1150" dirty="0"/>
          </a:p>
        </p:txBody>
      </p:sp>
      <p:sp>
        <p:nvSpPr>
          <p:cNvPr id="26" name="Text 24"/>
          <p:cNvSpPr/>
          <p:nvPr/>
        </p:nvSpPr>
        <p:spPr>
          <a:xfrm>
            <a:off x="9710928"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Cox hazards on exit, plus a fully balanced-panel replication.</a:t>
            </a:r>
            <a:endParaRPr lang="en-US" sz="1000" dirty="0"/>
          </a:p>
        </p:txBody>
      </p:sp>
      <p:sp>
        <p:nvSpPr>
          <p:cNvPr id="27"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County classification: USDA-ERS Urban Influence Codes, 2013 and 2024 vintages, each held fixed across the full series.</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THE MANDATE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Operationalising “rural” — and proving we did it right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definition is the most attackable choice in the study, so it was validated against ERS published counts before anything else was run.</a:t>
            </a:r>
            <a:endParaRPr lang="en-US" sz="1350" dirty="0"/>
          </a:p>
        </p:txBody>
      </p:sp>
      <p:sp>
        <p:nvSpPr>
          <p:cNvPr id="5" name="Shape 3"/>
          <p:cNvSpPr/>
          <p:nvPr/>
        </p:nvSpPr>
        <p:spPr>
          <a:xfrm>
            <a:off x="640080" y="1920240"/>
            <a:ext cx="5394960" cy="2148840"/>
          </a:xfrm>
          <a:prstGeom prst="roundRect">
            <a:avLst>
              <a:gd name="adj" fmla="val 2128"/>
            </a:avLst>
          </a:prstGeom>
          <a:solidFill>
            <a:srgbClr val="F3F5F4"/>
          </a:solidFill>
          <a:ln/>
        </p:spPr>
        <p:txBody>
          <a:bodyPr/>
          <a:lstStyle/>
          <a:p>
            <a:endParaRPr lang="en-US"/>
          </a:p>
        </p:txBody>
      </p:sp>
      <p:sp>
        <p:nvSpPr>
          <p:cNvPr id="6" name="Text 4"/>
          <p:cNvSpPr/>
          <p:nvPr/>
        </p:nvSpPr>
        <p:spPr>
          <a:xfrm>
            <a:off x="914400" y="2084832"/>
            <a:ext cx="475488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The classification</a:t>
            </a:r>
            <a:endParaRPr lang="en-US" sz="1200" dirty="0"/>
          </a:p>
        </p:txBody>
      </p:sp>
      <p:sp>
        <p:nvSpPr>
          <p:cNvPr id="7" name="Text 5"/>
          <p:cNvSpPr/>
          <p:nvPr/>
        </p:nvSpPr>
        <p:spPr>
          <a:xfrm>
            <a:off x="914400" y="2377440"/>
            <a:ext cx="4892040" cy="1554480"/>
          </a:xfrm>
          <a:prstGeom prst="rect">
            <a:avLst/>
          </a:prstGeom>
          <a:noFill/>
          <a:ln/>
        </p:spPr>
        <p:txBody>
          <a:bodyPr wrap="square" lIns="0" tIns="0" rIns="0" bIns="0" rtlCol="0" anchor="ctr"/>
          <a:lstStyle/>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Rural = Urban Influence Code in {3, 6, 7, 8, 9}, 2024 vintage</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Rural = UIC in {4, 6, 7, 8, 9, 10, 11, 12}, 2013 vintage</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Yields 1,556 rural counties across 50 states and DC</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All nine code-level county counts match ERS exactly</a:t>
            </a:r>
            <a:endParaRPr lang="en-US" sz="1150" dirty="0"/>
          </a:p>
        </p:txBody>
      </p:sp>
      <p:sp>
        <p:nvSpPr>
          <p:cNvPr id="8" name="Shape 6"/>
          <p:cNvSpPr/>
          <p:nvPr/>
        </p:nvSpPr>
        <p:spPr>
          <a:xfrm>
            <a:off x="6400800" y="1920240"/>
            <a:ext cx="5120640" cy="2148840"/>
          </a:xfrm>
          <a:prstGeom prst="roundRect">
            <a:avLst>
              <a:gd name="adj" fmla="val 2128"/>
            </a:avLst>
          </a:prstGeom>
          <a:solidFill>
            <a:srgbClr val="DCE6E4"/>
          </a:solidFill>
          <a:ln/>
        </p:spPr>
        <p:txBody>
          <a:bodyPr/>
          <a:lstStyle/>
          <a:p>
            <a:endParaRPr lang="en-US"/>
          </a:p>
        </p:txBody>
      </p:sp>
      <p:sp>
        <p:nvSpPr>
          <p:cNvPr id="9" name="Text 7"/>
          <p:cNvSpPr/>
          <p:nvPr/>
        </p:nvSpPr>
        <p:spPr>
          <a:xfrm>
            <a:off x="6675120" y="2084832"/>
            <a:ext cx="457200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The rule we imposed on ourselves</a:t>
            </a:r>
            <a:endParaRPr lang="en-US" sz="1200" dirty="0"/>
          </a:p>
        </p:txBody>
      </p:sp>
      <p:sp>
        <p:nvSpPr>
          <p:cNvPr id="10" name="Text 8"/>
          <p:cNvSpPr/>
          <p:nvPr/>
        </p:nvSpPr>
        <p:spPr>
          <a:xfrm>
            <a:off x="6675120" y="2395728"/>
            <a:ext cx="4572000" cy="1463040"/>
          </a:xfrm>
          <a:prstGeom prst="rect">
            <a:avLst/>
          </a:prstGeom>
          <a:noFill/>
          <a:ln/>
        </p:spPr>
        <p:txBody>
          <a:bodyPr wrap="square" lIns="0" tIns="0" rIns="0" bIns="0" rtlCol="0" anchor="ctr"/>
          <a:lstStyle/>
          <a:p>
            <a:pPr marL="0" indent="0">
              <a:lnSpc>
                <a:spcPts val="1600"/>
              </a:lnSpc>
              <a:buNone/>
            </a:pPr>
            <a:r>
              <a:rPr lang="en-US" sz="1150" dirty="0">
                <a:solidFill>
                  <a:srgbClr val="12202E"/>
                </a:solidFill>
                <a:latin typeface="Calibri" pitchFamily="34" charset="0"/>
                <a:ea typeface="Calibri" pitchFamily="34" charset="-122"/>
                <a:cs typeface="Calibri" pitchFamily="34" charset="-120"/>
              </a:rPr>
              <a:t>Hold one vintage FIXED across the entire series. Never use the contemporaneous definition — it lets counties change category mid-series and mixes genuine movement with map redrawing. Where the choice could matter, report both vintages and give the range.</a:t>
            </a:r>
            <a:endParaRPr lang="en-US" sz="1150" dirty="0"/>
          </a:p>
        </p:txBody>
      </p:sp>
      <p:sp>
        <p:nvSpPr>
          <p:cNvPr id="11" name="Text 9"/>
          <p:cNvSpPr/>
          <p:nvPr/>
        </p:nvSpPr>
        <p:spPr>
          <a:xfrm>
            <a:off x="640080" y="425196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How much does the definition actually move the answers?  (Q5)</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4526280"/>
          <a:ext cx="108813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83464">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Sensitivity test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Consequence for the report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Counties changing status between vintages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169 of 3,222 (109 lost, 60 gained)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Material — must be disclosed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Credit unions changing status on vintage alone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66 (~14% of rural): 48 lose, 18 gain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Report a range, not a point, for counts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Office network LEVEL, 2024 vs 2013 codes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6.4% difference, throughout the series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Levels are vintage-dependent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Office network TREND, indexed 2013 = 100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107.6 vs 106.7 after thirteen years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Trends are not. Lead with trends.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4"/>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Service area: HQ county vs majority of offices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98.77% agreement; Q1 coefficient 1.031 vs 1.029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HQ-based findings stand; S2 is an appendix row</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bl>
          </a:graphicData>
        </a:graphic>
      </p:graphicFrame>
      <p:sp>
        <p:nvSpPr>
          <p:cNvPr id="13" name="Text 1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Connecticut replaced counties with planning regions in 2022. Zero of 8 counties and zero of 9 planning regions are rural under either vintage, so the mismatch cannot alter any rural flag.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Four more ways of asking, all pointing the same direction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Each test fails for a different reason if the finding is wrong. None of them fails.</a:t>
            </a:r>
            <a:endParaRPr lang="en-US" sz="1350" dirty="0"/>
          </a:p>
        </p:txBody>
      </p:sp>
      <p:sp>
        <p:nvSpPr>
          <p:cNvPr id="5" name="Shape 3"/>
          <p:cNvSpPr/>
          <p:nvPr/>
        </p:nvSpPr>
        <p:spPr>
          <a:xfrm>
            <a:off x="640080" y="1920240"/>
            <a:ext cx="5257800" cy="1874520"/>
          </a:xfrm>
          <a:prstGeom prst="roundRect">
            <a:avLst>
              <a:gd name="adj" fmla="val 2439"/>
            </a:avLst>
          </a:prstGeom>
          <a:solidFill>
            <a:srgbClr val="F3F5F4"/>
          </a:solidFill>
          <a:ln/>
        </p:spPr>
        <p:txBody>
          <a:bodyPr/>
          <a:lstStyle/>
          <a:p>
            <a:endParaRPr lang="en-US"/>
          </a:p>
        </p:txBody>
      </p:sp>
      <p:sp>
        <p:nvSpPr>
          <p:cNvPr id="6" name="Text 4"/>
          <p:cNvSpPr/>
          <p:nvPr/>
        </p:nvSpPr>
        <p:spPr>
          <a:xfrm>
            <a:off x="914400" y="208483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WITHIN SIZE BANDS</a:t>
            </a:r>
            <a:endParaRPr lang="en-US" sz="1000" dirty="0"/>
          </a:p>
        </p:txBody>
      </p:sp>
      <p:sp>
        <p:nvSpPr>
          <p:cNvPr id="7" name="Text 5"/>
          <p:cNvSpPr/>
          <p:nvPr/>
        </p:nvSpPr>
        <p:spPr>
          <a:xfrm>
            <a:off x="914400" y="232257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Positive in all six</a:t>
            </a:r>
            <a:endParaRPr lang="en-US" sz="1900" dirty="0"/>
          </a:p>
        </p:txBody>
      </p:sp>
      <p:sp>
        <p:nvSpPr>
          <p:cNvPr id="8" name="Text 6"/>
          <p:cNvSpPr/>
          <p:nvPr/>
        </p:nvSpPr>
        <p:spPr>
          <a:xfrm>
            <a:off x="914400" y="274320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rural gap on growth and ROA is positive in every asset-size band, so the result is not an artifact of a particular functional form or of one band driving the average.</a:t>
            </a:r>
            <a:endParaRPr lang="en-US" sz="1050" dirty="0"/>
          </a:p>
        </p:txBody>
      </p:sp>
      <p:sp>
        <p:nvSpPr>
          <p:cNvPr id="9" name="Shape 7"/>
          <p:cNvSpPr/>
          <p:nvPr/>
        </p:nvSpPr>
        <p:spPr>
          <a:xfrm>
            <a:off x="6217920" y="1920240"/>
            <a:ext cx="5257800" cy="1874520"/>
          </a:xfrm>
          <a:prstGeom prst="roundRect">
            <a:avLst>
              <a:gd name="adj" fmla="val 2439"/>
            </a:avLst>
          </a:prstGeom>
          <a:solidFill>
            <a:srgbClr val="F3F5F4"/>
          </a:solidFill>
          <a:ln/>
        </p:spPr>
        <p:txBody>
          <a:bodyPr/>
          <a:lstStyle/>
          <a:p>
            <a:endParaRPr lang="en-US"/>
          </a:p>
        </p:txBody>
      </p:sp>
      <p:sp>
        <p:nvSpPr>
          <p:cNvPr id="10" name="Text 8"/>
          <p:cNvSpPr/>
          <p:nvPr/>
        </p:nvSpPr>
        <p:spPr>
          <a:xfrm>
            <a:off x="6492240" y="208483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SIZE-MATCHED PAIRS</a:t>
            </a:r>
            <a:endParaRPr lang="en-US" sz="1000" dirty="0"/>
          </a:p>
        </p:txBody>
      </p:sp>
      <p:sp>
        <p:nvSpPr>
          <p:cNvPr id="11" name="Text 9"/>
          <p:cNvSpPr/>
          <p:nvPr/>
        </p:nvSpPr>
        <p:spPr>
          <a:xfrm>
            <a:off x="6492240" y="232257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33,403 pairs</a:t>
            </a:r>
            <a:endParaRPr lang="en-US" sz="1900" dirty="0"/>
          </a:p>
        </p:txBody>
      </p:sp>
      <p:sp>
        <p:nvSpPr>
          <p:cNvPr id="12" name="Text 10"/>
          <p:cNvSpPr/>
          <p:nvPr/>
        </p:nvSpPr>
        <p:spPr>
          <a:xfrm>
            <a:off x="6492240" y="274320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Rural quarters matched to non-rural within 10% on assets in the same quarter. Growth 4.11 vs 2.43 (+1.68), ROA 0.54 vs 0.31 (+0.23), net worth 13.44 vs 13.29 (+0.16). Reproduces the size-only regression almost exactly.</a:t>
            </a:r>
            <a:endParaRPr lang="en-US" sz="1050" dirty="0"/>
          </a:p>
        </p:txBody>
      </p:sp>
      <p:sp>
        <p:nvSpPr>
          <p:cNvPr id="13" name="Shape 11"/>
          <p:cNvSpPr/>
          <p:nvPr/>
        </p:nvSpPr>
        <p:spPr>
          <a:xfrm>
            <a:off x="640080" y="4023360"/>
            <a:ext cx="5257800" cy="1874520"/>
          </a:xfrm>
          <a:prstGeom prst="roundRect">
            <a:avLst>
              <a:gd name="adj" fmla="val 2439"/>
            </a:avLst>
          </a:prstGeom>
          <a:solidFill>
            <a:srgbClr val="F3F5F4"/>
          </a:solidFill>
          <a:ln/>
        </p:spPr>
        <p:txBody>
          <a:bodyPr/>
          <a:lstStyle/>
          <a:p>
            <a:endParaRPr lang="en-US"/>
          </a:p>
        </p:txBody>
      </p:sp>
      <p:sp>
        <p:nvSpPr>
          <p:cNvPr id="14" name="Text 12"/>
          <p:cNvSpPr/>
          <p:nvPr/>
        </p:nvSpPr>
        <p:spPr>
          <a:xfrm>
            <a:off x="914400" y="418795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COMMON SUPPORT</a:t>
            </a:r>
            <a:endParaRPr lang="en-US" sz="1000" dirty="0"/>
          </a:p>
        </p:txBody>
      </p:sp>
      <p:sp>
        <p:nvSpPr>
          <p:cNvPr id="15" name="Text 13"/>
          <p:cNvSpPr/>
          <p:nvPr/>
        </p:nvSpPr>
        <p:spPr>
          <a:xfrm>
            <a:off x="914400" y="442569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98.9%</a:t>
            </a:r>
            <a:endParaRPr lang="en-US" sz="1900" dirty="0"/>
          </a:p>
        </p:txBody>
      </p:sp>
      <p:sp>
        <p:nvSpPr>
          <p:cNvPr id="16" name="Text 14"/>
          <p:cNvSpPr/>
          <p:nvPr/>
        </p:nvSpPr>
        <p:spPr>
          <a:xfrm>
            <a:off x="914400" y="484632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Almost the entire rural distribution has non-rural counterparts of comparable size. This is a legitimate comparison, not extrapolation off the edge of the data.</a:t>
            </a:r>
            <a:endParaRPr lang="en-US" sz="1050" dirty="0"/>
          </a:p>
        </p:txBody>
      </p:sp>
      <p:sp>
        <p:nvSpPr>
          <p:cNvPr id="17" name="Shape 15"/>
          <p:cNvSpPr/>
          <p:nvPr/>
        </p:nvSpPr>
        <p:spPr>
          <a:xfrm>
            <a:off x="6217920" y="4023360"/>
            <a:ext cx="5257800" cy="1874520"/>
          </a:xfrm>
          <a:prstGeom prst="roundRect">
            <a:avLst>
              <a:gd name="adj" fmla="val 2439"/>
            </a:avLst>
          </a:prstGeom>
          <a:solidFill>
            <a:srgbClr val="F3F5F4"/>
          </a:solidFill>
          <a:ln/>
        </p:spPr>
        <p:txBody>
          <a:bodyPr/>
          <a:lstStyle/>
          <a:p>
            <a:endParaRPr lang="en-US"/>
          </a:p>
        </p:txBody>
      </p:sp>
      <p:sp>
        <p:nvSpPr>
          <p:cNvPr id="18" name="Text 16"/>
          <p:cNvSpPr/>
          <p:nvPr/>
        </p:nvSpPr>
        <p:spPr>
          <a:xfrm>
            <a:off x="6492240" y="418795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ALTERNATIVE SERVICE AREA</a:t>
            </a:r>
            <a:endParaRPr lang="en-US" sz="1000" dirty="0"/>
          </a:p>
        </p:txBody>
      </p:sp>
      <p:sp>
        <p:nvSpPr>
          <p:cNvPr id="19" name="Text 17"/>
          <p:cNvSpPr/>
          <p:nvPr/>
        </p:nvSpPr>
        <p:spPr>
          <a:xfrm>
            <a:off x="6492240" y="442569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1.031 vs 1.029</a:t>
            </a:r>
            <a:endParaRPr lang="en-US" sz="1900" dirty="0"/>
          </a:p>
        </p:txBody>
      </p:sp>
      <p:sp>
        <p:nvSpPr>
          <p:cNvPr id="20" name="Text 18"/>
          <p:cNvSpPr/>
          <p:nvPr/>
        </p:nvSpPr>
        <p:spPr>
          <a:xfrm>
            <a:off x="6492240" y="484632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Defining rurality by where the majority of a credit union's offices sit, rather than by headquarters, changes the asset-growth coefficient in the third decimal. The finding is not a domicile artifact.</a:t>
            </a:r>
            <a:endParaRPr lang="en-US" sz="1050" dirty="0"/>
          </a:p>
        </p:txBody>
      </p:sp>
      <p:sp>
        <p:nvSpPr>
          <p:cNvPr id="21" name="Text 19"/>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Matched-pair t-tests treat credit-union quarters as independent and so overstate significance; the clustered regression coefficients are the formal numbers.</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Q8 ACCESS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Charters are disappearing. Offices are not.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reconciling result of the study: surviving credit unions open rural offices faster than rural offices close, so the formation collapse is real and is not yet producing an access collapse.</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6766560" cy="914400"/>
        </p:xfrm>
        <a:graphic>
          <a:graphicData uri="http://schemas.openxmlformats.org/drawingml/2006/table">
            <a:tbl>
              <a:tblPr/>
              <a:tblGrid>
                <a:gridCol w="1874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41148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2013Q1 → 2026Q1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Change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Urban</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Change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Total offices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1,843 → 1,967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20,129 → 20,793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Headquarters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685 → 469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6,191 → 3,852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Branches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1,158 → 1,498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+29.4%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13,938 → 16,941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Opened / closed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882 / 842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104.8%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11,101 / 11,419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97.2%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4"/>
                  </a:ext>
                </a:extLst>
              </a:tr>
            </a:tbl>
          </a:graphicData>
        </a:graphic>
      </p:graphicFrame>
      <p:sp>
        <p:nvSpPr>
          <p:cNvPr id="6" name="Shape 3"/>
          <p:cNvSpPr/>
          <p:nvPr/>
        </p:nvSpPr>
        <p:spPr>
          <a:xfrm>
            <a:off x="7635240" y="2011680"/>
            <a:ext cx="3886200" cy="1691640"/>
          </a:xfrm>
          <a:prstGeom prst="roundRect">
            <a:avLst>
              <a:gd name="adj" fmla="val 2703"/>
            </a:avLst>
          </a:prstGeom>
          <a:solidFill>
            <a:srgbClr val="C8553D"/>
          </a:solidFill>
          <a:ln/>
        </p:spPr>
        <p:txBody>
          <a:bodyPr/>
          <a:lstStyle/>
          <a:p>
            <a:endParaRPr lang="en-US"/>
          </a:p>
        </p:txBody>
      </p:sp>
      <p:sp>
        <p:nvSpPr>
          <p:cNvPr id="7" name="Text 4"/>
          <p:cNvSpPr/>
          <p:nvPr/>
        </p:nvSpPr>
        <p:spPr>
          <a:xfrm>
            <a:off x="7863840" y="2167128"/>
            <a:ext cx="3429000" cy="256032"/>
          </a:xfrm>
          <a:prstGeom prst="rect">
            <a:avLst/>
          </a:prstGeom>
          <a:noFill/>
          <a:ln/>
        </p:spPr>
        <p:txBody>
          <a:bodyPr wrap="square" lIns="0" tIns="0" rIns="0" bIns="0" rtlCol="0" anchor="ctr"/>
          <a:lstStyle/>
          <a:p>
            <a:pPr marL="0" indent="0">
              <a:buNone/>
            </a:pPr>
            <a:r>
              <a:rPr lang="en-US" sz="1150" b="1" dirty="0">
                <a:solidFill>
                  <a:srgbClr val="FFE8E2"/>
                </a:solidFill>
                <a:latin typeface="Calibri" pitchFamily="34" charset="0"/>
                <a:ea typeface="Calibri" pitchFamily="34" charset="-122"/>
                <a:cs typeface="Calibri" pitchFamily="34" charset="-120"/>
              </a:rPr>
              <a:t>Report net offices, not branch growth</a:t>
            </a:r>
            <a:endParaRPr lang="en-US" sz="1150" dirty="0"/>
          </a:p>
        </p:txBody>
      </p:sp>
      <p:sp>
        <p:nvSpPr>
          <p:cNvPr id="8" name="Text 5"/>
          <p:cNvSpPr/>
          <p:nvPr/>
        </p:nvSpPr>
        <p:spPr>
          <a:xfrm>
            <a:off x="7863840" y="2468880"/>
            <a:ext cx="3474720" cy="1143000"/>
          </a:xfrm>
          <a:prstGeom prst="rect">
            <a:avLst/>
          </a:prstGeom>
          <a:noFill/>
          <a:ln/>
        </p:spPr>
        <p:txBody>
          <a:bodyPr wrap="square" lIns="0" tIns="0" rIns="0" bIns="0" rtlCol="0" anchor="ctr"/>
          <a:lstStyle/>
          <a:p>
            <a:pPr marL="0" indent="0">
              <a:lnSpc>
                <a:spcPts val="1400"/>
              </a:lnSpc>
              <a:buNone/>
            </a:pPr>
            <a:r>
              <a:rPr lang="en-US" sz="1050" dirty="0">
                <a:solidFill>
                  <a:srgbClr val="FFFFFF"/>
                </a:solidFill>
                <a:latin typeface="Calibri" pitchFamily="34" charset="0"/>
                <a:ea typeface="Calibri" pitchFamily="34" charset="-122"/>
                <a:cs typeface="Calibri" pitchFamily="34" charset="-120"/>
              </a:rPr>
              <a:t>HQ change plus branch change equals net office change exactly, because an acquired credit union's headquarters becomes a branch. Most of the 29.4% is reclassification, not new construction.</a:t>
            </a:r>
            <a:endParaRPr lang="en-US" sz="1050" dirty="0"/>
          </a:p>
        </p:txBody>
      </p:sp>
      <p:sp>
        <p:nvSpPr>
          <p:cNvPr id="9" name="Text 6"/>
          <p:cNvSpPr/>
          <p:nvPr/>
        </p:nvSpPr>
        <p:spPr>
          <a:xfrm>
            <a:off x="640080" y="4224528"/>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Vintage check</a:t>
            </a:r>
            <a:endParaRPr lang="en-US" sz="1150" dirty="0"/>
          </a:p>
        </p:txBody>
      </p:sp>
      <p:sp>
        <p:nvSpPr>
          <p:cNvPr id="10" name="Text 7"/>
          <p:cNvSpPr/>
          <p:nvPr/>
        </p:nvSpPr>
        <p:spPr>
          <a:xfrm>
            <a:off x="3017520" y="4206240"/>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Under the 2013 codes rural offices run 1,971 → 2,121 (+7.6%). So rural office growth is 6.7% to 7.6% depending on vintage, urban roughly 3.2% either way. The ranking is unaffected.</a:t>
            </a:r>
            <a:endParaRPr lang="en-US" sz="1050" dirty="0"/>
          </a:p>
        </p:txBody>
      </p:sp>
      <p:sp>
        <p:nvSpPr>
          <p:cNvPr id="11" name="Text 8"/>
          <p:cNvSpPr/>
          <p:nvPr/>
        </p:nvSpPr>
        <p:spPr>
          <a:xfrm>
            <a:off x="640080" y="4919472"/>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Relocation is negligible</a:t>
            </a:r>
            <a:endParaRPr lang="en-US" sz="1150" dirty="0"/>
          </a:p>
        </p:txBody>
      </p:sp>
      <p:sp>
        <p:nvSpPr>
          <p:cNvPr id="12" name="Text 9"/>
          <p:cNvSpPr/>
          <p:nvPr/>
        </p:nvSpPr>
        <p:spPr>
          <a:xfrm>
            <a:off x="3017520" y="4901184"/>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Of 35,356 sites, 731 changed county and only 35 crossed the rural line — 20 urban to rural against 15 rural to urban, net toward rural. The network changes through openings and closings, not moves.</a:t>
            </a:r>
            <a:endParaRPr lang="en-US" sz="1050" dirty="0"/>
          </a:p>
        </p:txBody>
      </p:sp>
      <p:sp>
        <p:nvSpPr>
          <p:cNvPr id="13" name="Text 10"/>
          <p:cNvSpPr/>
          <p:nvPr/>
        </p:nvSpPr>
        <p:spPr>
          <a:xfrm>
            <a:off x="640080" y="5614416"/>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Density, with a caveat</a:t>
            </a:r>
            <a:endParaRPr lang="en-US" sz="1150" dirty="0"/>
          </a:p>
        </p:txBody>
      </p:sp>
      <p:sp>
        <p:nvSpPr>
          <p:cNvPr id="14" name="Text 11"/>
          <p:cNvSpPr/>
          <p:nvPr/>
        </p:nvSpPr>
        <p:spPr>
          <a:xfrm>
            <a:off x="3017520" y="5596128"/>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Rural ~7.2 offices per 100,000 residents against urban ~6.8, on a fixed 2020 denominator. Density is not proximity: rural counties are large, and this must not be presented as a travel-distance claim.</a:t>
            </a:r>
            <a:endParaRPr lang="en-US" sz="1050" dirty="0"/>
          </a:p>
        </p:txBody>
      </p:sp>
      <p:sp>
        <p:nvSpPr>
          <p:cNvPr id="15"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Branch panel 2013Q1-2026Q1: 35,356 distinct sites, 1,156,574 site-quarters, only 112 dropped for missing classification under either vintage.</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Q3</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Q3 — does the business lending cap actually restrict anyone?</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member business lending cap is the most-cited statutory barrier in the credit union policy debate. On current evidence it shapes behaviour where it applies, but it does not bind most rural institutions.</a:t>
            </a:r>
            <a:endParaRPr lang="en-US" sz="1350" dirty="0"/>
          </a:p>
        </p:txBody>
      </p:sp>
      <p:sp>
        <p:nvSpPr>
          <p:cNvPr id="5" name="Shape 3"/>
          <p:cNvSpPr/>
          <p:nvPr/>
        </p:nvSpPr>
        <p:spPr>
          <a:xfrm>
            <a:off x="640080" y="1965960"/>
            <a:ext cx="2514600" cy="1463040"/>
          </a:xfrm>
          <a:prstGeom prst="roundRect">
            <a:avLst>
              <a:gd name="adj" fmla="val 3125"/>
            </a:avLst>
          </a:prstGeom>
          <a:solidFill>
            <a:srgbClr val="F3F5F4"/>
          </a:solidFill>
          <a:ln/>
        </p:spPr>
        <p:txBody>
          <a:bodyPr/>
          <a:lstStyle/>
          <a:p>
            <a:endParaRPr lang="en-US"/>
          </a:p>
        </p:txBody>
      </p:sp>
      <p:sp>
        <p:nvSpPr>
          <p:cNvPr id="6" name="Text 4"/>
          <p:cNvSpPr/>
          <p:nvPr/>
        </p:nvSpPr>
        <p:spPr>
          <a:xfrm>
            <a:off x="868680"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4.8%</a:t>
            </a:r>
            <a:endParaRPr lang="en-US" sz="2500" dirty="0"/>
          </a:p>
        </p:txBody>
      </p:sp>
      <p:sp>
        <p:nvSpPr>
          <p:cNvPr id="7" name="Text 5"/>
          <p:cNvSpPr/>
          <p:nvPr/>
        </p:nvSpPr>
        <p:spPr>
          <a:xfrm>
            <a:off x="868680"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of rural CUs subject to the cap are above 90% of it</a:t>
            </a:r>
            <a:endParaRPr lang="en-US" sz="1050" dirty="0"/>
          </a:p>
        </p:txBody>
      </p:sp>
      <p:sp>
        <p:nvSpPr>
          <p:cNvPr id="8" name="Shape 6"/>
          <p:cNvSpPr/>
          <p:nvPr/>
        </p:nvSpPr>
        <p:spPr>
          <a:xfrm>
            <a:off x="3401568" y="1965960"/>
            <a:ext cx="2514600" cy="1463040"/>
          </a:xfrm>
          <a:prstGeom prst="roundRect">
            <a:avLst>
              <a:gd name="adj" fmla="val 3125"/>
            </a:avLst>
          </a:prstGeom>
          <a:solidFill>
            <a:srgbClr val="F3F5F4"/>
          </a:solidFill>
          <a:ln/>
        </p:spPr>
        <p:txBody>
          <a:bodyPr/>
          <a:lstStyle/>
          <a:p>
            <a:endParaRPr lang="en-US"/>
          </a:p>
        </p:txBody>
      </p:sp>
      <p:sp>
        <p:nvSpPr>
          <p:cNvPr id="9" name="Text 7"/>
          <p:cNvSpPr/>
          <p:nvPr/>
        </p:nvSpPr>
        <p:spPr>
          <a:xfrm>
            <a:off x="3630168"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~10</a:t>
            </a:r>
            <a:endParaRPr lang="en-US" sz="2500" dirty="0"/>
          </a:p>
        </p:txBody>
      </p:sp>
      <p:sp>
        <p:nvSpPr>
          <p:cNvPr id="10" name="Text 8"/>
          <p:cNvSpPr/>
          <p:nvPr/>
        </p:nvSpPr>
        <p:spPr>
          <a:xfrm>
            <a:off x="3630168"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institutions nationwide, in practice</a:t>
            </a:r>
            <a:endParaRPr lang="en-US" sz="1050" dirty="0"/>
          </a:p>
        </p:txBody>
      </p:sp>
      <p:sp>
        <p:nvSpPr>
          <p:cNvPr id="11" name="Shape 9"/>
          <p:cNvSpPr/>
          <p:nvPr/>
        </p:nvSpPr>
        <p:spPr>
          <a:xfrm>
            <a:off x="6163056" y="1965960"/>
            <a:ext cx="2514600" cy="1463040"/>
          </a:xfrm>
          <a:prstGeom prst="roundRect">
            <a:avLst>
              <a:gd name="adj" fmla="val 3125"/>
            </a:avLst>
          </a:prstGeom>
          <a:solidFill>
            <a:srgbClr val="DCE6E4"/>
          </a:solidFill>
          <a:ln/>
        </p:spPr>
        <p:txBody>
          <a:bodyPr/>
          <a:lstStyle/>
          <a:p>
            <a:endParaRPr lang="en-US"/>
          </a:p>
        </p:txBody>
      </p:sp>
      <p:sp>
        <p:nvSpPr>
          <p:cNvPr id="12" name="Text 10"/>
          <p:cNvSpPr/>
          <p:nvPr/>
        </p:nvSpPr>
        <p:spPr>
          <a:xfrm>
            <a:off x="6391656"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13.2%</a:t>
            </a:r>
            <a:endParaRPr lang="en-US" sz="2500" dirty="0"/>
          </a:p>
        </p:txBody>
      </p:sp>
      <p:sp>
        <p:nvSpPr>
          <p:cNvPr id="13" name="Text 11"/>
          <p:cNvSpPr/>
          <p:nvPr/>
        </p:nvSpPr>
        <p:spPr>
          <a:xfrm>
            <a:off x="6391656"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rate among LID-exempt rural institutions</a:t>
            </a:r>
            <a:endParaRPr lang="en-US" sz="1050" dirty="0"/>
          </a:p>
        </p:txBody>
      </p:sp>
      <p:sp>
        <p:nvSpPr>
          <p:cNvPr id="14" name="Shape 12"/>
          <p:cNvSpPr/>
          <p:nvPr/>
        </p:nvSpPr>
        <p:spPr>
          <a:xfrm>
            <a:off x="8924544" y="1965960"/>
            <a:ext cx="2514600" cy="1463040"/>
          </a:xfrm>
          <a:prstGeom prst="roundRect">
            <a:avLst>
              <a:gd name="adj" fmla="val 3125"/>
            </a:avLst>
          </a:prstGeom>
          <a:solidFill>
            <a:srgbClr val="DCE6E4"/>
          </a:solidFill>
          <a:ln/>
        </p:spPr>
        <p:txBody>
          <a:bodyPr/>
          <a:lstStyle/>
          <a:p>
            <a:endParaRPr lang="en-US"/>
          </a:p>
        </p:txBody>
      </p:sp>
      <p:sp>
        <p:nvSpPr>
          <p:cNvPr id="15" name="Text 13"/>
          <p:cNvSpPr/>
          <p:nvPr/>
        </p:nvSpPr>
        <p:spPr>
          <a:xfrm>
            <a:off x="9153144"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2.75×</a:t>
            </a:r>
            <a:endParaRPr lang="en-US" sz="2500" dirty="0"/>
          </a:p>
        </p:txBody>
      </p:sp>
      <p:sp>
        <p:nvSpPr>
          <p:cNvPr id="16" name="Text 14"/>
          <p:cNvSpPr/>
          <p:nvPr/>
        </p:nvSpPr>
        <p:spPr>
          <a:xfrm>
            <a:off x="9153144"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rate of those not exempt</a:t>
            </a:r>
            <a:endParaRPr lang="en-US" sz="1050" dirty="0"/>
          </a:p>
        </p:txBody>
      </p:sp>
      <p:sp>
        <p:nvSpPr>
          <p:cNvPr id="17" name="Shape 15"/>
          <p:cNvSpPr/>
          <p:nvPr/>
        </p:nvSpPr>
        <p:spPr>
          <a:xfrm>
            <a:off x="640080" y="3611880"/>
            <a:ext cx="5257800" cy="2377440"/>
          </a:xfrm>
          <a:prstGeom prst="roundRect">
            <a:avLst>
              <a:gd name="adj" fmla="val 1923"/>
            </a:avLst>
          </a:prstGeom>
          <a:solidFill>
            <a:srgbClr val="F3F5F4"/>
          </a:solidFill>
          <a:ln/>
        </p:spPr>
        <p:txBody>
          <a:bodyPr/>
          <a:lstStyle/>
          <a:p>
            <a:endParaRPr lang="en-US"/>
          </a:p>
        </p:txBody>
      </p:sp>
      <p:sp>
        <p:nvSpPr>
          <p:cNvPr id="18" name="Text 16"/>
          <p:cNvSpPr/>
          <p:nvPr/>
        </p:nvSpPr>
        <p:spPr>
          <a:xfrm>
            <a:off x="914400" y="3767328"/>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How to read the LID gap</a:t>
            </a:r>
            <a:endParaRPr lang="en-US" sz="1200" dirty="0"/>
          </a:p>
        </p:txBody>
      </p:sp>
      <p:sp>
        <p:nvSpPr>
          <p:cNvPr id="19" name="Text 17"/>
          <p:cNvSpPr/>
          <p:nvPr/>
        </p:nvSpPr>
        <p:spPr>
          <a:xfrm>
            <a:off x="914400" y="4069080"/>
            <a:ext cx="4709160" cy="100584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Institutions exempt from the cap by virtue of their low-income designation run business lending at nearly three times the rate of those subject to it. That is the signature of a constraint binding at the margin for a small group — not of a cap holding back the sector.</a:t>
            </a:r>
            <a:endParaRPr lang="en-US" sz="1150" dirty="0"/>
          </a:p>
        </p:txBody>
      </p:sp>
      <p:sp>
        <p:nvSpPr>
          <p:cNvPr id="20" name="Text 18"/>
          <p:cNvSpPr/>
          <p:nvPr/>
        </p:nvSpPr>
        <p:spPr>
          <a:xfrm>
            <a:off x="914400" y="5120640"/>
            <a:ext cx="4709160" cy="777240"/>
          </a:xfrm>
          <a:prstGeom prst="rect">
            <a:avLst/>
          </a:prstGeom>
          <a:noFill/>
          <a:ln/>
        </p:spPr>
        <p:txBody>
          <a:bodyPr wrap="square" lIns="0" tIns="0" rIns="0" bIns="0" rtlCol="0" anchor="ctr"/>
          <a:lstStyle/>
          <a:p>
            <a:pPr marL="0" indent="0">
              <a:lnSpc>
                <a:spcPts val="1550"/>
              </a:lnSpc>
              <a:buNone/>
            </a:pPr>
            <a:r>
              <a:rPr lang="en-US" sz="1150" b="1" dirty="0">
                <a:solidFill>
                  <a:srgbClr val="C8553D"/>
                </a:solidFill>
                <a:latin typeface="Calibri" pitchFamily="34" charset="0"/>
                <a:ea typeface="Calibri" pitchFamily="34" charset="-122"/>
                <a:cs typeface="Calibri" pitchFamily="34" charset="-120"/>
              </a:rPr>
              <a:t>The honest formulation: the cap is a real constraint for roughly ten rural institutions and a behavioural influence for more, but it cannot carry a sector-wide barriers argument on its own.</a:t>
            </a:r>
            <a:endParaRPr lang="en-US" sz="1150" dirty="0"/>
          </a:p>
        </p:txBody>
      </p:sp>
      <p:sp>
        <p:nvSpPr>
          <p:cNvPr id="21" name="Shape 19"/>
          <p:cNvSpPr/>
          <p:nvPr/>
        </p:nvSpPr>
        <p:spPr>
          <a:xfrm>
            <a:off x="6263640" y="3611880"/>
            <a:ext cx="5257800" cy="2377440"/>
          </a:xfrm>
          <a:prstGeom prst="roundRect">
            <a:avLst>
              <a:gd name="adj" fmla="val 1923"/>
            </a:avLst>
          </a:prstGeom>
          <a:solidFill>
            <a:srgbClr val="F3F5F4"/>
          </a:solidFill>
          <a:ln/>
        </p:spPr>
        <p:txBody>
          <a:bodyPr/>
          <a:lstStyle/>
          <a:p>
            <a:endParaRPr lang="en-US"/>
          </a:p>
        </p:txBody>
      </p:sp>
      <p:sp>
        <p:nvSpPr>
          <p:cNvPr id="22" name="Text 20"/>
          <p:cNvSpPr/>
          <p:nvPr/>
        </p:nvSpPr>
        <p:spPr>
          <a:xfrm>
            <a:off x="6537960" y="3767328"/>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What is still to be done here</a:t>
            </a:r>
            <a:endParaRPr lang="en-US" sz="1200" dirty="0"/>
          </a:p>
        </p:txBody>
      </p:sp>
      <p:sp>
        <p:nvSpPr>
          <p:cNvPr id="23" name="Text 21"/>
          <p:cNvSpPr/>
          <p:nvPr/>
        </p:nvSpPr>
        <p:spPr>
          <a:xfrm>
            <a:off x="6537960" y="4069080"/>
            <a:ext cx="4754880" cy="182880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00" dirty="0">
                <a:solidFill>
                  <a:srgbClr val="12202E"/>
                </a:solidFill>
                <a:latin typeface="Calibri" pitchFamily="34" charset="0"/>
                <a:ea typeface="Calibri" pitchFamily="34" charset="-122"/>
                <a:cs typeface="Calibri" pitchFamily="34" charset="-120"/>
              </a:rPr>
              <a:t>A bunching estimator on the Part 723 measure — does the distribution of business lending pile up just below the statutory threshold? Bunching is the cleanest evidence that a cap changes behaviour rather than merely describing it.</a:t>
            </a:r>
            <a:endParaRPr lang="en-US" sz="1100" dirty="0"/>
          </a:p>
          <a:p>
            <a:pPr marL="342900" indent="-342900">
              <a:lnSpc>
                <a:spcPts val="1500"/>
              </a:lnSpc>
              <a:spcAft>
                <a:spcPts val="600"/>
              </a:spcAft>
              <a:buSzPct val="100000"/>
              <a:buChar char="•"/>
            </a:pPr>
            <a:r>
              <a:rPr lang="en-US" sz="1100" dirty="0">
                <a:solidFill>
                  <a:srgbClr val="12202E"/>
                </a:solidFill>
                <a:latin typeface="Calibri" pitchFamily="34" charset="0"/>
                <a:ea typeface="Calibri" pitchFamily="34" charset="-122"/>
                <a:cs typeface="Calibri" pitchFamily="34" charset="-120"/>
              </a:rPr>
              <a:t>That measure is chosen for coverage: it runs the full 2010-2026 window, while the schedule's other business lending fields break at the 2017-18 revision.</a:t>
            </a:r>
            <a:endParaRPr lang="en-US" sz="1100" dirty="0"/>
          </a:p>
        </p:txBody>
      </p:sp>
      <p:sp>
        <p:nvSpPr>
          <p:cNvPr id="24"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Cap measured against the statutory limit at 12 U.S.C. 1757a. Q3 remains partial until the bunching estimator is run.</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CORRECTIONS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Three other things we had to correct along the way</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Each of these changed a sentence that had already been drafted. They are listed because the same traps will catch anyone reading our exhibits.</a:t>
            </a:r>
            <a:endParaRPr lang="en-US" sz="1350" dirty="0"/>
          </a:p>
        </p:txBody>
      </p:sp>
      <p:sp>
        <p:nvSpPr>
          <p:cNvPr id="5" name="Shape 3"/>
          <p:cNvSpPr/>
          <p:nvPr/>
        </p:nvSpPr>
        <p:spPr>
          <a:xfrm>
            <a:off x="640080" y="2011680"/>
            <a:ext cx="10881360" cy="1207008"/>
          </a:xfrm>
          <a:prstGeom prst="roundRect">
            <a:avLst>
              <a:gd name="adj" fmla="val 3788"/>
            </a:avLst>
          </a:prstGeom>
          <a:solidFill>
            <a:srgbClr val="F3F5F4"/>
          </a:solidFill>
          <a:ln/>
        </p:spPr>
        <p:txBody>
          <a:bodyPr/>
          <a:lstStyle/>
          <a:p>
            <a:endParaRPr lang="en-US"/>
          </a:p>
        </p:txBody>
      </p:sp>
      <p:sp>
        <p:nvSpPr>
          <p:cNvPr id="6" name="Shape 4"/>
          <p:cNvSpPr/>
          <p:nvPr/>
        </p:nvSpPr>
        <p:spPr>
          <a:xfrm>
            <a:off x="896112" y="2423160"/>
            <a:ext cx="365760" cy="365760"/>
          </a:xfrm>
          <a:prstGeom prst="ellipse">
            <a:avLst/>
          </a:prstGeom>
          <a:solidFill>
            <a:srgbClr val="C8553D"/>
          </a:solidFill>
          <a:ln/>
        </p:spPr>
        <p:txBody>
          <a:bodyPr/>
          <a:lstStyle/>
          <a:p>
            <a:endParaRPr lang="en-US"/>
          </a:p>
        </p:txBody>
      </p:sp>
      <p:sp>
        <p:nvSpPr>
          <p:cNvPr id="7" name="Text 5"/>
          <p:cNvSpPr/>
          <p:nvPr/>
        </p:nvSpPr>
        <p:spPr>
          <a:xfrm>
            <a:off x="896112" y="24231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417320" y="21579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Membership growth reverses under asset weighting</a:t>
            </a:r>
            <a:endParaRPr lang="en-US" sz="1250" dirty="0"/>
          </a:p>
        </p:txBody>
      </p:sp>
      <p:sp>
        <p:nvSpPr>
          <p:cNvPr id="9" name="Text 7"/>
          <p:cNvSpPr/>
          <p:nvPr/>
        </p:nvSpPr>
        <p:spPr>
          <a:xfrm>
            <a:off x="1417320" y="26334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+0.15% vs -0.58% on medians; 1.96 vs 2.80 weighted by assets.</a:t>
            </a:r>
            <a:endParaRPr lang="en-US" sz="1050" dirty="0"/>
          </a:p>
        </p:txBody>
      </p:sp>
      <p:sp>
        <p:nvSpPr>
          <p:cNvPr id="10" name="Text 8"/>
          <p:cNvSpPr/>
          <p:nvPr/>
        </p:nvSpPr>
        <p:spPr>
          <a:xfrm>
            <a:off x="6583680" y="21945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A handful of very large non-rural institutions carry their segment. Every membership claim in the report must be explicitly about the ordinary institution, never the aggregate.</a:t>
            </a:r>
            <a:endParaRPr lang="en-US" sz="1100" dirty="0"/>
          </a:p>
        </p:txBody>
      </p:sp>
      <p:sp>
        <p:nvSpPr>
          <p:cNvPr id="11" name="Shape 9"/>
          <p:cNvSpPr/>
          <p:nvPr/>
        </p:nvSpPr>
        <p:spPr>
          <a:xfrm>
            <a:off x="640080" y="3383280"/>
            <a:ext cx="10881360" cy="1207008"/>
          </a:xfrm>
          <a:prstGeom prst="roundRect">
            <a:avLst>
              <a:gd name="adj" fmla="val 3788"/>
            </a:avLst>
          </a:prstGeom>
          <a:solidFill>
            <a:srgbClr val="F3F5F4"/>
          </a:solidFill>
          <a:ln/>
        </p:spPr>
        <p:txBody>
          <a:bodyPr/>
          <a:lstStyle/>
          <a:p>
            <a:endParaRPr lang="en-US"/>
          </a:p>
        </p:txBody>
      </p:sp>
      <p:sp>
        <p:nvSpPr>
          <p:cNvPr id="12" name="Shape 10"/>
          <p:cNvSpPr/>
          <p:nvPr/>
        </p:nvSpPr>
        <p:spPr>
          <a:xfrm>
            <a:off x="896112" y="3794760"/>
            <a:ext cx="365760" cy="365760"/>
          </a:xfrm>
          <a:prstGeom prst="ellipse">
            <a:avLst/>
          </a:prstGeom>
          <a:solidFill>
            <a:srgbClr val="C8553D"/>
          </a:solidFill>
          <a:ln/>
        </p:spPr>
        <p:txBody>
          <a:bodyPr/>
          <a:lstStyle/>
          <a:p>
            <a:endParaRPr lang="en-US"/>
          </a:p>
        </p:txBody>
      </p:sp>
      <p:sp>
        <p:nvSpPr>
          <p:cNvPr id="13" name="Text 11"/>
          <p:cNvSpPr/>
          <p:nvPr/>
        </p:nvSpPr>
        <p:spPr>
          <a:xfrm>
            <a:off x="896112" y="37947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417320" y="35295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Median assets: current quarter, not pooled panel</a:t>
            </a:r>
            <a:endParaRPr lang="en-US" sz="1250" dirty="0"/>
          </a:p>
        </p:txBody>
      </p:sp>
      <p:sp>
        <p:nvSpPr>
          <p:cNvPr id="15" name="Text 13"/>
          <p:cNvSpPr/>
          <p:nvPr/>
        </p:nvSpPr>
        <p:spPr>
          <a:xfrm>
            <a:off x="1417320" y="40050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$38m vs $78m current quarter; $21m vs $37m pooled across the panel.</a:t>
            </a:r>
            <a:endParaRPr lang="en-US" sz="1050" dirty="0"/>
          </a:p>
        </p:txBody>
      </p:sp>
      <p:sp>
        <p:nvSpPr>
          <p:cNvPr id="16" name="Text 14"/>
          <p:cNvSpPr/>
          <p:nvPr/>
        </p:nvSpPr>
        <p:spPr>
          <a:xfrm>
            <a:off x="6583680" y="35661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Pooled-panel medians average sixteen years of a growing system and read as absurdly small in present tense. Present-tense text takes current-quarter figures.</a:t>
            </a:r>
            <a:endParaRPr lang="en-US" sz="1100" dirty="0"/>
          </a:p>
        </p:txBody>
      </p:sp>
      <p:sp>
        <p:nvSpPr>
          <p:cNvPr id="17" name="Shape 15"/>
          <p:cNvSpPr/>
          <p:nvPr/>
        </p:nvSpPr>
        <p:spPr>
          <a:xfrm>
            <a:off x="640080" y="4754880"/>
            <a:ext cx="10881360" cy="1207008"/>
          </a:xfrm>
          <a:prstGeom prst="roundRect">
            <a:avLst>
              <a:gd name="adj" fmla="val 3788"/>
            </a:avLst>
          </a:prstGeom>
          <a:solidFill>
            <a:srgbClr val="F3F5F4"/>
          </a:solidFill>
          <a:ln/>
        </p:spPr>
        <p:txBody>
          <a:bodyPr/>
          <a:lstStyle/>
          <a:p>
            <a:endParaRPr lang="en-US"/>
          </a:p>
        </p:txBody>
      </p:sp>
      <p:sp>
        <p:nvSpPr>
          <p:cNvPr id="18" name="Shape 16"/>
          <p:cNvSpPr/>
          <p:nvPr/>
        </p:nvSpPr>
        <p:spPr>
          <a:xfrm>
            <a:off x="896112" y="5166360"/>
            <a:ext cx="365760" cy="365760"/>
          </a:xfrm>
          <a:prstGeom prst="ellipse">
            <a:avLst/>
          </a:prstGeom>
          <a:solidFill>
            <a:srgbClr val="C8553D"/>
          </a:solidFill>
          <a:ln/>
        </p:spPr>
        <p:txBody>
          <a:bodyPr/>
          <a:lstStyle/>
          <a:p>
            <a:endParaRPr lang="en-US"/>
          </a:p>
        </p:txBody>
      </p:sp>
      <p:sp>
        <p:nvSpPr>
          <p:cNvPr id="19" name="Text 17"/>
          <p:cNvSpPr/>
          <p:nvPr/>
        </p:nvSpPr>
        <p:spPr>
          <a:xfrm>
            <a:off x="896112" y="51663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1417320" y="49011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Branch growth is inflated by merger mechanics</a:t>
            </a:r>
            <a:endParaRPr lang="en-US" sz="1250" dirty="0"/>
          </a:p>
        </p:txBody>
      </p:sp>
      <p:sp>
        <p:nvSpPr>
          <p:cNvPr id="21" name="Text 19"/>
          <p:cNvSpPr/>
          <p:nvPr/>
        </p:nvSpPr>
        <p:spPr>
          <a:xfrm>
            <a:off x="1417320" y="53766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Rural branches +29.4%, but HQ change plus branch change equals net office change exactly.</a:t>
            </a:r>
            <a:endParaRPr lang="en-US" sz="1050" dirty="0"/>
          </a:p>
        </p:txBody>
      </p:sp>
      <p:sp>
        <p:nvSpPr>
          <p:cNvPr id="22" name="Text 20"/>
          <p:cNvSpPr/>
          <p:nvPr/>
        </p:nvSpPr>
        <p:spPr>
          <a:xfrm>
            <a:off x="6583680" y="49377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When a credit union is acquired its headquarters is reclassified as a branch. Leading with branch growth would overstate network expansion substantially. Lead with net offices.</a:t>
            </a:r>
            <a:endParaRPr lang="en-US" sz="1100" dirty="0"/>
          </a:p>
        </p:txBody>
      </p:sp>
      <p:sp>
        <p:nvSpPr>
          <p:cNvPr id="23" name="Text 21"/>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Both narrative documents — the plain-language findings note and the Q1 report section — were reissued on 30 July 2026 with all of the above. Anything circulated before that date carries the retracted capital claim.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7980</Words>
  <Application>Microsoft Macintosh PowerPoint</Application>
  <PresentationFormat>Widescreen</PresentationFormat>
  <Paragraphs>747</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Rural Credit Unions Study - Executive Briefing</dc:title>
  <dc:subject>PptxGenJS Presentation</dc:subject>
  <dc:creator>NCUA Office of the Chief Economist</dc:creator>
  <cp:lastModifiedBy>Saurabh Datta</cp:lastModifiedBy>
  <cp:revision>1</cp:revision>
  <dcterms:created xsi:type="dcterms:W3CDTF">2026-08-24T17:04:08Z</dcterms:created>
  <dcterms:modified xsi:type="dcterms:W3CDTF">2026-08-24T17:31:22Z</dcterms:modified>
</cp:coreProperties>
</file>