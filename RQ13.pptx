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xml" ContentType="application/vnd.openxmlformats-officedocument.presentationml.notesSlide+xml"/>
  <Override PartName="/ppt/charts/chart3.xml" ContentType="application/vnd.openxmlformats-officedocument.drawingml.chart+xml"/>
  <Override PartName="/ppt/notesSlides/notesSlide3.xml" ContentType="application/vnd.openxmlformats-officedocument.presentationml.notesSlide+xml"/>
  <Override PartName="/ppt/charts/chart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5" d="100"/>
          <a:sy n="125" d="100"/>
        </p:scale>
        <p:origin x="16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12202E"/>
                </a:solidFill>
                <a:latin typeface="Calibri"/>
              </a:defRPr>
            </a:pPr>
            <a:r>
              <a:rPr lang="en-US" sz="1100" b="0" i="0" u="none" strike="noStrike">
                <a:solidFill>
                  <a:srgbClr val="12202E"/>
                </a:solidFill>
                <a:latin typeface="Calibri"/>
              </a:rPr>
              <a:t>Grow: assets, % a year</a:t>
            </a:r>
          </a:p>
        </c:rich>
      </c:tx>
      <c:overlay val="0"/>
    </c:title>
    <c:autoTitleDeleted val="0"/>
    <c:plotArea>
      <c:layout/>
      <c:barChart>
        <c:barDir val="col"/>
        <c:grouping val="clustered"/>
        <c:varyColors val="0"/>
        <c:ser>
          <c:idx val="0"/>
          <c:order val="0"/>
          <c:tx>
            <c:strRef>
              <c:f>Sheet1!$B$1</c:f>
              <c:strCache>
                <c:ptCount val="1"/>
                <c:pt idx="0">
                  <c:v>Grow: assets, % a year</c:v>
                </c:pt>
              </c:strCache>
            </c:strRef>
          </c:tx>
          <c:spPr>
            <a:solidFill>
              <a:srgbClr val="0E4C55"/>
            </a:solidFill>
            <a:effectLst/>
          </c:spPr>
          <c:invertIfNegative val="0"/>
          <c:dPt>
            <c:idx val="0"/>
            <c:invertIfNegative val="0"/>
            <c:bubble3D val="0"/>
            <c:extLst>
              <c:ext xmlns:c16="http://schemas.microsoft.com/office/drawing/2014/chart" uri="{C3380CC4-5D6E-409C-BE32-E72D297353CC}">
                <c16:uniqueId val="{00000001-1E03-C041-9D70-4552F4354BB8}"/>
              </c:ext>
            </c:extLst>
          </c:dPt>
          <c:dPt>
            <c:idx val="1"/>
            <c:invertIfNegative val="0"/>
            <c:bubble3D val="0"/>
            <c:spPr>
              <a:solidFill>
                <a:srgbClr val="7FB0AE"/>
              </a:solidFill>
              <a:effectLst/>
            </c:spPr>
            <c:extLst>
              <c:ext xmlns:c16="http://schemas.microsoft.com/office/drawing/2014/chart" uri="{C3380CC4-5D6E-409C-BE32-E72D297353CC}">
                <c16:uniqueId val="{00000003-1E03-C041-9D70-4552F4354BB8}"/>
              </c:ext>
            </c:extLst>
          </c:dPt>
          <c:dLbls>
            <c:numFmt formatCode="0.0" sourceLinked="0"/>
            <c:spPr>
              <a:noFill/>
              <a:ln>
                <a:noFill/>
              </a:ln>
              <a:effectLst/>
            </c:spPr>
            <c:txPr>
              <a:bodyPr/>
              <a:lstStyle/>
              <a:p>
                <a:pPr>
                  <a:defRPr sz="1200" b="0" i="0" u="none" strike="noStrike">
                    <a:solidFill>
                      <a:srgbClr val="1220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Rural</c:v>
                </c:pt>
                <c:pt idx="1">
                  <c:v>All others</c:v>
                </c:pt>
              </c:strCache>
            </c:strRef>
          </c:cat>
          <c:val>
            <c:numRef>
              <c:f>Sheet1!$B$2:$B$3</c:f>
              <c:numCache>
                <c:formatCode>General</c:formatCode>
                <c:ptCount val="2"/>
                <c:pt idx="0">
                  <c:v>4</c:v>
                </c:pt>
                <c:pt idx="1">
                  <c:v>2.7</c:v>
                </c:pt>
              </c:numCache>
            </c:numRef>
          </c:val>
          <c:extLst>
            <c:ext xmlns:c16="http://schemas.microsoft.com/office/drawing/2014/chart" uri="{C3380CC4-5D6E-409C-BE32-E72D297353CC}">
              <c16:uniqueId val="{00000004-1E03-C041-9D70-4552F4354BB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2202E"/>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12202E"/>
                </a:solidFill>
                <a:latin typeface="Calibri"/>
              </a:defRPr>
            </a:pPr>
            <a:r>
              <a:rPr lang="en-US" sz="1100" b="0" i="0" u="none" strike="noStrike">
                <a:solidFill>
                  <a:srgbClr val="12202E"/>
                </a:solidFill>
                <a:latin typeface="Calibri"/>
              </a:rPr>
              <a:t>Earn: cents per $100 of assets</a:t>
            </a:r>
          </a:p>
        </c:rich>
      </c:tx>
      <c:overlay val="0"/>
    </c:title>
    <c:autoTitleDeleted val="0"/>
    <c:plotArea>
      <c:layout/>
      <c:barChart>
        <c:barDir val="col"/>
        <c:grouping val="clustered"/>
        <c:varyColors val="0"/>
        <c:ser>
          <c:idx val="0"/>
          <c:order val="0"/>
          <c:tx>
            <c:strRef>
              <c:f>Sheet1!$B$1</c:f>
              <c:strCache>
                <c:ptCount val="1"/>
                <c:pt idx="0">
                  <c:v>Earn: cents per $100 of assets</c:v>
                </c:pt>
              </c:strCache>
            </c:strRef>
          </c:tx>
          <c:spPr>
            <a:solidFill>
              <a:srgbClr val="0E4C55"/>
            </a:solidFill>
            <a:effectLst/>
          </c:spPr>
          <c:invertIfNegative val="0"/>
          <c:dPt>
            <c:idx val="0"/>
            <c:invertIfNegative val="0"/>
            <c:bubble3D val="0"/>
            <c:spPr>
              <a:solidFill>
                <a:srgbClr val="0E4C55"/>
              </a:solidFill>
              <a:effectLst/>
            </c:spPr>
            <c:extLst>
              <c:ext xmlns:c16="http://schemas.microsoft.com/office/drawing/2014/chart" uri="{C3380CC4-5D6E-409C-BE32-E72D297353CC}">
                <c16:uniqueId val="{00000001-6C46-A14E-8E43-1098654C64E6}"/>
              </c:ext>
            </c:extLst>
          </c:dPt>
          <c:dPt>
            <c:idx val="1"/>
            <c:invertIfNegative val="0"/>
            <c:bubble3D val="0"/>
            <c:spPr>
              <a:solidFill>
                <a:srgbClr val="7FB0AE"/>
              </a:solidFill>
              <a:effectLst/>
            </c:spPr>
            <c:extLst>
              <c:ext xmlns:c16="http://schemas.microsoft.com/office/drawing/2014/chart" uri="{C3380CC4-5D6E-409C-BE32-E72D297353CC}">
                <c16:uniqueId val="{00000003-6C46-A14E-8E43-1098654C64E6}"/>
              </c:ext>
            </c:extLst>
          </c:dPt>
          <c:dLbls>
            <c:numFmt formatCode="0" sourceLinked="0"/>
            <c:spPr>
              <a:noFill/>
              <a:ln>
                <a:noFill/>
              </a:ln>
              <a:effectLst/>
            </c:spPr>
            <c:txPr>
              <a:bodyPr/>
              <a:lstStyle/>
              <a:p>
                <a:pPr>
                  <a:defRPr sz="1200" b="0" i="0" u="none" strike="noStrike">
                    <a:solidFill>
                      <a:srgbClr val="1220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Rural</c:v>
                </c:pt>
                <c:pt idx="1">
                  <c:v>All others</c:v>
                </c:pt>
              </c:strCache>
            </c:strRef>
          </c:cat>
          <c:val>
            <c:numRef>
              <c:f>Sheet1!$B$2:$B$3</c:f>
              <c:numCache>
                <c:formatCode>General</c:formatCode>
                <c:ptCount val="2"/>
                <c:pt idx="0">
                  <c:v>92</c:v>
                </c:pt>
                <c:pt idx="1">
                  <c:v>69</c:v>
                </c:pt>
              </c:numCache>
            </c:numRef>
          </c:val>
          <c:extLst>
            <c:ext xmlns:c16="http://schemas.microsoft.com/office/drawing/2014/chart" uri="{C3380CC4-5D6E-409C-BE32-E72D297353CC}">
              <c16:uniqueId val="{00000004-6C46-A14E-8E43-1098654C64E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2202E"/>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12202E"/>
                </a:solidFill>
                <a:latin typeface="Calibri"/>
              </a:defRPr>
            </a:pPr>
            <a:r>
              <a:rPr lang="en-US" sz="1150" b="0" i="0" u="none" strike="noStrike">
                <a:solidFill>
                  <a:srgbClr val="12202E"/>
                </a:solidFill>
                <a:latin typeface="Calibri"/>
              </a:rPr>
              <a:t>Rural credit unions, 2010 to 2026</a:t>
            </a:r>
          </a:p>
        </c:rich>
      </c:tx>
      <c:overlay val="0"/>
    </c:title>
    <c:autoTitleDeleted val="0"/>
    <c:plotArea>
      <c:layout/>
      <c:barChart>
        <c:barDir val="col"/>
        <c:grouping val="clustered"/>
        <c:varyColors val="0"/>
        <c:ser>
          <c:idx val="0"/>
          <c:order val="0"/>
          <c:tx>
            <c:strRef>
              <c:f>Sheet1!$B$1</c:f>
              <c:strCache>
                <c:ptCount val="1"/>
                <c:pt idx="0">
                  <c:v>Rural credit unions since 2010</c:v>
                </c:pt>
              </c:strCache>
            </c:strRef>
          </c:tx>
          <c:spPr>
            <a:solidFill>
              <a:srgbClr val="7FB0AE"/>
            </a:solidFill>
            <a:effectLst/>
          </c:spPr>
          <c:invertIfNegative val="0"/>
          <c:dPt>
            <c:idx val="0"/>
            <c:invertIfNegative val="0"/>
            <c:bubble3D val="0"/>
            <c:spPr>
              <a:solidFill>
                <a:srgbClr val="7FB0AE"/>
              </a:solidFill>
              <a:effectLst/>
            </c:spPr>
            <c:extLst>
              <c:ext xmlns:c16="http://schemas.microsoft.com/office/drawing/2014/chart" uri="{C3380CC4-5D6E-409C-BE32-E72D297353CC}">
                <c16:uniqueId val="{00000001-5EBC-AB4A-BB21-A17936822FF1}"/>
              </c:ext>
            </c:extLst>
          </c:dPt>
          <c:dPt>
            <c:idx val="1"/>
            <c:invertIfNegative val="0"/>
            <c:bubble3D val="0"/>
            <c:spPr>
              <a:solidFill>
                <a:srgbClr val="C8553D"/>
              </a:solidFill>
              <a:effectLst/>
            </c:spPr>
            <c:extLst>
              <c:ext xmlns:c16="http://schemas.microsoft.com/office/drawing/2014/chart" uri="{C3380CC4-5D6E-409C-BE32-E72D297353CC}">
                <c16:uniqueId val="{00000003-5EBC-AB4A-BB21-A17936822FF1}"/>
              </c:ext>
            </c:extLst>
          </c:dPt>
          <c:dPt>
            <c:idx val="2"/>
            <c:invertIfNegative val="0"/>
            <c:bubble3D val="0"/>
            <c:spPr>
              <a:solidFill>
                <a:srgbClr val="7FB0AE"/>
              </a:solidFill>
              <a:effectLst/>
            </c:spPr>
            <c:extLst>
              <c:ext xmlns:c16="http://schemas.microsoft.com/office/drawing/2014/chart" uri="{C3380CC4-5D6E-409C-BE32-E72D297353CC}">
                <c16:uniqueId val="{00000005-5EBC-AB4A-BB21-A17936822FF1}"/>
              </c:ext>
            </c:extLst>
          </c:dPt>
          <c:dPt>
            <c:idx val="3"/>
            <c:invertIfNegative val="0"/>
            <c:bubble3D val="0"/>
            <c:spPr>
              <a:solidFill>
                <a:srgbClr val="0E4C55"/>
              </a:solidFill>
              <a:effectLst/>
            </c:spPr>
            <c:extLst>
              <c:ext xmlns:c16="http://schemas.microsoft.com/office/drawing/2014/chart" uri="{C3380CC4-5D6E-409C-BE32-E72D297353CC}">
                <c16:uniqueId val="{00000007-5EBC-AB4A-BB21-A17936822FF1}"/>
              </c:ext>
            </c:extLst>
          </c:dPt>
          <c:dPt>
            <c:idx val="4"/>
            <c:invertIfNegative val="0"/>
            <c:bubble3D val="0"/>
            <c:spPr>
              <a:solidFill>
                <a:srgbClr val="0E4C55"/>
              </a:solidFill>
              <a:effectLst/>
            </c:spPr>
            <c:extLst>
              <c:ext xmlns:c16="http://schemas.microsoft.com/office/drawing/2014/chart" uri="{C3380CC4-5D6E-409C-BE32-E72D297353CC}">
                <c16:uniqueId val="{00000009-5EBC-AB4A-BB21-A17936822FF1}"/>
              </c:ext>
            </c:extLst>
          </c:dPt>
          <c:dLbls>
            <c:numFmt formatCode="0" sourceLinked="0"/>
            <c:spPr>
              <a:noFill/>
              <a:ln>
                <a:noFill/>
              </a:ln>
              <a:effectLst/>
            </c:spPr>
            <c:txPr>
              <a:bodyPr/>
              <a:lstStyle/>
              <a:p>
                <a:pPr>
                  <a:defRPr sz="1200" b="0" i="0" u="none" strike="noStrike">
                    <a:solidFill>
                      <a:srgbClr val="1220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In 2010</c:v>
                </c:pt>
                <c:pt idx="1">
                  <c:v>Merged or closed since</c:v>
                </c:pt>
                <c:pt idx="2">
                  <c:v>Appeared since</c:v>
                </c:pt>
                <c:pt idx="3">
                  <c:v>… genuinely new</c:v>
                </c:pt>
                <c:pt idx="4">
                  <c:v>Today</c:v>
                </c:pt>
              </c:strCache>
            </c:strRef>
          </c:cat>
          <c:val>
            <c:numRef>
              <c:f>Sheet1!$B$2:$B$6</c:f>
              <c:numCache>
                <c:formatCode>General</c:formatCode>
                <c:ptCount val="5"/>
                <c:pt idx="0">
                  <c:v>700</c:v>
                </c:pt>
                <c:pt idx="1">
                  <c:v>274</c:v>
                </c:pt>
                <c:pt idx="2">
                  <c:v>48</c:v>
                </c:pt>
                <c:pt idx="3">
                  <c:v>29</c:v>
                </c:pt>
                <c:pt idx="4">
                  <c:v>468</c:v>
                </c:pt>
              </c:numCache>
            </c:numRef>
          </c:val>
          <c:extLst>
            <c:ext xmlns:c16="http://schemas.microsoft.com/office/drawing/2014/chart" uri="{C3380CC4-5D6E-409C-BE32-E72D297353CC}">
              <c16:uniqueId val="{0000000A-5EBC-AB4A-BB21-A17936822FF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12202E"/>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12202E"/>
                </a:solidFill>
                <a:latin typeface="Calibri"/>
              </a:defRPr>
            </a:pPr>
            <a:r>
              <a:rPr lang="en-US" sz="1150" b="0" i="0" u="none" strike="noStrike">
                <a:solidFill>
                  <a:srgbClr val="12202E"/>
                </a:solidFill>
                <a:latin typeface="Calibri"/>
              </a:rPr>
              <a:t>Of every 100 rural credit unions …</a:t>
            </a:r>
          </a:p>
        </c:rich>
      </c:tx>
      <c:overlay val="0"/>
    </c:title>
    <c:autoTitleDeleted val="0"/>
    <c:plotArea>
      <c:layout/>
      <c:barChart>
        <c:barDir val="bar"/>
        <c:grouping val="clustered"/>
        <c:varyColors val="0"/>
        <c:ser>
          <c:idx val="0"/>
          <c:order val="0"/>
          <c:tx>
            <c:strRef>
              <c:f>Sheet1!$B$1</c:f>
              <c:strCache>
                <c:ptCount val="1"/>
                <c:pt idx="0">
                  <c:v>Of every 100 rural credit unions</c:v>
                </c:pt>
              </c:strCache>
            </c:strRef>
          </c:tx>
          <c:spPr>
            <a:solidFill>
              <a:srgbClr val="C8553D"/>
            </a:solidFill>
            <a:effectLst/>
          </c:spPr>
          <c:invertIfNegative val="0"/>
          <c:dPt>
            <c:idx val="0"/>
            <c:invertIfNegative val="0"/>
            <c:bubble3D val="0"/>
            <c:extLst>
              <c:ext xmlns:c16="http://schemas.microsoft.com/office/drawing/2014/chart" uri="{C3380CC4-5D6E-409C-BE32-E72D297353CC}">
                <c16:uniqueId val="{00000001-4374-CF48-B1AB-D018A7410730}"/>
              </c:ext>
            </c:extLst>
          </c:dPt>
          <c:dPt>
            <c:idx val="1"/>
            <c:invertIfNegative val="0"/>
            <c:bubble3D val="0"/>
            <c:spPr>
              <a:solidFill>
                <a:srgbClr val="7FB0AE"/>
              </a:solidFill>
              <a:effectLst/>
            </c:spPr>
            <c:extLst>
              <c:ext xmlns:c16="http://schemas.microsoft.com/office/drawing/2014/chart" uri="{C3380CC4-5D6E-409C-BE32-E72D297353CC}">
                <c16:uniqueId val="{00000003-4374-CF48-B1AB-D018A7410730}"/>
              </c:ext>
            </c:extLst>
          </c:dPt>
          <c:dPt>
            <c:idx val="2"/>
            <c:invertIfNegative val="0"/>
            <c:bubble3D val="0"/>
            <c:spPr>
              <a:solidFill>
                <a:srgbClr val="DCE6E4"/>
              </a:solidFill>
              <a:effectLst/>
            </c:spPr>
            <c:extLst>
              <c:ext xmlns:c16="http://schemas.microsoft.com/office/drawing/2014/chart" uri="{C3380CC4-5D6E-409C-BE32-E72D297353CC}">
                <c16:uniqueId val="{00000005-4374-CF48-B1AB-D018A7410730}"/>
              </c:ext>
            </c:extLst>
          </c:dPt>
          <c:dLbls>
            <c:numFmt formatCode="0" sourceLinked="0"/>
            <c:spPr>
              <a:noFill/>
              <a:ln>
                <a:noFill/>
              </a:ln>
              <a:effectLst/>
            </c:spPr>
            <c:txPr>
              <a:bodyPr/>
              <a:lstStyle/>
              <a:p>
                <a:pPr>
                  <a:defRPr sz="1300" b="0" i="0" u="none" strike="noStrike">
                    <a:solidFill>
                      <a:srgbClr val="1220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   … of which, close to the cap</c:v>
                </c:pt>
                <c:pt idx="1">
                  <c:v>Do some business lending</c:v>
                </c:pt>
                <c:pt idx="2">
                  <c:v>Do no business lending</c:v>
                </c:pt>
              </c:strCache>
            </c:strRef>
          </c:cat>
          <c:val>
            <c:numRef>
              <c:f>Sheet1!$B$2:$B$4</c:f>
              <c:numCache>
                <c:formatCode>General</c:formatCode>
                <c:ptCount val="3"/>
                <c:pt idx="0">
                  <c:v>2</c:v>
                </c:pt>
                <c:pt idx="1">
                  <c:v>37</c:v>
                </c:pt>
                <c:pt idx="2">
                  <c:v>63</c:v>
                </c:pt>
              </c:numCache>
            </c:numRef>
          </c:val>
          <c:extLst>
            <c:ext xmlns:c16="http://schemas.microsoft.com/office/drawing/2014/chart" uri="{C3380CC4-5D6E-409C-BE32-E72D297353CC}">
              <c16:uniqueId val="{00000006-4374-CF48-B1AB-D018A741073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2202E"/>
                </a:solidFill>
                <a:latin typeface="Arial"/>
              </a:defRPr>
            </a:pPr>
            <a:endParaRPr lang="en-US"/>
          </a:p>
        </c:txPr>
        <c:crossAx val="2094734552"/>
        <c:crosses val="autoZero"/>
        <c:auto val="1"/>
        <c:lblAlgn val="ctr"/>
        <c:lblOffset val="100"/>
        <c:noMultiLvlLbl val="1"/>
      </c:catAx>
      <c:valAx>
        <c:axId val="2094734552"/>
        <c:scaling>
          <c:orientation val="minMax"/>
          <c:max val="8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9417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executive: three sentences. Rural credit unions grow faster and earn more than others. That is not because they are small - compared with institutions of the same size, in the same state, the gap gets bigger. And the result holds in every year since 2010, across nearly every size group, and survives a test for chance. On capital they are neither ahead nor behind, and they are not short of it.
If pressed on method: state-by-quarter fixed effects, common support 99%, raw-to-conditional growth gap widens from 0.73 to 0.99 points, ROA from 0.14 to 0.17; 16 of 16 years positive; 5 of 6 asset bands positive; zero of 200 placebo reassignments reach the real coefficient. Net worth gap halves like-for-like (0.81 to 0.41) and is not robust to the alternative service-area definition - hence 'neither ahead nor behind'. Sustainable growth (ROA over net worth ratio) gives about 2.7 points of unused headroom - hence 'not short of it'. Adding local competition absorbs 57% of the growth gap: a candidate mechanism, not a proven cause.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executive: of about 700 rural credit unions in 2010, 274 have merged or closed and 48 have appeared - only 29 of those genuinely new. Fewer rural credit unions disappear than elsewhere (37% against 44%), but a merger needs a partner nearby and rural counties have few; account for that and the two groups disappear at the same rate. Most departures are mergers, not failures - members kept a credit union, just not a local one. We are no longer calling rural credit unions safer.
If pressed on method: counting-process Cox model with left truncation; rural hazard ratio 0.635 (p = 4e-11) before conditioning on nearby credit unions, 0.967 (p = 0.75) after. Charter index 2010 = 100: rural 66.9, non-rural 59.0. Entrants under $5m at first appearance: 29 of 48. One outcome code carries about four fifths of rural exits and appears to denote merger; this is being confirmed against the data dictionary. Rural counties with a headquartered credit union: 417 to 324, 117 lost their last, 24 gained a first.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executive: nearly two thirds of rural credit unions do no business lending, so the cap cannot affect them. Among those that do, about one in six is close to the cap - roughly ten institutions nationwide - and for them it is real: their lending slows in the year after they reach it. Nobody appears to plan around the cap, and institutions exempt from it lend only a little more, not several times more.
If pressed on method: the cap is the lesser of 1.75 times net worth or 12.25% of assets (12 U.S.C. 1757a). 37% of rural credit unions have any business loans. Of rural MBL-active institutions subject to the cap, 10 of 59 are within 10% of it (13.2% non-rural). Bunching test: density just below the cap is 0.81 times the smooth counterfactual, excess-mass CI -44 to 0; exempt placebo 0.98. Near-cap institutions grow loans 0.84 points slower the following year (p = 0.021). Exempt institutions hold 1.6 points more of assets in business loans, like-for-like. The earlier 'nearly three times' framing is withdrawn.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37744"/>
          </a:xfrm>
          <a:prstGeom prst="rect">
            <a:avLst/>
          </a:prstGeom>
          <a:noFill/>
          <a:ln/>
        </p:spPr>
        <p:txBody>
          <a:bodyPr wrap="square" lIns="0" tIns="0" rIns="0" bIns="0" rtlCol="0" anchor="ctr"/>
          <a:lstStyle/>
          <a:p>
            <a:pPr marL="0" indent="0">
              <a:buNone/>
            </a:pPr>
            <a:r>
              <a:rPr lang="en-US" sz="1000" b="1" kern="0" spc="200" dirty="0">
                <a:solidFill>
                  <a:srgbClr val="1F6F78"/>
                </a:solidFill>
                <a:latin typeface="Calibri" pitchFamily="34" charset="0"/>
                <a:ea typeface="Calibri" pitchFamily="34" charset="-122"/>
                <a:cs typeface="Calibri" pitchFamily="34" charset="-120"/>
              </a:rPr>
              <a:t>RQ1 · ARE RURAL CREDIT UNIONS DIFFERENT BECAUSE THEY ARE RURAL, OR JUST BECAUSE THEY ARE SMALL?</a:t>
            </a:r>
            <a:endParaRPr lang="en-US" sz="1000" dirty="0"/>
          </a:p>
        </p:txBody>
      </p:sp>
      <p:sp>
        <p:nvSpPr>
          <p:cNvPr id="3" name="Text 1"/>
          <p:cNvSpPr txBox="1"/>
          <p:nvPr/>
        </p:nvSpPr>
        <p:spPr>
          <a:xfrm>
            <a:off x="640080" y="658368"/>
            <a:ext cx="10881360" cy="868680"/>
          </a:xfrm>
          <a:prstGeom prst="rect">
            <a:avLst/>
          </a:prstGeom>
          <a:noFill/>
          <a:ln/>
        </p:spPr>
        <p:txBody>
          <a:bodyPr wrap="square" lIns="0" tIns="0" rIns="0" bIns="0" rtlCol="0" anchor="ctr"/>
          <a:lstStyle/>
          <a:p>
            <a:pPr marL="0" indent="0">
              <a:lnSpc>
                <a:spcPts val="3000"/>
              </a:lnSpc>
              <a:buNone/>
            </a:pPr>
            <a:r>
              <a:rPr lang="en-US" sz="2500" b="1" dirty="0">
                <a:solidFill>
                  <a:srgbClr val="12202E"/>
                </a:solidFill>
                <a:latin typeface="Cambria" pitchFamily="34" charset="0"/>
                <a:ea typeface="Cambria" pitchFamily="34" charset="-122"/>
                <a:cs typeface="Cambria" pitchFamily="34" charset="-120"/>
              </a:rPr>
              <a:t>It is not size. Rural credit unions do better even against institutions their own size.</a:t>
            </a:r>
            <a:endParaRPr lang="en-US" sz="2500" dirty="0"/>
          </a:p>
        </p:txBody>
      </p:sp>
      <p:graphicFrame>
        <p:nvGraphicFramePr>
          <p:cNvPr id="5" name="Chart 0"/>
          <p:cNvGraphicFramePr/>
          <p:nvPr/>
        </p:nvGraphicFramePr>
        <p:xfrm>
          <a:off x="640080" y="1783080"/>
          <a:ext cx="2468880" cy="26517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2"/>
          <p:cNvSpPr/>
          <p:nvPr/>
        </p:nvSpPr>
        <p:spPr>
          <a:xfrm>
            <a:off x="640080" y="4526280"/>
            <a:ext cx="2468880" cy="822960"/>
          </a:xfrm>
          <a:prstGeom prst="roundRect">
            <a:avLst>
              <a:gd name="adj" fmla="val 6667"/>
            </a:avLst>
          </a:prstGeom>
          <a:solidFill>
            <a:srgbClr val="DCE6E4"/>
          </a:solidFill>
          <a:ln/>
        </p:spPr>
        <p:txBody>
          <a:bodyPr/>
          <a:lstStyle/>
          <a:p>
            <a:endParaRPr lang="en-US"/>
          </a:p>
        </p:txBody>
      </p:sp>
      <p:sp>
        <p:nvSpPr>
          <p:cNvPr id="7" name="Text 3"/>
          <p:cNvSpPr txBox="1"/>
          <p:nvPr/>
        </p:nvSpPr>
        <p:spPr>
          <a:xfrm>
            <a:off x="822960" y="4590288"/>
            <a:ext cx="2194560" cy="292608"/>
          </a:xfrm>
          <a:prstGeom prst="rect">
            <a:avLst/>
          </a:prstGeom>
          <a:noFill/>
          <a:ln/>
        </p:spPr>
        <p:txBody>
          <a:bodyPr wrap="square" lIns="0" tIns="0" rIns="0" bIns="0" rtlCol="0" anchor="ctr"/>
          <a:lstStyle/>
          <a:p>
            <a:pPr marL="0" indent="0">
              <a:buNone/>
            </a:pPr>
            <a:r>
              <a:rPr lang="en-US" sz="1600" b="1" dirty="0">
                <a:solidFill>
                  <a:srgbClr val="C8553D"/>
                </a:solidFill>
                <a:latin typeface="Cambria" pitchFamily="34" charset="0"/>
                <a:ea typeface="Cambria" pitchFamily="34" charset="-122"/>
                <a:cs typeface="Cambria" pitchFamily="34" charset="-120"/>
              </a:rPr>
              <a:t>About 50% faster</a:t>
            </a:r>
            <a:endParaRPr lang="en-US" sz="1600" dirty="0"/>
          </a:p>
        </p:txBody>
      </p:sp>
      <p:sp>
        <p:nvSpPr>
          <p:cNvPr id="8" name="Text 4"/>
          <p:cNvSpPr txBox="1"/>
          <p:nvPr/>
        </p:nvSpPr>
        <p:spPr>
          <a:xfrm>
            <a:off x="822960" y="4901184"/>
            <a:ext cx="2194560" cy="411480"/>
          </a:xfrm>
          <a:prstGeom prst="rect">
            <a:avLst/>
          </a:prstGeom>
          <a:noFill/>
          <a:ln/>
        </p:spPr>
        <p:txBody>
          <a:bodyPr wrap="square" lIns="0" tIns="0" rIns="0" bIns="0" rtlCol="0" anchor="ctr"/>
          <a:lstStyle/>
          <a:p>
            <a:pPr marL="0" indent="0">
              <a:lnSpc>
                <a:spcPts val="1150"/>
              </a:lnSpc>
              <a:buNone/>
            </a:pPr>
            <a:r>
              <a:rPr lang="en-US" sz="900" dirty="0">
                <a:solidFill>
                  <a:srgbClr val="5B6B72"/>
                </a:solidFill>
                <a:latin typeface="Calibri" pitchFamily="34" charset="0"/>
                <a:ea typeface="Calibri" pitchFamily="34" charset="-122"/>
                <a:cs typeface="Calibri" pitchFamily="34" charset="-120"/>
              </a:rPr>
              <a:t>4.0% a year against 2.7%</a:t>
            </a:r>
            <a:endParaRPr lang="en-US" sz="900" dirty="0"/>
          </a:p>
        </p:txBody>
      </p:sp>
      <p:graphicFrame>
        <p:nvGraphicFramePr>
          <p:cNvPr id="9" name="Chart 1"/>
          <p:cNvGraphicFramePr/>
          <p:nvPr/>
        </p:nvGraphicFramePr>
        <p:xfrm>
          <a:off x="3291840" y="1783080"/>
          <a:ext cx="2468880" cy="2651760"/>
        </p:xfrm>
        <a:graphic>
          <a:graphicData uri="http://schemas.openxmlformats.org/drawingml/2006/chart">
            <c:chart xmlns:c="http://schemas.openxmlformats.org/drawingml/2006/chart" xmlns:r="http://schemas.openxmlformats.org/officeDocument/2006/relationships" r:id="rId4"/>
          </a:graphicData>
        </a:graphic>
      </p:graphicFrame>
      <p:sp>
        <p:nvSpPr>
          <p:cNvPr id="10" name="Shape 5"/>
          <p:cNvSpPr/>
          <p:nvPr/>
        </p:nvSpPr>
        <p:spPr>
          <a:xfrm>
            <a:off x="3291840" y="4526280"/>
            <a:ext cx="2468880" cy="822960"/>
          </a:xfrm>
          <a:prstGeom prst="roundRect">
            <a:avLst>
              <a:gd name="adj" fmla="val 6667"/>
            </a:avLst>
          </a:prstGeom>
          <a:solidFill>
            <a:srgbClr val="DCE6E4"/>
          </a:solidFill>
          <a:ln/>
        </p:spPr>
        <p:txBody>
          <a:bodyPr/>
          <a:lstStyle/>
          <a:p>
            <a:endParaRPr lang="en-US"/>
          </a:p>
        </p:txBody>
      </p:sp>
      <p:sp>
        <p:nvSpPr>
          <p:cNvPr id="11" name="Text 6"/>
          <p:cNvSpPr txBox="1"/>
          <p:nvPr/>
        </p:nvSpPr>
        <p:spPr>
          <a:xfrm>
            <a:off x="3474720" y="4590288"/>
            <a:ext cx="2194560" cy="292608"/>
          </a:xfrm>
          <a:prstGeom prst="rect">
            <a:avLst/>
          </a:prstGeom>
          <a:noFill/>
          <a:ln/>
        </p:spPr>
        <p:txBody>
          <a:bodyPr wrap="square" lIns="0" tIns="0" rIns="0" bIns="0" rtlCol="0" anchor="ctr"/>
          <a:lstStyle/>
          <a:p>
            <a:pPr marL="0" indent="0">
              <a:buNone/>
            </a:pPr>
            <a:r>
              <a:rPr lang="en-US" sz="1600" b="1" dirty="0">
                <a:solidFill>
                  <a:srgbClr val="C8553D"/>
                </a:solidFill>
                <a:latin typeface="Cambria" pitchFamily="34" charset="0"/>
                <a:ea typeface="Cambria" pitchFamily="34" charset="-122"/>
                <a:cs typeface="Cambria" pitchFamily="34" charset="-120"/>
              </a:rPr>
              <a:t>About a third more</a:t>
            </a:r>
            <a:endParaRPr lang="en-US" sz="1600" dirty="0"/>
          </a:p>
        </p:txBody>
      </p:sp>
      <p:sp>
        <p:nvSpPr>
          <p:cNvPr id="12" name="Text 7"/>
          <p:cNvSpPr txBox="1"/>
          <p:nvPr/>
        </p:nvSpPr>
        <p:spPr>
          <a:xfrm>
            <a:off x="3474720" y="4901184"/>
            <a:ext cx="2194560" cy="411480"/>
          </a:xfrm>
          <a:prstGeom prst="rect">
            <a:avLst/>
          </a:prstGeom>
          <a:noFill/>
          <a:ln/>
        </p:spPr>
        <p:txBody>
          <a:bodyPr wrap="square" lIns="0" tIns="0" rIns="0" bIns="0" rtlCol="0" anchor="ctr"/>
          <a:lstStyle/>
          <a:p>
            <a:pPr marL="0" indent="0">
              <a:lnSpc>
                <a:spcPts val="1150"/>
              </a:lnSpc>
              <a:buNone/>
            </a:pPr>
            <a:r>
              <a:rPr lang="en-US" sz="900" dirty="0">
                <a:solidFill>
                  <a:srgbClr val="5B6B72"/>
                </a:solidFill>
                <a:latin typeface="Calibri" pitchFamily="34" charset="0"/>
                <a:ea typeface="Calibri" pitchFamily="34" charset="-122"/>
                <a:cs typeface="Calibri" pitchFamily="34" charset="-120"/>
              </a:rPr>
              <a:t>92 cents a year against 69, for every $100 of assets</a:t>
            </a:r>
            <a:endParaRPr lang="en-US" sz="900" dirty="0"/>
          </a:p>
        </p:txBody>
      </p:sp>
      <p:sp>
        <p:nvSpPr>
          <p:cNvPr id="13" name="Shape 8"/>
          <p:cNvSpPr/>
          <p:nvPr/>
        </p:nvSpPr>
        <p:spPr>
          <a:xfrm>
            <a:off x="5989320" y="1783080"/>
            <a:ext cx="5532120" cy="3566160"/>
          </a:xfrm>
          <a:prstGeom prst="roundRect">
            <a:avLst>
              <a:gd name="adj" fmla="val 1538"/>
            </a:avLst>
          </a:prstGeom>
          <a:solidFill>
            <a:srgbClr val="F3F5F4"/>
          </a:solidFill>
          <a:ln/>
        </p:spPr>
        <p:txBody>
          <a:bodyPr/>
          <a:lstStyle/>
          <a:p>
            <a:endParaRPr lang="en-US"/>
          </a:p>
        </p:txBody>
      </p:sp>
      <p:sp>
        <p:nvSpPr>
          <p:cNvPr id="14" name="Text 9"/>
          <p:cNvSpPr txBox="1"/>
          <p:nvPr/>
        </p:nvSpPr>
        <p:spPr>
          <a:xfrm>
            <a:off x="6263640" y="1901952"/>
            <a:ext cx="5029200" cy="256032"/>
          </a:xfrm>
          <a:prstGeom prst="rect">
            <a:avLst/>
          </a:prstGeom>
          <a:noFill/>
          <a:ln/>
        </p:spPr>
        <p:txBody>
          <a:bodyPr wrap="square" lIns="0" tIns="0" rIns="0" bIns="0" rtlCol="0" anchor="ctr"/>
          <a:lstStyle/>
          <a:p>
            <a:pPr marL="0" indent="0">
              <a:buNone/>
            </a:pPr>
            <a:r>
              <a:rPr lang="en-US" sz="1200" b="1" dirty="0">
                <a:solidFill>
                  <a:srgbClr val="C8553D"/>
                </a:solidFill>
                <a:latin typeface="Calibri" pitchFamily="34" charset="0"/>
                <a:ea typeface="Calibri" pitchFamily="34" charset="-122"/>
                <a:cs typeface="Calibri" pitchFamily="34" charset="-120"/>
              </a:rPr>
              <a:t>What we found</a:t>
            </a:r>
            <a:endParaRPr lang="en-US" sz="1200" dirty="0"/>
          </a:p>
        </p:txBody>
      </p:sp>
      <p:sp>
        <p:nvSpPr>
          <p:cNvPr id="15" name="Shape 10"/>
          <p:cNvSpPr/>
          <p:nvPr/>
        </p:nvSpPr>
        <p:spPr>
          <a:xfrm>
            <a:off x="6263640" y="2267712"/>
            <a:ext cx="292608" cy="292608"/>
          </a:xfrm>
          <a:prstGeom prst="ellipse">
            <a:avLst/>
          </a:prstGeom>
          <a:solidFill>
            <a:srgbClr val="0E4C55"/>
          </a:solidFill>
          <a:ln/>
        </p:spPr>
        <p:txBody>
          <a:bodyPr/>
          <a:lstStyle/>
          <a:p>
            <a:endParaRPr lang="en-US"/>
          </a:p>
        </p:txBody>
      </p:sp>
      <p:sp>
        <p:nvSpPr>
          <p:cNvPr id="16" name="Text 11"/>
          <p:cNvSpPr txBox="1"/>
          <p:nvPr/>
        </p:nvSpPr>
        <p:spPr>
          <a:xfrm>
            <a:off x="6263640" y="2267712"/>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7" name="Text 12"/>
          <p:cNvSpPr txBox="1"/>
          <p:nvPr/>
        </p:nvSpPr>
        <p:spPr>
          <a:xfrm>
            <a:off x="6693408" y="2240280"/>
            <a:ext cx="4663440" cy="713232"/>
          </a:xfrm>
          <a:prstGeom prst="rect">
            <a:avLst/>
          </a:prstGeom>
          <a:noFill/>
          <a:ln/>
        </p:spPr>
        <p:txBody>
          <a:bodyPr wrap="square" lIns="0" tIns="0" rIns="0" bIns="0" rtlCol="0" anchor="ctr"/>
          <a:lstStyle/>
          <a:p>
            <a:pPr marL="0" indent="0">
              <a:lnSpc>
                <a:spcPts val="1300"/>
              </a:lnSpc>
              <a:buNone/>
            </a:pPr>
            <a:r>
              <a:rPr lang="en-US" sz="1000" dirty="0">
                <a:solidFill>
                  <a:srgbClr val="12202E"/>
                </a:solidFill>
                <a:latin typeface="Calibri" pitchFamily="34" charset="0"/>
                <a:ea typeface="Calibri" pitchFamily="34" charset="-122"/>
                <a:cs typeface="Calibri" pitchFamily="34" charset="-120"/>
              </a:rPr>
              <a:t>The typical rural credit union grows faster and earns more than the typical credit union elsewhere.</a:t>
            </a:r>
            <a:endParaRPr lang="en-US" sz="1000" dirty="0"/>
          </a:p>
        </p:txBody>
      </p:sp>
      <p:sp>
        <p:nvSpPr>
          <p:cNvPr id="18" name="Shape 13"/>
          <p:cNvSpPr/>
          <p:nvPr/>
        </p:nvSpPr>
        <p:spPr>
          <a:xfrm>
            <a:off x="6263640" y="3035808"/>
            <a:ext cx="292608" cy="292608"/>
          </a:xfrm>
          <a:prstGeom prst="ellipse">
            <a:avLst/>
          </a:prstGeom>
          <a:solidFill>
            <a:srgbClr val="0E4C55"/>
          </a:solidFill>
          <a:ln/>
        </p:spPr>
        <p:txBody>
          <a:bodyPr/>
          <a:lstStyle/>
          <a:p>
            <a:endParaRPr lang="en-US"/>
          </a:p>
        </p:txBody>
      </p:sp>
      <p:sp>
        <p:nvSpPr>
          <p:cNvPr id="19" name="Text 14"/>
          <p:cNvSpPr txBox="1"/>
          <p:nvPr/>
        </p:nvSpPr>
        <p:spPr>
          <a:xfrm>
            <a:off x="6263640" y="3035808"/>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0" name="Text 15"/>
          <p:cNvSpPr txBox="1"/>
          <p:nvPr/>
        </p:nvSpPr>
        <p:spPr>
          <a:xfrm>
            <a:off x="6693408" y="3008376"/>
            <a:ext cx="4663440" cy="713232"/>
          </a:xfrm>
          <a:prstGeom prst="rect">
            <a:avLst/>
          </a:prstGeom>
          <a:noFill/>
          <a:ln/>
        </p:spPr>
        <p:txBody>
          <a:bodyPr wrap="square" lIns="0" tIns="0" rIns="0" bIns="0" rtlCol="0" anchor="ctr"/>
          <a:lstStyle/>
          <a:p>
            <a:pPr marL="0" indent="0">
              <a:lnSpc>
                <a:spcPts val="1300"/>
              </a:lnSpc>
              <a:buNone/>
            </a:pPr>
            <a:r>
              <a:rPr lang="en-US" sz="1000" dirty="0">
                <a:solidFill>
                  <a:srgbClr val="12202E"/>
                </a:solidFill>
                <a:latin typeface="Calibri" pitchFamily="34" charset="0"/>
                <a:ea typeface="Calibri" pitchFamily="34" charset="-122"/>
                <a:cs typeface="Calibri" pitchFamily="34" charset="-120"/>
              </a:rPr>
              <a:t>That is not because rural credit unions are small. Compared only with institutions of the same size, in the same state, at the same time, the advantage gets bigger — not smaller.</a:t>
            </a:r>
            <a:endParaRPr lang="en-US" sz="1000" dirty="0"/>
          </a:p>
        </p:txBody>
      </p:sp>
      <p:sp>
        <p:nvSpPr>
          <p:cNvPr id="21" name="Shape 16"/>
          <p:cNvSpPr/>
          <p:nvPr/>
        </p:nvSpPr>
        <p:spPr>
          <a:xfrm>
            <a:off x="6263640" y="3803904"/>
            <a:ext cx="292608" cy="292608"/>
          </a:xfrm>
          <a:prstGeom prst="ellipse">
            <a:avLst/>
          </a:prstGeom>
          <a:solidFill>
            <a:srgbClr val="0E4C55"/>
          </a:solidFill>
          <a:ln/>
        </p:spPr>
        <p:txBody>
          <a:bodyPr/>
          <a:lstStyle/>
          <a:p>
            <a:endParaRPr lang="en-US"/>
          </a:p>
        </p:txBody>
      </p:sp>
      <p:sp>
        <p:nvSpPr>
          <p:cNvPr id="22" name="Text 17"/>
          <p:cNvSpPr txBox="1"/>
          <p:nvPr/>
        </p:nvSpPr>
        <p:spPr>
          <a:xfrm>
            <a:off x="6263640" y="3803904"/>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3" name="Text 18"/>
          <p:cNvSpPr txBox="1"/>
          <p:nvPr/>
        </p:nvSpPr>
        <p:spPr>
          <a:xfrm>
            <a:off x="6693408" y="3776472"/>
            <a:ext cx="4663440" cy="713232"/>
          </a:xfrm>
          <a:prstGeom prst="rect">
            <a:avLst/>
          </a:prstGeom>
          <a:noFill/>
          <a:ln/>
        </p:spPr>
        <p:txBody>
          <a:bodyPr wrap="square" lIns="0" tIns="0" rIns="0" bIns="0" rtlCol="0" anchor="ctr"/>
          <a:lstStyle/>
          <a:p>
            <a:pPr marL="0" indent="0">
              <a:lnSpc>
                <a:spcPts val="1300"/>
              </a:lnSpc>
              <a:buNone/>
            </a:pPr>
            <a:r>
              <a:rPr lang="en-US" sz="1000" dirty="0">
                <a:solidFill>
                  <a:srgbClr val="12202E"/>
                </a:solidFill>
                <a:latin typeface="Calibri" pitchFamily="34" charset="0"/>
                <a:ea typeface="Calibri" pitchFamily="34" charset="-122"/>
                <a:cs typeface="Calibri" pitchFamily="34" charset="-120"/>
              </a:rPr>
              <a:t>The result is consistent. It appears in every year since 2010 and in almost every size group, and it is not explained by chance.</a:t>
            </a:r>
            <a:endParaRPr lang="en-US" sz="1000" dirty="0"/>
          </a:p>
        </p:txBody>
      </p:sp>
      <p:sp>
        <p:nvSpPr>
          <p:cNvPr id="24" name="Shape 19"/>
          <p:cNvSpPr/>
          <p:nvPr/>
        </p:nvSpPr>
        <p:spPr>
          <a:xfrm>
            <a:off x="6263640" y="4572000"/>
            <a:ext cx="292608" cy="292608"/>
          </a:xfrm>
          <a:prstGeom prst="ellipse">
            <a:avLst/>
          </a:prstGeom>
          <a:solidFill>
            <a:srgbClr val="0E4C55"/>
          </a:solidFill>
          <a:ln/>
        </p:spPr>
        <p:txBody>
          <a:bodyPr/>
          <a:lstStyle/>
          <a:p>
            <a:endParaRPr lang="en-US"/>
          </a:p>
        </p:txBody>
      </p:sp>
      <p:sp>
        <p:nvSpPr>
          <p:cNvPr id="25" name="Text 20"/>
          <p:cNvSpPr txBox="1"/>
          <p:nvPr/>
        </p:nvSpPr>
        <p:spPr>
          <a:xfrm>
            <a:off x="6263640" y="457200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6" name="Text 21"/>
          <p:cNvSpPr txBox="1"/>
          <p:nvPr/>
        </p:nvSpPr>
        <p:spPr>
          <a:xfrm>
            <a:off x="6693408" y="4544568"/>
            <a:ext cx="4663440" cy="713232"/>
          </a:xfrm>
          <a:prstGeom prst="rect">
            <a:avLst/>
          </a:prstGeom>
          <a:noFill/>
          <a:ln/>
        </p:spPr>
        <p:txBody>
          <a:bodyPr wrap="square" lIns="0" tIns="0" rIns="0" bIns="0" rtlCol="0" anchor="ctr"/>
          <a:lstStyle/>
          <a:p>
            <a:pPr marL="0" indent="0">
              <a:lnSpc>
                <a:spcPts val="1300"/>
              </a:lnSpc>
              <a:buNone/>
            </a:pPr>
            <a:r>
              <a:rPr lang="en-US" sz="1000" dirty="0">
                <a:solidFill>
                  <a:srgbClr val="12202E"/>
                </a:solidFill>
                <a:latin typeface="Calibri" pitchFamily="34" charset="0"/>
                <a:ea typeface="Calibri" pitchFamily="34" charset="-122"/>
                <a:cs typeface="Calibri" pitchFamily="34" charset="-120"/>
              </a:rPr>
              <a:t>On capital, rural credit unions are neither ahead of nor behind their peers, and they are not constrained by it. Of the three measures the statute names, this is the one where there is no difference to explain.</a:t>
            </a:r>
            <a:endParaRPr lang="en-US" sz="1000" dirty="0"/>
          </a:p>
        </p:txBody>
      </p:sp>
      <p:sp>
        <p:nvSpPr>
          <p:cNvPr id="27" name="Shape 22"/>
          <p:cNvSpPr/>
          <p:nvPr/>
        </p:nvSpPr>
        <p:spPr>
          <a:xfrm>
            <a:off x="640080" y="5532120"/>
            <a:ext cx="10881360" cy="777240"/>
          </a:xfrm>
          <a:prstGeom prst="roundRect">
            <a:avLst>
              <a:gd name="adj" fmla="val 7059"/>
            </a:avLst>
          </a:prstGeom>
          <a:solidFill>
            <a:srgbClr val="0E4C55"/>
          </a:solidFill>
          <a:ln/>
        </p:spPr>
        <p:txBody>
          <a:bodyPr/>
          <a:lstStyle/>
          <a:p>
            <a:endParaRPr lang="en-US"/>
          </a:p>
        </p:txBody>
      </p:sp>
      <p:sp>
        <p:nvSpPr>
          <p:cNvPr id="28" name="Text 23"/>
          <p:cNvSpPr txBox="1"/>
          <p:nvPr/>
        </p:nvSpPr>
        <p:spPr>
          <a:xfrm>
            <a:off x="960120" y="5605272"/>
            <a:ext cx="10241280" cy="237744"/>
          </a:xfrm>
          <a:prstGeom prst="rect">
            <a:avLst/>
          </a:prstGeom>
          <a:noFill/>
          <a:ln/>
        </p:spPr>
        <p:txBody>
          <a:bodyPr wrap="square" lIns="0" tIns="0" rIns="0" bIns="0" rtlCol="0" anchor="ctr"/>
          <a:lstStyle/>
          <a:p>
            <a:pPr marL="0" indent="0">
              <a:buNone/>
            </a:pPr>
            <a:r>
              <a:rPr lang="en-US" sz="1050" b="1" dirty="0">
                <a:solidFill>
                  <a:srgbClr val="E8A24A"/>
                </a:solidFill>
                <a:latin typeface="Calibri" pitchFamily="34" charset="0"/>
                <a:ea typeface="Calibri" pitchFamily="34" charset="-122"/>
                <a:cs typeface="Calibri" pitchFamily="34" charset="-120"/>
              </a:rPr>
              <a:t>What it means for the report</a:t>
            </a:r>
            <a:endParaRPr lang="en-US" sz="1050" dirty="0"/>
          </a:p>
        </p:txBody>
      </p:sp>
      <p:sp>
        <p:nvSpPr>
          <p:cNvPr id="29" name="Text 24"/>
          <p:cNvSpPr txBox="1"/>
          <p:nvPr/>
        </p:nvSpPr>
        <p:spPr>
          <a:xfrm>
            <a:off x="960120" y="5852160"/>
            <a:ext cx="10241280" cy="411480"/>
          </a:xfrm>
          <a:prstGeom prst="rect">
            <a:avLst/>
          </a:prstGeom>
          <a:noFill/>
          <a:ln/>
        </p:spPr>
        <p:txBody>
          <a:bodyPr wrap="square" lIns="0" tIns="0" rIns="0" bIns="0" rtlCol="0" anchor="ctr"/>
          <a:lstStyle/>
          <a:p>
            <a:pPr marL="0" indent="0">
              <a:lnSpc>
                <a:spcPts val="1600"/>
              </a:lnSpc>
              <a:buNone/>
            </a:pPr>
            <a:r>
              <a:rPr lang="en-US" sz="1200" dirty="0">
                <a:solidFill>
                  <a:srgbClr val="FFFFFF"/>
                </a:solidFill>
                <a:latin typeface="Calibri" pitchFamily="34" charset="0"/>
                <a:ea typeface="Calibri" pitchFamily="34" charset="-122"/>
                <a:cs typeface="Calibri" pitchFamily="34" charset="-120"/>
              </a:rPr>
              <a:t>The report will not describe rural credit unions as underperforming. Part of their advantage appears to reflect having fewer competitors nearby — a consideration for any recommendation that would add new ones.</a:t>
            </a:r>
            <a:endParaRPr lang="en-US" sz="1200" dirty="0"/>
          </a:p>
        </p:txBody>
      </p:sp>
      <p:sp>
        <p:nvSpPr>
          <p:cNvPr id="30" name="Text 25"/>
          <p:cNvSpPr txBox="1"/>
          <p:nvPr/>
        </p:nvSpPr>
        <p:spPr>
          <a:xfrm>
            <a:off x="640080" y="6400800"/>
            <a:ext cx="10881360" cy="237744"/>
          </a:xfrm>
          <a:prstGeom prst="rect">
            <a:avLst/>
          </a:prstGeom>
          <a:noFill/>
          <a:ln/>
        </p:spPr>
        <p:txBody>
          <a:bodyPr wrap="square" lIns="0" tIns="0" rIns="0" bIns="0" rtlCol="0" anchor="ctr"/>
          <a:lstStyle/>
          <a:p>
            <a:pPr marL="0" indent="0">
              <a:buNone/>
            </a:pPr>
            <a:r>
              <a:rPr lang="en-US" sz="850" i="1" dirty="0">
                <a:solidFill>
                  <a:srgbClr val="5B6B72"/>
                </a:solidFill>
                <a:latin typeface="Calibri" pitchFamily="34" charset="0"/>
                <a:ea typeface="Calibri" pitchFamily="34" charset="-122"/>
                <a:cs typeface="Calibri" pitchFamily="34" charset="-120"/>
              </a:rPr>
              <a:t>468 rural credit unions. Rural = headquartered in a county that is neither in a metro area nor next to one, the statute’s definition. Growth and earnings are medians, 2010–2026. Preliminary.</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37744"/>
          </a:xfrm>
          <a:prstGeom prst="rect">
            <a:avLst/>
          </a:prstGeom>
          <a:noFill/>
          <a:ln/>
        </p:spPr>
        <p:txBody>
          <a:bodyPr wrap="square" lIns="0" tIns="0" rIns="0" bIns="0" rtlCol="0" anchor="ctr"/>
          <a:lstStyle/>
          <a:p>
            <a:pPr marL="0" indent="0">
              <a:buNone/>
            </a:pPr>
            <a:r>
              <a:rPr lang="en-US" sz="1000" b="1" kern="0" spc="200" dirty="0">
                <a:solidFill>
                  <a:srgbClr val="1F6F78"/>
                </a:solidFill>
                <a:latin typeface="Calibri" pitchFamily="34" charset="0"/>
                <a:ea typeface="Calibri" pitchFamily="34" charset="-122"/>
                <a:cs typeface="Calibri" pitchFamily="34" charset="-120"/>
              </a:rPr>
              <a:t>RQ2 · ARE RURAL CREDIT UNIONS DISAPPEARING FASTER THAN CREDIT UNIONS ELSEWHERE?</a:t>
            </a:r>
            <a:endParaRPr lang="en-US" sz="1000" dirty="0"/>
          </a:p>
        </p:txBody>
      </p:sp>
      <p:sp>
        <p:nvSpPr>
          <p:cNvPr id="3" name="Text 1"/>
          <p:cNvSpPr txBox="1"/>
          <p:nvPr/>
        </p:nvSpPr>
        <p:spPr>
          <a:xfrm>
            <a:off x="640080" y="658368"/>
            <a:ext cx="10881360" cy="868680"/>
          </a:xfrm>
          <a:prstGeom prst="rect">
            <a:avLst/>
          </a:prstGeom>
          <a:noFill/>
          <a:ln/>
        </p:spPr>
        <p:txBody>
          <a:bodyPr wrap="square" lIns="0" tIns="0" rIns="0" bIns="0" rtlCol="0" anchor="ctr"/>
          <a:lstStyle/>
          <a:p>
            <a:pPr marL="0" indent="0">
              <a:lnSpc>
                <a:spcPts val="3000"/>
              </a:lnSpc>
              <a:buNone/>
            </a:pPr>
            <a:r>
              <a:rPr lang="en-US" sz="2500" b="1" dirty="0">
                <a:solidFill>
                  <a:srgbClr val="12202E"/>
                </a:solidFill>
                <a:latin typeface="Cambria" pitchFamily="34" charset="0"/>
                <a:ea typeface="Cambria" pitchFamily="34" charset="-122"/>
                <a:cs typeface="Cambria" pitchFamily="34" charset="-120"/>
              </a:rPr>
              <a:t>No. Fewer have disappeared — but not because they are stronger, and almost none are being replaced.</a:t>
            </a:r>
            <a:endParaRPr lang="en-US" sz="2500" dirty="0"/>
          </a:p>
        </p:txBody>
      </p:sp>
      <p:graphicFrame>
        <p:nvGraphicFramePr>
          <p:cNvPr id="5" name="Chart 0"/>
          <p:cNvGraphicFramePr/>
          <p:nvPr/>
        </p:nvGraphicFramePr>
        <p:xfrm>
          <a:off x="640080" y="1783080"/>
          <a:ext cx="512064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txBox="1"/>
          <p:nvPr/>
        </p:nvSpPr>
        <p:spPr>
          <a:xfrm>
            <a:off x="640080" y="5074920"/>
            <a:ext cx="5120640" cy="320040"/>
          </a:xfrm>
          <a:prstGeom prst="rect">
            <a:avLst/>
          </a:prstGeom>
          <a:noFill/>
          <a:ln/>
        </p:spPr>
        <p:txBody>
          <a:bodyPr wrap="square" lIns="0" tIns="0" rIns="0" bIns="0" rtlCol="0" anchor="ctr"/>
          <a:lstStyle/>
          <a:p>
            <a:pPr marL="0" indent="0">
              <a:buNone/>
            </a:pPr>
            <a:r>
              <a:rPr lang="en-US" sz="850" i="1" dirty="0">
                <a:solidFill>
                  <a:srgbClr val="5B6B72"/>
                </a:solidFill>
                <a:latin typeface="Calibri" pitchFamily="34" charset="0"/>
                <a:ea typeface="Calibri" pitchFamily="34" charset="-122"/>
                <a:cs typeface="Calibri" pitchFamily="34" charset="-120"/>
              </a:rPr>
              <a:t>“Genuinely new” = started with under $5 million in assets; the rest converted from another form. Counts do not sum exactly because a few charters moved counties.</a:t>
            </a:r>
            <a:endParaRPr lang="en-US" sz="850" dirty="0"/>
          </a:p>
        </p:txBody>
      </p:sp>
      <p:sp>
        <p:nvSpPr>
          <p:cNvPr id="7" name="Shape 3"/>
          <p:cNvSpPr/>
          <p:nvPr/>
        </p:nvSpPr>
        <p:spPr>
          <a:xfrm>
            <a:off x="5989320" y="1783080"/>
            <a:ext cx="5532120" cy="3566160"/>
          </a:xfrm>
          <a:prstGeom prst="roundRect">
            <a:avLst>
              <a:gd name="adj" fmla="val 1538"/>
            </a:avLst>
          </a:prstGeom>
          <a:solidFill>
            <a:srgbClr val="F3F5F4"/>
          </a:solidFill>
          <a:ln/>
        </p:spPr>
        <p:txBody>
          <a:bodyPr/>
          <a:lstStyle/>
          <a:p>
            <a:endParaRPr lang="en-US"/>
          </a:p>
        </p:txBody>
      </p:sp>
      <p:sp>
        <p:nvSpPr>
          <p:cNvPr id="8" name="Text 4"/>
          <p:cNvSpPr txBox="1"/>
          <p:nvPr/>
        </p:nvSpPr>
        <p:spPr>
          <a:xfrm>
            <a:off x="6263640" y="1901952"/>
            <a:ext cx="5029200" cy="256032"/>
          </a:xfrm>
          <a:prstGeom prst="rect">
            <a:avLst/>
          </a:prstGeom>
          <a:noFill/>
          <a:ln/>
        </p:spPr>
        <p:txBody>
          <a:bodyPr wrap="square" lIns="0" tIns="0" rIns="0" bIns="0" rtlCol="0" anchor="ctr"/>
          <a:lstStyle/>
          <a:p>
            <a:pPr marL="0" indent="0">
              <a:buNone/>
            </a:pPr>
            <a:r>
              <a:rPr lang="en-US" sz="1200" b="1" dirty="0">
                <a:solidFill>
                  <a:srgbClr val="C8553D"/>
                </a:solidFill>
                <a:latin typeface="Calibri" pitchFamily="34" charset="0"/>
                <a:ea typeface="Calibri" pitchFamily="34" charset="-122"/>
                <a:cs typeface="Calibri" pitchFamily="34" charset="-120"/>
              </a:rPr>
              <a:t>What we found</a:t>
            </a:r>
            <a:endParaRPr lang="en-US" sz="1200" dirty="0"/>
          </a:p>
        </p:txBody>
      </p:sp>
      <p:sp>
        <p:nvSpPr>
          <p:cNvPr id="9" name="Shape 5"/>
          <p:cNvSpPr/>
          <p:nvPr/>
        </p:nvSpPr>
        <p:spPr>
          <a:xfrm>
            <a:off x="6263640" y="2267712"/>
            <a:ext cx="292608" cy="292608"/>
          </a:xfrm>
          <a:prstGeom prst="ellipse">
            <a:avLst/>
          </a:prstGeom>
          <a:solidFill>
            <a:srgbClr val="0E4C55"/>
          </a:solidFill>
          <a:ln/>
        </p:spPr>
        <p:txBody>
          <a:bodyPr/>
          <a:lstStyle/>
          <a:p>
            <a:endParaRPr lang="en-US"/>
          </a:p>
        </p:txBody>
      </p:sp>
      <p:sp>
        <p:nvSpPr>
          <p:cNvPr id="10" name="Text 6"/>
          <p:cNvSpPr txBox="1"/>
          <p:nvPr/>
        </p:nvSpPr>
        <p:spPr>
          <a:xfrm>
            <a:off x="6263640" y="2267712"/>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Text 7"/>
          <p:cNvSpPr txBox="1"/>
          <p:nvPr/>
        </p:nvSpPr>
        <p:spPr>
          <a:xfrm>
            <a:off x="6693408" y="2240280"/>
            <a:ext cx="4663440" cy="713232"/>
          </a:xfrm>
          <a:prstGeom prst="rect">
            <a:avLst/>
          </a:prstGeom>
          <a:noFill/>
          <a:ln/>
        </p:spPr>
        <p:txBody>
          <a:bodyPr wrap="square" lIns="0" tIns="0" rIns="0" bIns="0" rtlCol="0" anchor="ctr"/>
          <a:lstStyle/>
          <a:p>
            <a:pPr marL="0" indent="0">
              <a:lnSpc>
                <a:spcPts val="1300"/>
              </a:lnSpc>
              <a:buNone/>
            </a:pPr>
            <a:r>
              <a:rPr lang="en-US" sz="1000" dirty="0">
                <a:solidFill>
                  <a:srgbClr val="12202E"/>
                </a:solidFill>
                <a:latin typeface="Calibri" pitchFamily="34" charset="0"/>
                <a:ea typeface="Calibri" pitchFamily="34" charset="-122"/>
                <a:cs typeface="Calibri" pitchFamily="34" charset="-120"/>
              </a:rPr>
              <a:t>Of about 700 rural credit unions in 2010, 274 have merged or closed and 48 appeared — only 29 of those genuinely new. There are 468 today.</a:t>
            </a:r>
            <a:endParaRPr lang="en-US" sz="1000" dirty="0"/>
          </a:p>
        </p:txBody>
      </p:sp>
      <p:sp>
        <p:nvSpPr>
          <p:cNvPr id="12" name="Shape 8"/>
          <p:cNvSpPr/>
          <p:nvPr/>
        </p:nvSpPr>
        <p:spPr>
          <a:xfrm>
            <a:off x="6263640" y="3035808"/>
            <a:ext cx="292608" cy="292608"/>
          </a:xfrm>
          <a:prstGeom prst="ellipse">
            <a:avLst/>
          </a:prstGeom>
          <a:solidFill>
            <a:srgbClr val="0E4C55"/>
          </a:solidFill>
          <a:ln/>
        </p:spPr>
        <p:txBody>
          <a:bodyPr/>
          <a:lstStyle/>
          <a:p>
            <a:endParaRPr lang="en-US"/>
          </a:p>
        </p:txBody>
      </p:sp>
      <p:sp>
        <p:nvSpPr>
          <p:cNvPr id="13" name="Text 9"/>
          <p:cNvSpPr txBox="1"/>
          <p:nvPr/>
        </p:nvSpPr>
        <p:spPr>
          <a:xfrm>
            <a:off x="6263640" y="3035808"/>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4" name="Text 10"/>
          <p:cNvSpPr txBox="1"/>
          <p:nvPr/>
        </p:nvSpPr>
        <p:spPr>
          <a:xfrm>
            <a:off x="6693408" y="3008376"/>
            <a:ext cx="4663440" cy="713232"/>
          </a:xfrm>
          <a:prstGeom prst="rect">
            <a:avLst/>
          </a:prstGeom>
          <a:noFill/>
          <a:ln/>
        </p:spPr>
        <p:txBody>
          <a:bodyPr wrap="square" lIns="0" tIns="0" rIns="0" bIns="0" rtlCol="0" anchor="ctr"/>
          <a:lstStyle/>
          <a:p>
            <a:pPr marL="0" indent="0">
              <a:lnSpc>
                <a:spcPts val="1300"/>
              </a:lnSpc>
              <a:buNone/>
            </a:pPr>
            <a:r>
              <a:rPr lang="en-US" sz="1000" dirty="0">
                <a:solidFill>
                  <a:srgbClr val="12202E"/>
                </a:solidFill>
                <a:latin typeface="Calibri" pitchFamily="34" charset="0"/>
                <a:ea typeface="Calibri" pitchFamily="34" charset="-122"/>
                <a:cs typeface="Calibri" pitchFamily="34" charset="-120"/>
              </a:rPr>
              <a:t>Fewer rural credit unions disappear than elsewhere (37% against 44%). But a merger requires a partner nearby, and rural counties have few. Once that is taken into account, the two groups disappear at the same rate. The difference reflects a thin market for mergers, not stronger institutions.</a:t>
            </a:r>
            <a:endParaRPr lang="en-US" sz="1000" dirty="0"/>
          </a:p>
        </p:txBody>
      </p:sp>
      <p:sp>
        <p:nvSpPr>
          <p:cNvPr id="15" name="Shape 11"/>
          <p:cNvSpPr/>
          <p:nvPr/>
        </p:nvSpPr>
        <p:spPr>
          <a:xfrm>
            <a:off x="6263640" y="3803904"/>
            <a:ext cx="292608" cy="292608"/>
          </a:xfrm>
          <a:prstGeom prst="ellipse">
            <a:avLst/>
          </a:prstGeom>
          <a:solidFill>
            <a:srgbClr val="0E4C55"/>
          </a:solidFill>
          <a:ln/>
        </p:spPr>
        <p:txBody>
          <a:bodyPr/>
          <a:lstStyle/>
          <a:p>
            <a:endParaRPr lang="en-US"/>
          </a:p>
        </p:txBody>
      </p:sp>
      <p:sp>
        <p:nvSpPr>
          <p:cNvPr id="16" name="Text 12"/>
          <p:cNvSpPr txBox="1"/>
          <p:nvPr/>
        </p:nvSpPr>
        <p:spPr>
          <a:xfrm>
            <a:off x="6263640" y="3803904"/>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7" name="Text 13"/>
          <p:cNvSpPr txBox="1"/>
          <p:nvPr/>
        </p:nvSpPr>
        <p:spPr>
          <a:xfrm>
            <a:off x="6693408" y="3776472"/>
            <a:ext cx="4663440" cy="713232"/>
          </a:xfrm>
          <a:prstGeom prst="rect">
            <a:avLst/>
          </a:prstGeom>
          <a:noFill/>
          <a:ln/>
        </p:spPr>
        <p:txBody>
          <a:bodyPr wrap="square" lIns="0" tIns="0" rIns="0" bIns="0" rtlCol="0" anchor="ctr"/>
          <a:lstStyle/>
          <a:p>
            <a:pPr marL="0" indent="0">
              <a:lnSpc>
                <a:spcPts val="1300"/>
              </a:lnSpc>
              <a:buNone/>
            </a:pPr>
            <a:r>
              <a:rPr lang="en-US" sz="1000" dirty="0">
                <a:solidFill>
                  <a:srgbClr val="12202E"/>
                </a:solidFill>
                <a:latin typeface="Calibri" pitchFamily="34" charset="0"/>
                <a:ea typeface="Calibri" pitchFamily="34" charset="-122"/>
                <a:cs typeface="Calibri" pitchFamily="34" charset="-120"/>
              </a:rPr>
              <a:t>Most departures are mergers rather than failures. In most cases members retained a credit union, but no longer one based in their own community.</a:t>
            </a:r>
            <a:endParaRPr lang="en-US" sz="1000" dirty="0"/>
          </a:p>
        </p:txBody>
      </p:sp>
      <p:sp>
        <p:nvSpPr>
          <p:cNvPr id="18" name="Shape 14"/>
          <p:cNvSpPr/>
          <p:nvPr/>
        </p:nvSpPr>
        <p:spPr>
          <a:xfrm>
            <a:off x="6263640" y="4572000"/>
            <a:ext cx="292608" cy="292608"/>
          </a:xfrm>
          <a:prstGeom prst="ellipse">
            <a:avLst/>
          </a:prstGeom>
          <a:solidFill>
            <a:srgbClr val="0E4C55"/>
          </a:solidFill>
          <a:ln/>
        </p:spPr>
        <p:txBody>
          <a:bodyPr/>
          <a:lstStyle/>
          <a:p>
            <a:endParaRPr lang="en-US"/>
          </a:p>
        </p:txBody>
      </p:sp>
      <p:sp>
        <p:nvSpPr>
          <p:cNvPr id="19" name="Text 15"/>
          <p:cNvSpPr txBox="1"/>
          <p:nvPr/>
        </p:nvSpPr>
        <p:spPr>
          <a:xfrm>
            <a:off x="6263640" y="457200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0" name="Text 16"/>
          <p:cNvSpPr txBox="1"/>
          <p:nvPr/>
        </p:nvSpPr>
        <p:spPr>
          <a:xfrm>
            <a:off x="6693408" y="4544568"/>
            <a:ext cx="4663440" cy="713232"/>
          </a:xfrm>
          <a:prstGeom prst="rect">
            <a:avLst/>
          </a:prstGeom>
          <a:noFill/>
          <a:ln/>
        </p:spPr>
        <p:txBody>
          <a:bodyPr wrap="square" lIns="0" tIns="0" rIns="0" bIns="0" rtlCol="0" anchor="ctr"/>
          <a:lstStyle/>
          <a:p>
            <a:pPr marL="0" indent="0">
              <a:lnSpc>
                <a:spcPts val="1300"/>
              </a:lnSpc>
              <a:buNone/>
            </a:pPr>
            <a:r>
              <a:rPr lang="en-US" sz="1000" dirty="0">
                <a:solidFill>
                  <a:srgbClr val="12202E"/>
                </a:solidFill>
                <a:latin typeface="Calibri" pitchFamily="34" charset="0"/>
                <a:ea typeface="Calibri" pitchFamily="34" charset="-122"/>
                <a:cs typeface="Calibri" pitchFamily="34" charset="-120"/>
              </a:rPr>
              <a:t>117 rural counties have lost the last credit union headquartered there since 2010. Only 24 gained one.</a:t>
            </a:r>
            <a:endParaRPr lang="en-US" sz="1000" dirty="0"/>
          </a:p>
        </p:txBody>
      </p:sp>
      <p:sp>
        <p:nvSpPr>
          <p:cNvPr id="21" name="Shape 17"/>
          <p:cNvSpPr/>
          <p:nvPr/>
        </p:nvSpPr>
        <p:spPr>
          <a:xfrm>
            <a:off x="640080" y="5532120"/>
            <a:ext cx="10881360" cy="777240"/>
          </a:xfrm>
          <a:prstGeom prst="roundRect">
            <a:avLst>
              <a:gd name="adj" fmla="val 7059"/>
            </a:avLst>
          </a:prstGeom>
          <a:solidFill>
            <a:srgbClr val="0E4C55"/>
          </a:solidFill>
          <a:ln/>
        </p:spPr>
        <p:txBody>
          <a:bodyPr/>
          <a:lstStyle/>
          <a:p>
            <a:endParaRPr lang="en-US"/>
          </a:p>
        </p:txBody>
      </p:sp>
      <p:sp>
        <p:nvSpPr>
          <p:cNvPr id="22" name="Text 18"/>
          <p:cNvSpPr txBox="1"/>
          <p:nvPr/>
        </p:nvSpPr>
        <p:spPr>
          <a:xfrm>
            <a:off x="960120" y="5605272"/>
            <a:ext cx="10241280" cy="237744"/>
          </a:xfrm>
          <a:prstGeom prst="rect">
            <a:avLst/>
          </a:prstGeom>
          <a:noFill/>
          <a:ln/>
        </p:spPr>
        <p:txBody>
          <a:bodyPr wrap="square" lIns="0" tIns="0" rIns="0" bIns="0" rtlCol="0" anchor="ctr"/>
          <a:lstStyle/>
          <a:p>
            <a:pPr marL="0" indent="0">
              <a:buNone/>
            </a:pPr>
            <a:r>
              <a:rPr lang="en-US" sz="1050" b="1" dirty="0">
                <a:solidFill>
                  <a:srgbClr val="E8A24A"/>
                </a:solidFill>
                <a:latin typeface="Calibri" pitchFamily="34" charset="0"/>
                <a:ea typeface="Calibri" pitchFamily="34" charset="-122"/>
                <a:cs typeface="Calibri" pitchFamily="34" charset="-120"/>
              </a:rPr>
              <a:t>What it means for the report</a:t>
            </a:r>
            <a:endParaRPr lang="en-US" sz="1050" dirty="0"/>
          </a:p>
        </p:txBody>
      </p:sp>
      <p:sp>
        <p:nvSpPr>
          <p:cNvPr id="23" name="Text 19"/>
          <p:cNvSpPr txBox="1"/>
          <p:nvPr/>
        </p:nvSpPr>
        <p:spPr>
          <a:xfrm>
            <a:off x="960120" y="5852160"/>
            <a:ext cx="10241280" cy="411480"/>
          </a:xfrm>
          <a:prstGeom prst="rect">
            <a:avLst/>
          </a:prstGeom>
          <a:noFill/>
          <a:ln/>
        </p:spPr>
        <p:txBody>
          <a:bodyPr wrap="square" lIns="0" tIns="0" rIns="0" bIns="0" rtlCol="0" anchor="ctr"/>
          <a:lstStyle/>
          <a:p>
            <a:pPr marL="0" indent="0">
              <a:lnSpc>
                <a:spcPts val="1600"/>
              </a:lnSpc>
              <a:buNone/>
            </a:pPr>
            <a:r>
              <a:rPr lang="en-US" sz="1200" dirty="0">
                <a:solidFill>
                  <a:srgbClr val="FFFFFF"/>
                </a:solidFill>
                <a:latin typeface="Calibri" pitchFamily="34" charset="0"/>
                <a:ea typeface="Calibri" pitchFamily="34" charset="-122"/>
                <a:cs typeface="Calibri" pitchFamily="34" charset="-120"/>
              </a:rPr>
              <a:t>The problem is formation, not failure. The report should focus on why new rural credit unions are not being established — and on what a branch of an institution based elsewhere can and cannot replace.</a:t>
            </a:r>
            <a:endParaRPr lang="en-US" sz="1200" dirty="0"/>
          </a:p>
        </p:txBody>
      </p:sp>
      <p:sp>
        <p:nvSpPr>
          <p:cNvPr id="24" name="Text 20"/>
          <p:cNvSpPr txBox="1"/>
          <p:nvPr/>
        </p:nvSpPr>
        <p:spPr>
          <a:xfrm>
            <a:off x="640080" y="6400800"/>
            <a:ext cx="10881360" cy="237744"/>
          </a:xfrm>
          <a:prstGeom prst="rect">
            <a:avLst/>
          </a:prstGeom>
          <a:noFill/>
          <a:ln/>
        </p:spPr>
        <p:txBody>
          <a:bodyPr wrap="square" lIns="0" tIns="0" rIns="0" bIns="0" rtlCol="0" anchor="ctr"/>
          <a:lstStyle/>
          <a:p>
            <a:pPr marL="0" indent="0">
              <a:buNone/>
            </a:pPr>
            <a:r>
              <a:rPr lang="en-US" sz="850" i="1" dirty="0">
                <a:solidFill>
                  <a:srgbClr val="5B6B72"/>
                </a:solidFill>
                <a:latin typeface="Calibri" pitchFamily="34" charset="0"/>
                <a:ea typeface="Calibri" pitchFamily="34" charset="-122"/>
                <a:cs typeface="Calibri" pitchFamily="34" charset="-120"/>
              </a:rPr>
              <a:t>Federally insured credit unions, 2010–2026. “Disappear” covers merger, purchase and assumption, liquidation and conversion; the split is being confirmed against the records. Preliminary.</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37744"/>
          </a:xfrm>
          <a:prstGeom prst="rect">
            <a:avLst/>
          </a:prstGeom>
          <a:noFill/>
          <a:ln/>
        </p:spPr>
        <p:txBody>
          <a:bodyPr wrap="square" lIns="0" tIns="0" rIns="0" bIns="0" rtlCol="0" anchor="ctr"/>
          <a:lstStyle/>
          <a:p>
            <a:pPr marL="0" indent="0">
              <a:buNone/>
            </a:pPr>
            <a:r>
              <a:rPr lang="en-US" sz="1000" b="1" kern="0" spc="200" dirty="0">
                <a:solidFill>
                  <a:srgbClr val="1F6F78"/>
                </a:solidFill>
                <a:latin typeface="Calibri" pitchFamily="34" charset="0"/>
                <a:ea typeface="Calibri" pitchFamily="34" charset="-122"/>
                <a:cs typeface="Calibri" pitchFamily="34" charset="-120"/>
              </a:rPr>
              <a:t>RQ3 · DOES THE CAP ON BUSINESS LENDING RESTRICT RURAL CREDIT UNIONS?</a:t>
            </a:r>
            <a:endParaRPr lang="en-US" sz="1000" dirty="0"/>
          </a:p>
        </p:txBody>
      </p:sp>
      <p:sp>
        <p:nvSpPr>
          <p:cNvPr id="3" name="Text 1"/>
          <p:cNvSpPr txBox="1"/>
          <p:nvPr/>
        </p:nvSpPr>
        <p:spPr>
          <a:xfrm>
            <a:off x="640080" y="658368"/>
            <a:ext cx="10881360" cy="868680"/>
          </a:xfrm>
          <a:prstGeom prst="rect">
            <a:avLst/>
          </a:prstGeom>
          <a:noFill/>
          <a:ln/>
        </p:spPr>
        <p:txBody>
          <a:bodyPr wrap="square" lIns="0" tIns="0" rIns="0" bIns="0" rtlCol="0" anchor="ctr"/>
          <a:lstStyle/>
          <a:p>
            <a:pPr marL="0" indent="0">
              <a:lnSpc>
                <a:spcPts val="3000"/>
              </a:lnSpc>
              <a:buNone/>
            </a:pPr>
            <a:r>
              <a:rPr lang="en-US" sz="2500" b="1" dirty="0">
                <a:solidFill>
                  <a:srgbClr val="12202E"/>
                </a:solidFill>
                <a:latin typeface="Cambria" pitchFamily="34" charset="0"/>
                <a:ea typeface="Cambria" pitchFamily="34" charset="-122"/>
                <a:cs typeface="Cambria" pitchFamily="34" charset="-120"/>
              </a:rPr>
              <a:t>For roughly ten institutions, yes. For the sector as a whole, no.</a:t>
            </a:r>
            <a:endParaRPr lang="en-US" sz="2500" dirty="0"/>
          </a:p>
        </p:txBody>
      </p:sp>
      <p:graphicFrame>
        <p:nvGraphicFramePr>
          <p:cNvPr id="5" name="Chart 0"/>
          <p:cNvGraphicFramePr/>
          <p:nvPr/>
        </p:nvGraphicFramePr>
        <p:xfrm>
          <a:off x="640080" y="1783080"/>
          <a:ext cx="5120640" cy="21945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txBox="1"/>
          <p:nvPr/>
        </p:nvSpPr>
        <p:spPr>
          <a:xfrm>
            <a:off x="640080" y="3840480"/>
            <a:ext cx="5120640" cy="201168"/>
          </a:xfrm>
          <a:prstGeom prst="rect">
            <a:avLst/>
          </a:prstGeom>
          <a:noFill/>
          <a:ln/>
        </p:spPr>
        <p:txBody>
          <a:bodyPr wrap="square" lIns="0" tIns="0" rIns="0" bIns="0" rtlCol="0" anchor="ctr"/>
          <a:lstStyle/>
          <a:p>
            <a:pPr marL="0" indent="0">
              <a:buNone/>
            </a:pPr>
            <a:r>
              <a:rPr lang="en-US" sz="850" i="1" dirty="0">
                <a:solidFill>
                  <a:srgbClr val="5B6B72"/>
                </a:solidFill>
                <a:latin typeface="Calibri" pitchFamily="34" charset="0"/>
                <a:ea typeface="Calibri" pitchFamily="34" charset="-122"/>
                <a:cs typeface="Calibri" pitchFamily="34" charset="-120"/>
              </a:rPr>
              <a:t>The first two bars add to 100. “Close to the cap” is a subset of the second: about ten institutions nationwide.</a:t>
            </a:r>
            <a:endParaRPr lang="en-US" sz="850" dirty="0"/>
          </a:p>
        </p:txBody>
      </p:sp>
      <p:sp>
        <p:nvSpPr>
          <p:cNvPr id="7" name="Shape 3"/>
          <p:cNvSpPr/>
          <p:nvPr/>
        </p:nvSpPr>
        <p:spPr>
          <a:xfrm>
            <a:off x="5989320" y="1783080"/>
            <a:ext cx="5532120" cy="2331720"/>
          </a:xfrm>
          <a:prstGeom prst="roundRect">
            <a:avLst>
              <a:gd name="adj" fmla="val 2353"/>
            </a:avLst>
          </a:prstGeom>
          <a:solidFill>
            <a:srgbClr val="F3F5F4"/>
          </a:solidFill>
          <a:ln/>
        </p:spPr>
        <p:txBody>
          <a:bodyPr/>
          <a:lstStyle/>
          <a:p>
            <a:endParaRPr lang="en-US"/>
          </a:p>
        </p:txBody>
      </p:sp>
      <p:sp>
        <p:nvSpPr>
          <p:cNvPr id="8" name="Text 4"/>
          <p:cNvSpPr txBox="1"/>
          <p:nvPr/>
        </p:nvSpPr>
        <p:spPr>
          <a:xfrm>
            <a:off x="6263640" y="1901952"/>
            <a:ext cx="5029200" cy="256032"/>
          </a:xfrm>
          <a:prstGeom prst="rect">
            <a:avLst/>
          </a:prstGeom>
          <a:noFill/>
          <a:ln/>
        </p:spPr>
        <p:txBody>
          <a:bodyPr wrap="square" lIns="0" tIns="0" rIns="0" bIns="0" rtlCol="0" anchor="ctr"/>
          <a:lstStyle/>
          <a:p>
            <a:pPr marL="0" indent="0">
              <a:buNone/>
            </a:pPr>
            <a:r>
              <a:rPr lang="en-US" sz="1200" b="1" dirty="0">
                <a:solidFill>
                  <a:srgbClr val="C8553D"/>
                </a:solidFill>
                <a:latin typeface="Calibri" pitchFamily="34" charset="0"/>
                <a:ea typeface="Calibri" pitchFamily="34" charset="-122"/>
                <a:cs typeface="Calibri" pitchFamily="34" charset="-120"/>
              </a:rPr>
              <a:t>What we found</a:t>
            </a:r>
            <a:endParaRPr lang="en-US" sz="1200" dirty="0"/>
          </a:p>
        </p:txBody>
      </p:sp>
      <p:sp>
        <p:nvSpPr>
          <p:cNvPr id="9" name="Shape 5"/>
          <p:cNvSpPr/>
          <p:nvPr/>
        </p:nvSpPr>
        <p:spPr>
          <a:xfrm>
            <a:off x="6263640" y="2240280"/>
            <a:ext cx="274320" cy="274320"/>
          </a:xfrm>
          <a:prstGeom prst="ellipse">
            <a:avLst/>
          </a:prstGeom>
          <a:solidFill>
            <a:srgbClr val="0E4C55"/>
          </a:solidFill>
          <a:ln/>
        </p:spPr>
        <p:txBody>
          <a:bodyPr/>
          <a:lstStyle/>
          <a:p>
            <a:endParaRPr lang="en-US"/>
          </a:p>
        </p:txBody>
      </p:sp>
      <p:sp>
        <p:nvSpPr>
          <p:cNvPr id="10" name="Text 6"/>
          <p:cNvSpPr txBox="1"/>
          <p:nvPr/>
        </p:nvSpPr>
        <p:spPr>
          <a:xfrm>
            <a:off x="6263640" y="2240280"/>
            <a:ext cx="27432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1</a:t>
            </a:r>
            <a:endParaRPr lang="en-US" sz="950" dirty="0"/>
          </a:p>
        </p:txBody>
      </p:sp>
      <p:sp>
        <p:nvSpPr>
          <p:cNvPr id="11" name="Text 7"/>
          <p:cNvSpPr txBox="1"/>
          <p:nvPr/>
        </p:nvSpPr>
        <p:spPr>
          <a:xfrm>
            <a:off x="6675120" y="2212848"/>
            <a:ext cx="4663440" cy="585216"/>
          </a:xfrm>
          <a:prstGeom prst="rect">
            <a:avLst/>
          </a:prstGeom>
          <a:noFill/>
          <a:ln/>
        </p:spPr>
        <p:txBody>
          <a:bodyPr wrap="square" lIns="0" tIns="0" rIns="0" bIns="0" rtlCol="0" anchor="ctr"/>
          <a:lstStyle/>
          <a:p>
            <a:pPr marL="0" indent="0">
              <a:lnSpc>
                <a:spcPts val="1300"/>
              </a:lnSpc>
              <a:buNone/>
            </a:pPr>
            <a:r>
              <a:rPr lang="en-US" sz="1000" dirty="0">
                <a:solidFill>
                  <a:srgbClr val="12202E"/>
                </a:solidFill>
                <a:latin typeface="Calibri" pitchFamily="34" charset="0"/>
                <a:ea typeface="Calibri" pitchFamily="34" charset="-122"/>
                <a:cs typeface="Calibri" pitchFamily="34" charset="-120"/>
              </a:rPr>
              <a:t>Nearly two thirds of rural credit unions do no business lending at all, so the cap cannot affect them. In economies built on farms and small businesses, that absence is a finding in its own right.</a:t>
            </a:r>
            <a:endParaRPr lang="en-US" sz="1000" dirty="0"/>
          </a:p>
        </p:txBody>
      </p:sp>
      <p:sp>
        <p:nvSpPr>
          <p:cNvPr id="12" name="Shape 8"/>
          <p:cNvSpPr/>
          <p:nvPr/>
        </p:nvSpPr>
        <p:spPr>
          <a:xfrm>
            <a:off x="6263640" y="2862072"/>
            <a:ext cx="274320" cy="274320"/>
          </a:xfrm>
          <a:prstGeom prst="ellipse">
            <a:avLst/>
          </a:prstGeom>
          <a:solidFill>
            <a:srgbClr val="0E4C55"/>
          </a:solidFill>
          <a:ln/>
        </p:spPr>
        <p:txBody>
          <a:bodyPr/>
          <a:lstStyle/>
          <a:p>
            <a:endParaRPr lang="en-US"/>
          </a:p>
        </p:txBody>
      </p:sp>
      <p:sp>
        <p:nvSpPr>
          <p:cNvPr id="13" name="Text 9"/>
          <p:cNvSpPr txBox="1"/>
          <p:nvPr/>
        </p:nvSpPr>
        <p:spPr>
          <a:xfrm>
            <a:off x="6263640" y="2862072"/>
            <a:ext cx="27432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2</a:t>
            </a:r>
            <a:endParaRPr lang="en-US" sz="950" dirty="0"/>
          </a:p>
        </p:txBody>
      </p:sp>
      <p:sp>
        <p:nvSpPr>
          <p:cNvPr id="14" name="Text 10"/>
          <p:cNvSpPr txBox="1"/>
          <p:nvPr/>
        </p:nvSpPr>
        <p:spPr>
          <a:xfrm>
            <a:off x="6675120" y="2834640"/>
            <a:ext cx="4663440" cy="585216"/>
          </a:xfrm>
          <a:prstGeom prst="rect">
            <a:avLst/>
          </a:prstGeom>
          <a:noFill/>
          <a:ln/>
        </p:spPr>
        <p:txBody>
          <a:bodyPr wrap="square" lIns="0" tIns="0" rIns="0" bIns="0" rtlCol="0" anchor="ctr"/>
          <a:lstStyle/>
          <a:p>
            <a:pPr marL="0" indent="0">
              <a:lnSpc>
                <a:spcPts val="1300"/>
              </a:lnSpc>
              <a:buNone/>
            </a:pPr>
            <a:r>
              <a:rPr lang="en-US" sz="1000" dirty="0">
                <a:solidFill>
                  <a:srgbClr val="12202E"/>
                </a:solidFill>
                <a:latin typeface="Calibri" pitchFamily="34" charset="0"/>
                <a:ea typeface="Calibri" pitchFamily="34" charset="-122"/>
                <a:cs typeface="Calibri" pitchFamily="34" charset="-120"/>
              </a:rPr>
              <a:t>Among those that do, about one in six is close to the cap — roughly ten institutions nationwide. For those institutions the constraint is genuine: their lending slows in the year after they reach it.</a:t>
            </a:r>
            <a:endParaRPr lang="en-US" sz="1000" dirty="0"/>
          </a:p>
        </p:txBody>
      </p:sp>
      <p:sp>
        <p:nvSpPr>
          <p:cNvPr id="15" name="Shape 11"/>
          <p:cNvSpPr/>
          <p:nvPr/>
        </p:nvSpPr>
        <p:spPr>
          <a:xfrm>
            <a:off x="6263640" y="3483864"/>
            <a:ext cx="274320" cy="274320"/>
          </a:xfrm>
          <a:prstGeom prst="ellipse">
            <a:avLst/>
          </a:prstGeom>
          <a:solidFill>
            <a:srgbClr val="0E4C55"/>
          </a:solidFill>
          <a:ln/>
        </p:spPr>
        <p:txBody>
          <a:bodyPr/>
          <a:lstStyle/>
          <a:p>
            <a:endParaRPr lang="en-US"/>
          </a:p>
        </p:txBody>
      </p:sp>
      <p:sp>
        <p:nvSpPr>
          <p:cNvPr id="16" name="Text 12"/>
          <p:cNvSpPr txBox="1"/>
          <p:nvPr/>
        </p:nvSpPr>
        <p:spPr>
          <a:xfrm>
            <a:off x="6263640" y="3483864"/>
            <a:ext cx="27432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3</a:t>
            </a:r>
            <a:endParaRPr lang="en-US" sz="950" dirty="0"/>
          </a:p>
        </p:txBody>
      </p:sp>
      <p:sp>
        <p:nvSpPr>
          <p:cNvPr id="17" name="Text 13"/>
          <p:cNvSpPr txBox="1"/>
          <p:nvPr/>
        </p:nvSpPr>
        <p:spPr>
          <a:xfrm>
            <a:off x="6675120" y="3456432"/>
            <a:ext cx="4663440" cy="585216"/>
          </a:xfrm>
          <a:prstGeom prst="rect">
            <a:avLst/>
          </a:prstGeom>
          <a:noFill/>
          <a:ln/>
        </p:spPr>
        <p:txBody>
          <a:bodyPr wrap="square" lIns="0" tIns="0" rIns="0" bIns="0" rtlCol="0" anchor="ctr"/>
          <a:lstStyle/>
          <a:p>
            <a:pPr marL="0" indent="0">
              <a:lnSpc>
                <a:spcPts val="1300"/>
              </a:lnSpc>
              <a:buNone/>
            </a:pPr>
            <a:r>
              <a:rPr lang="en-US" sz="1000" dirty="0">
                <a:solidFill>
                  <a:srgbClr val="12202E"/>
                </a:solidFill>
                <a:latin typeface="Calibri" pitchFamily="34" charset="0"/>
                <a:ea typeface="Calibri" pitchFamily="34" charset="-122"/>
                <a:cs typeface="Calibri" pitchFamily="34" charset="-120"/>
              </a:rPr>
              <a:t>There is no evidence that institutions manage their lending toward the cap, and those exempt from it lend only modestly more — not several times more.</a:t>
            </a:r>
            <a:endParaRPr lang="en-US" sz="1000" dirty="0"/>
          </a:p>
        </p:txBody>
      </p:sp>
      <p:sp>
        <p:nvSpPr>
          <p:cNvPr id="18" name="Shape 14"/>
          <p:cNvSpPr/>
          <p:nvPr/>
        </p:nvSpPr>
        <p:spPr>
          <a:xfrm>
            <a:off x="5989320" y="4206240"/>
            <a:ext cx="5532120" cy="1143000"/>
          </a:xfrm>
          <a:prstGeom prst="roundRect">
            <a:avLst>
              <a:gd name="adj" fmla="val 4800"/>
            </a:avLst>
          </a:prstGeom>
          <a:solidFill>
            <a:srgbClr val="0E4C55"/>
          </a:solidFill>
          <a:ln/>
        </p:spPr>
        <p:txBody>
          <a:bodyPr/>
          <a:lstStyle/>
          <a:p>
            <a:endParaRPr lang="en-US"/>
          </a:p>
        </p:txBody>
      </p:sp>
      <p:sp>
        <p:nvSpPr>
          <p:cNvPr id="19" name="Text 15"/>
          <p:cNvSpPr txBox="1"/>
          <p:nvPr/>
        </p:nvSpPr>
        <p:spPr>
          <a:xfrm>
            <a:off x="6263640" y="4297680"/>
            <a:ext cx="5029200" cy="237744"/>
          </a:xfrm>
          <a:prstGeom prst="rect">
            <a:avLst/>
          </a:prstGeom>
          <a:noFill/>
          <a:ln/>
        </p:spPr>
        <p:txBody>
          <a:bodyPr wrap="square" lIns="0" tIns="0" rIns="0" bIns="0" rtlCol="0" anchor="ctr"/>
          <a:lstStyle/>
          <a:p>
            <a:pPr marL="0" indent="0">
              <a:buNone/>
            </a:pPr>
            <a:r>
              <a:rPr lang="en-US" sz="1050" b="1" dirty="0">
                <a:solidFill>
                  <a:srgbClr val="E8A24A"/>
                </a:solidFill>
                <a:latin typeface="Calibri" pitchFamily="34" charset="0"/>
                <a:ea typeface="Calibri" pitchFamily="34" charset="-122"/>
                <a:cs typeface="Calibri" pitchFamily="34" charset="-120"/>
              </a:rPr>
              <a:t>Why we tested a limit that constrains so few</a:t>
            </a:r>
            <a:endParaRPr lang="en-US" sz="1050" dirty="0"/>
          </a:p>
        </p:txBody>
      </p:sp>
      <p:sp>
        <p:nvSpPr>
          <p:cNvPr id="20" name="Text 16"/>
          <p:cNvSpPr txBox="1"/>
          <p:nvPr/>
        </p:nvSpPr>
        <p:spPr>
          <a:xfrm>
            <a:off x="6263640" y="4544568"/>
            <a:ext cx="5029200" cy="777240"/>
          </a:xfrm>
          <a:prstGeom prst="rect">
            <a:avLst/>
          </a:prstGeom>
          <a:noFill/>
          <a:ln/>
        </p:spPr>
        <p:txBody>
          <a:bodyPr wrap="square" lIns="0" tIns="0" rIns="0" bIns="0" rtlCol="0" anchor="ctr"/>
          <a:lstStyle/>
          <a:p>
            <a:pPr marL="0" indent="0">
              <a:lnSpc>
                <a:spcPts val="1250"/>
              </a:lnSpc>
              <a:buNone/>
            </a:pPr>
            <a:r>
              <a:rPr lang="en-US" sz="950" dirty="0">
                <a:solidFill>
                  <a:srgbClr val="FFFFFF"/>
                </a:solidFill>
                <a:latin typeface="Calibri" pitchFamily="34" charset="0"/>
                <a:ea typeface="Calibri" pitchFamily="34" charset="-122"/>
                <a:cs typeface="Calibri" pitchFamily="34" charset="-120"/>
              </a:rPr>
              <a:t>Because it is the barrier most often cited. Congress asked us to identify federal rules that limit rural credit unions, and the lending cap is the usual answer. We tested it. It is not the answer — and that directs attention to the more important question: two thirds of rural credit unions do no business lending at all, and the cap is not the reason.</a:t>
            </a:r>
            <a:endParaRPr lang="en-US" sz="950" dirty="0"/>
          </a:p>
        </p:txBody>
      </p:sp>
      <p:sp>
        <p:nvSpPr>
          <p:cNvPr id="21" name="Shape 17"/>
          <p:cNvSpPr/>
          <p:nvPr/>
        </p:nvSpPr>
        <p:spPr>
          <a:xfrm>
            <a:off x="640080" y="4069080"/>
            <a:ext cx="5120640" cy="1280160"/>
          </a:xfrm>
          <a:prstGeom prst="roundRect">
            <a:avLst>
              <a:gd name="adj" fmla="val 4286"/>
            </a:avLst>
          </a:prstGeom>
          <a:solidFill>
            <a:srgbClr val="DCE6E4"/>
          </a:solidFill>
          <a:ln/>
        </p:spPr>
        <p:txBody>
          <a:bodyPr/>
          <a:lstStyle/>
          <a:p>
            <a:endParaRPr lang="en-US"/>
          </a:p>
        </p:txBody>
      </p:sp>
      <p:sp>
        <p:nvSpPr>
          <p:cNvPr id="22" name="Text 18"/>
          <p:cNvSpPr txBox="1"/>
          <p:nvPr/>
        </p:nvSpPr>
        <p:spPr>
          <a:xfrm>
            <a:off x="868680" y="4160520"/>
            <a:ext cx="4663440" cy="237744"/>
          </a:xfrm>
          <a:prstGeom prst="rect">
            <a:avLst/>
          </a:prstGeom>
          <a:noFill/>
          <a:ln/>
        </p:spPr>
        <p:txBody>
          <a:bodyPr wrap="square" lIns="0" tIns="0" rIns="0" bIns="0" rtlCol="0" anchor="ctr"/>
          <a:lstStyle/>
          <a:p>
            <a:pPr marL="0" indent="0">
              <a:buNone/>
            </a:pPr>
            <a:r>
              <a:rPr lang="en-US" sz="1050" b="1" dirty="0">
                <a:solidFill>
                  <a:srgbClr val="C8553D"/>
                </a:solidFill>
                <a:latin typeface="Calibri" pitchFamily="34" charset="0"/>
                <a:ea typeface="Calibri" pitchFamily="34" charset="-122"/>
                <a:cs typeface="Calibri" pitchFamily="34" charset="-120"/>
              </a:rPr>
              <a:t>What the cap is</a:t>
            </a:r>
            <a:endParaRPr lang="en-US" sz="1050" dirty="0"/>
          </a:p>
        </p:txBody>
      </p:sp>
      <p:sp>
        <p:nvSpPr>
          <p:cNvPr id="23" name="Text 19"/>
          <p:cNvSpPr txBox="1"/>
          <p:nvPr/>
        </p:nvSpPr>
        <p:spPr>
          <a:xfrm>
            <a:off x="868680" y="4407408"/>
            <a:ext cx="4709160" cy="914400"/>
          </a:xfrm>
          <a:prstGeom prst="rect">
            <a:avLst/>
          </a:prstGeom>
          <a:noFill/>
          <a:ln/>
        </p:spPr>
        <p:txBody>
          <a:bodyPr wrap="square" lIns="0" tIns="0" rIns="0" bIns="0" rtlCol="0" anchor="ctr"/>
          <a:lstStyle/>
          <a:p>
            <a:pPr marL="0" indent="0">
              <a:lnSpc>
                <a:spcPts val="1250"/>
              </a:lnSpc>
              <a:buNone/>
            </a:pPr>
            <a:r>
              <a:rPr lang="en-US" sz="950" dirty="0">
                <a:solidFill>
                  <a:srgbClr val="12202E"/>
                </a:solidFill>
                <a:latin typeface="Calibri" pitchFamily="34" charset="0"/>
                <a:ea typeface="Calibri" pitchFamily="34" charset="-122"/>
                <a:cs typeface="Calibri" pitchFamily="34" charset="-120"/>
              </a:rPr>
              <a:t>A federal law limits how much of a credit union’s book can be business loans. The limit is 1.75 times its net worth — which, for any well-capitalised credit union, works out to about 12½ cents of every dollar of assets. Credit unions serving mainly low-income members are exempt. We call an institution “close to the cap” when its business loans are within 10% of that limit.</a:t>
            </a:r>
            <a:endParaRPr lang="en-US" sz="950" dirty="0"/>
          </a:p>
        </p:txBody>
      </p:sp>
      <p:sp>
        <p:nvSpPr>
          <p:cNvPr id="24" name="Shape 20"/>
          <p:cNvSpPr/>
          <p:nvPr/>
        </p:nvSpPr>
        <p:spPr>
          <a:xfrm>
            <a:off x="640080" y="5532120"/>
            <a:ext cx="10881360" cy="777240"/>
          </a:xfrm>
          <a:prstGeom prst="roundRect">
            <a:avLst>
              <a:gd name="adj" fmla="val 7059"/>
            </a:avLst>
          </a:prstGeom>
          <a:solidFill>
            <a:srgbClr val="0E4C55"/>
          </a:solidFill>
          <a:ln/>
        </p:spPr>
        <p:txBody>
          <a:bodyPr/>
          <a:lstStyle/>
          <a:p>
            <a:endParaRPr lang="en-US"/>
          </a:p>
        </p:txBody>
      </p:sp>
      <p:sp>
        <p:nvSpPr>
          <p:cNvPr id="25" name="Text 21"/>
          <p:cNvSpPr txBox="1"/>
          <p:nvPr/>
        </p:nvSpPr>
        <p:spPr>
          <a:xfrm>
            <a:off x="960120" y="5605272"/>
            <a:ext cx="10241280" cy="237744"/>
          </a:xfrm>
          <a:prstGeom prst="rect">
            <a:avLst/>
          </a:prstGeom>
          <a:noFill/>
          <a:ln/>
        </p:spPr>
        <p:txBody>
          <a:bodyPr wrap="square" lIns="0" tIns="0" rIns="0" bIns="0" rtlCol="0" anchor="ctr"/>
          <a:lstStyle/>
          <a:p>
            <a:pPr marL="0" indent="0">
              <a:buNone/>
            </a:pPr>
            <a:r>
              <a:rPr lang="en-US" sz="1050" b="1" dirty="0">
                <a:solidFill>
                  <a:srgbClr val="E8A24A"/>
                </a:solidFill>
                <a:latin typeface="Calibri" pitchFamily="34" charset="0"/>
                <a:ea typeface="Calibri" pitchFamily="34" charset="-122"/>
                <a:cs typeface="Calibri" pitchFamily="34" charset="-120"/>
              </a:rPr>
              <a:t>What it means for the report</a:t>
            </a:r>
            <a:endParaRPr lang="en-US" sz="1050" dirty="0"/>
          </a:p>
        </p:txBody>
      </p:sp>
      <p:sp>
        <p:nvSpPr>
          <p:cNvPr id="26" name="Text 22"/>
          <p:cNvSpPr txBox="1"/>
          <p:nvPr/>
        </p:nvSpPr>
        <p:spPr>
          <a:xfrm>
            <a:off x="960120" y="5852160"/>
            <a:ext cx="10241280" cy="411480"/>
          </a:xfrm>
          <a:prstGeom prst="rect">
            <a:avLst/>
          </a:prstGeom>
          <a:noFill/>
          <a:ln/>
        </p:spPr>
        <p:txBody>
          <a:bodyPr wrap="square" lIns="0" tIns="0" rIns="0" bIns="0" rtlCol="0" anchor="ctr"/>
          <a:lstStyle/>
          <a:p>
            <a:pPr marL="0" indent="0">
              <a:lnSpc>
                <a:spcPts val="1600"/>
              </a:lnSpc>
              <a:buNone/>
            </a:pPr>
            <a:r>
              <a:rPr lang="en-US" sz="1200" dirty="0">
                <a:solidFill>
                  <a:srgbClr val="FFFFFF"/>
                </a:solidFill>
                <a:latin typeface="Calibri" pitchFamily="34" charset="0"/>
                <a:ea typeface="Calibri" pitchFamily="34" charset="-122"/>
                <a:cs typeface="Calibri" pitchFamily="34" charset="-120"/>
              </a:rPr>
              <a:t>Raising the cap would assist a small number of institutions. It is not what limits rural credit unions as a group, and the report should say so directly.</a:t>
            </a:r>
            <a:endParaRPr lang="en-US" sz="1200" dirty="0"/>
          </a:p>
        </p:txBody>
      </p:sp>
      <p:sp>
        <p:nvSpPr>
          <p:cNvPr id="27" name="Text 23"/>
          <p:cNvSpPr txBox="1"/>
          <p:nvPr/>
        </p:nvSpPr>
        <p:spPr>
          <a:xfrm>
            <a:off x="640080" y="6400800"/>
            <a:ext cx="10881360" cy="237744"/>
          </a:xfrm>
          <a:prstGeom prst="rect">
            <a:avLst/>
          </a:prstGeom>
          <a:noFill/>
          <a:ln/>
        </p:spPr>
        <p:txBody>
          <a:bodyPr wrap="square" lIns="0" tIns="0" rIns="0" bIns="0" rtlCol="0" anchor="ctr"/>
          <a:lstStyle/>
          <a:p>
            <a:pPr marL="0" indent="0">
              <a:buNone/>
            </a:pPr>
            <a:r>
              <a:rPr lang="en-US" sz="850" i="1" dirty="0">
                <a:solidFill>
                  <a:srgbClr val="5B6B72"/>
                </a:solidFill>
                <a:latin typeface="Calibri" pitchFamily="34" charset="0"/>
                <a:ea typeface="Calibri" pitchFamily="34" charset="-122"/>
                <a:cs typeface="Calibri" pitchFamily="34" charset="-120"/>
              </a:rPr>
              <a:t>12 U.S.C. 1757a: the lesser of 1.75 × net worth or 1.75 × the net worth needed to be well capitalised (7%), i.e. 12.25% of assets. Preliminary.</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1624</Words>
  <Application>Microsoft Macintosh PowerPoint</Application>
  <PresentationFormat>Widescreen</PresentationFormat>
  <Paragraphs>60</Paragraphs>
  <Slides>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Cambria</vt:lpstr>
      <vt:lpstr>Office Theme</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Rural Credit Unions Study - RQ1 to RQ3, executive summary</dc:title>
  <dc:subject>PptxGenJS Presentation</dc:subject>
  <dc:creator>PptxGenJS</dc:creator>
  <cp:lastModifiedBy>Saurabh Datta</cp:lastModifiedBy>
  <cp:revision>1</cp:revision>
  <dcterms:created xsi:type="dcterms:W3CDTF">2026-09-24T18:16:46Z</dcterms:created>
  <dcterms:modified xsi:type="dcterms:W3CDTF">2026-09-24T18:32:06Z</dcterms:modified>
</cp:coreProperties>
</file>